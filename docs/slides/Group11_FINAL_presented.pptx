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6.xml" ContentType="application/vnd.openxmlformats-officedocument.presentationml.notesSlide+xml"/>
  <Override PartName="/ppt/charts/chart4.xml" ContentType="application/vnd.openxmlformats-officedocument.drawingml.chart+xml"/>
  <Override PartName="/ppt/notesSlides/notesSlide7.xml" ContentType="application/vnd.openxmlformats-officedocument.presentationml.notesSlide+xml"/>
  <Override PartName="/ppt/charts/chart5.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16.xml" ContentType="application/vnd.openxmlformats-officedocument.presentationml.notesSlide+xml"/>
  <Override PartName="/ppt/charts/chart8.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2.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9.xml" ContentType="application/vnd.openxmlformats-officedocument.drawingml.chart+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73" r:id="rId2"/>
    <p:sldId id="276" r:id="rId3"/>
    <p:sldId id="295" r:id="rId4"/>
    <p:sldId id="256" r:id="rId5"/>
    <p:sldId id="300" r:id="rId6"/>
    <p:sldId id="257" r:id="rId7"/>
    <p:sldId id="259" r:id="rId8"/>
    <p:sldId id="293" r:id="rId9"/>
    <p:sldId id="279" r:id="rId10"/>
    <p:sldId id="277" r:id="rId11"/>
    <p:sldId id="302" r:id="rId12"/>
    <p:sldId id="280" r:id="rId13"/>
    <p:sldId id="281" r:id="rId14"/>
    <p:sldId id="296" r:id="rId15"/>
    <p:sldId id="261" r:id="rId16"/>
    <p:sldId id="262" r:id="rId17"/>
    <p:sldId id="304" r:id="rId18"/>
    <p:sldId id="305" r:id="rId19"/>
    <p:sldId id="289" r:id="rId20"/>
    <p:sldId id="297" r:id="rId21"/>
    <p:sldId id="291" r:id="rId22"/>
    <p:sldId id="292" r:id="rId23"/>
    <p:sldId id="286" r:id="rId24"/>
    <p:sldId id="287" r:id="rId25"/>
    <p:sldId id="288" r:id="rId26"/>
    <p:sldId id="282" r:id="rId27"/>
    <p:sldId id="299" r:id="rId28"/>
    <p:sldId id="303" r:id="rId29"/>
    <p:sldId id="301" r:id="rId30"/>
    <p:sldId id="285" r:id="rId31"/>
    <p:sldId id="283" r:id="rId32"/>
    <p:sldId id="290" r:id="rId33"/>
    <p:sldId id="284" r:id="rId3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tion" id="{F28A35BA-5222-DE42-B31D-A88E1F2B9229}">
          <p14:sldIdLst>
            <p14:sldId id="273"/>
            <p14:sldId id="276"/>
            <p14:sldId id="295"/>
            <p14:sldId id="256"/>
            <p14:sldId id="300"/>
            <p14:sldId id="257"/>
            <p14:sldId id="259"/>
            <p14:sldId id="293"/>
            <p14:sldId id="279"/>
            <p14:sldId id="277"/>
            <p14:sldId id="302"/>
            <p14:sldId id="280"/>
            <p14:sldId id="281"/>
            <p14:sldId id="296"/>
            <p14:sldId id="261"/>
            <p14:sldId id="262"/>
            <p14:sldId id="304"/>
            <p14:sldId id="305"/>
            <p14:sldId id="289"/>
            <p14:sldId id="297"/>
            <p14:sldId id="291"/>
          </p14:sldIdLst>
        </p14:section>
        <p14:section name="Appendix" id="{A9520891-610C-304B-8B28-3CC04B361DE6}">
          <p14:sldIdLst>
            <p14:sldId id="292"/>
            <p14:sldId id="286"/>
            <p14:sldId id="287"/>
            <p14:sldId id="288"/>
            <p14:sldId id="282"/>
            <p14:sldId id="299"/>
            <p14:sldId id="303"/>
            <p14:sldId id="301"/>
          </p14:sldIdLst>
        </p14:section>
        <p14:section name="Trash" id="{21D9F33A-35B9-D947-83C9-3626456FCACD}">
          <p14:sldIdLst>
            <p14:sldId id="285"/>
            <p14:sldId id="283"/>
            <p14:sldId id="290"/>
            <p14:sldId id="28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0CEC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79" dt="2026-09-29T00:34:42.315"/>
    <p1510:client id="{13AA44CB-D595-7C1F-7F3E-C60383DDFA3D}" v="62" dt="2026-09-28T22:46:34.800"/>
    <p1510:client id="{4E132088-5FBE-E5C3-092A-CC95B225205E}" v="119" dt="2026-09-29T13:48:21.283"/>
    <p1510:client id="{538A28C8-C695-05C6-D4AF-3E6C9BE6F2B7}" v="1" dt="2026-09-29T13:38:22.393"/>
    <p1510:client id="{685CAB59-DCD8-547B-7745-6D2F0D141FBA}" v="44" dt="2026-09-29T00:27:48.701"/>
    <p1510:client id="{7514708D-A092-5FC6-237D-412D29CBAA21}" v="8" dt="2026-09-28T15:56:43.823"/>
    <p1510:client id="{D2B80E78-DEBF-42DE-A27A-245C38D1E7CF}" v="346" dt="2026-09-29T13:54:07.685"/>
    <p1510:client id="{E2315B66-FE91-54D5-0FA2-15B24E7EF1C4}" v="469" dt="2026-09-29T00:10:56.988"/>
    <p1510:client id="{E50B009C-349F-6549-B4F6-E196235F85A9}" v="2332" dt="2026-09-29T13:38:28.2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_100_0.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_12C_46E41E9F.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_12C_46E41E9F1.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_101_0.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_103_0.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_11B_FE844CDE.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Households giving</c:v>
                </c:pt>
              </c:strCache>
            </c:strRef>
          </c:tx>
          <c:spPr>
            <a:solidFill>
              <a:srgbClr val="C9CED4">
                <a:alpha val="100000"/>
              </a:srgbClr>
            </a:solidFill>
            <a:effectLst/>
          </c:spPr>
          <c:invertIfNegative val="0"/>
          <c:dPt>
            <c:idx val="0"/>
            <c:invertIfNegative val="0"/>
            <c:bubble3D val="0"/>
            <c:spPr>
              <a:solidFill>
                <a:srgbClr val="C9CED4"/>
              </a:solidFill>
              <a:effectLst/>
            </c:spPr>
            <c:extLst>
              <c:ext xmlns:c16="http://schemas.microsoft.com/office/drawing/2014/chart" uri="{C3380CC4-5D6E-409C-BE32-E72D297353CC}">
                <c16:uniqueId val="{00000001-206B-4A20-8739-CDF3C2259499}"/>
              </c:ext>
            </c:extLst>
          </c:dPt>
          <c:dPt>
            <c:idx val="1"/>
            <c:invertIfNegative val="0"/>
            <c:bubble3D val="0"/>
            <c:spPr>
              <a:solidFill>
                <a:srgbClr val="C9CED4"/>
              </a:solidFill>
              <a:effectLst/>
            </c:spPr>
            <c:extLst>
              <c:ext xmlns:c16="http://schemas.microsoft.com/office/drawing/2014/chart" uri="{C3380CC4-5D6E-409C-BE32-E72D297353CC}">
                <c16:uniqueId val="{00000003-206B-4A20-8739-CDF3C2259499}"/>
              </c:ext>
            </c:extLst>
          </c:dPt>
          <c:dPt>
            <c:idx val="2"/>
            <c:invertIfNegative val="0"/>
            <c:bubble3D val="0"/>
            <c:spPr>
              <a:solidFill>
                <a:srgbClr val="D2603A"/>
              </a:solidFill>
              <a:effectLst/>
            </c:spPr>
            <c:extLst>
              <c:ext xmlns:c16="http://schemas.microsoft.com/office/drawing/2014/chart" uri="{C3380CC4-5D6E-409C-BE32-E72D297353CC}">
                <c16:uniqueId val="{00000005-206B-4A20-8739-CDF3C2259499}"/>
              </c:ext>
            </c:extLst>
          </c:dPt>
          <c:dLbls>
            <c:numFmt formatCode="0.0&quot;%&quot;" sourceLinked="0"/>
            <c:spPr>
              <a:noFill/>
              <a:ln>
                <a:noFill/>
              </a:ln>
              <a:effectLst/>
            </c:spPr>
            <c:txPr>
              <a:bodyPr/>
              <a:lstStyle/>
              <a:p>
                <a:pPr>
                  <a:defRPr sz="1300" b="1" i="0" u="none" strike="noStrike">
                    <a:solidFill>
                      <a:srgbClr val="1B3A5C"/>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2000</c:v>
                </c:pt>
                <c:pt idx="1">
                  <c:v>2018</c:v>
                </c:pt>
                <c:pt idx="2">
                  <c:v>2020</c:v>
                </c:pt>
              </c:strCache>
            </c:strRef>
          </c:cat>
          <c:val>
            <c:numRef>
              <c:f>Sheet1!$B$2:$B$4</c:f>
              <c:numCache>
                <c:formatCode>General</c:formatCode>
                <c:ptCount val="3"/>
                <c:pt idx="0">
                  <c:v>66.2</c:v>
                </c:pt>
                <c:pt idx="1">
                  <c:v>49.6</c:v>
                </c:pt>
                <c:pt idx="2">
                  <c:v>46.9</c:v>
                </c:pt>
              </c:numCache>
            </c:numRef>
          </c:val>
          <c:extLst>
            <c:ext xmlns:c16="http://schemas.microsoft.com/office/drawing/2014/chart" uri="{C3380CC4-5D6E-409C-BE32-E72D297353CC}">
              <c16:uniqueId val="{00000006-206B-4A20-8739-CDF3C2259499}"/>
            </c:ext>
          </c:extLst>
        </c:ser>
        <c:dLbls>
          <c:showLegendKey val="0"/>
          <c:showVal val="1"/>
          <c:showCatName val="0"/>
          <c:showSerName val="0"/>
          <c:showPercent val="0"/>
          <c:showBubbleSize val="0"/>
        </c:dLbls>
        <c:gapWidth val="9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C9CED4"/>
            </a:solidFill>
            <a:prstDash val="solid"/>
            <a:round/>
          </a:ln>
        </c:spPr>
        <c:txPr>
          <a:bodyPr/>
          <a:lstStyle/>
          <a:p>
            <a:pPr>
              <a:defRPr sz="1300" b="0" i="0" u="none" strike="noStrike">
                <a:solidFill>
                  <a:srgbClr val="1B3A5C"/>
                </a:solidFill>
                <a:latin typeface="Calibri"/>
              </a:defRPr>
            </a:pPr>
            <a:endParaRPr lang="en-US"/>
          </a:p>
        </c:txPr>
        <c:crossAx val="2094734552"/>
        <c:crosses val="autoZero"/>
        <c:auto val="1"/>
        <c:lblAlgn val="ctr"/>
        <c:lblOffset val="100"/>
        <c:noMultiLvlLbl val="1"/>
      </c:catAx>
      <c:valAx>
        <c:axId val="2094734552"/>
        <c:scaling>
          <c:orientation val="minMax"/>
          <c:max val="8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Households giving</c:v>
                </c:pt>
              </c:strCache>
            </c:strRef>
          </c:tx>
          <c:spPr>
            <a:solidFill>
              <a:srgbClr val="C9CED4">
                <a:alpha val="100000"/>
              </a:srgbClr>
            </a:solidFill>
            <a:effectLst/>
          </c:spPr>
          <c:invertIfNegative val="0"/>
          <c:dPt>
            <c:idx val="0"/>
            <c:invertIfNegative val="0"/>
            <c:bubble3D val="0"/>
            <c:spPr>
              <a:solidFill>
                <a:srgbClr val="C9CED4"/>
              </a:solidFill>
              <a:effectLst/>
            </c:spPr>
            <c:extLst>
              <c:ext xmlns:c16="http://schemas.microsoft.com/office/drawing/2014/chart" uri="{C3380CC4-5D6E-409C-BE32-E72D297353CC}">
                <c16:uniqueId val="{00000001-206B-4A20-8739-CDF3C2259499}"/>
              </c:ext>
            </c:extLst>
          </c:dPt>
          <c:dPt>
            <c:idx val="1"/>
            <c:invertIfNegative val="0"/>
            <c:bubble3D val="0"/>
            <c:spPr>
              <a:solidFill>
                <a:srgbClr val="C9CED4"/>
              </a:solidFill>
              <a:effectLst/>
            </c:spPr>
            <c:extLst>
              <c:ext xmlns:c16="http://schemas.microsoft.com/office/drawing/2014/chart" uri="{C3380CC4-5D6E-409C-BE32-E72D297353CC}">
                <c16:uniqueId val="{00000003-206B-4A20-8739-CDF3C2259499}"/>
              </c:ext>
            </c:extLst>
          </c:dPt>
          <c:dPt>
            <c:idx val="2"/>
            <c:invertIfNegative val="0"/>
            <c:bubble3D val="0"/>
            <c:spPr>
              <a:solidFill>
                <a:srgbClr val="D2603A"/>
              </a:solidFill>
              <a:effectLst/>
            </c:spPr>
            <c:extLst>
              <c:ext xmlns:c16="http://schemas.microsoft.com/office/drawing/2014/chart" uri="{C3380CC4-5D6E-409C-BE32-E72D297353CC}">
                <c16:uniqueId val="{00000005-206B-4A20-8739-CDF3C2259499}"/>
              </c:ext>
            </c:extLst>
          </c:dPt>
          <c:dLbls>
            <c:numFmt formatCode="0.0&quot;%&quot;" sourceLinked="0"/>
            <c:spPr>
              <a:noFill/>
              <a:ln>
                <a:noFill/>
              </a:ln>
              <a:effectLst/>
            </c:spPr>
            <c:txPr>
              <a:bodyPr/>
              <a:lstStyle/>
              <a:p>
                <a:pPr>
                  <a:defRPr sz="1300" b="1" i="0" u="none" strike="noStrike">
                    <a:solidFill>
                      <a:srgbClr val="1B3A5C"/>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2000</c:v>
                </c:pt>
                <c:pt idx="1">
                  <c:v>2018</c:v>
                </c:pt>
                <c:pt idx="2">
                  <c:v>2020</c:v>
                </c:pt>
              </c:strCache>
            </c:strRef>
          </c:cat>
          <c:val>
            <c:numRef>
              <c:f>Sheet1!$B$2:$B$4</c:f>
              <c:numCache>
                <c:formatCode>General</c:formatCode>
                <c:ptCount val="3"/>
                <c:pt idx="0">
                  <c:v>66.2</c:v>
                </c:pt>
                <c:pt idx="1">
                  <c:v>49.6</c:v>
                </c:pt>
                <c:pt idx="2">
                  <c:v>46.9</c:v>
                </c:pt>
              </c:numCache>
            </c:numRef>
          </c:val>
          <c:extLst>
            <c:ext xmlns:c16="http://schemas.microsoft.com/office/drawing/2014/chart" uri="{C3380CC4-5D6E-409C-BE32-E72D297353CC}">
              <c16:uniqueId val="{00000006-206B-4A20-8739-CDF3C2259499}"/>
            </c:ext>
          </c:extLst>
        </c:ser>
        <c:dLbls>
          <c:showLegendKey val="0"/>
          <c:showVal val="1"/>
          <c:showCatName val="0"/>
          <c:showSerName val="0"/>
          <c:showPercent val="0"/>
          <c:showBubbleSize val="0"/>
        </c:dLbls>
        <c:gapWidth val="9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C9CED4"/>
            </a:solidFill>
            <a:prstDash val="solid"/>
            <a:round/>
          </a:ln>
        </c:spPr>
        <c:txPr>
          <a:bodyPr/>
          <a:lstStyle/>
          <a:p>
            <a:pPr>
              <a:defRPr sz="1300" b="0" i="0" u="none" strike="noStrike">
                <a:solidFill>
                  <a:srgbClr val="1B3A5C"/>
                </a:solidFill>
                <a:latin typeface="Calibri"/>
              </a:defRPr>
            </a:pPr>
            <a:endParaRPr lang="en-US"/>
          </a:p>
        </c:txPr>
        <c:crossAx val="2094734552"/>
        <c:crosses val="autoZero"/>
        <c:auto val="1"/>
        <c:lblAlgn val="ctr"/>
        <c:lblOffset val="100"/>
        <c:noMultiLvlLbl val="1"/>
      </c:catAx>
      <c:valAx>
        <c:axId val="2094734552"/>
        <c:scaling>
          <c:orientation val="minMax"/>
          <c:max val="8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Share of donors</c:v>
                </c:pt>
              </c:strCache>
            </c:strRef>
          </c:tx>
          <c:spPr>
            <a:solidFill>
              <a:srgbClr val="E4572E"/>
            </a:solidFill>
            <a:effectLst/>
          </c:spPr>
          <c:invertIfNegative val="0"/>
          <c:dPt>
            <c:idx val="0"/>
            <c:invertIfNegative val="0"/>
            <c:bubble3D val="0"/>
            <c:extLst>
              <c:ext xmlns:c16="http://schemas.microsoft.com/office/drawing/2014/chart" uri="{C3380CC4-5D6E-409C-BE32-E72D297353CC}">
                <c16:uniqueId val="{00000000-B552-4AAB-A5A3-A39A3CFA537F}"/>
              </c:ext>
            </c:extLst>
          </c:dPt>
          <c:dPt>
            <c:idx val="1"/>
            <c:invertIfNegative val="0"/>
            <c:bubble3D val="0"/>
            <c:spPr>
              <a:solidFill>
                <a:srgbClr val="C9CED6"/>
              </a:solidFill>
              <a:effectLst/>
            </c:spPr>
            <c:extLst>
              <c:ext xmlns:c16="http://schemas.microsoft.com/office/drawing/2014/chart" uri="{C3380CC4-5D6E-409C-BE32-E72D297353CC}">
                <c16:uniqueId val="{00000002-B552-4AAB-A5A3-A39A3CFA537F}"/>
              </c:ext>
            </c:extLst>
          </c:dPt>
          <c:dPt>
            <c:idx val="2"/>
            <c:invertIfNegative val="0"/>
            <c:bubble3D val="0"/>
            <c:spPr>
              <a:solidFill>
                <a:srgbClr val="C9CED6"/>
              </a:solidFill>
              <a:effectLst/>
            </c:spPr>
            <c:extLst>
              <c:ext xmlns:c16="http://schemas.microsoft.com/office/drawing/2014/chart" uri="{C3380CC4-5D6E-409C-BE32-E72D297353CC}">
                <c16:uniqueId val="{00000004-B552-4AAB-A5A3-A39A3CFA537F}"/>
              </c:ext>
            </c:extLst>
          </c:dPt>
          <c:dPt>
            <c:idx val="3"/>
            <c:invertIfNegative val="0"/>
            <c:bubble3D val="0"/>
            <c:spPr>
              <a:solidFill>
                <a:srgbClr val="C9CED6"/>
              </a:solidFill>
              <a:effectLst/>
            </c:spPr>
            <c:extLst>
              <c:ext xmlns:c16="http://schemas.microsoft.com/office/drawing/2014/chart" uri="{C3380CC4-5D6E-409C-BE32-E72D297353CC}">
                <c16:uniqueId val="{00000006-B552-4AAB-A5A3-A39A3CFA537F}"/>
              </c:ext>
            </c:extLst>
          </c:dPt>
          <c:dPt>
            <c:idx val="4"/>
            <c:invertIfNegative val="0"/>
            <c:bubble3D val="0"/>
            <c:spPr>
              <a:solidFill>
                <a:srgbClr val="C9CED6"/>
              </a:solidFill>
              <a:effectLst/>
            </c:spPr>
            <c:extLst>
              <c:ext xmlns:c16="http://schemas.microsoft.com/office/drawing/2014/chart" uri="{C3380CC4-5D6E-409C-BE32-E72D297353CC}">
                <c16:uniqueId val="{00000008-B552-4AAB-A5A3-A39A3CFA537F}"/>
              </c:ext>
            </c:extLst>
          </c:dPt>
          <c:dLbls>
            <c:numFmt formatCode="0.0&quot;%&quot;" sourceLinked="0"/>
            <c:spPr>
              <a:noFill/>
              <a:ln>
                <a:noFill/>
              </a:ln>
              <a:effectLst/>
            </c:spPr>
            <c:txPr>
              <a:bodyPr/>
              <a:lstStyle/>
              <a:p>
                <a:pPr>
                  <a:defRPr sz="1200" b="0" i="0" u="none" strike="noStrike">
                    <a:solidFill>
                      <a:srgbClr val="1B2A41"/>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c:v>
                </c:pt>
                <c:pt idx="1">
                  <c:v>2</c:v>
                </c:pt>
                <c:pt idx="2">
                  <c:v>3–5</c:v>
                </c:pt>
                <c:pt idx="3">
                  <c:v>6–20</c:v>
                </c:pt>
                <c:pt idx="4">
                  <c:v>21+</c:v>
                </c:pt>
              </c:strCache>
            </c:strRef>
          </c:cat>
          <c:val>
            <c:numRef>
              <c:f>Sheet1!$B$2:$B$6</c:f>
              <c:numCache>
                <c:formatCode>General</c:formatCode>
                <c:ptCount val="5"/>
                <c:pt idx="0">
                  <c:v>71.099999999999994</c:v>
                </c:pt>
                <c:pt idx="1">
                  <c:v>14.1</c:v>
                </c:pt>
                <c:pt idx="2">
                  <c:v>9.4</c:v>
                </c:pt>
                <c:pt idx="3">
                  <c:v>4.5</c:v>
                </c:pt>
                <c:pt idx="4">
                  <c:v>1</c:v>
                </c:pt>
              </c:numCache>
            </c:numRef>
          </c:val>
          <c:extLst>
            <c:ext xmlns:c16="http://schemas.microsoft.com/office/drawing/2014/chart" uri="{C3380CC4-5D6E-409C-BE32-E72D297353CC}">
              <c16:uniqueId val="{00000009-B552-4AAB-A5A3-A39A3CFA537F}"/>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title>
          <c:tx>
            <c:rich>
              <a:bodyPr/>
              <a:lstStyle/>
              <a:p>
                <a:pPr>
                  <a:defRPr sz="1100" b="0" i="0" u="none" strike="noStrike">
                    <a:solidFill>
                      <a:srgbClr val="6B7280"/>
                    </a:solidFill>
                    <a:latin typeface="Arial"/>
                  </a:defRPr>
                </a:pPr>
                <a:r>
                  <a:rPr lang="en-US" sz="1100" b="0" i="0" u="none" strike="noStrike">
                    <a:solidFill>
                      <a:srgbClr val="6B7280"/>
                    </a:solidFill>
                    <a:latin typeface="Arial"/>
                  </a:rPr>
                  <a:t>Lifetime gifts per donor</a:t>
                </a:r>
              </a:p>
            </c:rich>
          </c:tx>
          <c:overlay val="0"/>
        </c:title>
        <c:numFmt formatCode="General" sourceLinked="1"/>
        <c:majorTickMark val="out"/>
        <c:minorTickMark val="none"/>
        <c:tickLblPos val="low"/>
        <c:spPr>
          <a:ln w="12700" cap="flat">
            <a:solidFill>
              <a:srgbClr val="C9CED6"/>
            </a:solidFill>
            <a:prstDash val="solid"/>
            <a:round/>
          </a:ln>
        </c:spPr>
        <c:txPr>
          <a:bodyPr/>
          <a:lstStyle/>
          <a:p>
            <a:pPr>
              <a:defRPr sz="1200" b="0" i="0" u="none" strike="noStrike">
                <a:solidFill>
                  <a:srgbClr val="6B7280"/>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Total giving</c:v>
                </c:pt>
              </c:strCache>
            </c:strRef>
          </c:tx>
          <c:spPr>
            <a:solidFill>
              <a:srgbClr val="1B3A5C">
                <a:alpha val="100000"/>
              </a:srgbClr>
            </a:solidFill>
            <a:effectLst/>
          </c:spPr>
          <c:invertIfNegative val="0"/>
          <c:dPt>
            <c:idx val="0"/>
            <c:invertIfNegative val="0"/>
            <c:bubble3D val="0"/>
            <c:spPr>
              <a:solidFill>
                <a:srgbClr val="1B3A5C"/>
              </a:solidFill>
              <a:effectLst/>
            </c:spPr>
            <c:extLst>
              <c:ext xmlns:c16="http://schemas.microsoft.com/office/drawing/2014/chart" uri="{C3380CC4-5D6E-409C-BE32-E72D297353CC}">
                <c16:uniqueId val="{00000001-880F-43D5-B232-EA22EE176799}"/>
              </c:ext>
            </c:extLst>
          </c:dPt>
          <c:dPt>
            <c:idx val="1"/>
            <c:invertIfNegative val="0"/>
            <c:bubble3D val="0"/>
            <c:spPr>
              <a:solidFill>
                <a:srgbClr val="C9CED4"/>
              </a:solidFill>
              <a:effectLst/>
            </c:spPr>
            <c:extLst>
              <c:ext xmlns:c16="http://schemas.microsoft.com/office/drawing/2014/chart" uri="{C3380CC4-5D6E-409C-BE32-E72D297353CC}">
                <c16:uniqueId val="{00000003-880F-43D5-B232-EA22EE176799}"/>
              </c:ext>
            </c:extLst>
          </c:dPt>
          <c:dPt>
            <c:idx val="2"/>
            <c:invertIfNegative val="0"/>
            <c:bubble3D val="0"/>
            <c:spPr>
              <a:solidFill>
                <a:srgbClr val="C9CED4"/>
              </a:solidFill>
              <a:effectLst/>
            </c:spPr>
            <c:extLst>
              <c:ext xmlns:c16="http://schemas.microsoft.com/office/drawing/2014/chart" uri="{C3380CC4-5D6E-409C-BE32-E72D297353CC}">
                <c16:uniqueId val="{00000005-880F-43D5-B232-EA22EE176799}"/>
              </c:ext>
            </c:extLst>
          </c:dPt>
          <c:dPt>
            <c:idx val="3"/>
            <c:invertIfNegative val="0"/>
            <c:bubble3D val="0"/>
            <c:spPr>
              <a:solidFill>
                <a:srgbClr val="C9CED4"/>
              </a:solidFill>
              <a:effectLst/>
            </c:spPr>
            <c:extLst>
              <c:ext xmlns:c16="http://schemas.microsoft.com/office/drawing/2014/chart" uri="{C3380CC4-5D6E-409C-BE32-E72D297353CC}">
                <c16:uniqueId val="{00000007-880F-43D5-B232-EA22EE176799}"/>
              </c:ext>
            </c:extLst>
          </c:dPt>
          <c:dPt>
            <c:idx val="4"/>
            <c:invertIfNegative val="0"/>
            <c:bubble3D val="0"/>
            <c:spPr>
              <a:solidFill>
                <a:srgbClr val="D2603A"/>
              </a:solidFill>
              <a:effectLst/>
            </c:spPr>
            <c:extLst>
              <c:ext xmlns:c16="http://schemas.microsoft.com/office/drawing/2014/chart" uri="{C3380CC4-5D6E-409C-BE32-E72D297353CC}">
                <c16:uniqueId val="{00000009-880F-43D5-B232-EA22EE176799}"/>
              </c:ext>
            </c:extLst>
          </c:dPt>
          <c:dLbls>
            <c:numFmt formatCode="\$0" sourceLinked="0"/>
            <c:spPr>
              <a:noFill/>
              <a:ln>
                <a:noFill/>
              </a:ln>
              <a:effectLst/>
            </c:spPr>
            <c:txPr>
              <a:bodyPr/>
              <a:lstStyle/>
              <a:p>
                <a:pPr>
                  <a:defRPr sz="1200" b="1" i="0" u="none" strike="noStrike">
                    <a:solidFill>
                      <a:srgbClr val="1B3A5C"/>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2021</c:v>
                </c:pt>
                <c:pt idx="1">
                  <c:v>2022</c:v>
                </c:pt>
                <c:pt idx="2">
                  <c:v>2023</c:v>
                </c:pt>
                <c:pt idx="3">
                  <c:v>2024</c:v>
                </c:pt>
                <c:pt idx="4">
                  <c:v>2025</c:v>
                </c:pt>
              </c:strCache>
            </c:strRef>
          </c:cat>
          <c:val>
            <c:numRef>
              <c:f>Sheet1!$B$2:$B$6</c:f>
              <c:numCache>
                <c:formatCode>General</c:formatCode>
                <c:ptCount val="5"/>
                <c:pt idx="0">
                  <c:v>660.8</c:v>
                </c:pt>
                <c:pt idx="1">
                  <c:v>591.4</c:v>
                </c:pt>
                <c:pt idx="2">
                  <c:v>579</c:v>
                </c:pt>
                <c:pt idx="3">
                  <c:v>598.1</c:v>
                </c:pt>
                <c:pt idx="4">
                  <c:v>617.20000000000005</c:v>
                </c:pt>
              </c:numCache>
            </c:numRef>
          </c:val>
          <c:extLst>
            <c:ext xmlns:c16="http://schemas.microsoft.com/office/drawing/2014/chart" uri="{C3380CC4-5D6E-409C-BE32-E72D297353CC}">
              <c16:uniqueId val="{0000000A-880F-43D5-B232-EA22EE176799}"/>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C9CED4"/>
            </a:solidFill>
            <a:prstDash val="solid"/>
            <a:round/>
          </a:ln>
        </c:spPr>
        <c:txPr>
          <a:bodyPr/>
          <a:lstStyle/>
          <a:p>
            <a:pPr>
              <a:defRPr sz="1200" b="0" i="0" u="none" strike="noStrike">
                <a:solidFill>
                  <a:srgbClr val="1B3A5C"/>
                </a:solidFill>
                <a:latin typeface="Calibri"/>
              </a:defRPr>
            </a:pPr>
            <a:endParaRPr lang="en-US"/>
          </a:p>
        </c:txPr>
        <c:crossAx val="2094734552"/>
        <c:crosses val="autoZero"/>
        <c:auto val="1"/>
        <c:lblAlgn val="ctr"/>
        <c:lblOffset val="100"/>
        <c:noMultiLvlLbl val="1"/>
      </c:catAx>
      <c:valAx>
        <c:axId val="2094734552"/>
        <c:scaling>
          <c:orientation val="minMax"/>
          <c:max val="78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Share of organizations</c:v>
                </c:pt>
              </c:strCache>
            </c:strRef>
          </c:tx>
          <c:spPr>
            <a:solidFill>
              <a:srgbClr val="D2603A">
                <a:alpha val="100000"/>
              </a:srgbClr>
            </a:solidFill>
            <a:effectLst/>
          </c:spPr>
          <c:invertIfNegative val="0"/>
          <c:dLbls>
            <c:numFmt formatCode="0.0&quot;%&quot;" sourceLinked="0"/>
            <c:spPr>
              <a:noFill/>
              <a:ln>
                <a:noFill/>
              </a:ln>
              <a:effectLst/>
            </c:spPr>
            <c:txPr>
              <a:bodyPr/>
              <a:lstStyle/>
              <a:p>
                <a:pPr>
                  <a:defRPr sz="1100" b="1" i="0" u="none" strike="noStrike">
                    <a:solidFill>
                      <a:srgbClr val="1B3A5C"/>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Under $500K</c:v>
                </c:pt>
                <c:pt idx="1">
                  <c:v>$10M and above</c:v>
                </c:pt>
              </c:strCache>
            </c:strRef>
          </c:cat>
          <c:val>
            <c:numRef>
              <c:f>Sheet1!$B$2:$B$3</c:f>
              <c:numCache>
                <c:formatCode>General</c:formatCode>
                <c:ptCount val="2"/>
                <c:pt idx="0">
                  <c:v>66.599999999999994</c:v>
                </c:pt>
                <c:pt idx="1">
                  <c:v>5.4</c:v>
                </c:pt>
              </c:numCache>
            </c:numRef>
          </c:val>
          <c:extLst>
            <c:ext xmlns:c16="http://schemas.microsoft.com/office/drawing/2014/chart" uri="{C3380CC4-5D6E-409C-BE32-E72D297353CC}">
              <c16:uniqueId val="{00000000-A91A-40C6-8BA1-3FC991FA2AA4}"/>
            </c:ext>
          </c:extLst>
        </c:ser>
        <c:ser>
          <c:idx val="1"/>
          <c:order val="1"/>
          <c:tx>
            <c:strRef>
              <c:f>Sheet1!$C$1</c:f>
              <c:strCache>
                <c:ptCount val="1"/>
                <c:pt idx="0">
                  <c:v>Share of spending</c:v>
                </c:pt>
              </c:strCache>
            </c:strRef>
          </c:tx>
          <c:spPr>
            <a:solidFill>
              <a:srgbClr val="1B3A5C">
                <a:alpha val="100000"/>
              </a:srgbClr>
            </a:solidFill>
            <a:effectLst/>
          </c:spPr>
          <c:invertIfNegative val="0"/>
          <c:dLbls>
            <c:numFmt formatCode="0.0&quot;%&quot;" sourceLinked="0"/>
            <c:spPr>
              <a:noFill/>
              <a:ln>
                <a:noFill/>
              </a:ln>
              <a:effectLst/>
            </c:spPr>
            <c:txPr>
              <a:bodyPr/>
              <a:lstStyle/>
              <a:p>
                <a:pPr>
                  <a:defRPr sz="1100" b="1" i="0" u="none" strike="noStrike">
                    <a:solidFill>
                      <a:srgbClr val="1B3A5C"/>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Under $500K</c:v>
                </c:pt>
                <c:pt idx="1">
                  <c:v>$10M and above</c:v>
                </c:pt>
              </c:strCache>
            </c:strRef>
          </c:cat>
          <c:val>
            <c:numRef>
              <c:f>Sheet1!$C$2:$C$3</c:f>
              <c:numCache>
                <c:formatCode>General</c:formatCode>
                <c:ptCount val="2"/>
                <c:pt idx="0">
                  <c:v>1.7</c:v>
                </c:pt>
                <c:pt idx="1">
                  <c:v>88.1</c:v>
                </c:pt>
              </c:numCache>
            </c:numRef>
          </c:val>
          <c:extLst>
            <c:ext xmlns:c16="http://schemas.microsoft.com/office/drawing/2014/chart" uri="{C3380CC4-5D6E-409C-BE32-E72D297353CC}">
              <c16:uniqueId val="{00000001-A91A-40C6-8BA1-3FC991FA2AA4}"/>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C9CED4"/>
            </a:solidFill>
            <a:prstDash val="solid"/>
            <a:round/>
          </a:ln>
        </c:spPr>
        <c:txPr>
          <a:bodyPr/>
          <a:lstStyle/>
          <a:p>
            <a:pPr>
              <a:defRPr sz="1200" b="0" i="0" u="none" strike="noStrike">
                <a:solidFill>
                  <a:srgbClr val="1B3A5C"/>
                </a:solidFill>
                <a:latin typeface="Calibri"/>
              </a:defRPr>
            </a:pPr>
            <a:endParaRPr lang="en-US"/>
          </a:p>
        </c:txPr>
        <c:crossAx val="2094734552"/>
        <c:crosses val="autoZero"/>
        <c:auto val="1"/>
        <c:lblAlgn val="ctr"/>
        <c:lblOffset val="100"/>
        <c:noMultiLvlLbl val="1"/>
      </c:catAx>
      <c:valAx>
        <c:axId val="2094734552"/>
        <c:scaling>
          <c:orientation val="minMax"/>
          <c:max val="11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100">
              <a:solidFill>
                <a:srgbClr val="1B3A5C"/>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Measured outcome</c:v>
          </c:tx>
          <c:spPr>
            <a:solidFill>
              <a:srgbClr val="2A9D8F"/>
            </a:solidFill>
          </c:spPr>
          <c:invertIfNegative val="1"/>
          <c:dPt>
            <c:idx val="0"/>
            <c:invertIfNegative val="0"/>
            <c:bubble3D val="0"/>
            <c:spPr>
              <a:solidFill>
                <a:srgbClr val="E4572E"/>
              </a:solidFill>
            </c:spPr>
            <c:extLst>
              <c:ext xmlns:c16="http://schemas.microsoft.com/office/drawing/2014/chart" uri="{C3380CC4-5D6E-409C-BE32-E72D297353CC}">
                <c16:uniqueId val="{00000001-55D1-4D42-93B0-0DCBD6FAA9A9}"/>
              </c:ext>
            </c:extLst>
          </c:dPt>
          <c:dPt>
            <c:idx val="1"/>
            <c:invertIfNegative val="0"/>
            <c:bubble3D val="0"/>
            <c:extLst>
              <c:ext xmlns:c16="http://schemas.microsoft.com/office/drawing/2014/chart" uri="{C3380CC4-5D6E-409C-BE32-E72D297353CC}">
                <c16:uniqueId val="{00000003-55D1-4D42-93B0-0DCBD6FAA9A9}"/>
              </c:ext>
            </c:extLst>
          </c:dPt>
          <c:dPt>
            <c:idx val="2"/>
            <c:invertIfNegative val="0"/>
            <c:bubble3D val="0"/>
            <c:spPr>
              <a:solidFill>
                <a:srgbClr val="AEB6C2"/>
              </a:solidFill>
            </c:spPr>
            <c:extLst>
              <c:ext xmlns:c16="http://schemas.microsoft.com/office/drawing/2014/chart" uri="{C3380CC4-5D6E-409C-BE32-E72D297353CC}">
                <c16:uniqueId val="{00000005-55D1-4D42-93B0-0DCBD6FAA9A9}"/>
              </c:ext>
            </c:extLst>
          </c:dPt>
          <c:dLbls>
            <c:spPr>
              <a:noFill/>
              <a:ln>
                <a:noFill/>
              </a:ln>
            </c:spPr>
            <c:txPr>
              <a:bodyPr anchorCtr="1"/>
              <a:lstStyle/>
              <a:p>
                <a:pPr>
                  <a:defRPr sz="1500" b="1">
                    <a:solidFill>
                      <a:srgbClr val="1B2A41"/>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Dollar ranking</c:v>
              </c:pt>
              <c:pt idx="1">
                <c:v>Probability ranking</c:v>
              </c:pt>
              <c:pt idx="2">
                <c:v>Gift-size baseline</c:v>
              </c:pt>
            </c:strLit>
          </c:cat>
          <c:val>
            <c:numLit>
              <c:formatCode>0.0%</c:formatCode>
              <c:ptCount val="3"/>
              <c:pt idx="0">
                <c:v>0.22259999999999999</c:v>
              </c:pt>
              <c:pt idx="1">
                <c:v>0.24249999999999999</c:v>
              </c:pt>
              <c:pt idx="2">
                <c:v>0.1973</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55D1-4D42-93B0-0DCBD6FAA9A9}"/>
            </c:ext>
          </c:extLst>
        </c:ser>
        <c:dLbls>
          <c:dLblPos val="outEnd"/>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nextTo"/>
        <c:spPr>
          <a:ln w="0">
            <a:noFill/>
          </a:ln>
        </c:spPr>
        <c:txPr>
          <a:bodyPr anchorCtr="1"/>
          <a:lstStyle/>
          <a:p>
            <a:pPr>
              <a:defRPr sz="1425">
                <a:solidFill>
                  <a:srgbClr val="1B2A41"/>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0.31"/>
          <c:min val="0"/>
        </c:scaling>
        <c:delete val="0"/>
        <c:axPos val="b"/>
        <c:numFmt formatCode="0.0%" sourceLinked="1"/>
        <c:majorTickMark val="none"/>
        <c:minorTickMark val="none"/>
        <c:tickLblPos val="nextTo"/>
        <c:spPr>
          <a:ln w="9525">
            <a:solidFill>
              <a:srgbClr val="D4D4D4"/>
            </a:solidFill>
            <a:prstDash val="solid"/>
          </a:ln>
        </c:spPr>
        <c:txPr>
          <a:bodyPr anchorCtr="1"/>
          <a:lstStyle/>
          <a:p>
            <a:pPr>
              <a:defRPr sz="900">
                <a:solidFill>
                  <a:srgbClr val="6B7280"/>
                </a:solidFill>
                <a:latin typeface="Calibri"/>
                <a:ea typeface="Calibri"/>
                <a:cs typeface="Calibri"/>
              </a:defRPr>
            </a:pPr>
            <a:endParaRPr lang="en-US"/>
          </a:p>
        </c:txPr>
        <c:crossAx val="48650112"/>
        <c:crosses val="autoZero"/>
        <c:crossBetween val="between"/>
        <c:majorUnit val="0.1"/>
        <c:minorUnit val="5.000000000000001E-2"/>
      </c:valAx>
      <c:spPr>
        <a:solidFill>
          <a:srgbClr val="FFFFFF"/>
        </a:solidFill>
      </c:spPr>
    </c:plotArea>
    <c:plotVisOnly val="1"/>
    <c:dispBlanksAs val="zero"/>
    <c:showDLblsOverMax val="1"/>
  </c:chart>
  <c:spPr>
    <a:solidFill>
      <a:srgbClr val="FFFFFF"/>
    </a:solidFill>
  </c:spPr>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Measured outcome</c:v>
          </c:tx>
          <c:spPr>
            <a:solidFill>
              <a:srgbClr val="2A9D8F"/>
            </a:solidFill>
          </c:spPr>
          <c:invertIfNegative val="1"/>
          <c:dPt>
            <c:idx val="0"/>
            <c:invertIfNegative val="0"/>
            <c:bubble3D val="0"/>
            <c:spPr>
              <a:solidFill>
                <a:srgbClr val="E4572E"/>
              </a:solidFill>
            </c:spPr>
            <c:extLst>
              <c:ext xmlns:c16="http://schemas.microsoft.com/office/drawing/2014/chart" uri="{C3380CC4-5D6E-409C-BE32-E72D297353CC}">
                <c16:uniqueId val="{00000001-1813-DC44-A3E4-28D60E953B8F}"/>
              </c:ext>
            </c:extLst>
          </c:dPt>
          <c:dPt>
            <c:idx val="2"/>
            <c:invertIfNegative val="0"/>
            <c:bubble3D val="0"/>
            <c:spPr>
              <a:solidFill>
                <a:srgbClr val="AEB6C2"/>
              </a:solidFill>
            </c:spPr>
            <c:extLst>
              <c:ext xmlns:c16="http://schemas.microsoft.com/office/drawing/2014/chart" uri="{C3380CC4-5D6E-409C-BE32-E72D297353CC}">
                <c16:uniqueId val="{00000003-1813-DC44-A3E4-28D60E953B8F}"/>
              </c:ext>
            </c:extLst>
          </c:dPt>
          <c:dLbls>
            <c:spPr>
              <a:noFill/>
              <a:ln>
                <a:noFill/>
              </a:ln>
            </c:spPr>
            <c:txPr>
              <a:bodyPr anchorCtr="1"/>
              <a:lstStyle/>
              <a:p>
                <a:pPr>
                  <a:defRPr sz="1500" b="1">
                    <a:solidFill>
                      <a:srgbClr val="1B2A41"/>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Dollar ranking</c:v>
              </c:pt>
              <c:pt idx="1">
                <c:v>Probability ranking</c:v>
              </c:pt>
              <c:pt idx="2">
                <c:v>Gift-size baseline</c:v>
              </c:pt>
            </c:strLit>
          </c:cat>
          <c:val>
            <c:numLit>
              <c:formatCode>\$0.00</c:formatCode>
              <c:ptCount val="3"/>
              <c:pt idx="0">
                <c:v>119.712</c:v>
              </c:pt>
              <c:pt idx="1">
                <c:v>107.7085</c:v>
              </c:pt>
              <c:pt idx="2">
                <c:v>116.2577</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1813-DC44-A3E4-28D60E953B8F}"/>
            </c:ext>
          </c:extLst>
        </c:ser>
        <c:dLbls>
          <c:dLblPos val="outEnd"/>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nextTo"/>
        <c:spPr>
          <a:ln w="0">
            <a:noFill/>
          </a:ln>
        </c:spPr>
        <c:txPr>
          <a:bodyPr anchorCtr="1"/>
          <a:lstStyle/>
          <a:p>
            <a:pPr>
              <a:defRPr sz="1425">
                <a:solidFill>
                  <a:srgbClr val="1B2A41"/>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145"/>
          <c:min val="0"/>
        </c:scaling>
        <c:delete val="0"/>
        <c:axPos val="b"/>
        <c:numFmt formatCode="\$0.00" sourceLinked="1"/>
        <c:majorTickMark val="none"/>
        <c:minorTickMark val="none"/>
        <c:tickLblPos val="nextTo"/>
        <c:spPr>
          <a:ln w="9525">
            <a:solidFill>
              <a:srgbClr val="D4D4D4"/>
            </a:solidFill>
            <a:prstDash val="solid"/>
          </a:ln>
        </c:spPr>
        <c:txPr>
          <a:bodyPr anchorCtr="1"/>
          <a:lstStyle/>
          <a:p>
            <a:pPr>
              <a:defRPr sz="900">
                <a:solidFill>
                  <a:srgbClr val="6B7280"/>
                </a:solidFill>
                <a:latin typeface="Calibri"/>
                <a:ea typeface="Calibri"/>
                <a:cs typeface="Calibri"/>
              </a:defRPr>
            </a:pPr>
            <a:endParaRPr lang="en-US"/>
          </a:p>
        </c:txPr>
        <c:crossAx val="48650112"/>
        <c:crosses val="autoZero"/>
        <c:crossBetween val="between"/>
        <c:minorUnit val="50"/>
      </c:valAx>
      <c:spPr>
        <a:solidFill>
          <a:srgbClr val="FFFFFF"/>
        </a:solidFill>
      </c:spPr>
    </c:plotArea>
    <c:plotVisOnly val="1"/>
    <c:dispBlanksAs val="zero"/>
    <c:showDLblsOverMax val="1"/>
  </c:chart>
  <c:spPr>
    <a:solidFill>
      <a:srgbClr val="FFFFFF"/>
    </a:solidFill>
  </c:spPr>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Measured outcome</c:v>
          </c:tx>
          <c:spPr>
            <a:solidFill>
              <a:srgbClr val="2A9D8F"/>
            </a:solidFill>
          </c:spPr>
          <c:invertIfNegative val="1"/>
          <c:dPt>
            <c:idx val="3"/>
            <c:invertIfNegative val="0"/>
            <c:bubble3D val="0"/>
            <c:spPr>
              <a:solidFill>
                <a:srgbClr val="E4572E"/>
              </a:solidFill>
            </c:spPr>
            <c:extLst>
              <c:ext xmlns:c16="http://schemas.microsoft.com/office/drawing/2014/chart" uri="{C3380CC4-5D6E-409C-BE32-E72D297353CC}">
                <c16:uniqueId val="{00000001-35FE-584F-90D1-FA17954DBB10}"/>
              </c:ext>
            </c:extLst>
          </c:dPt>
          <c:dPt>
            <c:idx val="4"/>
            <c:invertIfNegative val="0"/>
            <c:bubble3D val="0"/>
            <c:spPr>
              <a:solidFill>
                <a:srgbClr val="E4572E"/>
              </a:solidFill>
            </c:spPr>
            <c:extLst>
              <c:ext xmlns:c16="http://schemas.microsoft.com/office/drawing/2014/chart" uri="{C3380CC4-5D6E-409C-BE32-E72D297353CC}">
                <c16:uniqueId val="{00000003-35FE-584F-90D1-FA17954DBB10}"/>
              </c:ext>
            </c:extLst>
          </c:dPt>
          <c:dLbls>
            <c:spPr>
              <a:noFill/>
              <a:ln>
                <a:noFill/>
              </a:ln>
            </c:spPr>
            <c:txPr>
              <a:bodyPr anchorCtr="1"/>
              <a:lstStyle/>
              <a:p>
                <a:pPr>
                  <a:defRPr sz="1500" b="1">
                    <a:solidFill>
                      <a:srgbClr val="1B2A41"/>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School state</c:v>
              </c:pt>
              <c:pt idx="1">
                <c:v>School poverty level</c:v>
              </c:pt>
              <c:pt idx="2">
                <c:v>Project total price</c:v>
              </c:pt>
              <c:pt idx="3">
                <c:v>First-month gift count</c:v>
              </c:pt>
              <c:pt idx="4">
                <c:v>First-month gift amount</c:v>
              </c:pt>
            </c:strLit>
          </c:cat>
          <c:val>
            <c:numLit>
              <c:formatCode>0.0000</c:formatCode>
              <c:ptCount val="5"/>
              <c:pt idx="0">
                <c:v>4.0000000000000001E-3</c:v>
              </c:pt>
              <c:pt idx="1">
                <c:v>5.1000000000000004E-3</c:v>
              </c:pt>
              <c:pt idx="2">
                <c:v>6.7999999999999996E-3</c:v>
              </c:pt>
              <c:pt idx="3">
                <c:v>1.6799999999999999E-2</c:v>
              </c:pt>
              <c:pt idx="4">
                <c:v>3.1300000000000001E-2</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35FE-584F-90D1-FA17954DBB10}"/>
            </c:ext>
          </c:extLst>
        </c:ser>
        <c:dLbls>
          <c:dLblPos val="outEnd"/>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nextTo"/>
        <c:spPr>
          <a:ln w="0">
            <a:noFill/>
          </a:ln>
        </c:spPr>
        <c:txPr>
          <a:bodyPr anchorCtr="1"/>
          <a:lstStyle/>
          <a:p>
            <a:pPr>
              <a:defRPr sz="1425">
                <a:solidFill>
                  <a:srgbClr val="1B2A41"/>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3.7999999999999999E-2"/>
          <c:min val="0"/>
        </c:scaling>
        <c:delete val="0"/>
        <c:axPos val="b"/>
        <c:numFmt formatCode="0.0000" sourceLinked="1"/>
        <c:majorTickMark val="none"/>
        <c:minorTickMark val="none"/>
        <c:tickLblPos val="nextTo"/>
        <c:spPr>
          <a:ln w="9525">
            <a:solidFill>
              <a:srgbClr val="D4D4D4"/>
            </a:solidFill>
            <a:prstDash val="solid"/>
          </a:ln>
        </c:spPr>
        <c:txPr>
          <a:bodyPr anchorCtr="1"/>
          <a:lstStyle/>
          <a:p>
            <a:pPr>
              <a:defRPr sz="900">
                <a:solidFill>
                  <a:srgbClr val="6B7280"/>
                </a:solidFill>
                <a:latin typeface="Calibri"/>
                <a:ea typeface="Calibri"/>
                <a:cs typeface="Calibri"/>
              </a:defRPr>
            </a:pPr>
            <a:endParaRPr lang="en-US"/>
          </a:p>
        </c:txPr>
        <c:crossAx val="48650112"/>
        <c:crosses val="autoZero"/>
        <c:crossBetween val="between"/>
      </c:valAx>
      <c:spPr>
        <a:solidFill>
          <a:srgbClr val="FFFFFF"/>
        </a:solidFill>
      </c:spPr>
    </c:plotArea>
    <c:plotVisOnly val="1"/>
    <c:dispBlanksAs val="zero"/>
    <c:showDLblsOverMax val="1"/>
  </c:chart>
  <c:spPr>
    <a:solidFill>
      <a:srgbClr val="FFFFFF"/>
    </a:solidFill>
  </c:spPr>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6B7280"/>
                </a:solidFill>
                <a:latin typeface="Calibri"/>
              </a:defRPr>
            </a:pPr>
            <a:r>
              <a:rPr lang="en-US" sz="1200" b="0" i="0" u="none" strike="noStrike">
                <a:solidFill>
                  <a:srgbClr val="6B7280"/>
                </a:solidFill>
                <a:latin typeface="Calibri"/>
              </a:rPr>
              <a:t>Repeat $ per donor on the list (top 10%, 2017–18)</a:t>
            </a:r>
          </a:p>
        </c:rich>
      </c:tx>
      <c:overlay val="0"/>
    </c:title>
    <c:autoTitleDeleted val="0"/>
    <c:plotArea>
      <c:layout/>
      <c:barChart>
        <c:barDir val="bar"/>
        <c:grouping val="clustered"/>
        <c:varyColors val="0"/>
        <c:ser>
          <c:idx val="0"/>
          <c:order val="0"/>
          <c:tx>
            <c:strRef>
              <c:f>Sheet1!$B$1</c:f>
              <c:strCache>
                <c:ptCount val="1"/>
                <c:pt idx="0">
                  <c:v>$ per call</c:v>
                </c:pt>
              </c:strCache>
            </c:strRef>
          </c:tx>
          <c:spPr>
            <a:solidFill>
              <a:srgbClr val="C9CED6"/>
            </a:solidFill>
            <a:effectLst/>
          </c:spPr>
          <c:invertIfNegative val="0"/>
          <c:dPt>
            <c:idx val="0"/>
            <c:invertIfNegative val="0"/>
            <c:bubble3D val="0"/>
            <c:extLst>
              <c:ext xmlns:c16="http://schemas.microsoft.com/office/drawing/2014/chart" uri="{C3380CC4-5D6E-409C-BE32-E72D297353CC}">
                <c16:uniqueId val="{00000001-4A15-E845-A37E-3BDBAFDB1D1F}"/>
              </c:ext>
            </c:extLst>
          </c:dPt>
          <c:dPt>
            <c:idx val="1"/>
            <c:invertIfNegative val="0"/>
            <c:bubble3D val="0"/>
            <c:extLst>
              <c:ext xmlns:c16="http://schemas.microsoft.com/office/drawing/2014/chart" uri="{C3380CC4-5D6E-409C-BE32-E72D297353CC}">
                <c16:uniqueId val="{00000003-4A15-E845-A37E-3BDBAFDB1D1F}"/>
              </c:ext>
            </c:extLst>
          </c:dPt>
          <c:dPt>
            <c:idx val="2"/>
            <c:invertIfNegative val="0"/>
            <c:bubble3D val="0"/>
            <c:extLst>
              <c:ext xmlns:c16="http://schemas.microsoft.com/office/drawing/2014/chart" uri="{C3380CC4-5D6E-409C-BE32-E72D297353CC}">
                <c16:uniqueId val="{00000005-4A15-E845-A37E-3BDBAFDB1D1F}"/>
              </c:ext>
            </c:extLst>
          </c:dPt>
          <c:dPt>
            <c:idx val="3"/>
            <c:invertIfNegative val="0"/>
            <c:bubble3D val="0"/>
            <c:spPr>
              <a:solidFill>
                <a:srgbClr val="2A9D8F"/>
              </a:solidFill>
              <a:effectLst/>
            </c:spPr>
            <c:extLst>
              <c:ext xmlns:c16="http://schemas.microsoft.com/office/drawing/2014/chart" uri="{C3380CC4-5D6E-409C-BE32-E72D297353CC}">
                <c16:uniqueId val="{00000007-4A15-E845-A37E-3BDBAFDB1D1F}"/>
              </c:ext>
            </c:extLst>
          </c:dPt>
          <c:dPt>
            <c:idx val="4"/>
            <c:invertIfNegative val="0"/>
            <c:bubble3D val="0"/>
            <c:spPr>
              <a:solidFill>
                <a:srgbClr val="E4572E"/>
              </a:solidFill>
              <a:effectLst/>
            </c:spPr>
            <c:extLst>
              <c:ext xmlns:c16="http://schemas.microsoft.com/office/drawing/2014/chart" uri="{C3380CC4-5D6E-409C-BE32-E72D297353CC}">
                <c16:uniqueId val="{00000009-4A15-E845-A37E-3BDBAFDB1D1F}"/>
              </c:ext>
            </c:extLst>
          </c:dPt>
          <c:dLbls>
            <c:numFmt formatCode="&quot;$&quot;0" sourceLinked="0"/>
            <c:spPr>
              <a:noFill/>
              <a:ln>
                <a:noFill/>
              </a:ln>
              <a:effectLst/>
            </c:spPr>
            <c:txPr>
              <a:bodyPr/>
              <a:lstStyle/>
              <a:p>
                <a:pPr>
                  <a:defRPr sz="1300" b="1" i="0" u="none" strike="noStrike">
                    <a:solidFill>
                      <a:srgbClr val="1B2A41"/>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Random</c:v>
                </c:pt>
                <c:pt idx="1">
                  <c:v>Everyone (average)</c:v>
                </c:pt>
                <c:pt idx="2">
                  <c:v>First-month gift count</c:v>
                </c:pt>
                <c:pt idx="3">
                  <c:v>Biggest gift first</c:v>
                </c:pt>
                <c:pt idx="4">
                  <c:v>Our model</c:v>
                </c:pt>
              </c:strCache>
            </c:strRef>
          </c:cat>
          <c:val>
            <c:numRef>
              <c:f>Sheet1!$B$2:$B$6</c:f>
              <c:numCache>
                <c:formatCode>General</c:formatCode>
                <c:ptCount val="5"/>
                <c:pt idx="0">
                  <c:v>18.66</c:v>
                </c:pt>
                <c:pt idx="1">
                  <c:v>20.61</c:v>
                </c:pt>
                <c:pt idx="2">
                  <c:v>85.3</c:v>
                </c:pt>
                <c:pt idx="3">
                  <c:v>116.26</c:v>
                </c:pt>
                <c:pt idx="4">
                  <c:v>120.09</c:v>
                </c:pt>
              </c:numCache>
            </c:numRef>
          </c:val>
          <c:extLst>
            <c:ext xmlns:c16="http://schemas.microsoft.com/office/drawing/2014/chart" uri="{C3380CC4-5D6E-409C-BE32-E72D297353CC}">
              <c16:uniqueId val="{0000000A-4A15-E845-A37E-3BDBAFDB1D1F}"/>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C9CED6"/>
            </a:solidFill>
            <a:prstDash val="solid"/>
            <a:round/>
          </a:ln>
        </c:spPr>
        <c:txPr>
          <a:bodyPr/>
          <a:lstStyle/>
          <a:p>
            <a:pPr>
              <a:defRPr sz="1200" b="0" i="0" u="none" strike="noStrike">
                <a:solidFill>
                  <a:srgbClr val="1B2A41"/>
                </a:solidFill>
                <a:latin typeface="Calibri"/>
              </a:defRPr>
            </a:pPr>
            <a:endParaRPr lang="en-US"/>
          </a:p>
        </c:txPr>
        <c:crossAx val="2094734552"/>
        <c:crosses val="autoZero"/>
        <c:auto val="1"/>
        <c:lblAlgn val="ctr"/>
        <c:lblOffset val="100"/>
        <c:noMultiLvlLbl val="1"/>
      </c:catAx>
      <c:valAx>
        <c:axId val="2094734552"/>
        <c:scaling>
          <c:orientation val="minMax"/>
          <c:max val="14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6325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speaker: Malorie</a:t>
            </a:r>
          </a:p>
          <a:p>
            <a:endParaRPr/>
          </a:p>
          <a:p>
            <a:r>
              <a:t>- Hi, we're Group 11. Our question: when a nonprofit gets a new donor, who will give again, and who might need a nudge to come back?</a:t>
            </a:r>
          </a:p>
          <a:p>
            <a:r>
              <a:t>- Disclosure: I founded GoGood Technologies, a donor engagement platform. Nonprofits like our stakeholder are GoGood's customers. That's why we picked this problem, so weigh what we say accordingly.</a:t>
            </a:r>
          </a:p>
          <a:p>
            <a:endParaRPr/>
          </a:p>
          <a:p>
            <a:r>
              <a:t>Contributors: whole team. Malorie proposed the topic; the team chose it by vote.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Suggested speaker: Malorie
- Through GoGood, I'm working with the Darden School Foundation. Alumni volunteers (class agents) reach out to classmates, each outreach gets logged, and we track whether it's followed by a gift.
- The goal is to learn whether outreach actually increases the chance someone gives again. Our class project can't answer that on its own: nobody in our data was randomly contacted. That's exactly why the Darden work matters, and we'll come back to it at the end.
- Why you should care: as Darden alumni, you'll be asked to give. Many of you will sit on boards or lead organizations that ask others for money. You'll be on both sides of this problem.
[Malorie: adjust the Darden details to what you're comfortable sharing publicly.]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B27D2-35F5-22D3-2CEA-C0E7437618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836D93-C66B-D689-860D-03AA9F8B00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669EBD-FD0A-358F-E57F-5F981EEFA7BF}"/>
              </a:ext>
            </a:extLst>
          </p:cNvPr>
          <p:cNvSpPr>
            <a:spLocks noGrp="1"/>
          </p:cNvSpPr>
          <p:nvPr>
            <p:ph type="body" idx="1"/>
          </p:nvPr>
        </p:nvSpPr>
        <p:spPr/>
        <p:txBody>
          <a:bodyPr/>
          <a:lstStyle/>
          <a:p>
            <a:r>
              <a:rPr lang="en-US"/>
              <a:t>Suggested speaker: Malorie
- Through GoGood, I'm working with the Darden School Foundation. Alumni volunteers (class agents) reach out to classmates, each outreach gets logged, and we track whether it's followed by a gift.
- The goal is to learn whether outreach actually increases the chance someone gives again. Our class project can't answer that on its own: nobody in our data was randomly contacted. That's exactly why the Darden work matters, and we'll come back to it at the end.
- Why you should care: as Darden alumni, you'll be asked to give. Many of you will sit on boards or lead organizations that ask others for money. You'll be on both sides of this problem.
[Malorie: adjust the Darden details to what you're comfortable sharing publicly.]</a:t>
            </a:r>
          </a:p>
        </p:txBody>
      </p:sp>
      <p:sp>
        <p:nvSpPr>
          <p:cNvPr id="4" name="Slide Number Placeholder 3">
            <a:extLst>
              <a:ext uri="{FF2B5EF4-FFF2-40B4-BE49-F238E27FC236}">
                <a16:creationId xmlns:a16="http://schemas.microsoft.com/office/drawing/2014/main" id="{0189581B-1480-E817-85BB-B22EBCBC7265}"/>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0796948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Household participation fell from 66.2% in 2000 to 49.6% in 2018 to 46.9% in 2020. Fewer Americans give at all, and those who do give a smaller share of their income: individual giving is 1.7% of disposable personal income, against a peak of 2.4% in 2000 and 2005. For a small nonprofit, acquiring a new donor gets harder every year.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982CA-6CF3-55AF-5FA2-75534EEAB3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0DC7B4-0897-655A-56DB-1F14538E67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F92A27-DB8B-9A7F-15CF-126A78B458A3}"/>
              </a:ext>
            </a:extLst>
          </p:cNvPr>
          <p:cNvSpPr>
            <a:spLocks noGrp="1"/>
          </p:cNvSpPr>
          <p:nvPr>
            <p:ph type="body" idx="1"/>
          </p:nvPr>
        </p:nvSpPr>
        <p:spPr/>
        <p:txBody>
          <a:bodyPr/>
          <a:lstStyle/>
          <a:p>
            <a:r>
              <a:rPr lang="en-US"/>
              <a:t>Household participation fell from 66.2% in 2000 to 49.6% in 2018 to 46.9% in 2020. Fewer Americans give at all, and those who do give a smaller share of their income: individual giving is 1.7% of disposable personal income, against a peak of 2.4% in 2000 and 2005. For a small nonprofit, acquiring a new donor gets harder every year.</a:t>
            </a:r>
          </a:p>
        </p:txBody>
      </p:sp>
      <p:sp>
        <p:nvSpPr>
          <p:cNvPr id="4" name="Slide Number Placeholder 3">
            <a:extLst>
              <a:ext uri="{FF2B5EF4-FFF2-40B4-BE49-F238E27FC236}">
                <a16:creationId xmlns:a16="http://schemas.microsoft.com/office/drawing/2014/main" id="{45C84902-F0FD-3852-D623-59150E82DCAC}"/>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0691088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Total giving hit $617.2 billion in 2025, the first year above $600 billion and a record in current dollars. Adjusted for inflation it is the second-highest year on record, still short of the 2021 peak. Giving fell 10.5% in real terms in 2022 and another 2.1% in 2023. Where growth has come from: foundations now supply 19% of all giving, up from 7% in 1986-1990, while individuals have fallen from 80% to 64%. A nonprofit with no major-gift officer cannot reach any of that top-end growth.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Two-thirds of reporting public charities, about 212,000 organizations, operate on under $500,000 a year, and together they account for less than 2% of sector spending. The largest 5.4% of charities account for 88% of it. So the money is concentrated at the top and the organizations are concentrated at the bottom. Our stakeholder sits in that bottom two-thirds: no analyst, no major-gift officer, and the retention problem hits her hardest.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latin typeface="Calibri"/>
                <a:ea typeface="Calibri"/>
                <a:cs typeface="Calibri"/>
              </a:rPr>
              <a:t>Rodolfo</a:t>
            </a:r>
          </a:p>
        </p:txBody>
      </p:sp>
    </p:spTree>
    <p:extLst>
      <p:ext uri="{BB962C8B-B14F-4D97-AF65-F5344CB8AC3E}">
        <p14:creationId xmlns:p14="http://schemas.microsoft.com/office/powerpoint/2010/main" val="36305895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Suggested speaker: Rodolfo
- </a:t>
            </a:r>
            <a:r>
              <a:rPr lang="en-US" err="1"/>
              <a:t>DonorsChoose</a:t>
            </a:r>
            <a:r>
              <a:rPr lang="en-US"/>
              <a:t> is a site where teachers post classroom project requests and anyone can fund them.
- Public data from ICPSR (study 37898). Anyone can download it with a free account.
- Two files: Donations (11.4M rows) and Projects (2.1M rows). We used every row, no sampling. It all ran on a laptop.
- What we know about each first gift: amount, month, whether it was matched, paid with a gift card, or teacher-referred. Plus project details: school state, subject, grade, cost, and school poverty level.
- What we don't have: exact dates (month only), donor demographics, and the project essay text (hidden by ICPSR).
Contributors: Bakul (data pipeline), Reid (joining the project details).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speaker: </a:t>
            </a:r>
            <a:r>
              <a:rPr lang="en-US" err="1"/>
              <a:t>Rodolf</a:t>
            </a:r>
            <a:endParaRPr lang="en-US"/>
          </a:p>
          <a:p>
            <a:endParaRPr/>
          </a:p>
          <a:p>
            <a:r>
              <a:t>- Meet our stakeholder: a development lead at a nonprofit with about a $500K budget and no data staff.</a:t>
            </a:r>
          </a:p>
          <a:p>
            <a:r>
              <a:t>- Of every 100 new individual donors, only about 13 give again within a year (12.6% in our 2017–18 test years).</a:t>
            </a:r>
          </a:p>
          <a:p>
            <a:r>
              <a:t>- Today, the outreach rep decides who gets personal attention by gift size.</a:t>
            </a:r>
          </a:p>
          <a:p>
            <a:r>
              <a:t>- Our first question: can data predict who gives again better than gift size?</a:t>
            </a:r>
          </a:p>
          <a:p>
            <a:r>
              <a:t>- Next slide: why predicting who gives isn't the whole answer.</a:t>
            </a:r>
          </a:p>
          <a:p>
            <a:endParaRPr/>
          </a:p>
          <a:p>
            <a:r>
              <a:t>Contributors: Malorie (stakeholder framing).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76D58-B530-D6F0-F1A0-3DE45B4EFF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82F673-4083-5C97-9042-416648C922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AF343F-66E2-CD80-165C-B47DF9E66FB9}"/>
              </a:ext>
            </a:extLst>
          </p:cNvPr>
          <p:cNvSpPr>
            <a:spLocks noGrp="1"/>
          </p:cNvSpPr>
          <p:nvPr>
            <p:ph type="body" idx="1"/>
          </p:nvPr>
        </p:nvSpPr>
        <p:spPr/>
        <p:txBody>
          <a:bodyPr/>
          <a:lstStyle/>
          <a:p>
            <a:r>
              <a:t>Suggested speaker: </a:t>
            </a:r>
            <a:r>
              <a:rPr lang="en-US" err="1"/>
              <a:t>Rodolf</a:t>
            </a:r>
            <a:endParaRPr lang="en-US"/>
          </a:p>
          <a:p>
            <a:endParaRPr/>
          </a:p>
          <a:p>
            <a:r>
              <a:t>- Meet our stakeholder: a development lead at a nonprofit with about a $500K budget and no data staff.</a:t>
            </a:r>
          </a:p>
          <a:p>
            <a:r>
              <a:t>- Of every 100 new individual donors, only about 13 give again within a year (12.6% in our 2017–18 test years).</a:t>
            </a:r>
          </a:p>
          <a:p>
            <a:r>
              <a:t>- Today, the outreach rep decides who gets personal attention by gift size.</a:t>
            </a:r>
          </a:p>
          <a:p>
            <a:r>
              <a:t>- Our first question: can data predict who gives again better than gift size?</a:t>
            </a:r>
          </a:p>
          <a:p>
            <a:r>
              <a:t>- Next slide: why predicting who gives isn't the whole answer.</a:t>
            </a:r>
          </a:p>
          <a:p>
            <a:endParaRPr/>
          </a:p>
          <a:p>
            <a:r>
              <a:t>Contributors: Malorie (stakeholder framing).</a:t>
            </a:r>
          </a:p>
        </p:txBody>
      </p:sp>
      <p:sp>
        <p:nvSpPr>
          <p:cNvPr id="4" name="Slide Number Placeholder 3">
            <a:extLst>
              <a:ext uri="{FF2B5EF4-FFF2-40B4-BE49-F238E27FC236}">
                <a16:creationId xmlns:a16="http://schemas.microsoft.com/office/drawing/2014/main" id="{0F553EAD-8401-6E4A-93A0-E43032742FFA}"/>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5778022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speaker: </a:t>
            </a:r>
            <a:r>
              <a:rPr lang="en-US"/>
              <a:t>Bakul</a:t>
            </a:r>
          </a:p>
          <a:p>
            <a:endParaRPr/>
          </a:p>
          <a:p>
            <a:r>
              <a:t>1. Check (Bakul): confirmed the same donor ID shows up across gifts. 25% of donors gave to more than one project, so we can actually track a second gift.</a:t>
            </a:r>
          </a:p>
          <a:p>
            <a:r>
              <a:t>2. Label (Bakul): for each donor, find their first gift month, then check: did they give again in the next 12 months? Extra gifts in the same month count as part of the first gift. Refunds removed. Donors whose 12 months weren't over by the end of 2019 were dropped, not counted as "no." Result: 3.28M first-time donors, 15.8% gave again.</a:t>
            </a:r>
          </a:p>
          <a:p>
            <a:r>
              <a:t>3. Split (Bakul): learn from older donors, test on newer ones. Next slide.</a:t>
            </a:r>
          </a:p>
          <a:p>
            <a:r>
              <a:t>4. Baseline (Bakul): the rule to beat is "biggest first gift first." For first-time donors, everyone has the same recency and frequency, so the classic RFM rule collapses to gift size. It's also what she does today. We also built a simple logistic regression as a floor ($119 per call).</a:t>
            </a:r>
          </a:p>
          <a:p>
            <a:r>
              <a:t>5. Model (Rodolfo, using Reid's project features): gradient boosting, which combines many small decision trees. Two parts: the chance a donor gives again, and how much if they do. Multiply them to get expected dollars per donor.</a:t>
            </a:r>
          </a:p>
          <a:p>
            <a:r>
              <a:t>6. Rank (Malorie and Bakul): sort donors by expected repeat dollars. The team also built a cost comparison (expected value vs. the cost of outreach), but the cost per contact is still a placeholder, and that math assumes outreach causes the gift, which we can't show yet.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Suggested speaker: </a:t>
            </a:r>
            <a:r>
              <a:rPr lang="en-US"/>
              <a:t>Bakul</a:t>
            </a:r>
          </a:p>
          <a:p>
            <a:endParaRPr/>
          </a:p>
          <a:p>
            <a:r>
              <a:t>- Everything the model sees is something the development lead would know the day the first gift arrives. That rule is what keeps it honest.</a:t>
            </a:r>
          </a:p>
          <a:p>
            <a:r>
              <a:t>- About the gift: amount, how many classrooms they funded in that first month, whether it was matched by a corporate partner, paid with a gift card, or referred by a teacher, and the month and year.</a:t>
            </a:r>
          </a:p>
          <a:p>
            <a:r>
              <a:t>- About the project they funded: school state, subject, grade, cost, students reached, school poverty level, and how long the project had been posted.</a:t>
            </a:r>
          </a:p>
          <a:p>
            <a:r>
              <a:t>- 19 inputs in total. The slide groups a few of them (for example, there are two cost fields and two subject fields).</a:t>
            </a:r>
          </a:p>
          <a:p>
            <a:r>
              <a:t>- Deliberately left out: the thank-you packet flag (no record of when it was sent), teacher ID (the model would just memorize specific teachers), anything that happened after the gift, and essay text (hidden in the public data).</a:t>
            </a:r>
          </a:p>
          <a:p>
            <a:endParaRPr/>
          </a:p>
          <a:p>
            <a:r>
              <a:t>Contributors: Rodolfo (model inputs), Reid (project details join), Bakul (donation-side inputs).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01895-3DC3-51C7-9FEE-A633503EF2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C7918E-BB60-A0EF-C28E-4FC52E8024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252D09-3940-1B10-72E8-92960A358C1B}"/>
              </a:ext>
            </a:extLst>
          </p:cNvPr>
          <p:cNvSpPr>
            <a:spLocks noGrp="1"/>
          </p:cNvSpPr>
          <p:nvPr>
            <p:ph type="body" idx="1"/>
          </p:nvPr>
        </p:nvSpPr>
        <p:spPr/>
        <p:txBody>
          <a:bodyPr/>
          <a:lstStyle/>
          <a:p>
            <a:pPr marL="0" lvl="0" indent="0">
              <a:buFont typeface="Arial" panose="020B0604020202020204" pitchFamily="34" charset="0"/>
              <a:buNone/>
            </a:pPr>
            <a:r>
              <a:rPr lang="en-US"/>
              <a:t>Thadeus</a:t>
            </a:r>
          </a:p>
          <a:p>
            <a:pPr marL="0" lvl="0" indent="0">
              <a:buFont typeface="Arial" panose="020B0604020202020204" pitchFamily="34" charset="0"/>
              <a:buNone/>
            </a:pPr>
            <a:endParaRPr lang="en-US"/>
          </a:p>
          <a:p>
            <a:pPr marL="342900" lvl="0" indent="-342900">
              <a:buFont typeface="Arial" panose="020B0604020202020204" pitchFamily="34" charset="0"/>
              <a:buChar char="•"/>
            </a:pPr>
            <a:r>
              <a:rPr lang="en-US"/>
              <a:t>We use these gift and project inputs in </a:t>
            </a:r>
            <a:r>
              <a:rPr lang="en-US" b="1"/>
              <a:t>two models, each predicting something different</a:t>
            </a:r>
            <a:r>
              <a:rPr lang="en-US"/>
              <a:t>.</a:t>
            </a:r>
          </a:p>
          <a:p>
            <a:pPr marL="342900" lvl="0" indent="-342900">
              <a:buFont typeface="Arial" panose="020B0604020202020204" pitchFamily="34" charset="0"/>
              <a:buChar char="•"/>
            </a:pPr>
            <a:r>
              <a:rPr lang="en-US"/>
              <a:t>The first predicts </a:t>
            </a:r>
            <a:r>
              <a:rPr lang="en-US" b="1"/>
              <a:t>the chance of giving again within the next 12 months</a:t>
            </a:r>
            <a:r>
              <a:rPr lang="en-US"/>
              <a:t>. The second estimates </a:t>
            </a:r>
            <a:r>
              <a:rPr lang="en-US" b="1"/>
              <a:t>total giving during that period, if the donor returns</a:t>
            </a:r>
            <a:r>
              <a:rPr lang="en-US"/>
              <a:t>.</a:t>
            </a:r>
          </a:p>
          <a:p>
            <a:pPr marL="342900" lvl="0" indent="-342900">
              <a:buFont typeface="Arial" panose="020B0604020202020204" pitchFamily="34" charset="0"/>
              <a:buChar char="•"/>
            </a:pPr>
            <a:endParaRPr lang="en-US"/>
          </a:p>
          <a:p>
            <a:pPr marL="342900" lvl="0" indent="-342900">
              <a:buFont typeface="Arial" panose="020B0604020202020204" pitchFamily="34" charset="0"/>
              <a:buChar char="•"/>
            </a:pPr>
            <a:r>
              <a:rPr lang="en-US"/>
              <a:t>To illustrate how this helps us prioritize donors for outreach, let’s look at </a:t>
            </a:r>
            <a:r>
              <a:rPr lang="en-US" b="1"/>
              <a:t>three fictional donors</a:t>
            </a:r>
            <a:r>
              <a:rPr lang="en-US"/>
              <a:t>.</a:t>
            </a:r>
          </a:p>
          <a:p>
            <a:pPr marL="342900" lvl="0" indent="-342900">
              <a:buFont typeface="Arial" panose="020B0604020202020204" pitchFamily="34" charset="0"/>
              <a:buChar char="•"/>
            </a:pPr>
            <a:r>
              <a:rPr lang="en-US"/>
              <a:t>The table shows their first-month giving, alongside example predictions from the two models: their return probability and giving amount if they return.</a:t>
            </a:r>
          </a:p>
          <a:p>
            <a:pPr marL="342900" lvl="0" indent="-342900">
              <a:buFont typeface="Arial" panose="020B0604020202020204" pitchFamily="34" charset="0"/>
              <a:buChar char="•"/>
            </a:pPr>
            <a:endParaRPr lang="en-US"/>
          </a:p>
          <a:p>
            <a:pPr marL="342900" lvl="0" indent="-342900">
              <a:buFont typeface="Arial" panose="020B0604020202020204" pitchFamily="34" charset="0"/>
              <a:buChar char="•"/>
            </a:pPr>
            <a:r>
              <a:rPr lang="en-US"/>
              <a:t>This gives us </a:t>
            </a:r>
            <a:r>
              <a:rPr lang="en-US" b="1"/>
              <a:t>three ways to rank them</a:t>
            </a:r>
            <a:r>
              <a:rPr lang="en-US"/>
              <a:t>.</a:t>
            </a:r>
          </a:p>
          <a:p>
            <a:pPr marL="342900" lvl="0" indent="-342900">
              <a:buFont typeface="Arial" panose="020B0604020202020204" pitchFamily="34" charset="0"/>
              <a:buChar char="•"/>
            </a:pPr>
            <a:r>
              <a:rPr lang="en-US"/>
              <a:t>The </a:t>
            </a:r>
            <a:r>
              <a:rPr lang="en-US" b="1"/>
              <a:t>baseline needs no model</a:t>
            </a:r>
            <a:r>
              <a:rPr lang="en-US"/>
              <a:t>: simply select whoever gave the most in the first month. Here, that’s </a:t>
            </a:r>
            <a:r>
              <a:rPr lang="en-US" b="1"/>
              <a:t>A</a:t>
            </a:r>
            <a:r>
              <a:rPr lang="en-US"/>
              <a:t>.</a:t>
            </a:r>
          </a:p>
          <a:p>
            <a:pPr marL="342900" lvl="0" indent="-342900">
              <a:buFont typeface="Arial" panose="020B0604020202020204" pitchFamily="34" charset="0"/>
              <a:buChar char="•"/>
            </a:pPr>
            <a:r>
              <a:rPr lang="en-US"/>
              <a:t>Alternatively, we can select whoever is </a:t>
            </a:r>
            <a:r>
              <a:rPr lang="en-US" b="1"/>
              <a:t>most likely to return</a:t>
            </a:r>
            <a:r>
              <a:rPr lang="en-US"/>
              <a:t>. In this case, that’s </a:t>
            </a:r>
            <a:r>
              <a:rPr lang="en-US" b="1"/>
              <a:t>B</a:t>
            </a:r>
            <a:r>
              <a:rPr lang="en-US"/>
              <a:t>.</a:t>
            </a:r>
          </a:p>
          <a:p>
            <a:pPr marL="342900" lvl="0" indent="-342900">
              <a:buFont typeface="Arial" panose="020B0604020202020204" pitchFamily="34" charset="0"/>
              <a:buChar char="•"/>
            </a:pPr>
            <a:r>
              <a:rPr lang="en-US"/>
              <a:t>Finally, we can consider </a:t>
            </a:r>
            <a:r>
              <a:rPr lang="en-US" b="1"/>
              <a:t>both the chance of returning and the amount they might give</a:t>
            </a:r>
            <a:r>
              <a:rPr lang="en-US"/>
              <a:t>. Multiplying the two gives us a dollar-ranking score. Here, </a:t>
            </a:r>
            <a:r>
              <a:rPr lang="en-US" b="1"/>
              <a:t>C comes first.</a:t>
            </a:r>
          </a:p>
          <a:p>
            <a:pPr marL="342900" lvl="0" indent="-342900">
              <a:buFont typeface="Arial" panose="020B0604020202020204" pitchFamily="34" charset="0"/>
              <a:buChar char="•"/>
            </a:pPr>
            <a:endParaRPr lang="en-US" b="1"/>
          </a:p>
          <a:p>
            <a:pPr marL="342900" lvl="0" indent="-342900">
              <a:buFont typeface="Arial" panose="020B0604020202020204" pitchFamily="34" charset="0"/>
              <a:buChar char="•"/>
            </a:pPr>
            <a:r>
              <a:rPr lang="en-US" b="1"/>
              <a:t>Different objectives produce different lists. How do those lists perform on actual donors?</a:t>
            </a:r>
            <a:endParaRPr lang="en-US"/>
          </a:p>
          <a:p>
            <a:endParaRPr/>
          </a:p>
        </p:txBody>
      </p:sp>
      <p:sp>
        <p:nvSpPr>
          <p:cNvPr id="4" name="Slide Number Placeholder 3">
            <a:extLst>
              <a:ext uri="{FF2B5EF4-FFF2-40B4-BE49-F238E27FC236}">
                <a16:creationId xmlns:a16="http://schemas.microsoft.com/office/drawing/2014/main" id="{441627F8-5BCD-9482-F5D7-2030AE51138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5224014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Thadeus</a:t>
            </a:r>
            <a:endParaRPr lang="en-US"/>
          </a:p>
          <a:p>
            <a:endParaRPr lang="en-US"/>
          </a:p>
          <a:p>
            <a:pPr marL="171450" indent="-171450">
              <a:buFont typeface="Arial" panose="020B0604020202020204" pitchFamily="34" charset="0"/>
              <a:buChar char="•"/>
            </a:pPr>
            <a:r>
              <a:rPr lang="en-US"/>
              <a:t>To see how these ranking methods perform, we applied them on our test data of about 800 thousand donors, </a:t>
            </a:r>
          </a:p>
          <a:p>
            <a:pPr marL="171450" indent="-171450">
              <a:buFont typeface="Arial" panose="020B0604020202020204" pitchFamily="34" charset="0"/>
              <a:buChar char="•"/>
            </a:pPr>
            <a:r>
              <a:rPr lang="en-US"/>
              <a:t>Then we looked at the top 10% of each ranking and compared them by: share of donors that return and the subsequent giving per donor</a:t>
            </a:r>
          </a:p>
          <a:p>
            <a:pPr marL="171450" lvl="0" indent="-171450">
              <a:buFont typeface="Arial" panose="020B0604020202020204" pitchFamily="34" charset="0"/>
              <a:buChar char="•"/>
            </a:pPr>
            <a:endParaRPr lang="en-US"/>
          </a:p>
          <a:p>
            <a:pPr marL="171450" lvl="0" indent="-171450">
              <a:buFont typeface="Arial" panose="020B0604020202020204" pitchFamily="34" charset="0"/>
              <a:buChar char="•"/>
            </a:pPr>
            <a:r>
              <a:rPr lang="en-US"/>
              <a:t>On the left, </a:t>
            </a:r>
            <a:r>
              <a:rPr lang="en-US" b="1"/>
              <a:t>probability ranking finds the most returners</a:t>
            </a:r>
            <a:r>
              <a:rPr lang="en-US"/>
              <a:t>: about 24 out of every 100 selected donors, compared with 20 for the gift-size baseline.</a:t>
            </a:r>
          </a:p>
          <a:p>
            <a:pPr marL="171450" lvl="0" indent="-171450">
              <a:buFont typeface="Arial" panose="020B0604020202020204" pitchFamily="34" charset="0"/>
              <a:buChar char="•"/>
            </a:pPr>
            <a:r>
              <a:rPr lang="en-US"/>
              <a:t>But finding more returners does not necessarily mean finding more dollars. On the right, </a:t>
            </a:r>
            <a:r>
              <a:rPr lang="en-US" b="1"/>
              <a:t>dollar ranking identifies the most giving</a:t>
            </a:r>
            <a:r>
              <a:rPr lang="en-US"/>
              <a:t>: about $120 per selected donor, versus $116 for the baseline.</a:t>
            </a:r>
          </a:p>
          <a:p>
            <a:pPr marL="171450" lvl="0" indent="-171450">
              <a:buFont typeface="Arial" panose="020B0604020202020204" pitchFamily="34" charset="0"/>
              <a:buChar char="•"/>
            </a:pPr>
            <a:r>
              <a:rPr lang="en-US"/>
              <a:t>That is a </a:t>
            </a:r>
            <a:r>
              <a:rPr lang="en-US" b="1"/>
              <a:t>$3.45 improvement, or 3%</a:t>
            </a:r>
            <a:r>
              <a:rPr lang="en-US"/>
              <a:t>. A modest gain over a strong simple rule.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Thadeus</a:t>
            </a:r>
          </a:p>
          <a:p>
            <a:endParaRPr lang="de-DE"/>
          </a:p>
          <a:p>
            <a:pPr marL="342900" lvl="0" indent="-342900">
              <a:buFont typeface="Arial" panose="020B0604020202020204" pitchFamily="34" charset="0"/>
              <a:buChar char="•"/>
            </a:pPr>
            <a:r>
              <a:rPr lang="en-US"/>
              <a:t>Going back to our inputs, lets look at which information mattered most when predicting whether a donor would give again.</a:t>
            </a:r>
          </a:p>
          <a:p>
            <a:pPr marL="342900" lvl="0" indent="-342900">
              <a:buFont typeface="Arial" panose="020B0604020202020204" pitchFamily="34" charset="0"/>
              <a:buChar char="•"/>
            </a:pPr>
            <a:endParaRPr lang="en-US"/>
          </a:p>
          <a:p>
            <a:pPr marL="342900" lvl="0" indent="-342900">
              <a:buFont typeface="Arial" panose="020B0604020202020204" pitchFamily="34" charset="0"/>
              <a:buChar char="•"/>
            </a:pPr>
            <a:r>
              <a:rPr lang="en-US"/>
              <a:t>The two most important inputs are </a:t>
            </a:r>
            <a:r>
              <a:rPr lang="en-US" b="1"/>
              <a:t>how much they gave in the first month and how many gifts they made</a:t>
            </a:r>
            <a:r>
              <a:rPr lang="en-US"/>
              <a:t>.</a:t>
            </a:r>
          </a:p>
          <a:p>
            <a:pPr marL="342900" lvl="0" indent="-342900">
              <a:buFont typeface="Arial" panose="020B0604020202020204" pitchFamily="34" charset="0"/>
              <a:buChar char="•"/>
            </a:pPr>
            <a:r>
              <a:rPr lang="en-US"/>
              <a:t>Information about the projects they supported also helps, but plays a smaller role.</a:t>
            </a:r>
          </a:p>
          <a:p>
            <a:pPr marL="342900" lvl="0" indent="-342900">
              <a:buFont typeface="Arial" panose="020B0604020202020204" pitchFamily="34" charset="0"/>
              <a:buChar char="•"/>
            </a:pPr>
            <a:r>
              <a:rPr lang="en-US"/>
              <a:t>This helps explain why gift size alone was already a strong baseline. </a:t>
            </a:r>
            <a:endParaRPr lang="de-DE"/>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Suggested speaker: Reid
- The 80% "win": our first result looked amazing until we saw it was corporate matching programs. We kept both numbers and scored individuals only. One line in the config, reversible.
- Thank-you packet: the codebook doesn't say when it was mailed. If it was mailed after the second gift, it would leak the answer. Professor Albert pre-approved dropping it.
- Data size: our proposal asked about sampling because of file size. Reading the data in 1M-row chunks let us use every row on a laptop.
- Amount: the decision step first assumed every returner gives $50 (</a:t>
            </a:r>
            <a:r>
              <a:rPr lang="en-US" err="1"/>
              <a:t>DonorsChoose's</a:t>
            </a:r>
            <a:r>
              <a:rPr lang="en-US"/>
              <a:t> typical gift). That quietly turned "rank by expected dollars" back into "rank by probability." We switched to the model's own predicted amount per donor.
- Also: project essays are hidden in the public data, so text features were never an option.
Contributors: Bakul (integration), Rodolfo (amount model), Malorie (topic).</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EA4E4-23DE-DFC9-B37F-2EF0E3B651CC}"/>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5E5DDEBC-8156-B108-B092-2026B1ABE8FC}"/>
              </a:ext>
            </a:extLst>
          </p:cNvPr>
          <p:cNvSpPr>
            <a:spLocks noGrp="1"/>
          </p:cNvSpPr>
          <p:nvPr>
            <p:ph type="body" idx="1"/>
          </p:nvPr>
        </p:nvSpPr>
        <p:spPr/>
        <p:txBody>
          <a:bodyPr/>
          <a:lstStyle/>
          <a:p>
            <a:r>
              <a:t>Suggested speaker: </a:t>
            </a:r>
            <a:r>
              <a:rPr lang="en-US"/>
              <a:t>Reid</a:t>
            </a:r>
            <a:endParaRPr/>
          </a:p>
          <a:p>
            <a:endParaRPr/>
          </a:p>
          <a:p>
            <a:r>
              <a:t>- 1. Does outreach cause the gift? Nobody in the data was randomly contacted, so we can't measure what outreach adds. Why it matters: without that, a nonprofit could spend its scarce staff time on donors who'd give anyway.</a:t>
            </a:r>
          </a:p>
          <a:p>
            <a:r>
              <a:t>- 2. Who was already followed up with? Phone calls, personal emails, and </a:t>
            </a:r>
            <a:r>
              <a:rPr err="1"/>
              <a:t>DonorsChoose's</a:t>
            </a:r>
            <a:r>
              <a:t> own marketing emails aren't in the data. Why it matters: some "gave again" may be because of follow-up we can't see. So our model predicts giving under business as usual, not giving "on their own."</a:t>
            </a:r>
          </a:p>
          <a:p>
            <a:r>
              <a:t>- 3. Does the thank-you packet work? It's the one follow-up recorded in our data, but the codebook doesn't say when it was sent, so we left it out of the model. Why it matters: it's the cheapest outreach there is. Next step: check whether packets went to donors above a gift-size cutoff. If so, comparing donors just above and just below that line is a near-experiment.</a:t>
            </a:r>
          </a:p>
          <a:p>
            <a:r>
              <a:t>- 4. Does this carry over? Our label counts a second gift to any classroom on </a:t>
            </a:r>
            <a:r>
              <a:rPr err="1"/>
              <a:t>DonorsChoose</a:t>
            </a:r>
            <a:r>
              <a:t>. A real nonprofit cares about a second gift to them. Next step: rerun with "same teacher or same school" as the label.</a:t>
            </a:r>
          </a:p>
          <a:p>
            <a:r>
              <a:t>- Also worth saying: our ranking is modest (AUC 0.60, where 0.5 is a coin flip), and a small number of big donors hold most of the repeat dollars, so averages can swing.</a:t>
            </a:r>
          </a:p>
        </p:txBody>
      </p:sp>
    </p:spTree>
    <p:extLst>
      <p:ext uri="{BB962C8B-B14F-4D97-AF65-F5344CB8AC3E}">
        <p14:creationId xmlns:p14="http://schemas.microsoft.com/office/powerpoint/2010/main" val="40214642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Suggested speaker: Malorie</a:t>
            </a:r>
          </a:p>
          <a:p>
            <a:endParaRPr/>
          </a:p>
          <a:p>
            <a:r>
              <a:t>- The way to find </a:t>
            </a:r>
            <a:r>
              <a:rPr lang="en-US" err="1"/>
              <a:t>persuadables</a:t>
            </a:r>
            <a:r>
              <a:t> is a randomized test.</a:t>
            </a:r>
          </a:p>
          <a:p>
            <a:r>
              <a:t>- 1. Score donors with the model, so we know who's likely to give anyway.</a:t>
            </a:r>
          </a:p>
          <a:p>
            <a:r>
              <a:t>- 2. Within each score group (high, medium, low), randomly split donors into two groups.</a:t>
            </a:r>
          </a:p>
          <a:p>
            <a:r>
              <a:t>- 3. Class agents reach out to one group first; the other gets business as usual. Randomizing timing (early vs. later outreach) means no one is left out.</a:t>
            </a:r>
          </a:p>
          <a:p>
            <a:r>
              <a:t>- 4. Compare giving between the two groups. The difference is what outreach actually adds, and we see it separately for each score group. That tells us where the </a:t>
            </a:r>
            <a:r>
              <a:rPr lang="en-US" err="1"/>
              <a:t>persuadables</a:t>
            </a:r>
            <a:r>
              <a:t> are.</a:t>
            </a:r>
          </a:p>
          <a:p>
            <a:r>
              <a:t>- What we'd test maps to the psychology from the start: personal outreach (connection), a personal thank-you (gratitude and reciprocity), and an impact update (seeing what your gift did).</a:t>
            </a:r>
          </a:p>
          <a:p>
            <a:r>
              <a:t>- Before the pilot, we can already test the thank-you packet in the </a:t>
            </a:r>
            <a:r>
              <a:rPr lang="en-US" err="1"/>
              <a:t>DonorsChoose</a:t>
            </a:r>
            <a:r>
              <a:t> data.</a:t>
            </a:r>
          </a:p>
          <a:p>
            <a:r>
              <a:t>- This builds on the outreach logging </a:t>
            </a:r>
            <a:r>
              <a:rPr lang="en-US" err="1"/>
              <a:t>GoGood</a:t>
            </a:r>
            <a:r>
              <a:t> is doing with the Darden School Foundation.</a:t>
            </a:r>
          </a:p>
          <a:p>
            <a:endParaRPr/>
          </a:p>
          <a:p>
            <a:r>
              <a:t>[Malorie: adjust the pilot details to what's planned and shareable.]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speaker: Malorie</a:t>
            </a:r>
          </a:p>
          <a:p>
            <a:endParaRPr/>
          </a:p>
          <a:p>
            <a:r>
              <a:t>- I'm the client here, so here's what I'm taking back to </a:t>
            </a:r>
            <a:r>
              <a:rPr lang="en-US" err="1"/>
              <a:t>GoGood</a:t>
            </a:r>
            <a:r>
              <a:t>.</a:t>
            </a:r>
          </a:p>
          <a:p>
            <a:r>
              <a:t>- 1. Use the model to predict who's likely to give again. Its top 10% held 58% of next year's repeat dollars. It runs monthly on a laptop in about 10 minutes, with no API costs. No model? Biggest gift first gets 56%.</a:t>
            </a:r>
          </a:p>
          <a:p>
            <a:r>
              <a:t>- 2. Predicting giving is not the same as knowing who to reach. Likely givers may come back anyway, so personal outreach time may be better spent elsewhere. We don't yet know where.</a:t>
            </a:r>
          </a:p>
          <a:p>
            <a:r>
              <a:t>- 3. Run the Darden pilot to find the </a:t>
            </a:r>
            <a:r>
              <a:rPr lang="en-US" err="1"/>
              <a:t>persuadables</a:t>
            </a:r>
            <a:r>
              <a:t>: randomized outreach, measured within score groups.</a:t>
            </a:r>
          </a:p>
          <a:p>
            <a:r>
              <a:t>- Limit: </a:t>
            </a:r>
            <a:r>
              <a:rPr lang="en-US" err="1"/>
              <a:t>DonorsChoose</a:t>
            </a:r>
            <a:r>
              <a:t> donors give through a marketplace; small-nonprofit donors have a relationship with one organization.</a:t>
            </a:r>
          </a:p>
          <a:p>
            <a:r>
              <a:t>- Close: every number reproduces with one command from our repo. Thank you!</a:t>
            </a:r>
          </a:p>
          <a:p>
            <a:endParaRPr/>
          </a:p>
          <a:p>
            <a:r>
              <a:t>Contributors: Malorie (recommendation), whole team.</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speaker: Thadeus</a:t>
            </a:r>
          </a:p>
          <a:p>
            <a:endParaRPr/>
          </a:p>
          <a:p>
            <a:r>
              <a:t>- 13 label tests: we built a tiny fake dataset of 9 donors where we know the right answer, and tested every labeling rule against it.</a:t>
            </a:r>
          </a:p>
          <a:p>
            <a:r>
              <a:t>- No peeking: every feature had to be something she'd know the day the first gift arrives. We dropped the thank-you packet flag because the codebook doesn't say when it was mailed. We also left out teacher ID so the model couldn't just memorize specific teachers. Honest limit: this was careful judgment field by field, not an automated leakage test.</a:t>
            </a:r>
          </a:p>
          <a:p>
            <a:r>
              <a:t>- Test opened once: the 2017–18 data was scored a single time, after the model was final.</a:t>
            </a:r>
          </a:p>
          <a:p>
            <a:r>
              <a:t>- Bootstrap: +$3.80 per donor, plus or minus $0.51. About 7 standard errors.</a:t>
            </a:r>
          </a:p>
          <a:p>
            <a:r>
              <a:t>- Calibrated: when the model says a group has a 27% chance, about 24% actually come back (top 10% of the list). Overall error is under 1 percentage point. This matters because the call decision uses the model's probabilities directly.</a:t>
            </a:r>
          </a:p>
          <a:p>
            <a:r>
              <a:t>- One command: python evals/run_all.py rebuilds every number from the raw files.</a:t>
            </a:r>
          </a:p>
          <a:p>
            <a:r>
              <a:t>- Also: when Reid's project join was turned into a script, the numbers were re-run and matched his notebook exactly.</a:t>
            </a:r>
          </a:p>
          <a:p>
            <a:endParaRPr/>
          </a:p>
          <a:p>
            <a:r>
              <a:t>Contributors: Bakul (tests, calibration code, run_all), Rodolfo (bootstrap), Reid (join cross-check).</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speaker: Reid</a:t>
            </a:r>
          </a:p>
          <a:p>
            <a:endParaRPr/>
          </a:p>
          <a:p>
            <a:r>
              <a:t>- 62% / 708 organizations: corporate matching programs. The biggest made 66,348 donations in one year. Our first result said "gift size finds 80% of the dollars." It was just finding these organizations, which she already knows. So we scored individual donors only (86% of donors).</a:t>
            </a:r>
          </a:p>
          <a:p>
            <a:r>
              <a:t>- $107 vs $120: if you rank by chance of returning, 24% of your list comes back (vs 22%), but they give less. More donors or more dollars? That's the client's call.</a:t>
            </a:r>
          </a:p>
          <a:p>
            <a:r>
              <a:t>- 14% vs 0%: the model reaches small donors the gift-size rule never picks. These are the people she can't spot by hand. Their hit rate is a bit lower (22% vs 26% for $100+ donors).</a:t>
            </a:r>
          </a:p>
          <a:p>
            <a:r>
              <a:t>- How much vs who: gift size has a weak link to whether someone returns (correlation about 0.13) but a strong link to how much they give if they do (about 0.55). Also: gift-card donors were less likely to return, and repeat rates fell over the years.</a:t>
            </a:r>
          </a:p>
          <a:p>
            <a:endParaRPr/>
          </a:p>
          <a:p>
            <a:r>
              <a:t>Contributors: Reid (feature exploration), Bakul (donor-type profile).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Suggested speaker: Thadeus
- Beat the simple rule first: we built the baselines and the scoring before the model. Biggest gift first turned out to be a tough bar.
- Split by time: donor behavior drifts, so a random split would have made us look better than we are.
- Lock the test: scored once. On the 2016 practice test the edge was only +$1.77, and we treated it as marginal instead of celebrating early.
- AI wrote code, tests checked it: most code was written with Claude Code. Every session is logged in AI-USE-NOTE.md with how it was verified. Real bugs showed up when we moved from fake data to real data: a missing-value format crashed the model, and the first model was undertrained. Both were caught and fixed (Rodolfo).
- Every number reproduces with one command, about 10 minutes on a laptop, no API costs.
Contributors: whole team; Bakul (</a:t>
            </a:r>
            <a:r>
              <a:rPr lang="en-US" err="1"/>
              <a:t>run_all</a:t>
            </a:r>
            <a:r>
              <a:rPr lang="en-US"/>
              <a:t> pipeline), Rodolfo (bug fixes).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Suggested speaker: Thadeus
- We never split the data at random. A random split lets the model learn from the future, and donor behavior changes over time (repeat rates fell in later years).
- Learn: first gifts from 2003 to 2015. Tune: 2016 was our practice test, used for every tuning decision. After tuning, the final model was retrained on everything through 2016.
- Test: 2017 and 2018 first-time donors, about 815,000 individual donors. Locked away and scored exactly once, at the end.
- Why stop at 2018: the data ends in 2019, and a donor needs a full 12 months to show whether they come back.
Contributors: Bakul (split rules), Rodolfo (practice-test loop).</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speaker: </a:t>
            </a:r>
            <a:r>
              <a:rPr lang="en-US" err="1"/>
              <a:t>Rodolf</a:t>
            </a:r>
            <a:endParaRPr lang="en-US"/>
          </a:p>
          <a:p>
            <a:endParaRPr/>
          </a:p>
          <a:p>
            <a:r>
              <a:t>- Meet our stakeholder: a development lead at a nonprofit with about a $500K budget and no data staff.</a:t>
            </a:r>
          </a:p>
          <a:p>
            <a:r>
              <a:t>- Of every 100 new individual donors, only about 13 give again within a year (12.6% in our 2017–18 test years).</a:t>
            </a:r>
          </a:p>
          <a:p>
            <a:r>
              <a:t>- Today, the outreach rep decides who gets personal attention by gift size.</a:t>
            </a:r>
          </a:p>
          <a:p>
            <a:r>
              <a:t>- Our first question: can data predict who gives again better than gift size?</a:t>
            </a:r>
          </a:p>
          <a:p>
            <a:r>
              <a:t>- Next slide: why predicting who gives isn't the whole answer.</a:t>
            </a:r>
          </a:p>
          <a:p>
            <a:endParaRPr/>
          </a:p>
          <a:p>
            <a:r>
              <a:t>Contributors: Malorie (stakeholder framing).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C0577-A55F-D740-82D7-5A82161135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2CB707-B0F5-0F14-3998-D5EAB120A4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6C8C5D-86AB-010C-D785-85A310196A21}"/>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7FC61CA1-D73D-4546-90BD-15DE832B9BC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7780306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Suggested speaker: Reid or Rodolfo</a:t>
            </a:r>
          </a:p>
          <a:p>
            <a:endParaRPr/>
          </a:p>
          <a:p>
            <a:r>
              <a:t>- Half of all new donors (52%) gave under $50. The biggest-gift rule never picks any of them: its top 10% are all $50 and up.</a:t>
            </a:r>
          </a:p>
          <a:p>
            <a:r>
              <a:t>- 14% of our model's list gave under $50. These are the people a development lead would never pick by hand.</a:t>
            </a:r>
          </a:p>
          <a:p>
            <a:r>
              <a:t>- Are they real returners? 22% of them gave again, compared with about 13% for the average new donor. Their hit rate is a bit lower than the model's $100+ picks (26%), but they're real. Whether outreach would change anything for them is still unknown.</a:t>
            </a:r>
          </a:p>
          <a:p>
            <a:r>
              <a:t>- PLACEHOLDER: what they have in common is not yet measured. To run: profile donors on the model's list but not on the gift-size list, and compare classrooms funded, gift card use, state, subject, and grade.</a:t>
            </a:r>
          </a:p>
          <a:p>
            <a:endParaRPr/>
          </a:p>
          <a:p>
            <a:r>
              <a:t>Sources: evals/results/12_calibration_model.txt (14.4% of list under $50; 22.1% return rate on that slice; 26.2% for $100+). The 0% for the gift-size rule follows from 47.6% of donors giving $50 or more, so its top 10% contains no one under $50.</a:t>
            </a:r>
          </a:p>
          <a:p>
            <a:r>
              <a:t>Contributors: Rodolfo (model), Bakul (error analysis by gift size).</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speaker: </a:t>
            </a:r>
            <a:r>
              <a:rPr lang="en-US"/>
              <a:t>Thadeus</a:t>
            </a:r>
            <a:endParaRPr/>
          </a:p>
          <a:p>
            <a:endParaRPr/>
          </a:p>
          <a:p>
            <a:r>
              <a:t>- Each bar: the average dollars given again over the next 12 months by the donors on each list (top 10%). These are real past donations from our locked 2017–18 test set. Nobody was contacted as part of our study.</a:t>
            </a:r>
          </a:p>
          <a:p>
            <a:r>
              <a:t>- Random pick: $19. Everyone (the average donor): $21.</a:t>
            </a:r>
          </a:p>
          <a:p>
            <a:r>
              <a:t>- Biggest gift first: $116. Our model: $120.</a:t>
            </a:r>
          </a:p>
          <a:p>
            <a:r>
              <a:t>- Our model's top 10% accounts for 58% of all repeat dollars. Biggest gift first gets 56%.</a:t>
            </a:r>
          </a:p>
          <a:p>
            <a:r>
              <a:t>- Is +$3.80 real? We re-sampled the same donors many times and compared both lists each time (a paired bootstrap). The gap is about 7 standard errors, so it's not luck.</a:t>
            </a:r>
          </a:p>
          <a:p>
            <a:r>
              <a:t>- Honest read: real, but small. Gift size already carries most of the signal.</a:t>
            </a:r>
          </a:p>
          <a:p>
            <a:r>
              <a:t>- Important: this measures how well we predict giving, not the value of reaching out. Many of these donors are likely sure things who'd give anyway (see the four kinds of donors).</a:t>
            </a:r>
          </a:p>
          <a:p>
            <a:endParaRPr/>
          </a:p>
          <a:p>
            <a:r>
              <a:t>Contributors: Rodolfo (model and bootstrap), Bakul (scoring code).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Suggested speaker: </a:t>
            </a:r>
            <a:r>
              <a:rPr lang="en-US"/>
              <a:t>Reid</a:t>
            </a:r>
            <a:endParaRPr/>
          </a:p>
          <a:p>
            <a:endParaRPr/>
          </a:p>
          <a:p>
            <a:r>
              <a:t>- 1. Does outreach cause the gift? Nobody in the data was randomly contacted, so we can't measure what outreach adds. Why it matters: without that, a nonprofit could spend its scarce staff time on donors who'd give anyway.</a:t>
            </a:r>
          </a:p>
          <a:p>
            <a:r>
              <a:t>- 2. Who was already followed up with? Phone calls, personal emails, and </a:t>
            </a:r>
            <a:r>
              <a:rPr err="1"/>
              <a:t>DonorsChoose's</a:t>
            </a:r>
            <a:r>
              <a:t> own marketing emails aren't in the data. Why it matters: some "gave again" may be because of follow-up we can't see. So our model predicts giving under business as usual, not giving "on their own."</a:t>
            </a:r>
          </a:p>
          <a:p>
            <a:r>
              <a:t>- 3. Does the thank-you packet work? It's the one follow-up recorded in our data, but the codebook doesn't say when it was sent, so we left it out of the model. Why it matters: it's the cheapest outreach there is. Next step: check whether packets went to donors above a gift-size cutoff. If so, comparing donors just above and just below that line is a near-experiment.</a:t>
            </a:r>
          </a:p>
          <a:p>
            <a:r>
              <a:t>- 4. Does this carry over? Our label counts a second gift to any classroom on </a:t>
            </a:r>
            <a:r>
              <a:rPr err="1"/>
              <a:t>DonorsChoose</a:t>
            </a:r>
            <a:r>
              <a:t>. A real nonprofit cares about a second gift to them. Next step: rerun with "same teacher or same school" as the label.</a:t>
            </a:r>
          </a:p>
          <a:p>
            <a:r>
              <a:t>- Also worth saying: our ranking is modest (AUC 0.60, where 0.5 is a coin flip), and a small number of big donors hold most of the repeat dollars, so averages can swing.</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PLACEHOLDER SLIDE: replace with real feature importance from the final model before presenting.</a:t>
            </a:r>
          </a:p>
          <a:p>
            <a:r>
              <a:t>To run: permutation importance (or SHAP) on the final gradient boosting model, on the 2017–18 test set.</a:t>
            </a:r>
          </a:p>
          <a:p>
            <a:endParaRPr/>
          </a:p>
          <a:p>
            <a:r>
              <a:t>Suggested speaker: </a:t>
            </a:r>
            <a:r>
              <a:rPr lang="en-US"/>
              <a:t>Thadeus</a:t>
            </a:r>
            <a:endParaRPr/>
          </a:p>
          <a:p>
            <a:endParaRPr lang="en-US"/>
          </a:p>
          <a:p>
            <a:r>
              <a:t>Current best guess and where it comes from:</a:t>
            </a:r>
          </a:p>
          <a:p>
            <a:r>
              <a:t>- The simpler logistic model's standardized weights, which are the only measured signals in the repo so far: gift amount +0.235, paid with gift card -0.213, year of first gift -0.210, classrooms funded in the first month +0.199. All four are similar in size.</a:t>
            </a:r>
          </a:p>
          <a:p>
            <a:r>
              <a:t>- Supporting evidence for classrooms funded: ranking by that alone found slightly more returners than gift size (20.4% vs 19.7% of the list came back).</a:t>
            </a:r>
          </a:p>
          <a:p>
            <a:r>
              <a:t>- Gift cards: someone else paid, so the donor may feel less personally invested.</a:t>
            </a:r>
          </a:p>
          <a:p>
            <a:r>
              <a:t>- Year: repeat rates fell over time.</a:t>
            </a:r>
          </a:p>
          <a:p>
            <a:r>
              <a:t>- Combinations: Reid found gift size works differently depending on state, subject, and grade. Tree models can learn those combinations; the simple rule can't.</a:t>
            </a:r>
          </a:p>
          <a:p>
            <a:endParaRPr/>
          </a:p>
          <a:p>
            <a:r>
              <a:t>Contributors: Reid (interaction exploration), Bakul (simple model).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ags" Target="../tags/tag1.xml"/><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1.emf"/><Relationship Id="rId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E88E581-77C0-3281-60E6-C77D74F3A806}"/>
              </a:ext>
            </a:extLst>
          </p:cNvPr>
          <p:cNvGraphicFramePr>
            <a:graphicFrameLocks/>
          </p:cNvGraphicFramePr>
          <p:nvPr userDrawn="1">
            <p:custDataLst>
              <p:tags r:id="rId3"/>
            </p:custDataLst>
            <p:extLst>
              <p:ext uri="{D42A27DB-BD31-4B8C-83A1-F6EECF244321}">
                <p14:modId xmlns:p14="http://schemas.microsoft.com/office/powerpoint/2010/main" val="15612687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60" imgH="645" progId="TCLayout.ActiveDocument.1">
                  <p:embed/>
                </p:oleObj>
              </mc:Choice>
              <mc:Fallback>
                <p:oleObj name="thinkcell Slide" r:id="rId4" imgW="660" imgH="645" progId="TCLayout.ActiveDocument.1">
                  <p:embed/>
                  <p:pic>
                    <p:nvPicPr>
                      <p:cNvPr id="2" name="thinkcell data - do not delete" hidden="1">
                        <a:extLst>
                          <a:ext uri="{FF2B5EF4-FFF2-40B4-BE49-F238E27FC236}">
                            <a16:creationId xmlns:a16="http://schemas.microsoft.com/office/drawing/2014/main" id="{BE88E581-77C0-3281-60E6-C77D74F3A80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4.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chart" Target="../charts/chart7.xml"/></Relationships>
</file>

<file path=ppt/slides/_rels/slide16.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0.png"/><Relationship Id="rId7"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3.png"/><Relationship Id="rId4" Type="http://schemas.openxmlformats.org/officeDocument/2006/relationships/image" Target="../media/image31.png"/><Relationship Id="rId9" Type="http://schemas.openxmlformats.org/officeDocument/2006/relationships/image" Target="../media/image3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5.png"/><Relationship Id="rId7"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image" Target="../media/image1.emf"/><Relationship Id="rId4" Type="http://schemas.openxmlformats.org/officeDocument/2006/relationships/oleObject" Target="../embeddings/oleObject2.bin"/></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6.pn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4.png"/><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a:effectLst/>
      </p:bgPr>
    </p:bg>
    <p:spTree>
      <p:nvGrpSpPr>
        <p:cNvPr id="1" name=""/>
        <p:cNvGrpSpPr/>
        <p:nvPr/>
      </p:nvGrpSpPr>
      <p:grpSpPr>
        <a:xfrm>
          <a:off x="0" y="0"/>
          <a:ext cx="0" cy="0"/>
          <a:chOff x="0" y="0"/>
          <a:chExt cx="0" cy="0"/>
        </a:xfrm>
      </p:grpSpPr>
      <p:sp>
        <p:nvSpPr>
          <p:cNvPr id="2" name="Text 0"/>
          <p:cNvSpPr txBox="1"/>
          <p:nvPr/>
        </p:nvSpPr>
        <p:spPr>
          <a:xfrm>
            <a:off x="548640" y="3935307"/>
            <a:ext cx="4572000" cy="274320"/>
          </a:xfrm>
          <a:prstGeom prst="rect">
            <a:avLst/>
          </a:prstGeom>
          <a:noFill/>
          <a:ln/>
        </p:spPr>
        <p:txBody>
          <a:bodyPr wrap="square" lIns="0" tIns="0" rIns="0" bIns="0" rtlCol="0" anchor="ctr"/>
          <a:lstStyle/>
          <a:p>
            <a:pPr marL="0" indent="0">
              <a:buNone/>
            </a:pPr>
            <a:r>
              <a:rPr lang="en-US" sz="1200" b="1" kern="0" spc="300">
                <a:solidFill>
                  <a:srgbClr val="E4572E"/>
                </a:solidFill>
                <a:latin typeface="Calibri" pitchFamily="34" charset="0"/>
                <a:ea typeface="Calibri" pitchFamily="34" charset="-122"/>
                <a:cs typeface="Calibri" pitchFamily="34" charset="-120"/>
              </a:rPr>
              <a:t>GBUS 8496  ·  GROUP 11</a:t>
            </a:r>
            <a:endParaRPr lang="en-US" sz="1200"/>
          </a:p>
        </p:txBody>
      </p:sp>
      <p:sp>
        <p:nvSpPr>
          <p:cNvPr id="3" name="Text 1"/>
          <p:cNvSpPr txBox="1"/>
          <p:nvPr/>
        </p:nvSpPr>
        <p:spPr>
          <a:xfrm>
            <a:off x="548640" y="1325880"/>
            <a:ext cx="5669280" cy="1371600"/>
          </a:xfrm>
          <a:prstGeom prst="rect">
            <a:avLst/>
          </a:prstGeom>
          <a:noFill/>
          <a:ln/>
        </p:spPr>
        <p:txBody>
          <a:bodyPr wrap="square" lIns="0" tIns="0" rIns="0" bIns="0" rtlCol="0" anchor="ctr"/>
          <a:lstStyle/>
          <a:p>
            <a:pPr marL="0" indent="0">
              <a:buNone/>
            </a:pPr>
            <a:r>
              <a:rPr lang="en-US" sz="4400" b="1">
                <a:solidFill>
                  <a:srgbClr val="FFFFFF"/>
                </a:solidFill>
                <a:latin typeface="Cambria"/>
                <a:ea typeface="Cambria"/>
                <a:cs typeface="Cambria" pitchFamily="34" charset="-120"/>
              </a:rPr>
              <a:t>Predicting Giving</a:t>
            </a:r>
            <a:endParaRPr lang="en-US" sz="4400"/>
          </a:p>
        </p:txBody>
      </p:sp>
      <p:sp>
        <p:nvSpPr>
          <p:cNvPr id="5" name="Text 3"/>
          <p:cNvSpPr txBox="1"/>
          <p:nvPr/>
        </p:nvSpPr>
        <p:spPr>
          <a:xfrm>
            <a:off x="548640" y="4206240"/>
            <a:ext cx="8046720" cy="365760"/>
          </a:xfrm>
          <a:prstGeom prst="rect">
            <a:avLst/>
          </a:prstGeom>
          <a:noFill/>
          <a:ln/>
        </p:spPr>
        <p:txBody>
          <a:bodyPr wrap="square" lIns="0" tIns="0" rIns="0" bIns="0" rtlCol="0" anchor="ctr"/>
          <a:lstStyle/>
          <a:p>
            <a:pPr marL="0" indent="0">
              <a:buNone/>
            </a:pPr>
            <a:r>
              <a:rPr lang="en-US" sz="1200">
                <a:solidFill>
                  <a:srgbClr val="9AA5B8"/>
                </a:solidFill>
                <a:latin typeface="Calibri" pitchFamily="34" charset="0"/>
                <a:ea typeface="Calibri" pitchFamily="34" charset="-122"/>
                <a:cs typeface="Calibri" pitchFamily="34" charset="-120"/>
              </a:rPr>
              <a:t>Malorie Black · Reid Jacobson · Thadeus Knospe · Rodolfo Perez-Cortes Manrique · Bakul Badwal</a:t>
            </a:r>
            <a:endParaRPr lang="en-US" sz="1200"/>
          </a:p>
        </p:txBody>
      </p:sp>
      <p:sp>
        <p:nvSpPr>
          <p:cNvPr id="6" name="Shape 4"/>
          <p:cNvSpPr/>
          <p:nvPr/>
        </p:nvSpPr>
        <p:spPr>
          <a:xfrm>
            <a:off x="6492240" y="1234440"/>
            <a:ext cx="2011680" cy="2011680"/>
          </a:xfrm>
          <a:prstGeom prst="ellipse">
            <a:avLst/>
          </a:prstGeom>
          <a:solidFill>
            <a:srgbClr val="E4572E"/>
          </a:solidFill>
          <a:ln w="12700">
            <a:solidFill>
              <a:srgbClr val="E4572E"/>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6995160" y="1737360"/>
            <a:ext cx="1005840" cy="1005840"/>
          </a:xfrm>
          <a:prstGeom prst="rect">
            <a:avLst/>
          </a:prstGeom>
        </p:spPr>
      </p:pic>
    </p:spTree>
    <p:extLst>
      <p:ext uri="{BB962C8B-B14F-4D97-AF65-F5344CB8AC3E}">
        <p14:creationId xmlns:p14="http://schemas.microsoft.com/office/powerpoint/2010/main" val="1210164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marL="0" indent="0">
              <a:buNone/>
            </a:pPr>
            <a:r>
              <a:rPr lang="en-US" sz="3000" b="1">
                <a:solidFill>
                  <a:srgbClr val="1B2A41"/>
                </a:solidFill>
                <a:latin typeface="Cambria" pitchFamily="34" charset="0"/>
                <a:ea typeface="Cambria" pitchFamily="34" charset="-122"/>
                <a:cs typeface="Cambria" pitchFamily="34" charset="-120"/>
              </a:rPr>
              <a:t>Why this matters to us</a:t>
            </a:r>
            <a:endParaRPr lang="en-US" sz="3000"/>
          </a:p>
        </p:txBody>
      </p:sp>
      <p:sp>
        <p:nvSpPr>
          <p:cNvPr id="3" name="Text 1"/>
          <p:cNvSpPr txBox="1"/>
          <p:nvPr/>
        </p:nvSpPr>
        <p:spPr>
          <a:xfrm>
            <a:off x="1052406" y="1593427"/>
            <a:ext cx="3412067" cy="391159"/>
          </a:xfrm>
          <a:prstGeom prst="rect">
            <a:avLst/>
          </a:prstGeom>
          <a:noFill/>
          <a:ln/>
        </p:spPr>
        <p:txBody>
          <a:bodyPr wrap="square" lIns="0" tIns="0" rIns="0" bIns="0" rtlCol="0" anchor="ctr"/>
          <a:lstStyle/>
          <a:p>
            <a:pPr marL="0" indent="0">
              <a:buNone/>
            </a:pPr>
            <a:r>
              <a:rPr lang="en-US" sz="1600" b="1">
                <a:solidFill>
                  <a:srgbClr val="E4572E"/>
                </a:solidFill>
                <a:latin typeface="Calibri" pitchFamily="34" charset="0"/>
                <a:ea typeface="Calibri" pitchFamily="34" charset="-122"/>
                <a:cs typeface="Calibri" pitchFamily="34" charset="-120"/>
              </a:rPr>
              <a:t>GoGood × Darden School Foundation</a:t>
            </a:r>
            <a:endParaRPr lang="en-US" sz="1600"/>
          </a:p>
        </p:txBody>
      </p:sp>
      <p:sp>
        <p:nvSpPr>
          <p:cNvPr id="4" name="Shape 2"/>
          <p:cNvSpPr/>
          <p:nvPr/>
        </p:nvSpPr>
        <p:spPr>
          <a:xfrm>
            <a:off x="723053" y="2200487"/>
            <a:ext cx="868680" cy="868680"/>
          </a:xfrm>
          <a:prstGeom prst="ellipse">
            <a:avLst/>
          </a:prstGeom>
          <a:solidFill>
            <a:srgbClr val="1B2A41"/>
          </a:solidFill>
          <a:ln w="12700">
            <a:solidFill>
              <a:srgbClr val="1B2A41"/>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40223" y="2417657"/>
            <a:ext cx="434340" cy="434340"/>
          </a:xfrm>
          <a:prstGeom prst="rect">
            <a:avLst/>
          </a:prstGeom>
        </p:spPr>
      </p:pic>
      <p:sp>
        <p:nvSpPr>
          <p:cNvPr id="6" name="Text 3"/>
          <p:cNvSpPr txBox="1"/>
          <p:nvPr/>
        </p:nvSpPr>
        <p:spPr>
          <a:xfrm>
            <a:off x="425873" y="3206327"/>
            <a:ext cx="1463040" cy="548640"/>
          </a:xfrm>
          <a:prstGeom prst="rect">
            <a:avLst/>
          </a:prstGeom>
          <a:noFill/>
          <a:ln/>
        </p:spPr>
        <p:txBody>
          <a:bodyPr wrap="square" lIns="0" tIns="0" rIns="0" bIns="0" rtlCol="0" anchor="t"/>
          <a:lstStyle/>
          <a:p>
            <a:pPr marL="0" indent="0" algn="ctr">
              <a:buNone/>
            </a:pPr>
            <a:r>
              <a:rPr lang="en-US" sz="1300">
                <a:solidFill>
                  <a:srgbClr val="1B2A41"/>
                </a:solidFill>
                <a:latin typeface="Calibri" pitchFamily="34" charset="0"/>
                <a:ea typeface="Calibri" pitchFamily="34" charset="-122"/>
                <a:cs typeface="Calibri" pitchFamily="34" charset="-120"/>
              </a:rPr>
              <a:t>Alumni agents reach out</a:t>
            </a:r>
            <a:endParaRPr lang="en-US" sz="1300"/>
          </a:p>
        </p:txBody>
      </p:sp>
      <p:sp>
        <p:nvSpPr>
          <p:cNvPr id="7" name="Shape 4"/>
          <p:cNvSpPr/>
          <p:nvPr/>
        </p:nvSpPr>
        <p:spPr>
          <a:xfrm>
            <a:off x="1683173" y="2634827"/>
            <a:ext cx="502920" cy="0"/>
          </a:xfrm>
          <a:prstGeom prst="line">
            <a:avLst/>
          </a:prstGeom>
          <a:noFill/>
          <a:ln w="19050">
            <a:solidFill>
              <a:srgbClr val="6B7280"/>
            </a:solidFill>
            <a:prstDash val="solid"/>
            <a:tailEnd type="triangle"/>
          </a:ln>
        </p:spPr>
        <p:txBody>
          <a:bodyPr/>
          <a:lstStyle/>
          <a:p>
            <a:endParaRPr lang="en-US"/>
          </a:p>
        </p:txBody>
      </p:sp>
      <p:sp>
        <p:nvSpPr>
          <p:cNvPr id="8" name="Shape 5"/>
          <p:cNvSpPr/>
          <p:nvPr/>
        </p:nvSpPr>
        <p:spPr>
          <a:xfrm>
            <a:off x="2323253" y="2200487"/>
            <a:ext cx="868680" cy="868680"/>
          </a:xfrm>
          <a:prstGeom prst="ellipse">
            <a:avLst/>
          </a:prstGeom>
          <a:solidFill>
            <a:srgbClr val="1B2A41"/>
          </a:solidFill>
          <a:ln w="12700">
            <a:solidFill>
              <a:srgbClr val="1B2A41"/>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2540423" y="2417657"/>
            <a:ext cx="434340" cy="434340"/>
          </a:xfrm>
          <a:prstGeom prst="rect">
            <a:avLst/>
          </a:prstGeom>
        </p:spPr>
      </p:pic>
      <p:sp>
        <p:nvSpPr>
          <p:cNvPr id="10" name="Text 6"/>
          <p:cNvSpPr txBox="1"/>
          <p:nvPr/>
        </p:nvSpPr>
        <p:spPr>
          <a:xfrm>
            <a:off x="2026073" y="3206327"/>
            <a:ext cx="1463040" cy="548640"/>
          </a:xfrm>
          <a:prstGeom prst="rect">
            <a:avLst/>
          </a:prstGeom>
          <a:noFill/>
          <a:ln/>
        </p:spPr>
        <p:txBody>
          <a:bodyPr wrap="square" lIns="0" tIns="0" rIns="0" bIns="0" rtlCol="0" anchor="t"/>
          <a:lstStyle/>
          <a:p>
            <a:pPr marL="0" indent="0" algn="ctr">
              <a:buNone/>
            </a:pPr>
            <a:r>
              <a:rPr lang="en-US" sz="1300">
                <a:solidFill>
                  <a:srgbClr val="1B2A41"/>
                </a:solidFill>
                <a:latin typeface="Calibri" pitchFamily="34" charset="0"/>
                <a:ea typeface="Calibri" pitchFamily="34" charset="-122"/>
                <a:cs typeface="Calibri" pitchFamily="34" charset="-120"/>
              </a:rPr>
              <a:t>Each outreach logged</a:t>
            </a:r>
            <a:endParaRPr lang="en-US" sz="1300"/>
          </a:p>
        </p:txBody>
      </p:sp>
      <p:sp>
        <p:nvSpPr>
          <p:cNvPr id="11" name="Shape 7"/>
          <p:cNvSpPr/>
          <p:nvPr/>
        </p:nvSpPr>
        <p:spPr>
          <a:xfrm>
            <a:off x="3283373" y="2634827"/>
            <a:ext cx="502920" cy="0"/>
          </a:xfrm>
          <a:prstGeom prst="line">
            <a:avLst/>
          </a:prstGeom>
          <a:noFill/>
          <a:ln w="19050">
            <a:solidFill>
              <a:srgbClr val="6B7280"/>
            </a:solidFill>
            <a:prstDash val="solid"/>
            <a:tailEnd type="triangle"/>
          </a:ln>
        </p:spPr>
        <p:txBody>
          <a:bodyPr/>
          <a:lstStyle/>
          <a:p>
            <a:endParaRPr lang="en-US"/>
          </a:p>
        </p:txBody>
      </p:sp>
      <p:sp>
        <p:nvSpPr>
          <p:cNvPr id="12" name="Shape 8"/>
          <p:cNvSpPr/>
          <p:nvPr/>
        </p:nvSpPr>
        <p:spPr>
          <a:xfrm>
            <a:off x="3923453" y="2200487"/>
            <a:ext cx="868680" cy="868680"/>
          </a:xfrm>
          <a:prstGeom prst="ellipse">
            <a:avLst/>
          </a:prstGeom>
          <a:solidFill>
            <a:srgbClr val="E4572E"/>
          </a:solidFill>
          <a:ln w="12700">
            <a:solidFill>
              <a:srgbClr val="E4572E"/>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4140623" y="2417657"/>
            <a:ext cx="434340" cy="434340"/>
          </a:xfrm>
          <a:prstGeom prst="rect">
            <a:avLst/>
          </a:prstGeom>
        </p:spPr>
      </p:pic>
      <p:sp>
        <p:nvSpPr>
          <p:cNvPr id="14" name="Text 9"/>
          <p:cNvSpPr txBox="1"/>
          <p:nvPr/>
        </p:nvSpPr>
        <p:spPr>
          <a:xfrm>
            <a:off x="3626273" y="3206327"/>
            <a:ext cx="1463040" cy="548640"/>
          </a:xfrm>
          <a:prstGeom prst="rect">
            <a:avLst/>
          </a:prstGeom>
          <a:noFill/>
          <a:ln/>
        </p:spPr>
        <p:txBody>
          <a:bodyPr wrap="square" lIns="0" tIns="0" rIns="0" bIns="0" rtlCol="0" anchor="t"/>
          <a:lstStyle/>
          <a:p>
            <a:pPr marL="0" indent="0" algn="ctr">
              <a:buNone/>
            </a:pPr>
            <a:r>
              <a:rPr lang="en-US" sz="1300">
                <a:solidFill>
                  <a:srgbClr val="1B2A41"/>
                </a:solidFill>
                <a:latin typeface="Calibri" pitchFamily="34" charset="0"/>
                <a:ea typeface="Calibri" pitchFamily="34" charset="-122"/>
                <a:cs typeface="Calibri" pitchFamily="34" charset="-120"/>
              </a:rPr>
              <a:t>Did they give again?</a:t>
            </a:r>
            <a:endParaRPr lang="en-US" sz="1300"/>
          </a:p>
        </p:txBody>
      </p:sp>
    </p:spTree>
    <p:extLst>
      <p:ext uri="{BB962C8B-B14F-4D97-AF65-F5344CB8AC3E}">
        <p14:creationId xmlns:p14="http://schemas.microsoft.com/office/powerpoint/2010/main" val="34342901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F6D10-53EC-ADB9-6B96-93E80C34EBC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A6F4B03-4E12-5BE8-814F-B5E0B0FD9646}"/>
              </a:ext>
            </a:extLst>
          </p:cNvPr>
          <p:cNvSpPr txBox="1"/>
          <p:nvPr/>
        </p:nvSpPr>
        <p:spPr>
          <a:xfrm>
            <a:off x="548640" y="320040"/>
            <a:ext cx="8046720" cy="640080"/>
          </a:xfrm>
          <a:prstGeom prst="rect">
            <a:avLst/>
          </a:prstGeom>
          <a:noFill/>
          <a:ln/>
        </p:spPr>
        <p:txBody>
          <a:bodyPr wrap="square" lIns="0" tIns="0" rIns="0" bIns="0" rtlCol="0" anchor="ctr"/>
          <a:lstStyle/>
          <a:p>
            <a:pPr marL="0" indent="0">
              <a:buNone/>
            </a:pPr>
            <a:r>
              <a:rPr lang="en-US" sz="3000" b="1">
                <a:solidFill>
                  <a:srgbClr val="1B2A41"/>
                </a:solidFill>
                <a:latin typeface="Cambria" pitchFamily="34" charset="0"/>
                <a:ea typeface="Cambria" pitchFamily="34" charset="-122"/>
                <a:cs typeface="Cambria" pitchFamily="34" charset="-120"/>
              </a:rPr>
              <a:t>Why this matters to us</a:t>
            </a:r>
            <a:endParaRPr lang="en-US" sz="3000"/>
          </a:p>
        </p:txBody>
      </p:sp>
      <p:sp>
        <p:nvSpPr>
          <p:cNvPr id="3" name="Text 1">
            <a:extLst>
              <a:ext uri="{FF2B5EF4-FFF2-40B4-BE49-F238E27FC236}">
                <a16:creationId xmlns:a16="http://schemas.microsoft.com/office/drawing/2014/main" id="{74BCCA9F-DB37-B4EE-3ABB-472691346770}"/>
              </a:ext>
            </a:extLst>
          </p:cNvPr>
          <p:cNvSpPr txBox="1"/>
          <p:nvPr/>
        </p:nvSpPr>
        <p:spPr>
          <a:xfrm>
            <a:off x="1052406" y="1593427"/>
            <a:ext cx="3412067" cy="391159"/>
          </a:xfrm>
          <a:prstGeom prst="rect">
            <a:avLst/>
          </a:prstGeom>
          <a:noFill/>
          <a:ln/>
        </p:spPr>
        <p:txBody>
          <a:bodyPr wrap="square" lIns="0" tIns="0" rIns="0" bIns="0" rtlCol="0" anchor="ctr"/>
          <a:lstStyle/>
          <a:p>
            <a:pPr marL="0" indent="0">
              <a:buNone/>
            </a:pPr>
            <a:r>
              <a:rPr lang="en-US" sz="1600" b="1">
                <a:solidFill>
                  <a:srgbClr val="E4572E"/>
                </a:solidFill>
                <a:latin typeface="Calibri" pitchFamily="34" charset="0"/>
                <a:ea typeface="Calibri" pitchFamily="34" charset="-122"/>
                <a:cs typeface="Calibri" pitchFamily="34" charset="-120"/>
              </a:rPr>
              <a:t>GoGood × Darden School Foundation</a:t>
            </a:r>
            <a:endParaRPr lang="en-US" sz="1600"/>
          </a:p>
        </p:txBody>
      </p:sp>
      <p:sp>
        <p:nvSpPr>
          <p:cNvPr id="4" name="Shape 2">
            <a:extLst>
              <a:ext uri="{FF2B5EF4-FFF2-40B4-BE49-F238E27FC236}">
                <a16:creationId xmlns:a16="http://schemas.microsoft.com/office/drawing/2014/main" id="{589331E5-6354-E52C-47A2-BB2098DC72F5}"/>
              </a:ext>
            </a:extLst>
          </p:cNvPr>
          <p:cNvSpPr/>
          <p:nvPr/>
        </p:nvSpPr>
        <p:spPr>
          <a:xfrm>
            <a:off x="723053" y="2200487"/>
            <a:ext cx="868680" cy="868680"/>
          </a:xfrm>
          <a:prstGeom prst="ellipse">
            <a:avLst/>
          </a:prstGeom>
          <a:solidFill>
            <a:srgbClr val="1B2A41"/>
          </a:solidFill>
          <a:ln w="12700">
            <a:solidFill>
              <a:srgbClr val="1B2A41"/>
            </a:solidFill>
            <a:prstDash val="solid"/>
          </a:ln>
        </p:spPr>
        <p:txBody>
          <a:bodyPr/>
          <a:lstStyle/>
          <a:p>
            <a:endParaRPr lang="en-US"/>
          </a:p>
        </p:txBody>
      </p:sp>
      <p:pic>
        <p:nvPicPr>
          <p:cNvPr id="5" name="Image 0" descr="preencoded.png">
            <a:extLst>
              <a:ext uri="{FF2B5EF4-FFF2-40B4-BE49-F238E27FC236}">
                <a16:creationId xmlns:a16="http://schemas.microsoft.com/office/drawing/2014/main" id="{90E72D33-C3F0-DAAC-D4B7-6262D5542F17}"/>
              </a:ext>
            </a:extLst>
          </p:cNvPr>
          <p:cNvPicPr>
            <a:picLocks noChangeAspect="1"/>
          </p:cNvPicPr>
          <p:nvPr/>
        </p:nvPicPr>
        <p:blipFill>
          <a:blip r:embed="rId3"/>
          <a:stretch>
            <a:fillRect/>
          </a:stretch>
        </p:blipFill>
        <p:spPr>
          <a:xfrm>
            <a:off x="940223" y="2417657"/>
            <a:ext cx="434340" cy="434340"/>
          </a:xfrm>
          <a:prstGeom prst="rect">
            <a:avLst/>
          </a:prstGeom>
        </p:spPr>
      </p:pic>
      <p:sp>
        <p:nvSpPr>
          <p:cNvPr id="6" name="Text 3">
            <a:extLst>
              <a:ext uri="{FF2B5EF4-FFF2-40B4-BE49-F238E27FC236}">
                <a16:creationId xmlns:a16="http://schemas.microsoft.com/office/drawing/2014/main" id="{7ED9CA4B-71AA-8EB5-1E94-097A75BC8EDA}"/>
              </a:ext>
            </a:extLst>
          </p:cNvPr>
          <p:cNvSpPr txBox="1"/>
          <p:nvPr/>
        </p:nvSpPr>
        <p:spPr>
          <a:xfrm>
            <a:off x="425873" y="3206327"/>
            <a:ext cx="1463040" cy="548640"/>
          </a:xfrm>
          <a:prstGeom prst="rect">
            <a:avLst/>
          </a:prstGeom>
          <a:noFill/>
          <a:ln/>
        </p:spPr>
        <p:txBody>
          <a:bodyPr wrap="square" lIns="0" tIns="0" rIns="0" bIns="0" rtlCol="0" anchor="t"/>
          <a:lstStyle/>
          <a:p>
            <a:pPr marL="0" indent="0" algn="ctr">
              <a:buNone/>
            </a:pPr>
            <a:r>
              <a:rPr lang="en-US" sz="1300">
                <a:solidFill>
                  <a:srgbClr val="1B2A41"/>
                </a:solidFill>
                <a:latin typeface="Calibri" pitchFamily="34" charset="0"/>
                <a:ea typeface="Calibri" pitchFamily="34" charset="-122"/>
                <a:cs typeface="Calibri" pitchFamily="34" charset="-120"/>
              </a:rPr>
              <a:t>Alumni agents reach out</a:t>
            </a:r>
            <a:endParaRPr lang="en-US" sz="1300"/>
          </a:p>
        </p:txBody>
      </p:sp>
      <p:sp>
        <p:nvSpPr>
          <p:cNvPr id="7" name="Shape 4">
            <a:extLst>
              <a:ext uri="{FF2B5EF4-FFF2-40B4-BE49-F238E27FC236}">
                <a16:creationId xmlns:a16="http://schemas.microsoft.com/office/drawing/2014/main" id="{5D6FB5C3-0624-86A5-1BB5-90464DE7DE53}"/>
              </a:ext>
            </a:extLst>
          </p:cNvPr>
          <p:cNvSpPr/>
          <p:nvPr/>
        </p:nvSpPr>
        <p:spPr>
          <a:xfrm>
            <a:off x="1683173" y="2634827"/>
            <a:ext cx="502920" cy="0"/>
          </a:xfrm>
          <a:prstGeom prst="line">
            <a:avLst/>
          </a:prstGeom>
          <a:noFill/>
          <a:ln w="19050">
            <a:solidFill>
              <a:srgbClr val="6B7280"/>
            </a:solidFill>
            <a:prstDash val="solid"/>
            <a:tailEnd type="triangle"/>
          </a:ln>
        </p:spPr>
        <p:txBody>
          <a:bodyPr/>
          <a:lstStyle/>
          <a:p>
            <a:endParaRPr lang="en-US"/>
          </a:p>
        </p:txBody>
      </p:sp>
      <p:sp>
        <p:nvSpPr>
          <p:cNvPr id="8" name="Shape 5">
            <a:extLst>
              <a:ext uri="{FF2B5EF4-FFF2-40B4-BE49-F238E27FC236}">
                <a16:creationId xmlns:a16="http://schemas.microsoft.com/office/drawing/2014/main" id="{0A4991DD-4949-CB3E-EB43-884822B594A2}"/>
              </a:ext>
            </a:extLst>
          </p:cNvPr>
          <p:cNvSpPr/>
          <p:nvPr/>
        </p:nvSpPr>
        <p:spPr>
          <a:xfrm>
            <a:off x="2323253" y="2200487"/>
            <a:ext cx="868680" cy="868680"/>
          </a:xfrm>
          <a:prstGeom prst="ellipse">
            <a:avLst/>
          </a:prstGeom>
          <a:solidFill>
            <a:srgbClr val="1B2A41"/>
          </a:solidFill>
          <a:ln w="12700">
            <a:solidFill>
              <a:srgbClr val="1B2A41"/>
            </a:solidFill>
            <a:prstDash val="solid"/>
          </a:ln>
        </p:spPr>
        <p:txBody>
          <a:bodyPr/>
          <a:lstStyle/>
          <a:p>
            <a:endParaRPr lang="en-US"/>
          </a:p>
        </p:txBody>
      </p:sp>
      <p:pic>
        <p:nvPicPr>
          <p:cNvPr id="9" name="Image 1" descr="preencoded.png">
            <a:extLst>
              <a:ext uri="{FF2B5EF4-FFF2-40B4-BE49-F238E27FC236}">
                <a16:creationId xmlns:a16="http://schemas.microsoft.com/office/drawing/2014/main" id="{079B755C-B471-963F-6F9B-960DCF4B4D87}"/>
              </a:ext>
            </a:extLst>
          </p:cNvPr>
          <p:cNvPicPr>
            <a:picLocks noChangeAspect="1"/>
          </p:cNvPicPr>
          <p:nvPr/>
        </p:nvPicPr>
        <p:blipFill>
          <a:blip r:embed="rId4"/>
          <a:stretch>
            <a:fillRect/>
          </a:stretch>
        </p:blipFill>
        <p:spPr>
          <a:xfrm>
            <a:off x="2540423" y="2417657"/>
            <a:ext cx="434340" cy="434340"/>
          </a:xfrm>
          <a:prstGeom prst="rect">
            <a:avLst/>
          </a:prstGeom>
        </p:spPr>
      </p:pic>
      <p:sp>
        <p:nvSpPr>
          <p:cNvPr id="10" name="Text 6">
            <a:extLst>
              <a:ext uri="{FF2B5EF4-FFF2-40B4-BE49-F238E27FC236}">
                <a16:creationId xmlns:a16="http://schemas.microsoft.com/office/drawing/2014/main" id="{F08598C6-E90E-2FCB-9AAD-3160616E604B}"/>
              </a:ext>
            </a:extLst>
          </p:cNvPr>
          <p:cNvSpPr txBox="1"/>
          <p:nvPr/>
        </p:nvSpPr>
        <p:spPr>
          <a:xfrm>
            <a:off x="2026073" y="3206327"/>
            <a:ext cx="1463040" cy="548640"/>
          </a:xfrm>
          <a:prstGeom prst="rect">
            <a:avLst/>
          </a:prstGeom>
          <a:noFill/>
          <a:ln/>
        </p:spPr>
        <p:txBody>
          <a:bodyPr wrap="square" lIns="0" tIns="0" rIns="0" bIns="0" rtlCol="0" anchor="t"/>
          <a:lstStyle/>
          <a:p>
            <a:pPr marL="0" indent="0" algn="ctr">
              <a:buNone/>
            </a:pPr>
            <a:r>
              <a:rPr lang="en-US" sz="1300">
                <a:solidFill>
                  <a:srgbClr val="1B2A41"/>
                </a:solidFill>
                <a:latin typeface="Calibri" pitchFamily="34" charset="0"/>
                <a:ea typeface="Calibri" pitchFamily="34" charset="-122"/>
                <a:cs typeface="Calibri" pitchFamily="34" charset="-120"/>
              </a:rPr>
              <a:t>Each outreach logged</a:t>
            </a:r>
            <a:endParaRPr lang="en-US" sz="1300"/>
          </a:p>
        </p:txBody>
      </p:sp>
      <p:sp>
        <p:nvSpPr>
          <p:cNvPr id="11" name="Shape 7">
            <a:extLst>
              <a:ext uri="{FF2B5EF4-FFF2-40B4-BE49-F238E27FC236}">
                <a16:creationId xmlns:a16="http://schemas.microsoft.com/office/drawing/2014/main" id="{2E1F77F9-978A-03FD-9274-F766291C06CB}"/>
              </a:ext>
            </a:extLst>
          </p:cNvPr>
          <p:cNvSpPr/>
          <p:nvPr/>
        </p:nvSpPr>
        <p:spPr>
          <a:xfrm>
            <a:off x="3283373" y="2634827"/>
            <a:ext cx="502920" cy="0"/>
          </a:xfrm>
          <a:prstGeom prst="line">
            <a:avLst/>
          </a:prstGeom>
          <a:noFill/>
          <a:ln w="19050">
            <a:solidFill>
              <a:srgbClr val="6B7280"/>
            </a:solidFill>
            <a:prstDash val="solid"/>
            <a:tailEnd type="triangle"/>
          </a:ln>
        </p:spPr>
        <p:txBody>
          <a:bodyPr/>
          <a:lstStyle/>
          <a:p>
            <a:endParaRPr lang="en-US"/>
          </a:p>
        </p:txBody>
      </p:sp>
      <p:sp>
        <p:nvSpPr>
          <p:cNvPr id="12" name="Shape 8">
            <a:extLst>
              <a:ext uri="{FF2B5EF4-FFF2-40B4-BE49-F238E27FC236}">
                <a16:creationId xmlns:a16="http://schemas.microsoft.com/office/drawing/2014/main" id="{BE97451E-0307-45E0-E36C-F0E126508E02}"/>
              </a:ext>
            </a:extLst>
          </p:cNvPr>
          <p:cNvSpPr/>
          <p:nvPr/>
        </p:nvSpPr>
        <p:spPr>
          <a:xfrm>
            <a:off x="3923453" y="2200487"/>
            <a:ext cx="868680" cy="868680"/>
          </a:xfrm>
          <a:prstGeom prst="ellipse">
            <a:avLst/>
          </a:prstGeom>
          <a:solidFill>
            <a:srgbClr val="E4572E"/>
          </a:solidFill>
          <a:ln w="12700">
            <a:solidFill>
              <a:srgbClr val="E4572E"/>
            </a:solidFill>
            <a:prstDash val="solid"/>
          </a:ln>
        </p:spPr>
        <p:txBody>
          <a:bodyPr/>
          <a:lstStyle/>
          <a:p>
            <a:endParaRPr lang="en-US"/>
          </a:p>
        </p:txBody>
      </p:sp>
      <p:pic>
        <p:nvPicPr>
          <p:cNvPr id="13" name="Image 2" descr="preencoded.png">
            <a:extLst>
              <a:ext uri="{FF2B5EF4-FFF2-40B4-BE49-F238E27FC236}">
                <a16:creationId xmlns:a16="http://schemas.microsoft.com/office/drawing/2014/main" id="{9F971C5E-FF2D-9941-ECDB-AA27DDBFDB50}"/>
              </a:ext>
            </a:extLst>
          </p:cNvPr>
          <p:cNvPicPr>
            <a:picLocks noChangeAspect="1"/>
          </p:cNvPicPr>
          <p:nvPr/>
        </p:nvPicPr>
        <p:blipFill>
          <a:blip r:embed="rId5"/>
          <a:stretch>
            <a:fillRect/>
          </a:stretch>
        </p:blipFill>
        <p:spPr>
          <a:xfrm>
            <a:off x="4140623" y="2417657"/>
            <a:ext cx="434340" cy="434340"/>
          </a:xfrm>
          <a:prstGeom prst="rect">
            <a:avLst/>
          </a:prstGeom>
        </p:spPr>
      </p:pic>
      <p:sp>
        <p:nvSpPr>
          <p:cNvPr id="14" name="Text 9">
            <a:extLst>
              <a:ext uri="{FF2B5EF4-FFF2-40B4-BE49-F238E27FC236}">
                <a16:creationId xmlns:a16="http://schemas.microsoft.com/office/drawing/2014/main" id="{9125BCC5-C2CE-89E0-2187-8D89608CD616}"/>
              </a:ext>
            </a:extLst>
          </p:cNvPr>
          <p:cNvSpPr txBox="1"/>
          <p:nvPr/>
        </p:nvSpPr>
        <p:spPr>
          <a:xfrm>
            <a:off x="3626273" y="3206327"/>
            <a:ext cx="1463040" cy="548640"/>
          </a:xfrm>
          <a:prstGeom prst="rect">
            <a:avLst/>
          </a:prstGeom>
          <a:noFill/>
          <a:ln/>
        </p:spPr>
        <p:txBody>
          <a:bodyPr wrap="square" lIns="0" tIns="0" rIns="0" bIns="0" rtlCol="0" anchor="t"/>
          <a:lstStyle/>
          <a:p>
            <a:pPr marL="0" indent="0" algn="ctr">
              <a:buNone/>
            </a:pPr>
            <a:r>
              <a:rPr lang="en-US" sz="1300">
                <a:solidFill>
                  <a:srgbClr val="1B2A41"/>
                </a:solidFill>
                <a:latin typeface="Calibri" pitchFamily="34" charset="0"/>
                <a:ea typeface="Calibri" pitchFamily="34" charset="-122"/>
                <a:cs typeface="Calibri" pitchFamily="34" charset="-120"/>
              </a:rPr>
              <a:t>Did they give again?</a:t>
            </a:r>
            <a:endParaRPr lang="en-US" sz="1300"/>
          </a:p>
        </p:txBody>
      </p:sp>
      <p:sp>
        <p:nvSpPr>
          <p:cNvPr id="16" name="Shape 11">
            <a:extLst>
              <a:ext uri="{FF2B5EF4-FFF2-40B4-BE49-F238E27FC236}">
                <a16:creationId xmlns:a16="http://schemas.microsoft.com/office/drawing/2014/main" id="{4E68798C-18F9-CF7B-BAC9-6FB899EBF079}"/>
              </a:ext>
            </a:extLst>
          </p:cNvPr>
          <p:cNvSpPr/>
          <p:nvPr/>
        </p:nvSpPr>
        <p:spPr>
          <a:xfrm>
            <a:off x="5303520" y="1005840"/>
            <a:ext cx="3291840" cy="3429000"/>
          </a:xfrm>
          <a:prstGeom prst="roundRect">
            <a:avLst>
              <a:gd name="adj" fmla="val 2222"/>
            </a:avLst>
          </a:prstGeom>
          <a:solidFill>
            <a:srgbClr val="F1F3F5"/>
          </a:solidFill>
          <a:ln w="12700">
            <a:solidFill>
              <a:srgbClr val="F1F3F5"/>
            </a:solidFill>
            <a:prstDash val="solid"/>
          </a:ln>
        </p:spPr>
        <p:txBody>
          <a:bodyPr/>
          <a:lstStyle/>
          <a:p>
            <a:endParaRPr lang="en-US"/>
          </a:p>
        </p:txBody>
      </p:sp>
      <p:sp>
        <p:nvSpPr>
          <p:cNvPr id="17" name="Text 12">
            <a:extLst>
              <a:ext uri="{FF2B5EF4-FFF2-40B4-BE49-F238E27FC236}">
                <a16:creationId xmlns:a16="http://schemas.microsoft.com/office/drawing/2014/main" id="{09CD5637-F795-F729-F411-C37CF0220934}"/>
              </a:ext>
            </a:extLst>
          </p:cNvPr>
          <p:cNvSpPr txBox="1"/>
          <p:nvPr/>
        </p:nvSpPr>
        <p:spPr>
          <a:xfrm>
            <a:off x="5577840" y="1234440"/>
            <a:ext cx="2834640" cy="411480"/>
          </a:xfrm>
          <a:prstGeom prst="rect">
            <a:avLst/>
          </a:prstGeom>
          <a:noFill/>
          <a:ln/>
        </p:spPr>
        <p:txBody>
          <a:bodyPr wrap="square" lIns="0" tIns="0" rIns="0" bIns="0" rtlCol="0" anchor="ctr"/>
          <a:lstStyle/>
          <a:p>
            <a:r>
              <a:rPr lang="en-US" sz="1800" b="1">
                <a:solidFill>
                  <a:srgbClr val="1B2A41"/>
                </a:solidFill>
                <a:latin typeface="Calibri"/>
                <a:ea typeface="Calibri"/>
                <a:cs typeface="Calibri"/>
              </a:rPr>
              <a:t>Soon, this is</a:t>
            </a:r>
            <a:r>
              <a:rPr lang="en-US" b="1">
                <a:solidFill>
                  <a:srgbClr val="1B2A41"/>
                </a:solidFill>
                <a:latin typeface="Calibri"/>
                <a:ea typeface="Calibri"/>
                <a:cs typeface="Calibri"/>
              </a:rPr>
              <a:t> could be</a:t>
            </a:r>
            <a:r>
              <a:rPr lang="en-US" sz="1800" b="1">
                <a:solidFill>
                  <a:srgbClr val="1B2A41"/>
                </a:solidFill>
                <a:latin typeface="Calibri"/>
                <a:ea typeface="Calibri"/>
                <a:cs typeface="Calibri"/>
              </a:rPr>
              <a:t> you</a:t>
            </a:r>
            <a:endParaRPr lang="en-US" sz="1800">
              <a:latin typeface="Calibri"/>
              <a:ea typeface="Calibri"/>
              <a:cs typeface="Calibri"/>
            </a:endParaRPr>
          </a:p>
        </p:txBody>
      </p:sp>
      <p:sp>
        <p:nvSpPr>
          <p:cNvPr id="18" name="Shape 13">
            <a:extLst>
              <a:ext uri="{FF2B5EF4-FFF2-40B4-BE49-F238E27FC236}">
                <a16:creationId xmlns:a16="http://schemas.microsoft.com/office/drawing/2014/main" id="{3985B307-776A-A4FD-29D3-52B3656EF2E1}"/>
              </a:ext>
            </a:extLst>
          </p:cNvPr>
          <p:cNvSpPr/>
          <p:nvPr/>
        </p:nvSpPr>
        <p:spPr>
          <a:xfrm>
            <a:off x="5577840" y="1874520"/>
            <a:ext cx="548640" cy="548640"/>
          </a:xfrm>
          <a:prstGeom prst="ellipse">
            <a:avLst/>
          </a:prstGeom>
          <a:solidFill>
            <a:srgbClr val="2A9D8F"/>
          </a:solidFill>
          <a:ln w="12700">
            <a:solidFill>
              <a:srgbClr val="2A9D8F"/>
            </a:solidFill>
            <a:prstDash val="solid"/>
          </a:ln>
        </p:spPr>
        <p:txBody>
          <a:bodyPr/>
          <a:lstStyle/>
          <a:p>
            <a:endParaRPr lang="en-US"/>
          </a:p>
        </p:txBody>
      </p:sp>
      <p:pic>
        <p:nvPicPr>
          <p:cNvPr id="19" name="Image 3" descr="preencoded.png">
            <a:extLst>
              <a:ext uri="{FF2B5EF4-FFF2-40B4-BE49-F238E27FC236}">
                <a16:creationId xmlns:a16="http://schemas.microsoft.com/office/drawing/2014/main" id="{2173EE50-7624-4401-77DA-B8422955A764}"/>
              </a:ext>
            </a:extLst>
          </p:cNvPr>
          <p:cNvPicPr>
            <a:picLocks noChangeAspect="1"/>
          </p:cNvPicPr>
          <p:nvPr/>
        </p:nvPicPr>
        <p:blipFill>
          <a:blip r:embed="rId5"/>
          <a:stretch>
            <a:fillRect/>
          </a:stretch>
        </p:blipFill>
        <p:spPr>
          <a:xfrm>
            <a:off x="5715000" y="2011680"/>
            <a:ext cx="274320" cy="274320"/>
          </a:xfrm>
          <a:prstGeom prst="rect">
            <a:avLst/>
          </a:prstGeom>
        </p:spPr>
      </p:pic>
      <p:sp>
        <p:nvSpPr>
          <p:cNvPr id="20" name="Text 14">
            <a:extLst>
              <a:ext uri="{FF2B5EF4-FFF2-40B4-BE49-F238E27FC236}">
                <a16:creationId xmlns:a16="http://schemas.microsoft.com/office/drawing/2014/main" id="{3ABB20C8-C5AF-00CD-ADAF-77B57323D77F}"/>
              </a:ext>
            </a:extLst>
          </p:cNvPr>
          <p:cNvSpPr txBox="1"/>
          <p:nvPr/>
        </p:nvSpPr>
        <p:spPr>
          <a:xfrm>
            <a:off x="6263640" y="1874520"/>
            <a:ext cx="2194560" cy="548640"/>
          </a:xfrm>
          <a:prstGeom prst="rect">
            <a:avLst/>
          </a:prstGeom>
          <a:noFill/>
          <a:ln/>
        </p:spPr>
        <p:txBody>
          <a:bodyPr wrap="square" lIns="0" tIns="0" rIns="0" bIns="0" rtlCol="0" anchor="ctr"/>
          <a:lstStyle/>
          <a:p>
            <a:pPr marL="0" indent="0">
              <a:buNone/>
            </a:pPr>
            <a:r>
              <a:rPr lang="en-US" sz="1400">
                <a:solidFill>
                  <a:srgbClr val="1B2A41"/>
                </a:solidFill>
                <a:latin typeface="Calibri" pitchFamily="34" charset="0"/>
                <a:ea typeface="Calibri" pitchFamily="34" charset="-122"/>
                <a:cs typeface="Calibri" pitchFamily="34" charset="-120"/>
              </a:rPr>
              <a:t>You'll be asked to give</a:t>
            </a:r>
            <a:endParaRPr lang="en-US" sz="1400"/>
          </a:p>
        </p:txBody>
      </p:sp>
      <p:sp>
        <p:nvSpPr>
          <p:cNvPr id="21" name="Shape 15">
            <a:extLst>
              <a:ext uri="{FF2B5EF4-FFF2-40B4-BE49-F238E27FC236}">
                <a16:creationId xmlns:a16="http://schemas.microsoft.com/office/drawing/2014/main" id="{6A0552C8-EC90-DAE3-0825-6C00560D09F5}"/>
              </a:ext>
            </a:extLst>
          </p:cNvPr>
          <p:cNvSpPr/>
          <p:nvPr/>
        </p:nvSpPr>
        <p:spPr>
          <a:xfrm>
            <a:off x="5577840" y="2651760"/>
            <a:ext cx="548640" cy="548640"/>
          </a:xfrm>
          <a:prstGeom prst="ellipse">
            <a:avLst/>
          </a:prstGeom>
          <a:solidFill>
            <a:srgbClr val="2A9D8F"/>
          </a:solidFill>
          <a:ln w="12700">
            <a:solidFill>
              <a:srgbClr val="2A9D8F"/>
            </a:solidFill>
            <a:prstDash val="solid"/>
          </a:ln>
        </p:spPr>
        <p:txBody>
          <a:bodyPr/>
          <a:lstStyle/>
          <a:p>
            <a:endParaRPr lang="en-US"/>
          </a:p>
        </p:txBody>
      </p:sp>
      <p:pic>
        <p:nvPicPr>
          <p:cNvPr id="22" name="Image 4" descr="preencoded.png">
            <a:extLst>
              <a:ext uri="{FF2B5EF4-FFF2-40B4-BE49-F238E27FC236}">
                <a16:creationId xmlns:a16="http://schemas.microsoft.com/office/drawing/2014/main" id="{119B0E2A-BC40-FF3F-FD39-82BD6757AC16}"/>
              </a:ext>
            </a:extLst>
          </p:cNvPr>
          <p:cNvPicPr>
            <a:picLocks noChangeAspect="1"/>
          </p:cNvPicPr>
          <p:nvPr/>
        </p:nvPicPr>
        <p:blipFill>
          <a:blip r:embed="rId6"/>
          <a:stretch>
            <a:fillRect/>
          </a:stretch>
        </p:blipFill>
        <p:spPr>
          <a:xfrm>
            <a:off x="5715000" y="2788920"/>
            <a:ext cx="274320" cy="274320"/>
          </a:xfrm>
          <a:prstGeom prst="rect">
            <a:avLst/>
          </a:prstGeom>
        </p:spPr>
      </p:pic>
      <p:sp>
        <p:nvSpPr>
          <p:cNvPr id="23" name="Text 16">
            <a:extLst>
              <a:ext uri="{FF2B5EF4-FFF2-40B4-BE49-F238E27FC236}">
                <a16:creationId xmlns:a16="http://schemas.microsoft.com/office/drawing/2014/main" id="{0739022A-E887-1ACA-7FF3-9CA96F68CC70}"/>
              </a:ext>
            </a:extLst>
          </p:cNvPr>
          <p:cNvSpPr txBox="1"/>
          <p:nvPr/>
        </p:nvSpPr>
        <p:spPr>
          <a:xfrm>
            <a:off x="6263640" y="2651760"/>
            <a:ext cx="2194560" cy="548640"/>
          </a:xfrm>
          <a:prstGeom prst="rect">
            <a:avLst/>
          </a:prstGeom>
          <a:noFill/>
          <a:ln/>
        </p:spPr>
        <p:txBody>
          <a:bodyPr wrap="square" lIns="0" tIns="0" rIns="0" bIns="0" rtlCol="0" anchor="ctr"/>
          <a:lstStyle/>
          <a:p>
            <a:pPr marL="0" indent="0">
              <a:buNone/>
            </a:pPr>
            <a:r>
              <a:rPr lang="en-US" sz="1400">
                <a:solidFill>
                  <a:srgbClr val="1B2A41"/>
                </a:solidFill>
                <a:latin typeface="Calibri" pitchFamily="34" charset="0"/>
                <a:ea typeface="Calibri" pitchFamily="34" charset="-122"/>
                <a:cs typeface="Calibri" pitchFamily="34" charset="-120"/>
              </a:rPr>
              <a:t>You'll ask others to give</a:t>
            </a:r>
            <a:endParaRPr lang="en-US" sz="1400"/>
          </a:p>
        </p:txBody>
      </p:sp>
      <p:sp>
        <p:nvSpPr>
          <p:cNvPr id="24" name="Shape 17">
            <a:extLst>
              <a:ext uri="{FF2B5EF4-FFF2-40B4-BE49-F238E27FC236}">
                <a16:creationId xmlns:a16="http://schemas.microsoft.com/office/drawing/2014/main" id="{DA79F110-2D12-680F-D03F-B24D8788E4E8}"/>
              </a:ext>
            </a:extLst>
          </p:cNvPr>
          <p:cNvSpPr/>
          <p:nvPr/>
        </p:nvSpPr>
        <p:spPr>
          <a:xfrm>
            <a:off x="5577840" y="3429000"/>
            <a:ext cx="548640" cy="548640"/>
          </a:xfrm>
          <a:prstGeom prst="ellipse">
            <a:avLst/>
          </a:prstGeom>
          <a:solidFill>
            <a:srgbClr val="2A9D8F"/>
          </a:solidFill>
          <a:ln w="12700">
            <a:solidFill>
              <a:srgbClr val="2A9D8F"/>
            </a:solidFill>
            <a:prstDash val="solid"/>
          </a:ln>
        </p:spPr>
        <p:txBody>
          <a:bodyPr/>
          <a:lstStyle/>
          <a:p>
            <a:endParaRPr lang="en-US"/>
          </a:p>
        </p:txBody>
      </p:sp>
      <p:pic>
        <p:nvPicPr>
          <p:cNvPr id="25" name="Image 5" descr="preencoded.png">
            <a:extLst>
              <a:ext uri="{FF2B5EF4-FFF2-40B4-BE49-F238E27FC236}">
                <a16:creationId xmlns:a16="http://schemas.microsoft.com/office/drawing/2014/main" id="{BB678945-BDAA-E469-0E30-E538C6254D48}"/>
              </a:ext>
            </a:extLst>
          </p:cNvPr>
          <p:cNvPicPr>
            <a:picLocks noChangeAspect="1"/>
          </p:cNvPicPr>
          <p:nvPr/>
        </p:nvPicPr>
        <p:blipFill>
          <a:blip r:embed="rId7"/>
          <a:stretch>
            <a:fillRect/>
          </a:stretch>
        </p:blipFill>
        <p:spPr>
          <a:xfrm>
            <a:off x="5715000" y="3566160"/>
            <a:ext cx="274320" cy="274320"/>
          </a:xfrm>
          <a:prstGeom prst="rect">
            <a:avLst/>
          </a:prstGeom>
        </p:spPr>
      </p:pic>
      <p:sp>
        <p:nvSpPr>
          <p:cNvPr id="26" name="Text 18">
            <a:extLst>
              <a:ext uri="{FF2B5EF4-FFF2-40B4-BE49-F238E27FC236}">
                <a16:creationId xmlns:a16="http://schemas.microsoft.com/office/drawing/2014/main" id="{4731C003-EE0D-C485-01FD-E4E2AE4FE197}"/>
              </a:ext>
            </a:extLst>
          </p:cNvPr>
          <p:cNvSpPr txBox="1"/>
          <p:nvPr/>
        </p:nvSpPr>
        <p:spPr>
          <a:xfrm>
            <a:off x="6263640" y="3429000"/>
            <a:ext cx="2194560" cy="548640"/>
          </a:xfrm>
          <a:prstGeom prst="rect">
            <a:avLst/>
          </a:prstGeom>
          <a:noFill/>
          <a:ln/>
        </p:spPr>
        <p:txBody>
          <a:bodyPr wrap="square" lIns="0" tIns="0" rIns="0" bIns="0" rtlCol="0" anchor="ctr"/>
          <a:lstStyle/>
          <a:p>
            <a:pPr marL="0" indent="0">
              <a:buNone/>
            </a:pPr>
            <a:r>
              <a:rPr lang="en-US" sz="1400">
                <a:solidFill>
                  <a:srgbClr val="1B2A41"/>
                </a:solidFill>
                <a:latin typeface="Calibri" pitchFamily="34" charset="0"/>
                <a:ea typeface="Calibri" pitchFamily="34" charset="-122"/>
                <a:cs typeface="Calibri" pitchFamily="34" charset="-120"/>
              </a:rPr>
              <a:t>You'll decide who to contact</a:t>
            </a:r>
            <a:endParaRPr lang="en-US" sz="1400"/>
          </a:p>
        </p:txBody>
      </p:sp>
    </p:spTree>
    <p:extLst>
      <p:ext uri="{BB962C8B-B14F-4D97-AF65-F5344CB8AC3E}">
        <p14:creationId xmlns:p14="http://schemas.microsoft.com/office/powerpoint/2010/main" val="4046776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45440" y="407247"/>
            <a:ext cx="8046720" cy="457200"/>
          </a:xfrm>
          <a:prstGeom prst="rect">
            <a:avLst/>
          </a:prstGeom>
          <a:noFill/>
          <a:ln/>
        </p:spPr>
        <p:txBody>
          <a:bodyPr wrap="square" lIns="0" tIns="0" rIns="0" bIns="0" rtlCol="0" anchor="ctr"/>
          <a:lstStyle/>
          <a:p>
            <a:r>
              <a:rPr lang="en-US" sz="3000" b="1">
                <a:solidFill>
                  <a:srgbClr val="1B2A41"/>
                </a:solidFill>
                <a:latin typeface="Cambria" pitchFamily="34" charset="0"/>
                <a:ea typeface="Cambria" pitchFamily="34" charset="-122"/>
              </a:rPr>
              <a:t>The pool is shrinking</a:t>
            </a:r>
          </a:p>
        </p:txBody>
      </p:sp>
      <p:graphicFrame>
        <p:nvGraphicFramePr>
          <p:cNvPr id="6" name="Chart 0"/>
          <p:cNvGraphicFramePr/>
          <p:nvPr>
            <p:extLst>
              <p:ext uri="{D42A27DB-BD31-4B8C-83A1-F6EECF244321}">
                <p14:modId xmlns:p14="http://schemas.microsoft.com/office/powerpoint/2010/main" val="1226889765"/>
              </p:ext>
            </p:extLst>
          </p:nvPr>
        </p:nvGraphicFramePr>
        <p:xfrm>
          <a:off x="345977" y="1006060"/>
          <a:ext cx="38862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802078" y="4206460"/>
            <a:ext cx="3886200" cy="274320"/>
          </a:xfrm>
          <a:prstGeom prst="rect">
            <a:avLst/>
          </a:prstGeom>
          <a:noFill/>
          <a:ln/>
        </p:spPr>
        <p:txBody>
          <a:bodyPr wrap="square" lIns="0" tIns="0" rIns="0" bIns="0" rtlCol="0" anchor="ctr"/>
          <a:lstStyle/>
          <a:p>
            <a:pPr marL="0" indent="0">
              <a:buNone/>
            </a:pPr>
            <a:r>
              <a:rPr lang="en-US" sz="1100">
                <a:solidFill>
                  <a:srgbClr val="6B7683"/>
                </a:solidFill>
                <a:latin typeface="Calibri" pitchFamily="34" charset="0"/>
                <a:ea typeface="Calibri" pitchFamily="34" charset="-122"/>
                <a:cs typeface="Calibri" pitchFamily="34" charset="-120"/>
              </a:rPr>
              <a:t>Share of U.S. households making a charitable gift.</a:t>
            </a:r>
            <a:endParaRPr lang="en-US" sz="1100"/>
          </a:p>
        </p:txBody>
      </p:sp>
      <p:sp>
        <p:nvSpPr>
          <p:cNvPr id="8" name="Text 5"/>
          <p:cNvSpPr txBox="1"/>
          <p:nvPr/>
        </p:nvSpPr>
        <p:spPr>
          <a:xfrm>
            <a:off x="548640" y="4590288"/>
            <a:ext cx="8046720" cy="274320"/>
          </a:xfrm>
          <a:prstGeom prst="rect">
            <a:avLst/>
          </a:prstGeom>
          <a:noFill/>
          <a:ln/>
        </p:spPr>
        <p:txBody>
          <a:bodyPr wrap="square" lIns="0" tIns="0" rIns="0" bIns="0" rtlCol="0" anchor="ctr"/>
          <a:lstStyle/>
          <a:p>
            <a:pPr marL="0" indent="0">
              <a:buNone/>
            </a:pPr>
            <a:r>
              <a:rPr lang="en-US" sz="900">
                <a:solidFill>
                  <a:srgbClr val="6B7683"/>
                </a:solidFill>
                <a:latin typeface="Calibri" pitchFamily="34" charset="0"/>
                <a:ea typeface="Calibri" pitchFamily="34" charset="-122"/>
                <a:cs typeface="Calibri" pitchFamily="34" charset="-120"/>
              </a:rPr>
              <a:t>Indiana University Lilly Family School of Philanthropy, Philanthropy Panel Study.</a:t>
            </a:r>
            <a:endParaRPr lang="en-US" sz="900"/>
          </a:p>
        </p:txBody>
      </p:sp>
      <p:cxnSp>
        <p:nvCxnSpPr>
          <p:cNvPr id="5" name="Straight Arrow Connector 4">
            <a:extLst>
              <a:ext uri="{FF2B5EF4-FFF2-40B4-BE49-F238E27FC236}">
                <a16:creationId xmlns:a16="http://schemas.microsoft.com/office/drawing/2014/main" id="{E1E794A9-F114-0157-F7F1-23B4664D2583}"/>
              </a:ext>
            </a:extLst>
          </p:cNvPr>
          <p:cNvCxnSpPr/>
          <p:nvPr/>
        </p:nvCxnSpPr>
        <p:spPr>
          <a:xfrm>
            <a:off x="1222811" y="1175636"/>
            <a:ext cx="2445323" cy="579879"/>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FB79E99-A2D6-5B4D-7EE1-E9832C6FF4F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FD4064D-BC01-003B-B0E6-11B2BB96BC06}"/>
              </a:ext>
            </a:extLst>
          </p:cNvPr>
          <p:cNvSpPr txBox="1"/>
          <p:nvPr/>
        </p:nvSpPr>
        <p:spPr>
          <a:xfrm>
            <a:off x="345318" y="411480"/>
            <a:ext cx="8046720" cy="457200"/>
          </a:xfrm>
          <a:prstGeom prst="rect">
            <a:avLst/>
          </a:prstGeom>
          <a:noFill/>
          <a:ln/>
        </p:spPr>
        <p:txBody>
          <a:bodyPr wrap="square" lIns="0" tIns="0" rIns="0" bIns="0" rtlCol="0" anchor="ctr"/>
          <a:lstStyle/>
          <a:p>
            <a:pPr indent="0">
              <a:buNone/>
            </a:pPr>
            <a:r>
              <a:rPr lang="en-US" sz="3000" b="1">
                <a:solidFill>
                  <a:srgbClr val="1B2A41"/>
                </a:solidFill>
                <a:latin typeface="Cambria" pitchFamily="34" charset="0"/>
                <a:ea typeface="Cambria" pitchFamily="34" charset="-122"/>
              </a:rPr>
              <a:t>The pool is shrinking</a:t>
            </a:r>
          </a:p>
        </p:txBody>
      </p:sp>
      <p:graphicFrame>
        <p:nvGraphicFramePr>
          <p:cNvPr id="6" name="Chart 0">
            <a:extLst>
              <a:ext uri="{FF2B5EF4-FFF2-40B4-BE49-F238E27FC236}">
                <a16:creationId xmlns:a16="http://schemas.microsoft.com/office/drawing/2014/main" id="{8958821A-3A7A-EBBC-233E-7EB0C5BE4F64}"/>
              </a:ext>
            </a:extLst>
          </p:cNvPr>
          <p:cNvGraphicFramePr/>
          <p:nvPr/>
        </p:nvGraphicFramePr>
        <p:xfrm>
          <a:off x="345977" y="1006060"/>
          <a:ext cx="38862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a:extLst>
              <a:ext uri="{FF2B5EF4-FFF2-40B4-BE49-F238E27FC236}">
                <a16:creationId xmlns:a16="http://schemas.microsoft.com/office/drawing/2014/main" id="{E2A843C1-6B88-DDCD-8AEA-96140B6119A3}"/>
              </a:ext>
            </a:extLst>
          </p:cNvPr>
          <p:cNvSpPr txBox="1"/>
          <p:nvPr/>
        </p:nvSpPr>
        <p:spPr>
          <a:xfrm>
            <a:off x="802078" y="4206460"/>
            <a:ext cx="3886200" cy="274320"/>
          </a:xfrm>
          <a:prstGeom prst="rect">
            <a:avLst/>
          </a:prstGeom>
          <a:noFill/>
          <a:ln/>
        </p:spPr>
        <p:txBody>
          <a:bodyPr wrap="square" lIns="0" tIns="0" rIns="0" bIns="0" rtlCol="0" anchor="ctr"/>
          <a:lstStyle/>
          <a:p>
            <a:pPr marL="0" indent="0">
              <a:buNone/>
            </a:pPr>
            <a:r>
              <a:rPr lang="en-US" sz="1100">
                <a:solidFill>
                  <a:srgbClr val="6B7683"/>
                </a:solidFill>
                <a:latin typeface="Calibri" pitchFamily="34" charset="0"/>
                <a:ea typeface="Calibri" pitchFamily="34" charset="-122"/>
                <a:cs typeface="Calibri" pitchFamily="34" charset="-120"/>
              </a:rPr>
              <a:t>Share of U.S. households making a charitable gift.</a:t>
            </a:r>
            <a:endParaRPr lang="en-US" sz="1100"/>
          </a:p>
        </p:txBody>
      </p:sp>
      <p:sp>
        <p:nvSpPr>
          <p:cNvPr id="8" name="Text 5">
            <a:extLst>
              <a:ext uri="{FF2B5EF4-FFF2-40B4-BE49-F238E27FC236}">
                <a16:creationId xmlns:a16="http://schemas.microsoft.com/office/drawing/2014/main" id="{72D1C042-6A01-1D5D-0127-C21F2064BF5F}"/>
              </a:ext>
            </a:extLst>
          </p:cNvPr>
          <p:cNvSpPr txBox="1"/>
          <p:nvPr/>
        </p:nvSpPr>
        <p:spPr>
          <a:xfrm>
            <a:off x="548640" y="4590288"/>
            <a:ext cx="8046720" cy="274320"/>
          </a:xfrm>
          <a:prstGeom prst="rect">
            <a:avLst/>
          </a:prstGeom>
          <a:noFill/>
          <a:ln/>
        </p:spPr>
        <p:txBody>
          <a:bodyPr wrap="square" lIns="0" tIns="0" rIns="0" bIns="0" rtlCol="0" anchor="ctr"/>
          <a:lstStyle/>
          <a:p>
            <a:pPr marL="0" indent="0">
              <a:buNone/>
            </a:pPr>
            <a:r>
              <a:rPr lang="en-US" sz="900">
                <a:solidFill>
                  <a:srgbClr val="6B7683"/>
                </a:solidFill>
                <a:latin typeface="Calibri" pitchFamily="34" charset="0"/>
                <a:ea typeface="Calibri" pitchFamily="34" charset="-122"/>
                <a:cs typeface="Calibri" pitchFamily="34" charset="-120"/>
              </a:rPr>
              <a:t>Indiana University Lilly Family School of Philanthropy, Philanthropy Panel Study.</a:t>
            </a:r>
            <a:endParaRPr lang="en-US" sz="900"/>
          </a:p>
        </p:txBody>
      </p:sp>
      <p:cxnSp>
        <p:nvCxnSpPr>
          <p:cNvPr id="5" name="Straight Arrow Connector 4">
            <a:extLst>
              <a:ext uri="{FF2B5EF4-FFF2-40B4-BE49-F238E27FC236}">
                <a16:creationId xmlns:a16="http://schemas.microsoft.com/office/drawing/2014/main" id="{38A49568-75E8-6AD8-8117-AA3AC9A21627}"/>
              </a:ext>
            </a:extLst>
          </p:cNvPr>
          <p:cNvCxnSpPr/>
          <p:nvPr/>
        </p:nvCxnSpPr>
        <p:spPr>
          <a:xfrm>
            <a:off x="1222811" y="1175636"/>
            <a:ext cx="2445323" cy="579879"/>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 name="Text 0">
            <a:extLst>
              <a:ext uri="{FF2B5EF4-FFF2-40B4-BE49-F238E27FC236}">
                <a16:creationId xmlns:a16="http://schemas.microsoft.com/office/drawing/2014/main" id="{81EE663C-BBA2-E501-54FA-7D72C8830B5E}"/>
              </a:ext>
            </a:extLst>
          </p:cNvPr>
          <p:cNvSpPr txBox="1"/>
          <p:nvPr/>
        </p:nvSpPr>
        <p:spPr>
          <a:xfrm>
            <a:off x="4685054" y="481452"/>
            <a:ext cx="4546283" cy="457200"/>
          </a:xfrm>
          <a:prstGeom prst="rect">
            <a:avLst/>
          </a:prstGeom>
          <a:noFill/>
          <a:ln/>
        </p:spPr>
        <p:txBody>
          <a:bodyPr wrap="square" lIns="0" tIns="0" rIns="0" bIns="0" rtlCol="0" anchor="ctr"/>
          <a:lstStyle/>
          <a:p>
            <a:r>
              <a:rPr lang="en-US" sz="3000" b="1">
                <a:solidFill>
                  <a:srgbClr val="1B2A41"/>
                </a:solidFill>
                <a:latin typeface="Cambria"/>
                <a:ea typeface="Cambria"/>
              </a:rPr>
              <a:t>And the donors they win do not come back</a:t>
            </a:r>
            <a:endParaRPr lang="en-US" sz="2600" b="1">
              <a:solidFill>
                <a:srgbClr val="1B3A5C"/>
              </a:solidFill>
              <a:latin typeface="Calibri"/>
              <a:ea typeface="Calibri"/>
              <a:cs typeface="Calibri"/>
            </a:endParaRPr>
          </a:p>
        </p:txBody>
      </p:sp>
      <p:graphicFrame>
        <p:nvGraphicFramePr>
          <p:cNvPr id="10" name="Chart 0">
            <a:extLst>
              <a:ext uri="{FF2B5EF4-FFF2-40B4-BE49-F238E27FC236}">
                <a16:creationId xmlns:a16="http://schemas.microsoft.com/office/drawing/2014/main" id="{4F2AC9A3-8CFE-7940-D538-78BC93B85ED7}"/>
              </a:ext>
            </a:extLst>
          </p:cNvPr>
          <p:cNvGraphicFramePr/>
          <p:nvPr>
            <p:extLst>
              <p:ext uri="{D42A27DB-BD31-4B8C-83A1-F6EECF244321}">
                <p14:modId xmlns:p14="http://schemas.microsoft.com/office/powerpoint/2010/main" val="758308775"/>
              </p:ext>
            </p:extLst>
          </p:nvPr>
        </p:nvGraphicFramePr>
        <p:xfrm>
          <a:off x="4786312" y="1151132"/>
          <a:ext cx="4114800" cy="3931920"/>
        </p:xfrm>
        <a:graphic>
          <a:graphicData uri="http://schemas.openxmlformats.org/drawingml/2006/chart">
            <c:chart xmlns:c="http://schemas.openxmlformats.org/drawingml/2006/chart" xmlns:r="http://schemas.openxmlformats.org/officeDocument/2006/relationships" r:id="rId4"/>
          </a:graphicData>
        </a:graphic>
      </p:graphicFrame>
      <p:sp>
        <p:nvSpPr>
          <p:cNvPr id="11" name="Rectangle 10">
            <a:extLst>
              <a:ext uri="{FF2B5EF4-FFF2-40B4-BE49-F238E27FC236}">
                <a16:creationId xmlns:a16="http://schemas.microsoft.com/office/drawing/2014/main" id="{547AF395-9E02-10D0-238A-5B57F9F1DF17}"/>
              </a:ext>
            </a:extLst>
          </p:cNvPr>
          <p:cNvSpPr/>
          <p:nvPr/>
        </p:nvSpPr>
        <p:spPr>
          <a:xfrm>
            <a:off x="-3336" y="985"/>
            <a:ext cx="4446852" cy="5154437"/>
          </a:xfrm>
          <a:prstGeom prst="rect">
            <a:avLst/>
          </a:prstGeom>
          <a:solidFill>
            <a:srgbClr val="D0CECE">
              <a:alpha val="4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9355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046720" cy="457200"/>
          </a:xfrm>
          <a:prstGeom prst="rect">
            <a:avLst/>
          </a:prstGeom>
          <a:noFill/>
          <a:ln/>
        </p:spPr>
        <p:txBody>
          <a:bodyPr wrap="square" lIns="0" tIns="0" rIns="0" bIns="0" rtlCol="0" anchor="ctr"/>
          <a:lstStyle/>
          <a:p>
            <a:r>
              <a:rPr lang="en-US" sz="3000" b="1">
                <a:solidFill>
                  <a:srgbClr val="1B2A41"/>
                </a:solidFill>
                <a:latin typeface="Cambria" pitchFamily="34" charset="0"/>
                <a:ea typeface="Cambria" pitchFamily="34" charset="-122"/>
              </a:rPr>
              <a:t>Total dollars are slightly growing. </a:t>
            </a:r>
          </a:p>
        </p:txBody>
      </p:sp>
      <p:graphicFrame>
        <p:nvGraphicFramePr>
          <p:cNvPr id="3" name="Chart 0"/>
          <p:cNvGraphicFramePr/>
          <p:nvPr>
            <p:extLst>
              <p:ext uri="{D42A27DB-BD31-4B8C-83A1-F6EECF244321}">
                <p14:modId xmlns:p14="http://schemas.microsoft.com/office/powerpoint/2010/main" val="1611966835"/>
              </p:ext>
            </p:extLst>
          </p:nvPr>
        </p:nvGraphicFramePr>
        <p:xfrm>
          <a:off x="1450484" y="979962"/>
          <a:ext cx="6475306" cy="346964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3234235" y="4314134"/>
            <a:ext cx="5120640" cy="274320"/>
          </a:xfrm>
          <a:prstGeom prst="rect">
            <a:avLst/>
          </a:prstGeom>
          <a:noFill/>
          <a:ln/>
        </p:spPr>
        <p:txBody>
          <a:bodyPr wrap="square" lIns="0" tIns="0" rIns="0" bIns="0" rtlCol="0" anchor="ctr"/>
          <a:lstStyle/>
          <a:p>
            <a:r>
              <a:rPr lang="en-US" sz="1100">
                <a:solidFill>
                  <a:srgbClr val="6B7683"/>
                </a:solidFill>
                <a:latin typeface="Calibri"/>
                <a:ea typeface="Calibri"/>
                <a:cs typeface="Calibri"/>
              </a:rPr>
              <a:t>Total U.S. charitable giving, billions of 2025 dollars </a:t>
            </a:r>
            <a:endParaRPr lang="en-US" sz="1100">
              <a:latin typeface="Calibri"/>
              <a:ea typeface="Calibri"/>
              <a:cs typeface="Calibri"/>
            </a:endParaRPr>
          </a:p>
        </p:txBody>
      </p:sp>
      <p:sp>
        <p:nvSpPr>
          <p:cNvPr id="8" name="Text 5"/>
          <p:cNvSpPr txBox="1"/>
          <p:nvPr/>
        </p:nvSpPr>
        <p:spPr>
          <a:xfrm>
            <a:off x="548640" y="4590288"/>
            <a:ext cx="8046720" cy="274320"/>
          </a:xfrm>
          <a:prstGeom prst="rect">
            <a:avLst/>
          </a:prstGeom>
          <a:noFill/>
          <a:ln/>
        </p:spPr>
        <p:txBody>
          <a:bodyPr wrap="square" lIns="0" tIns="0" rIns="0" bIns="0" rtlCol="0" anchor="ctr"/>
          <a:lstStyle/>
          <a:p>
            <a:pPr marL="0" indent="0">
              <a:buNone/>
            </a:pPr>
            <a:r>
              <a:rPr lang="en-US" sz="900">
                <a:solidFill>
                  <a:srgbClr val="6B7683"/>
                </a:solidFill>
                <a:latin typeface="Calibri" pitchFamily="34" charset="0"/>
                <a:ea typeface="Calibri" pitchFamily="34" charset="-122"/>
                <a:cs typeface="Calibri" pitchFamily="34" charset="-120"/>
              </a:rPr>
              <a:t>Giving USA 2026. Constant 2025 dollars, computed from Giving USA reported inflation-adjusted annual changes.</a:t>
            </a:r>
            <a:endParaRPr lang="en-US" sz="900"/>
          </a:p>
        </p:txBody>
      </p:sp>
      <p:cxnSp>
        <p:nvCxnSpPr>
          <p:cNvPr id="6" name="Straight Arrow Connector 5">
            <a:extLst>
              <a:ext uri="{FF2B5EF4-FFF2-40B4-BE49-F238E27FC236}">
                <a16:creationId xmlns:a16="http://schemas.microsoft.com/office/drawing/2014/main" id="{0F0319F9-EB59-E522-A14C-99730F7523FA}"/>
              </a:ext>
            </a:extLst>
          </p:cNvPr>
          <p:cNvCxnSpPr/>
          <p:nvPr/>
        </p:nvCxnSpPr>
        <p:spPr>
          <a:xfrm flipV="1">
            <a:off x="3132044" y="1306782"/>
            <a:ext cx="4028590" cy="203287"/>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046720" cy="457200"/>
          </a:xfrm>
          <a:prstGeom prst="rect">
            <a:avLst/>
          </a:prstGeom>
          <a:noFill/>
          <a:ln/>
        </p:spPr>
        <p:txBody>
          <a:bodyPr wrap="square" lIns="0" tIns="0" rIns="0" bIns="0" rtlCol="0" anchor="ctr"/>
          <a:lstStyle/>
          <a:p>
            <a:pPr indent="0">
              <a:buNone/>
            </a:pPr>
            <a:r>
              <a:rPr lang="en-US" sz="3000" b="1">
                <a:solidFill>
                  <a:srgbClr val="1B2A41"/>
                </a:solidFill>
                <a:latin typeface="Cambria" pitchFamily="34" charset="0"/>
                <a:ea typeface="Cambria" pitchFamily="34" charset="-122"/>
              </a:rPr>
              <a:t>Who this matters for</a:t>
            </a:r>
          </a:p>
        </p:txBody>
      </p:sp>
      <p:sp>
        <p:nvSpPr>
          <p:cNvPr id="3" name="Text 1"/>
          <p:cNvSpPr txBox="1"/>
          <p:nvPr/>
        </p:nvSpPr>
        <p:spPr>
          <a:xfrm>
            <a:off x="548640" y="1051560"/>
            <a:ext cx="3840480" cy="868680"/>
          </a:xfrm>
          <a:prstGeom prst="rect">
            <a:avLst/>
          </a:prstGeom>
          <a:noFill/>
          <a:ln/>
        </p:spPr>
        <p:txBody>
          <a:bodyPr wrap="square" lIns="0" tIns="0" rIns="0" bIns="0" rtlCol="0" anchor="ctr"/>
          <a:lstStyle/>
          <a:p>
            <a:pPr marL="0" indent="0">
              <a:buNone/>
            </a:pPr>
            <a:r>
              <a:rPr lang="en-US" sz="5800" b="1">
                <a:solidFill>
                  <a:srgbClr val="D2603A"/>
                </a:solidFill>
                <a:latin typeface="Cambria" pitchFamily="34" charset="0"/>
                <a:ea typeface="Cambria" pitchFamily="34" charset="-122"/>
                <a:cs typeface="Cambria" pitchFamily="34" charset="-120"/>
              </a:rPr>
              <a:t>212,000</a:t>
            </a:r>
            <a:endParaRPr lang="en-US" sz="5800"/>
          </a:p>
        </p:txBody>
      </p:sp>
      <p:sp>
        <p:nvSpPr>
          <p:cNvPr id="4" name="Text 2"/>
          <p:cNvSpPr txBox="1"/>
          <p:nvPr/>
        </p:nvSpPr>
        <p:spPr>
          <a:xfrm>
            <a:off x="548640" y="1993392"/>
            <a:ext cx="3611880" cy="685800"/>
          </a:xfrm>
          <a:prstGeom prst="rect">
            <a:avLst/>
          </a:prstGeom>
          <a:noFill/>
          <a:ln/>
        </p:spPr>
        <p:txBody>
          <a:bodyPr wrap="square" lIns="0" tIns="0" rIns="0" bIns="0" rtlCol="0" anchor="ctr"/>
          <a:lstStyle/>
          <a:p>
            <a:pPr marL="0" indent="0">
              <a:lnSpc>
                <a:spcPct val="115000"/>
              </a:lnSpc>
              <a:buNone/>
            </a:pPr>
            <a:r>
              <a:rPr lang="en-US" sz="1700" b="1">
                <a:solidFill>
                  <a:srgbClr val="1B3A5C"/>
                </a:solidFill>
                <a:latin typeface="Calibri" pitchFamily="34" charset="0"/>
                <a:ea typeface="Calibri" pitchFamily="34" charset="-122"/>
                <a:cs typeface="Calibri" pitchFamily="34" charset="-120"/>
              </a:rPr>
              <a:t>public charities run on less than $500,000 a year.</a:t>
            </a:r>
            <a:endParaRPr lang="en-US" sz="1700"/>
          </a:p>
        </p:txBody>
      </p:sp>
      <p:graphicFrame>
        <p:nvGraphicFramePr>
          <p:cNvPr id="6" name="Chart 0"/>
          <p:cNvGraphicFramePr/>
          <p:nvPr>
            <p:extLst>
              <p:ext uri="{D42A27DB-BD31-4B8C-83A1-F6EECF244321}">
                <p14:modId xmlns:p14="http://schemas.microsoft.com/office/powerpoint/2010/main" val="337696369"/>
              </p:ext>
            </p:extLst>
          </p:nvPr>
        </p:nvGraphicFramePr>
        <p:xfrm>
          <a:off x="3440853" y="38101"/>
          <a:ext cx="5624406" cy="4594012"/>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548640" y="4590288"/>
            <a:ext cx="8046720" cy="274320"/>
          </a:xfrm>
          <a:prstGeom prst="rect">
            <a:avLst/>
          </a:prstGeom>
          <a:noFill/>
          <a:ln/>
        </p:spPr>
        <p:txBody>
          <a:bodyPr wrap="square" lIns="0" tIns="0" rIns="0" bIns="0" rtlCol="0" anchor="ctr"/>
          <a:lstStyle/>
          <a:p>
            <a:pPr marL="0" indent="0">
              <a:buNone/>
            </a:pPr>
            <a:r>
              <a:rPr lang="en-US" sz="900">
                <a:solidFill>
                  <a:srgbClr val="6B7683"/>
                </a:solidFill>
                <a:latin typeface="Calibri" pitchFamily="34" charset="0"/>
                <a:ea typeface="Calibri" pitchFamily="34" charset="-122"/>
                <a:cs typeface="Calibri" pitchFamily="34" charset="-120"/>
              </a:rPr>
              <a:t>National Center for Charitable Statistics, The Nonprofit Sector in Brief 2019 (reporting public charities, 2016).</a:t>
            </a:r>
            <a:endParaRPr lang="en-US" sz="9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977AF57-67C0-F2CB-3E2F-721AC8E5F575}"/>
              </a:ext>
            </a:extLst>
          </p:cNvPr>
          <p:cNvPicPr>
            <a:picLocks noChangeAspect="1"/>
          </p:cNvPicPr>
          <p:nvPr/>
        </p:nvPicPr>
        <p:blipFill>
          <a:blip r:embed="rId3"/>
          <a:srcRect l="-477" t="-1251" r="60959" b="90198"/>
          <a:stretch>
            <a:fillRect/>
          </a:stretch>
        </p:blipFill>
        <p:spPr>
          <a:xfrm>
            <a:off x="-1627" y="-1000"/>
            <a:ext cx="3061738" cy="473144"/>
          </a:xfrm>
          <a:prstGeom prst="rect">
            <a:avLst/>
          </a:prstGeom>
        </p:spPr>
      </p:pic>
      <p:pic>
        <p:nvPicPr>
          <p:cNvPr id="12" name="Picture 11" descr="May be an image of studying and text">
            <a:extLst>
              <a:ext uri="{FF2B5EF4-FFF2-40B4-BE49-F238E27FC236}">
                <a16:creationId xmlns:a16="http://schemas.microsoft.com/office/drawing/2014/main" id="{F1832FB6-DED7-1F4C-F17B-203C97CF9981}"/>
              </a:ext>
            </a:extLst>
          </p:cNvPr>
          <p:cNvPicPr>
            <a:picLocks noChangeAspect="1"/>
          </p:cNvPicPr>
          <p:nvPr/>
        </p:nvPicPr>
        <p:blipFill>
          <a:blip r:embed="rId4"/>
          <a:srcRect r="5882" b="4"/>
          <a:stretch>
            <a:fillRect/>
          </a:stretch>
        </p:blipFill>
        <p:spPr>
          <a:xfrm>
            <a:off x="3071220" y="10"/>
            <a:ext cx="3021753" cy="4280642"/>
          </a:xfrm>
          <a:prstGeom prst="rect">
            <a:avLst/>
          </a:prstGeom>
        </p:spPr>
      </p:pic>
      <p:pic>
        <p:nvPicPr>
          <p:cNvPr id="6" name="Picture 5" descr="May be an image of text that says 'iHeart Powered By DONORS THANK የ&quot; Radio CHOOSE TEACHER 2026 CONGRATULATIONS To: ADRIANNA LUNA HAMILTON ELEMENTARY FRESNO, CA ON WINNING $5.000 IN CLASSROOM SUPPLIES FROM DONORSCHOOSE AND iHEARTRADIO! suunaduul'">
            <a:extLst>
              <a:ext uri="{FF2B5EF4-FFF2-40B4-BE49-F238E27FC236}">
                <a16:creationId xmlns:a16="http://schemas.microsoft.com/office/drawing/2014/main" id="{14B49278-9433-6593-2902-39AA41CD3CB8}"/>
              </a:ext>
            </a:extLst>
          </p:cNvPr>
          <p:cNvPicPr>
            <a:picLocks noChangeAspect="1"/>
          </p:cNvPicPr>
          <p:nvPr/>
        </p:nvPicPr>
        <p:blipFill>
          <a:blip r:embed="rId5"/>
          <a:srcRect l="7621" r="4501" b="3"/>
          <a:stretch>
            <a:fillRect/>
          </a:stretch>
        </p:blipFill>
        <p:spPr>
          <a:xfrm>
            <a:off x="6134510" y="887504"/>
            <a:ext cx="3009490" cy="4280653"/>
          </a:xfrm>
          <a:prstGeom prst="rect">
            <a:avLst/>
          </a:prstGeom>
        </p:spPr>
      </p:pic>
      <p:pic>
        <p:nvPicPr>
          <p:cNvPr id="15" name="Picture 14" descr="No photo description available.">
            <a:extLst>
              <a:ext uri="{FF2B5EF4-FFF2-40B4-BE49-F238E27FC236}">
                <a16:creationId xmlns:a16="http://schemas.microsoft.com/office/drawing/2014/main" id="{3E680F5C-377F-555E-6819-6C4F983BA0A7}"/>
              </a:ext>
            </a:extLst>
          </p:cNvPr>
          <p:cNvPicPr>
            <a:picLocks noChangeAspect="1"/>
          </p:cNvPicPr>
          <p:nvPr/>
        </p:nvPicPr>
        <p:blipFill>
          <a:blip r:embed="rId6"/>
          <a:srcRect l="31001" t="-70" r="9948" b="-419"/>
          <a:stretch>
            <a:fillRect/>
          </a:stretch>
        </p:blipFill>
        <p:spPr>
          <a:xfrm>
            <a:off x="-12638" y="795565"/>
            <a:ext cx="3023768" cy="4291060"/>
          </a:xfrm>
          <a:prstGeom prst="rect">
            <a:avLst/>
          </a:prstGeom>
        </p:spPr>
      </p:pic>
    </p:spTree>
    <p:extLst>
      <p:ext uri="{BB962C8B-B14F-4D97-AF65-F5344CB8AC3E}">
        <p14:creationId xmlns:p14="http://schemas.microsoft.com/office/powerpoint/2010/main" val="1184532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marL="0" indent="0">
              <a:buNone/>
            </a:pPr>
            <a:r>
              <a:rPr lang="en-US" sz="3000" b="1">
                <a:solidFill>
                  <a:srgbClr val="1B2A41"/>
                </a:solidFill>
                <a:latin typeface="Cambria" pitchFamily="34" charset="0"/>
                <a:ea typeface="Cambria" pitchFamily="34" charset="-122"/>
                <a:cs typeface="Cambria" pitchFamily="34" charset="-120"/>
              </a:rPr>
              <a:t>The data: </a:t>
            </a:r>
            <a:r>
              <a:rPr lang="en-US" sz="3000" b="1" err="1">
                <a:solidFill>
                  <a:srgbClr val="1B2A41"/>
                </a:solidFill>
                <a:latin typeface="Cambria" pitchFamily="34" charset="0"/>
                <a:ea typeface="Cambria" pitchFamily="34" charset="-122"/>
                <a:cs typeface="Cambria" pitchFamily="34" charset="-120"/>
              </a:rPr>
              <a:t>DonorsChoose</a:t>
            </a:r>
            <a:endParaRPr lang="en-US" sz="3000"/>
          </a:p>
        </p:txBody>
      </p:sp>
      <p:sp>
        <p:nvSpPr>
          <p:cNvPr id="3" name="Text 1"/>
          <p:cNvSpPr txBox="1"/>
          <p:nvPr/>
        </p:nvSpPr>
        <p:spPr>
          <a:xfrm>
            <a:off x="548640" y="896112"/>
            <a:ext cx="8046720" cy="320040"/>
          </a:xfrm>
          <a:prstGeom prst="rect">
            <a:avLst/>
          </a:prstGeom>
          <a:noFill/>
          <a:ln/>
        </p:spPr>
        <p:txBody>
          <a:bodyPr wrap="square" lIns="0" tIns="0" rIns="0" bIns="0" rtlCol="0" anchor="ctr"/>
          <a:lstStyle/>
          <a:p>
            <a:pPr marL="0" indent="0">
              <a:buNone/>
            </a:pPr>
            <a:r>
              <a:rPr lang="en-US" sz="1400">
                <a:solidFill>
                  <a:srgbClr val="6B7280"/>
                </a:solidFill>
                <a:latin typeface="Calibri" pitchFamily="34" charset="0"/>
                <a:ea typeface="Calibri" pitchFamily="34" charset="-122"/>
                <a:cs typeface="Calibri" pitchFamily="34" charset="-120"/>
              </a:rPr>
              <a:t>Teachers post classroom requests. Anyone can fund them.</a:t>
            </a:r>
            <a:endParaRPr lang="en-US" sz="1400"/>
          </a:p>
        </p:txBody>
      </p:sp>
      <p:sp>
        <p:nvSpPr>
          <p:cNvPr id="4" name="Shape 2"/>
          <p:cNvSpPr/>
          <p:nvPr/>
        </p:nvSpPr>
        <p:spPr>
          <a:xfrm>
            <a:off x="548640" y="1417320"/>
            <a:ext cx="1783080" cy="2103120"/>
          </a:xfrm>
          <a:prstGeom prst="roundRect">
            <a:avLst>
              <a:gd name="adj" fmla="val 4103"/>
            </a:avLst>
          </a:prstGeom>
          <a:solidFill>
            <a:srgbClr val="F1F3F5"/>
          </a:solidFill>
          <a:ln w="12700">
            <a:solidFill>
              <a:srgbClr val="F1F3F5"/>
            </a:solidFill>
            <a:prstDash val="solid"/>
          </a:ln>
        </p:spPr>
        <p:txBody>
          <a:bodyPr/>
          <a:lstStyle/>
          <a:p>
            <a:endParaRPr lang="en-US"/>
          </a:p>
        </p:txBody>
      </p:sp>
      <p:sp>
        <p:nvSpPr>
          <p:cNvPr id="5" name="Shape 3"/>
          <p:cNvSpPr/>
          <p:nvPr/>
        </p:nvSpPr>
        <p:spPr>
          <a:xfrm>
            <a:off x="731520" y="1645920"/>
            <a:ext cx="640080" cy="640080"/>
          </a:xfrm>
          <a:prstGeom prst="ellipse">
            <a:avLst/>
          </a:prstGeom>
          <a:solidFill>
            <a:srgbClr val="1B2A41"/>
          </a:solidFill>
          <a:ln w="12700">
            <a:solidFill>
              <a:srgbClr val="1B2A41"/>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1540" y="1805940"/>
            <a:ext cx="320040" cy="320040"/>
          </a:xfrm>
          <a:prstGeom prst="rect">
            <a:avLst/>
          </a:prstGeom>
        </p:spPr>
      </p:pic>
      <p:sp>
        <p:nvSpPr>
          <p:cNvPr id="7" name="Text 4"/>
          <p:cNvSpPr txBox="1"/>
          <p:nvPr/>
        </p:nvSpPr>
        <p:spPr>
          <a:xfrm>
            <a:off x="731520" y="2377440"/>
            <a:ext cx="1463040" cy="548640"/>
          </a:xfrm>
          <a:prstGeom prst="rect">
            <a:avLst/>
          </a:prstGeom>
          <a:noFill/>
          <a:ln/>
        </p:spPr>
        <p:txBody>
          <a:bodyPr wrap="square" lIns="0" tIns="0" rIns="0" bIns="0" rtlCol="0" anchor="ctr"/>
          <a:lstStyle/>
          <a:p>
            <a:pPr marL="0" indent="0">
              <a:buNone/>
            </a:pPr>
            <a:r>
              <a:rPr lang="en-US" sz="3000" b="1">
                <a:solidFill>
                  <a:srgbClr val="E4572E"/>
                </a:solidFill>
                <a:latin typeface="Cambria" pitchFamily="34" charset="0"/>
                <a:ea typeface="Cambria" pitchFamily="34" charset="-122"/>
                <a:cs typeface="Cambria" pitchFamily="34" charset="-120"/>
              </a:rPr>
              <a:t>11.4M</a:t>
            </a:r>
            <a:endParaRPr lang="en-US" sz="3000"/>
          </a:p>
        </p:txBody>
      </p:sp>
      <p:sp>
        <p:nvSpPr>
          <p:cNvPr id="8" name="Text 5"/>
          <p:cNvSpPr txBox="1"/>
          <p:nvPr/>
        </p:nvSpPr>
        <p:spPr>
          <a:xfrm>
            <a:off x="731520" y="2926080"/>
            <a:ext cx="1463040" cy="365760"/>
          </a:xfrm>
          <a:prstGeom prst="rect">
            <a:avLst/>
          </a:prstGeom>
          <a:noFill/>
          <a:ln/>
        </p:spPr>
        <p:txBody>
          <a:bodyPr wrap="square" lIns="0" tIns="0" rIns="0" bIns="0" rtlCol="0" anchor="ctr"/>
          <a:lstStyle/>
          <a:p>
            <a:pPr marL="0" indent="0">
              <a:buNone/>
            </a:pPr>
            <a:r>
              <a:rPr lang="en-US" sz="1300">
                <a:solidFill>
                  <a:srgbClr val="6B7280"/>
                </a:solidFill>
                <a:latin typeface="Calibri" pitchFamily="34" charset="0"/>
                <a:ea typeface="Calibri" pitchFamily="34" charset="-122"/>
                <a:cs typeface="Calibri" pitchFamily="34" charset="-120"/>
              </a:rPr>
              <a:t>donations</a:t>
            </a:r>
            <a:endParaRPr lang="en-US" sz="1300"/>
          </a:p>
        </p:txBody>
      </p:sp>
      <p:sp>
        <p:nvSpPr>
          <p:cNvPr id="9" name="Shape 6"/>
          <p:cNvSpPr/>
          <p:nvPr/>
        </p:nvSpPr>
        <p:spPr>
          <a:xfrm>
            <a:off x="2606040" y="1417320"/>
            <a:ext cx="1783080" cy="2103120"/>
          </a:xfrm>
          <a:prstGeom prst="roundRect">
            <a:avLst>
              <a:gd name="adj" fmla="val 4103"/>
            </a:avLst>
          </a:prstGeom>
          <a:solidFill>
            <a:srgbClr val="F1F3F5"/>
          </a:solidFill>
          <a:ln w="12700">
            <a:solidFill>
              <a:srgbClr val="F1F3F5"/>
            </a:solidFill>
            <a:prstDash val="solid"/>
          </a:ln>
        </p:spPr>
        <p:txBody>
          <a:bodyPr/>
          <a:lstStyle/>
          <a:p>
            <a:endParaRPr lang="en-US"/>
          </a:p>
        </p:txBody>
      </p:sp>
      <p:sp>
        <p:nvSpPr>
          <p:cNvPr id="10" name="Shape 7"/>
          <p:cNvSpPr/>
          <p:nvPr/>
        </p:nvSpPr>
        <p:spPr>
          <a:xfrm>
            <a:off x="2788920" y="1645920"/>
            <a:ext cx="640080" cy="640080"/>
          </a:xfrm>
          <a:prstGeom prst="ellipse">
            <a:avLst/>
          </a:prstGeom>
          <a:solidFill>
            <a:srgbClr val="1B2A41"/>
          </a:solidFill>
          <a:ln w="12700">
            <a:solidFill>
              <a:srgbClr val="1B2A41"/>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2948940" y="1805940"/>
            <a:ext cx="320040" cy="320040"/>
          </a:xfrm>
          <a:prstGeom prst="rect">
            <a:avLst/>
          </a:prstGeom>
        </p:spPr>
      </p:pic>
      <p:sp>
        <p:nvSpPr>
          <p:cNvPr id="12" name="Text 8"/>
          <p:cNvSpPr txBox="1"/>
          <p:nvPr/>
        </p:nvSpPr>
        <p:spPr>
          <a:xfrm>
            <a:off x="2788920" y="2377440"/>
            <a:ext cx="1463040" cy="548640"/>
          </a:xfrm>
          <a:prstGeom prst="rect">
            <a:avLst/>
          </a:prstGeom>
          <a:noFill/>
          <a:ln/>
        </p:spPr>
        <p:txBody>
          <a:bodyPr wrap="square" lIns="0" tIns="0" rIns="0" bIns="0" rtlCol="0" anchor="ctr"/>
          <a:lstStyle/>
          <a:p>
            <a:pPr marL="0" indent="0">
              <a:buNone/>
            </a:pPr>
            <a:r>
              <a:rPr lang="en-US" sz="3000" b="1">
                <a:solidFill>
                  <a:srgbClr val="E4572E"/>
                </a:solidFill>
                <a:latin typeface="Cambria" pitchFamily="34" charset="0"/>
                <a:ea typeface="Cambria" pitchFamily="34" charset="-122"/>
                <a:cs typeface="Cambria" pitchFamily="34" charset="-120"/>
              </a:rPr>
              <a:t>3.5M</a:t>
            </a:r>
            <a:endParaRPr lang="en-US" sz="3000"/>
          </a:p>
        </p:txBody>
      </p:sp>
      <p:sp>
        <p:nvSpPr>
          <p:cNvPr id="13" name="Text 9"/>
          <p:cNvSpPr txBox="1"/>
          <p:nvPr/>
        </p:nvSpPr>
        <p:spPr>
          <a:xfrm>
            <a:off x="2788920" y="2926080"/>
            <a:ext cx="1463040" cy="365760"/>
          </a:xfrm>
          <a:prstGeom prst="rect">
            <a:avLst/>
          </a:prstGeom>
          <a:noFill/>
          <a:ln/>
        </p:spPr>
        <p:txBody>
          <a:bodyPr wrap="square" lIns="0" tIns="0" rIns="0" bIns="0" rtlCol="0" anchor="ctr"/>
          <a:lstStyle/>
          <a:p>
            <a:pPr marL="0" indent="0">
              <a:buNone/>
            </a:pPr>
            <a:r>
              <a:rPr lang="en-US" sz="1300">
                <a:solidFill>
                  <a:srgbClr val="6B7280"/>
                </a:solidFill>
                <a:latin typeface="Calibri" pitchFamily="34" charset="0"/>
                <a:ea typeface="Calibri" pitchFamily="34" charset="-122"/>
                <a:cs typeface="Calibri" pitchFamily="34" charset="-120"/>
              </a:rPr>
              <a:t>donors</a:t>
            </a:r>
            <a:endParaRPr lang="en-US" sz="1300"/>
          </a:p>
        </p:txBody>
      </p:sp>
      <p:sp>
        <p:nvSpPr>
          <p:cNvPr id="14" name="Shape 10"/>
          <p:cNvSpPr/>
          <p:nvPr/>
        </p:nvSpPr>
        <p:spPr>
          <a:xfrm>
            <a:off x="4663440" y="1417320"/>
            <a:ext cx="1783080" cy="2103120"/>
          </a:xfrm>
          <a:prstGeom prst="roundRect">
            <a:avLst>
              <a:gd name="adj" fmla="val 4103"/>
            </a:avLst>
          </a:prstGeom>
          <a:solidFill>
            <a:srgbClr val="F1F3F5"/>
          </a:solidFill>
          <a:ln w="12700">
            <a:solidFill>
              <a:srgbClr val="F1F3F5"/>
            </a:solidFill>
            <a:prstDash val="solid"/>
          </a:ln>
        </p:spPr>
        <p:txBody>
          <a:bodyPr/>
          <a:lstStyle/>
          <a:p>
            <a:endParaRPr lang="en-US"/>
          </a:p>
        </p:txBody>
      </p:sp>
      <p:sp>
        <p:nvSpPr>
          <p:cNvPr id="15" name="Shape 11"/>
          <p:cNvSpPr/>
          <p:nvPr/>
        </p:nvSpPr>
        <p:spPr>
          <a:xfrm>
            <a:off x="4846320" y="1645920"/>
            <a:ext cx="640080" cy="640080"/>
          </a:xfrm>
          <a:prstGeom prst="ellipse">
            <a:avLst/>
          </a:prstGeom>
          <a:solidFill>
            <a:srgbClr val="1B2A41"/>
          </a:solidFill>
          <a:ln w="12700">
            <a:solidFill>
              <a:srgbClr val="1B2A41"/>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5006340" y="1805940"/>
            <a:ext cx="320040" cy="320040"/>
          </a:xfrm>
          <a:prstGeom prst="rect">
            <a:avLst/>
          </a:prstGeom>
        </p:spPr>
      </p:pic>
      <p:sp>
        <p:nvSpPr>
          <p:cNvPr id="17" name="Text 12"/>
          <p:cNvSpPr txBox="1"/>
          <p:nvPr/>
        </p:nvSpPr>
        <p:spPr>
          <a:xfrm>
            <a:off x="4846320" y="2377440"/>
            <a:ext cx="1463040" cy="548640"/>
          </a:xfrm>
          <a:prstGeom prst="rect">
            <a:avLst/>
          </a:prstGeom>
          <a:noFill/>
          <a:ln/>
        </p:spPr>
        <p:txBody>
          <a:bodyPr wrap="square" lIns="0" tIns="0" rIns="0" bIns="0" rtlCol="0" anchor="ctr"/>
          <a:lstStyle/>
          <a:p>
            <a:pPr marL="0" indent="0">
              <a:buNone/>
            </a:pPr>
            <a:r>
              <a:rPr lang="en-US" sz="3000" b="1">
                <a:solidFill>
                  <a:srgbClr val="E4572E"/>
                </a:solidFill>
                <a:latin typeface="Cambria" pitchFamily="34" charset="0"/>
                <a:ea typeface="Cambria" pitchFamily="34" charset="-122"/>
                <a:cs typeface="Cambria" pitchFamily="34" charset="-120"/>
              </a:rPr>
              <a:t>2.1M</a:t>
            </a:r>
            <a:endParaRPr lang="en-US" sz="3000"/>
          </a:p>
        </p:txBody>
      </p:sp>
      <p:sp>
        <p:nvSpPr>
          <p:cNvPr id="18" name="Text 13"/>
          <p:cNvSpPr txBox="1"/>
          <p:nvPr/>
        </p:nvSpPr>
        <p:spPr>
          <a:xfrm>
            <a:off x="4846320" y="2926080"/>
            <a:ext cx="1463040" cy="365760"/>
          </a:xfrm>
          <a:prstGeom prst="rect">
            <a:avLst/>
          </a:prstGeom>
          <a:noFill/>
          <a:ln/>
        </p:spPr>
        <p:txBody>
          <a:bodyPr wrap="square" lIns="0" tIns="0" rIns="0" bIns="0" rtlCol="0" anchor="ctr"/>
          <a:lstStyle/>
          <a:p>
            <a:pPr marL="0" indent="0">
              <a:buNone/>
            </a:pPr>
            <a:r>
              <a:rPr lang="en-US" sz="1300">
                <a:solidFill>
                  <a:srgbClr val="6B7280"/>
                </a:solidFill>
                <a:latin typeface="Calibri" pitchFamily="34" charset="0"/>
                <a:ea typeface="Calibri" pitchFamily="34" charset="-122"/>
                <a:cs typeface="Calibri" pitchFamily="34" charset="-120"/>
              </a:rPr>
              <a:t>classroom projects</a:t>
            </a:r>
            <a:endParaRPr lang="en-US" sz="1300"/>
          </a:p>
        </p:txBody>
      </p:sp>
      <p:sp>
        <p:nvSpPr>
          <p:cNvPr id="19" name="Shape 14"/>
          <p:cNvSpPr/>
          <p:nvPr/>
        </p:nvSpPr>
        <p:spPr>
          <a:xfrm>
            <a:off x="6720840" y="1417320"/>
            <a:ext cx="1783080" cy="2103120"/>
          </a:xfrm>
          <a:prstGeom prst="roundRect">
            <a:avLst>
              <a:gd name="adj" fmla="val 4103"/>
            </a:avLst>
          </a:prstGeom>
          <a:solidFill>
            <a:srgbClr val="F1F3F5"/>
          </a:solidFill>
          <a:ln w="12700">
            <a:solidFill>
              <a:srgbClr val="F1F3F5"/>
            </a:solidFill>
            <a:prstDash val="solid"/>
          </a:ln>
        </p:spPr>
        <p:txBody>
          <a:bodyPr/>
          <a:lstStyle/>
          <a:p>
            <a:endParaRPr lang="en-US"/>
          </a:p>
        </p:txBody>
      </p:sp>
      <p:sp>
        <p:nvSpPr>
          <p:cNvPr id="20" name="Shape 15"/>
          <p:cNvSpPr/>
          <p:nvPr/>
        </p:nvSpPr>
        <p:spPr>
          <a:xfrm>
            <a:off x="6903720" y="1645920"/>
            <a:ext cx="640080" cy="640080"/>
          </a:xfrm>
          <a:prstGeom prst="ellipse">
            <a:avLst/>
          </a:prstGeom>
          <a:solidFill>
            <a:srgbClr val="1B2A41"/>
          </a:solidFill>
          <a:ln w="12700">
            <a:solidFill>
              <a:srgbClr val="1B2A41"/>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7063740" y="1805940"/>
            <a:ext cx="320040" cy="320040"/>
          </a:xfrm>
          <a:prstGeom prst="rect">
            <a:avLst/>
          </a:prstGeom>
        </p:spPr>
      </p:pic>
      <p:sp>
        <p:nvSpPr>
          <p:cNvPr id="22" name="Text 16"/>
          <p:cNvSpPr txBox="1"/>
          <p:nvPr/>
        </p:nvSpPr>
        <p:spPr>
          <a:xfrm>
            <a:off x="6903720" y="2377440"/>
            <a:ext cx="1463040" cy="548640"/>
          </a:xfrm>
          <a:prstGeom prst="rect">
            <a:avLst/>
          </a:prstGeom>
          <a:noFill/>
          <a:ln/>
        </p:spPr>
        <p:txBody>
          <a:bodyPr wrap="square" lIns="0" tIns="0" rIns="0" bIns="0" rtlCol="0" anchor="ctr"/>
          <a:lstStyle/>
          <a:p>
            <a:pPr marL="0" indent="0">
              <a:buNone/>
            </a:pPr>
            <a:r>
              <a:rPr lang="en-US" sz="3000" b="1">
                <a:solidFill>
                  <a:srgbClr val="E4572E"/>
                </a:solidFill>
                <a:latin typeface="Cambria" pitchFamily="34" charset="0"/>
                <a:ea typeface="Cambria" pitchFamily="34" charset="-122"/>
                <a:cs typeface="Cambria" pitchFamily="34" charset="-120"/>
              </a:rPr>
              <a:t>17 yrs</a:t>
            </a:r>
            <a:endParaRPr lang="en-US" sz="3000"/>
          </a:p>
        </p:txBody>
      </p:sp>
      <p:sp>
        <p:nvSpPr>
          <p:cNvPr id="23" name="Text 17"/>
          <p:cNvSpPr txBox="1"/>
          <p:nvPr/>
        </p:nvSpPr>
        <p:spPr>
          <a:xfrm>
            <a:off x="6903720" y="2926080"/>
            <a:ext cx="1463040" cy="365760"/>
          </a:xfrm>
          <a:prstGeom prst="rect">
            <a:avLst/>
          </a:prstGeom>
          <a:noFill/>
          <a:ln/>
        </p:spPr>
        <p:txBody>
          <a:bodyPr wrap="square" lIns="0" tIns="0" rIns="0" bIns="0" rtlCol="0" anchor="ctr"/>
          <a:lstStyle/>
          <a:p>
            <a:pPr marL="0" indent="0">
              <a:buNone/>
            </a:pPr>
            <a:r>
              <a:rPr lang="en-US" sz="1300">
                <a:solidFill>
                  <a:srgbClr val="6B7280"/>
                </a:solidFill>
                <a:latin typeface="Calibri" pitchFamily="34" charset="0"/>
                <a:ea typeface="Calibri" pitchFamily="34" charset="-122"/>
                <a:cs typeface="Calibri" pitchFamily="34" charset="-120"/>
              </a:rPr>
              <a:t>2002–2019</a:t>
            </a:r>
            <a:endParaRPr lang="en-US" sz="1300"/>
          </a:p>
        </p:txBody>
      </p:sp>
      <p:sp>
        <p:nvSpPr>
          <p:cNvPr id="24" name="Shape 18"/>
          <p:cNvSpPr/>
          <p:nvPr/>
        </p:nvSpPr>
        <p:spPr>
          <a:xfrm>
            <a:off x="548640" y="3931920"/>
            <a:ext cx="411480" cy="411480"/>
          </a:xfrm>
          <a:prstGeom prst="ellipse">
            <a:avLst/>
          </a:prstGeom>
          <a:solidFill>
            <a:srgbClr val="2A9D8F"/>
          </a:solidFill>
          <a:ln w="12700">
            <a:solidFill>
              <a:srgbClr val="2A9D8F"/>
            </a:solidFill>
            <a:prstDash val="solid"/>
          </a:ln>
        </p:spPr>
        <p:txBody>
          <a:bodyPr/>
          <a:lstStyle/>
          <a:p>
            <a:endParaRPr lang="en-US"/>
          </a:p>
        </p:txBody>
      </p:sp>
      <p:pic>
        <p:nvPicPr>
          <p:cNvPr id="25" name="Image 4" descr="preencoded.png"/>
          <p:cNvPicPr>
            <a:picLocks noChangeAspect="1"/>
          </p:cNvPicPr>
          <p:nvPr/>
        </p:nvPicPr>
        <p:blipFill>
          <a:blip r:embed="rId7"/>
          <a:stretch>
            <a:fillRect/>
          </a:stretch>
        </p:blipFill>
        <p:spPr>
          <a:xfrm>
            <a:off x="651510" y="4034790"/>
            <a:ext cx="205740" cy="205740"/>
          </a:xfrm>
          <a:prstGeom prst="rect">
            <a:avLst/>
          </a:prstGeom>
        </p:spPr>
      </p:pic>
      <p:sp>
        <p:nvSpPr>
          <p:cNvPr id="26" name="Text 19"/>
          <p:cNvSpPr txBox="1"/>
          <p:nvPr/>
        </p:nvSpPr>
        <p:spPr>
          <a:xfrm>
            <a:off x="1097280" y="3931920"/>
            <a:ext cx="5486400" cy="411480"/>
          </a:xfrm>
          <a:prstGeom prst="rect">
            <a:avLst/>
          </a:prstGeom>
          <a:noFill/>
          <a:ln/>
        </p:spPr>
        <p:txBody>
          <a:bodyPr wrap="square" lIns="0" tIns="0" rIns="0" bIns="0" rtlCol="0" anchor="ctr"/>
          <a:lstStyle/>
          <a:p>
            <a:pPr marL="0" indent="0">
              <a:buNone/>
            </a:pPr>
            <a:r>
              <a:rPr lang="en-US" sz="1600" b="1">
                <a:solidFill>
                  <a:srgbClr val="1B2A41"/>
                </a:solidFill>
                <a:latin typeface="Calibri" pitchFamily="34" charset="0"/>
                <a:ea typeface="Calibri" pitchFamily="34" charset="-122"/>
                <a:cs typeface="Calibri" pitchFamily="34" charset="-120"/>
              </a:rPr>
              <a:t>Every row used. No sampling.</a:t>
            </a:r>
            <a:endParaRPr lang="en-US" sz="1600"/>
          </a:p>
        </p:txBody>
      </p:sp>
      <p:sp>
        <p:nvSpPr>
          <p:cNvPr id="27" name="Text 20"/>
          <p:cNvSpPr txBox="1"/>
          <p:nvPr/>
        </p:nvSpPr>
        <p:spPr>
          <a:xfrm>
            <a:off x="548640" y="4617720"/>
            <a:ext cx="8046720" cy="274320"/>
          </a:xfrm>
          <a:prstGeom prst="rect">
            <a:avLst/>
          </a:prstGeom>
          <a:noFill/>
          <a:ln/>
        </p:spPr>
        <p:txBody>
          <a:bodyPr wrap="square" lIns="0" tIns="0" rIns="0" bIns="0" rtlCol="0" anchor="ctr"/>
          <a:lstStyle/>
          <a:p>
            <a:pPr marL="0" indent="0">
              <a:buNone/>
            </a:pPr>
            <a:r>
              <a:rPr lang="en-US" sz="1000">
                <a:solidFill>
                  <a:srgbClr val="6B7280"/>
                </a:solidFill>
                <a:latin typeface="Calibri" pitchFamily="34" charset="0"/>
                <a:ea typeface="Calibri" pitchFamily="34" charset="-122"/>
                <a:cs typeface="Calibri" pitchFamily="34" charset="-120"/>
              </a:rPr>
              <a:t>Source: ICPSR study 37898 (free, public)</a:t>
            </a:r>
            <a:endParaRPr lang="en-US" sz="1000"/>
          </a:p>
        </p:txBody>
      </p:sp>
    </p:spTree>
    <p:extLst>
      <p:ext uri="{BB962C8B-B14F-4D97-AF65-F5344CB8AC3E}">
        <p14:creationId xmlns:p14="http://schemas.microsoft.com/office/powerpoint/2010/main" val="3255277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5">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marL="0" indent="0">
              <a:buNone/>
            </a:pPr>
            <a:r>
              <a:rPr lang="en-US" sz="3000" b="1">
                <a:solidFill>
                  <a:srgbClr val="1B2A41"/>
                </a:solidFill>
                <a:latin typeface="Cambria" pitchFamily="34" charset="0"/>
                <a:ea typeface="Cambria" pitchFamily="34" charset="-122"/>
                <a:cs typeface="Cambria" pitchFamily="34" charset="-120"/>
              </a:rPr>
              <a:t>100 new donors. Who comes back?</a:t>
            </a:r>
            <a:endParaRPr lang="en-US" sz="3000"/>
          </a:p>
        </p:txBody>
      </p:sp>
      <p:sp>
        <p:nvSpPr>
          <p:cNvPr id="3" name="Shape 1"/>
          <p:cNvSpPr/>
          <p:nvPr/>
        </p:nvSpPr>
        <p:spPr>
          <a:xfrm>
            <a:off x="731520" y="1234440"/>
            <a:ext cx="219456" cy="219456"/>
          </a:xfrm>
          <a:prstGeom prst="ellipse">
            <a:avLst/>
          </a:prstGeom>
          <a:solidFill>
            <a:srgbClr val="C9CED6"/>
          </a:solidFill>
          <a:ln w="12700">
            <a:solidFill>
              <a:srgbClr val="C9CED6"/>
            </a:solidFill>
            <a:prstDash val="solid"/>
          </a:ln>
        </p:spPr>
        <p:txBody>
          <a:bodyPr/>
          <a:lstStyle/>
          <a:p>
            <a:endParaRPr lang="en-US"/>
          </a:p>
        </p:txBody>
      </p:sp>
      <p:sp>
        <p:nvSpPr>
          <p:cNvPr id="4" name="Shape 2"/>
          <p:cNvSpPr/>
          <p:nvPr/>
        </p:nvSpPr>
        <p:spPr>
          <a:xfrm>
            <a:off x="1060704" y="1234440"/>
            <a:ext cx="219456" cy="219456"/>
          </a:xfrm>
          <a:prstGeom prst="ellipse">
            <a:avLst/>
          </a:prstGeom>
          <a:solidFill>
            <a:srgbClr val="C9CED6"/>
          </a:solidFill>
          <a:ln w="12700">
            <a:solidFill>
              <a:srgbClr val="C9CED6"/>
            </a:solidFill>
            <a:prstDash val="solid"/>
          </a:ln>
        </p:spPr>
        <p:txBody>
          <a:bodyPr/>
          <a:lstStyle/>
          <a:p>
            <a:endParaRPr lang="en-US"/>
          </a:p>
        </p:txBody>
      </p:sp>
      <p:sp>
        <p:nvSpPr>
          <p:cNvPr id="5" name="Shape 3"/>
          <p:cNvSpPr/>
          <p:nvPr/>
        </p:nvSpPr>
        <p:spPr>
          <a:xfrm>
            <a:off x="1389888" y="1234440"/>
            <a:ext cx="219456" cy="219456"/>
          </a:xfrm>
          <a:prstGeom prst="ellipse">
            <a:avLst/>
          </a:prstGeom>
          <a:solidFill>
            <a:srgbClr val="C9CED6"/>
          </a:solidFill>
          <a:ln w="12700">
            <a:solidFill>
              <a:srgbClr val="C9CED6"/>
            </a:solidFill>
            <a:prstDash val="solid"/>
          </a:ln>
        </p:spPr>
        <p:txBody>
          <a:bodyPr/>
          <a:lstStyle/>
          <a:p>
            <a:endParaRPr lang="en-US"/>
          </a:p>
        </p:txBody>
      </p:sp>
      <p:sp>
        <p:nvSpPr>
          <p:cNvPr id="6" name="Shape 4"/>
          <p:cNvSpPr/>
          <p:nvPr/>
        </p:nvSpPr>
        <p:spPr>
          <a:xfrm>
            <a:off x="1719072" y="1234440"/>
            <a:ext cx="219456" cy="219456"/>
          </a:xfrm>
          <a:prstGeom prst="ellipse">
            <a:avLst/>
          </a:prstGeom>
          <a:solidFill>
            <a:srgbClr val="E4572E"/>
          </a:solidFill>
          <a:ln w="12700">
            <a:solidFill>
              <a:srgbClr val="E4572E"/>
            </a:solidFill>
            <a:prstDash val="solid"/>
          </a:ln>
        </p:spPr>
        <p:txBody>
          <a:bodyPr/>
          <a:lstStyle/>
          <a:p>
            <a:endParaRPr lang="en-US"/>
          </a:p>
        </p:txBody>
      </p:sp>
      <p:sp>
        <p:nvSpPr>
          <p:cNvPr id="7" name="Shape 5"/>
          <p:cNvSpPr/>
          <p:nvPr/>
        </p:nvSpPr>
        <p:spPr>
          <a:xfrm>
            <a:off x="2048256" y="1234440"/>
            <a:ext cx="219456" cy="219456"/>
          </a:xfrm>
          <a:prstGeom prst="ellipse">
            <a:avLst/>
          </a:prstGeom>
          <a:solidFill>
            <a:srgbClr val="C9CED6"/>
          </a:solidFill>
          <a:ln w="12700">
            <a:solidFill>
              <a:srgbClr val="C9CED6"/>
            </a:solidFill>
            <a:prstDash val="solid"/>
          </a:ln>
        </p:spPr>
        <p:txBody>
          <a:bodyPr/>
          <a:lstStyle/>
          <a:p>
            <a:endParaRPr lang="en-US"/>
          </a:p>
        </p:txBody>
      </p:sp>
      <p:sp>
        <p:nvSpPr>
          <p:cNvPr id="8" name="Shape 6"/>
          <p:cNvSpPr/>
          <p:nvPr/>
        </p:nvSpPr>
        <p:spPr>
          <a:xfrm>
            <a:off x="2377440" y="1234440"/>
            <a:ext cx="219456" cy="219456"/>
          </a:xfrm>
          <a:prstGeom prst="ellipse">
            <a:avLst/>
          </a:prstGeom>
          <a:solidFill>
            <a:srgbClr val="C9CED6"/>
          </a:solidFill>
          <a:ln w="12700">
            <a:solidFill>
              <a:srgbClr val="C9CED6"/>
            </a:solidFill>
            <a:prstDash val="solid"/>
          </a:ln>
        </p:spPr>
        <p:txBody>
          <a:bodyPr/>
          <a:lstStyle/>
          <a:p>
            <a:endParaRPr lang="en-US"/>
          </a:p>
        </p:txBody>
      </p:sp>
      <p:sp>
        <p:nvSpPr>
          <p:cNvPr id="9" name="Shape 7"/>
          <p:cNvSpPr/>
          <p:nvPr/>
        </p:nvSpPr>
        <p:spPr>
          <a:xfrm>
            <a:off x="2706624" y="1234440"/>
            <a:ext cx="219456" cy="219456"/>
          </a:xfrm>
          <a:prstGeom prst="ellipse">
            <a:avLst/>
          </a:prstGeom>
          <a:solidFill>
            <a:srgbClr val="C9CED6"/>
          </a:solidFill>
          <a:ln w="12700">
            <a:solidFill>
              <a:srgbClr val="C9CED6"/>
            </a:solidFill>
            <a:prstDash val="solid"/>
          </a:ln>
        </p:spPr>
        <p:txBody>
          <a:bodyPr/>
          <a:lstStyle/>
          <a:p>
            <a:endParaRPr lang="en-US"/>
          </a:p>
        </p:txBody>
      </p:sp>
      <p:sp>
        <p:nvSpPr>
          <p:cNvPr id="10" name="Shape 8"/>
          <p:cNvSpPr/>
          <p:nvPr/>
        </p:nvSpPr>
        <p:spPr>
          <a:xfrm>
            <a:off x="3035808" y="1234440"/>
            <a:ext cx="219456" cy="219456"/>
          </a:xfrm>
          <a:prstGeom prst="ellipse">
            <a:avLst/>
          </a:prstGeom>
          <a:solidFill>
            <a:srgbClr val="C9CED6"/>
          </a:solidFill>
          <a:ln w="12700">
            <a:solidFill>
              <a:srgbClr val="C9CED6"/>
            </a:solidFill>
            <a:prstDash val="solid"/>
          </a:ln>
        </p:spPr>
        <p:txBody>
          <a:bodyPr/>
          <a:lstStyle/>
          <a:p>
            <a:endParaRPr lang="en-US"/>
          </a:p>
        </p:txBody>
      </p:sp>
      <p:sp>
        <p:nvSpPr>
          <p:cNvPr id="11" name="Shape 9"/>
          <p:cNvSpPr/>
          <p:nvPr/>
        </p:nvSpPr>
        <p:spPr>
          <a:xfrm>
            <a:off x="3364992" y="1234440"/>
            <a:ext cx="219456" cy="219456"/>
          </a:xfrm>
          <a:prstGeom prst="ellipse">
            <a:avLst/>
          </a:prstGeom>
          <a:solidFill>
            <a:srgbClr val="C9CED6"/>
          </a:solidFill>
          <a:ln w="12700">
            <a:solidFill>
              <a:srgbClr val="C9CED6"/>
            </a:solidFill>
            <a:prstDash val="solid"/>
          </a:ln>
        </p:spPr>
        <p:txBody>
          <a:bodyPr/>
          <a:lstStyle/>
          <a:p>
            <a:endParaRPr lang="en-US"/>
          </a:p>
        </p:txBody>
      </p:sp>
      <p:sp>
        <p:nvSpPr>
          <p:cNvPr id="12" name="Shape 10"/>
          <p:cNvSpPr/>
          <p:nvPr/>
        </p:nvSpPr>
        <p:spPr>
          <a:xfrm>
            <a:off x="3694176" y="1234440"/>
            <a:ext cx="219456" cy="219456"/>
          </a:xfrm>
          <a:prstGeom prst="ellipse">
            <a:avLst/>
          </a:prstGeom>
          <a:solidFill>
            <a:srgbClr val="E4572E"/>
          </a:solidFill>
          <a:ln w="12700">
            <a:solidFill>
              <a:srgbClr val="C9CED6"/>
            </a:solidFill>
            <a:prstDash val="solid"/>
          </a:ln>
        </p:spPr>
        <p:txBody>
          <a:bodyPr/>
          <a:lstStyle/>
          <a:p>
            <a:endParaRPr lang="en-US"/>
          </a:p>
        </p:txBody>
      </p:sp>
      <p:sp>
        <p:nvSpPr>
          <p:cNvPr id="13" name="Shape 11"/>
          <p:cNvSpPr/>
          <p:nvPr/>
        </p:nvSpPr>
        <p:spPr>
          <a:xfrm>
            <a:off x="731520" y="1563624"/>
            <a:ext cx="219456" cy="219456"/>
          </a:xfrm>
          <a:prstGeom prst="ellipse">
            <a:avLst/>
          </a:prstGeom>
          <a:solidFill>
            <a:srgbClr val="C9CED6"/>
          </a:solidFill>
          <a:ln w="12700">
            <a:solidFill>
              <a:srgbClr val="C9CED6"/>
            </a:solidFill>
            <a:prstDash val="solid"/>
          </a:ln>
        </p:spPr>
        <p:txBody>
          <a:bodyPr/>
          <a:lstStyle/>
          <a:p>
            <a:endParaRPr lang="en-US"/>
          </a:p>
        </p:txBody>
      </p:sp>
      <p:sp>
        <p:nvSpPr>
          <p:cNvPr id="14" name="Shape 12"/>
          <p:cNvSpPr/>
          <p:nvPr/>
        </p:nvSpPr>
        <p:spPr>
          <a:xfrm>
            <a:off x="1060704" y="1563624"/>
            <a:ext cx="219456" cy="219456"/>
          </a:xfrm>
          <a:prstGeom prst="ellipse">
            <a:avLst/>
          </a:prstGeom>
          <a:solidFill>
            <a:srgbClr val="C9CED6"/>
          </a:solidFill>
          <a:ln w="12700">
            <a:solidFill>
              <a:srgbClr val="C9CED6"/>
            </a:solidFill>
            <a:prstDash val="solid"/>
          </a:ln>
        </p:spPr>
        <p:txBody>
          <a:bodyPr/>
          <a:lstStyle/>
          <a:p>
            <a:endParaRPr lang="en-US"/>
          </a:p>
        </p:txBody>
      </p:sp>
      <p:sp>
        <p:nvSpPr>
          <p:cNvPr id="15" name="Shape 13"/>
          <p:cNvSpPr/>
          <p:nvPr/>
        </p:nvSpPr>
        <p:spPr>
          <a:xfrm>
            <a:off x="1389888" y="1563624"/>
            <a:ext cx="219456" cy="219456"/>
          </a:xfrm>
          <a:prstGeom prst="ellipse">
            <a:avLst/>
          </a:prstGeom>
          <a:solidFill>
            <a:srgbClr val="C9CED6"/>
          </a:solidFill>
          <a:ln w="12700">
            <a:solidFill>
              <a:srgbClr val="C9CED6"/>
            </a:solidFill>
            <a:prstDash val="solid"/>
          </a:ln>
        </p:spPr>
        <p:txBody>
          <a:bodyPr/>
          <a:lstStyle/>
          <a:p>
            <a:endParaRPr lang="en-US"/>
          </a:p>
        </p:txBody>
      </p:sp>
      <p:sp>
        <p:nvSpPr>
          <p:cNvPr id="16" name="Shape 14"/>
          <p:cNvSpPr/>
          <p:nvPr/>
        </p:nvSpPr>
        <p:spPr>
          <a:xfrm>
            <a:off x="1719072" y="1563624"/>
            <a:ext cx="219456" cy="219456"/>
          </a:xfrm>
          <a:prstGeom prst="ellipse">
            <a:avLst/>
          </a:prstGeom>
          <a:solidFill>
            <a:srgbClr val="C9CED6"/>
          </a:solidFill>
          <a:ln w="12700">
            <a:solidFill>
              <a:srgbClr val="C9CED6"/>
            </a:solidFill>
            <a:prstDash val="solid"/>
          </a:ln>
        </p:spPr>
        <p:txBody>
          <a:bodyPr/>
          <a:lstStyle/>
          <a:p>
            <a:endParaRPr lang="en-US"/>
          </a:p>
        </p:txBody>
      </p:sp>
      <p:sp>
        <p:nvSpPr>
          <p:cNvPr id="17" name="Shape 15"/>
          <p:cNvSpPr/>
          <p:nvPr/>
        </p:nvSpPr>
        <p:spPr>
          <a:xfrm>
            <a:off x="2048256" y="1563624"/>
            <a:ext cx="219456" cy="219456"/>
          </a:xfrm>
          <a:prstGeom prst="ellipse">
            <a:avLst/>
          </a:prstGeom>
          <a:solidFill>
            <a:srgbClr val="C9CED6"/>
          </a:solidFill>
          <a:ln w="12700">
            <a:solidFill>
              <a:srgbClr val="C9CED6"/>
            </a:solidFill>
            <a:prstDash val="solid"/>
          </a:ln>
        </p:spPr>
        <p:txBody>
          <a:bodyPr/>
          <a:lstStyle/>
          <a:p>
            <a:endParaRPr lang="en-US"/>
          </a:p>
        </p:txBody>
      </p:sp>
      <p:sp>
        <p:nvSpPr>
          <p:cNvPr id="18" name="Shape 16"/>
          <p:cNvSpPr/>
          <p:nvPr/>
        </p:nvSpPr>
        <p:spPr>
          <a:xfrm>
            <a:off x="2377440" y="1563624"/>
            <a:ext cx="219456" cy="219456"/>
          </a:xfrm>
          <a:prstGeom prst="ellipse">
            <a:avLst/>
          </a:prstGeom>
          <a:solidFill>
            <a:srgbClr val="C9CED6"/>
          </a:solidFill>
          <a:ln w="12700">
            <a:solidFill>
              <a:srgbClr val="C9CED6"/>
            </a:solidFill>
            <a:prstDash val="solid"/>
          </a:ln>
        </p:spPr>
        <p:txBody>
          <a:bodyPr/>
          <a:lstStyle/>
          <a:p>
            <a:endParaRPr lang="en-US"/>
          </a:p>
        </p:txBody>
      </p:sp>
      <p:sp>
        <p:nvSpPr>
          <p:cNvPr id="19" name="Shape 17"/>
          <p:cNvSpPr/>
          <p:nvPr/>
        </p:nvSpPr>
        <p:spPr>
          <a:xfrm>
            <a:off x="2706624" y="1563624"/>
            <a:ext cx="219456" cy="219456"/>
          </a:xfrm>
          <a:prstGeom prst="ellipse">
            <a:avLst/>
          </a:prstGeom>
          <a:solidFill>
            <a:srgbClr val="C9CED6"/>
          </a:solidFill>
          <a:ln w="12700">
            <a:solidFill>
              <a:srgbClr val="C9CED6"/>
            </a:solidFill>
            <a:prstDash val="solid"/>
          </a:ln>
        </p:spPr>
        <p:txBody>
          <a:bodyPr/>
          <a:lstStyle/>
          <a:p>
            <a:endParaRPr lang="en-US"/>
          </a:p>
        </p:txBody>
      </p:sp>
      <p:sp>
        <p:nvSpPr>
          <p:cNvPr id="20" name="Shape 18"/>
          <p:cNvSpPr/>
          <p:nvPr/>
        </p:nvSpPr>
        <p:spPr>
          <a:xfrm>
            <a:off x="3035808" y="1563624"/>
            <a:ext cx="219456" cy="219456"/>
          </a:xfrm>
          <a:prstGeom prst="ellipse">
            <a:avLst/>
          </a:prstGeom>
          <a:solidFill>
            <a:srgbClr val="E4572E"/>
          </a:solidFill>
          <a:ln w="12700">
            <a:solidFill>
              <a:srgbClr val="E4572E"/>
            </a:solidFill>
            <a:prstDash val="solid"/>
          </a:ln>
        </p:spPr>
        <p:txBody>
          <a:bodyPr/>
          <a:lstStyle/>
          <a:p>
            <a:endParaRPr lang="en-US"/>
          </a:p>
        </p:txBody>
      </p:sp>
      <p:sp>
        <p:nvSpPr>
          <p:cNvPr id="21" name="Shape 19"/>
          <p:cNvSpPr/>
          <p:nvPr/>
        </p:nvSpPr>
        <p:spPr>
          <a:xfrm>
            <a:off x="3364992" y="1563624"/>
            <a:ext cx="219456" cy="219456"/>
          </a:xfrm>
          <a:prstGeom prst="ellipse">
            <a:avLst/>
          </a:prstGeom>
          <a:solidFill>
            <a:srgbClr val="C9CED6"/>
          </a:solidFill>
          <a:ln w="12700">
            <a:solidFill>
              <a:srgbClr val="C9CED6"/>
            </a:solidFill>
            <a:prstDash val="solid"/>
          </a:ln>
        </p:spPr>
        <p:txBody>
          <a:bodyPr/>
          <a:lstStyle/>
          <a:p>
            <a:endParaRPr lang="en-US"/>
          </a:p>
        </p:txBody>
      </p:sp>
      <p:sp>
        <p:nvSpPr>
          <p:cNvPr id="22" name="Shape 20"/>
          <p:cNvSpPr/>
          <p:nvPr/>
        </p:nvSpPr>
        <p:spPr>
          <a:xfrm>
            <a:off x="3694176" y="1563624"/>
            <a:ext cx="219456" cy="219456"/>
          </a:xfrm>
          <a:prstGeom prst="ellipse">
            <a:avLst/>
          </a:prstGeom>
          <a:solidFill>
            <a:srgbClr val="C9CED6"/>
          </a:solidFill>
          <a:ln w="12700">
            <a:solidFill>
              <a:srgbClr val="C9CED6"/>
            </a:solidFill>
            <a:prstDash val="solid"/>
          </a:ln>
        </p:spPr>
        <p:txBody>
          <a:bodyPr/>
          <a:lstStyle/>
          <a:p>
            <a:endParaRPr lang="en-US"/>
          </a:p>
        </p:txBody>
      </p:sp>
      <p:sp>
        <p:nvSpPr>
          <p:cNvPr id="23" name="Shape 21"/>
          <p:cNvSpPr/>
          <p:nvPr/>
        </p:nvSpPr>
        <p:spPr>
          <a:xfrm>
            <a:off x="731520" y="1892808"/>
            <a:ext cx="219456" cy="219456"/>
          </a:xfrm>
          <a:prstGeom prst="ellipse">
            <a:avLst/>
          </a:prstGeom>
          <a:solidFill>
            <a:srgbClr val="C9CED6"/>
          </a:solidFill>
          <a:ln w="12700">
            <a:solidFill>
              <a:srgbClr val="C9CED6"/>
            </a:solidFill>
            <a:prstDash val="solid"/>
          </a:ln>
        </p:spPr>
        <p:txBody>
          <a:bodyPr/>
          <a:lstStyle/>
          <a:p>
            <a:endParaRPr lang="en-US"/>
          </a:p>
        </p:txBody>
      </p:sp>
      <p:sp>
        <p:nvSpPr>
          <p:cNvPr id="24" name="Shape 22"/>
          <p:cNvSpPr/>
          <p:nvPr/>
        </p:nvSpPr>
        <p:spPr>
          <a:xfrm>
            <a:off x="1060704" y="1892808"/>
            <a:ext cx="219456" cy="219456"/>
          </a:xfrm>
          <a:prstGeom prst="ellipse">
            <a:avLst/>
          </a:prstGeom>
          <a:solidFill>
            <a:srgbClr val="C9CED6"/>
          </a:solidFill>
          <a:ln w="12700">
            <a:solidFill>
              <a:srgbClr val="C9CED6"/>
            </a:solidFill>
            <a:prstDash val="solid"/>
          </a:ln>
        </p:spPr>
        <p:txBody>
          <a:bodyPr/>
          <a:lstStyle/>
          <a:p>
            <a:endParaRPr lang="en-US"/>
          </a:p>
        </p:txBody>
      </p:sp>
      <p:sp>
        <p:nvSpPr>
          <p:cNvPr id="25" name="Shape 23"/>
          <p:cNvSpPr/>
          <p:nvPr/>
        </p:nvSpPr>
        <p:spPr>
          <a:xfrm>
            <a:off x="1389888" y="1892808"/>
            <a:ext cx="219456" cy="219456"/>
          </a:xfrm>
          <a:prstGeom prst="ellipse">
            <a:avLst/>
          </a:prstGeom>
          <a:solidFill>
            <a:srgbClr val="E4572E"/>
          </a:solidFill>
          <a:ln w="12700">
            <a:solidFill>
              <a:srgbClr val="E4572E"/>
            </a:solidFill>
            <a:prstDash val="solid"/>
          </a:ln>
        </p:spPr>
        <p:txBody>
          <a:bodyPr/>
          <a:lstStyle/>
          <a:p>
            <a:endParaRPr lang="en-US"/>
          </a:p>
        </p:txBody>
      </p:sp>
      <p:sp>
        <p:nvSpPr>
          <p:cNvPr id="26" name="Shape 24"/>
          <p:cNvSpPr/>
          <p:nvPr/>
        </p:nvSpPr>
        <p:spPr>
          <a:xfrm>
            <a:off x="1719072" y="1892808"/>
            <a:ext cx="219456" cy="219456"/>
          </a:xfrm>
          <a:prstGeom prst="ellipse">
            <a:avLst/>
          </a:prstGeom>
          <a:solidFill>
            <a:srgbClr val="C9CED6"/>
          </a:solidFill>
          <a:ln w="12700">
            <a:solidFill>
              <a:srgbClr val="C9CED6"/>
            </a:solidFill>
            <a:prstDash val="solid"/>
          </a:ln>
        </p:spPr>
        <p:txBody>
          <a:bodyPr/>
          <a:lstStyle/>
          <a:p>
            <a:endParaRPr lang="en-US"/>
          </a:p>
        </p:txBody>
      </p:sp>
      <p:sp>
        <p:nvSpPr>
          <p:cNvPr id="27" name="Shape 25"/>
          <p:cNvSpPr/>
          <p:nvPr/>
        </p:nvSpPr>
        <p:spPr>
          <a:xfrm>
            <a:off x="2048256" y="1892808"/>
            <a:ext cx="219456" cy="219456"/>
          </a:xfrm>
          <a:prstGeom prst="ellipse">
            <a:avLst/>
          </a:prstGeom>
          <a:solidFill>
            <a:srgbClr val="C9CED6"/>
          </a:solidFill>
          <a:ln w="12700">
            <a:solidFill>
              <a:srgbClr val="C9CED6"/>
            </a:solidFill>
            <a:prstDash val="solid"/>
          </a:ln>
        </p:spPr>
        <p:txBody>
          <a:bodyPr/>
          <a:lstStyle/>
          <a:p>
            <a:endParaRPr lang="en-US"/>
          </a:p>
        </p:txBody>
      </p:sp>
      <p:sp>
        <p:nvSpPr>
          <p:cNvPr id="28" name="Shape 26"/>
          <p:cNvSpPr/>
          <p:nvPr/>
        </p:nvSpPr>
        <p:spPr>
          <a:xfrm>
            <a:off x="2377440" y="1892808"/>
            <a:ext cx="219456" cy="219456"/>
          </a:xfrm>
          <a:prstGeom prst="ellipse">
            <a:avLst/>
          </a:prstGeom>
          <a:solidFill>
            <a:srgbClr val="C9CED6"/>
          </a:solidFill>
          <a:ln w="12700">
            <a:solidFill>
              <a:srgbClr val="C9CED6"/>
            </a:solidFill>
            <a:prstDash val="solid"/>
          </a:ln>
        </p:spPr>
        <p:txBody>
          <a:bodyPr/>
          <a:lstStyle/>
          <a:p>
            <a:endParaRPr lang="en-US"/>
          </a:p>
        </p:txBody>
      </p:sp>
      <p:sp>
        <p:nvSpPr>
          <p:cNvPr id="29" name="Shape 27"/>
          <p:cNvSpPr/>
          <p:nvPr/>
        </p:nvSpPr>
        <p:spPr>
          <a:xfrm>
            <a:off x="2706624" y="1892808"/>
            <a:ext cx="219456" cy="219456"/>
          </a:xfrm>
          <a:prstGeom prst="ellipse">
            <a:avLst/>
          </a:prstGeom>
          <a:solidFill>
            <a:srgbClr val="C9CED6"/>
          </a:solidFill>
          <a:ln w="12700">
            <a:solidFill>
              <a:srgbClr val="C9CED6"/>
            </a:solidFill>
            <a:prstDash val="solid"/>
          </a:ln>
        </p:spPr>
        <p:txBody>
          <a:bodyPr/>
          <a:lstStyle/>
          <a:p>
            <a:endParaRPr lang="en-US"/>
          </a:p>
        </p:txBody>
      </p:sp>
      <p:sp>
        <p:nvSpPr>
          <p:cNvPr id="30" name="Shape 28"/>
          <p:cNvSpPr/>
          <p:nvPr/>
        </p:nvSpPr>
        <p:spPr>
          <a:xfrm>
            <a:off x="3035808" y="1892808"/>
            <a:ext cx="219456" cy="219456"/>
          </a:xfrm>
          <a:prstGeom prst="ellipse">
            <a:avLst/>
          </a:prstGeom>
          <a:solidFill>
            <a:srgbClr val="C9CED6"/>
          </a:solidFill>
          <a:ln w="12700">
            <a:solidFill>
              <a:srgbClr val="C9CED6"/>
            </a:solidFill>
            <a:prstDash val="solid"/>
          </a:ln>
        </p:spPr>
        <p:txBody>
          <a:bodyPr/>
          <a:lstStyle/>
          <a:p>
            <a:endParaRPr lang="en-US"/>
          </a:p>
        </p:txBody>
      </p:sp>
      <p:sp>
        <p:nvSpPr>
          <p:cNvPr id="31" name="Shape 29"/>
          <p:cNvSpPr/>
          <p:nvPr/>
        </p:nvSpPr>
        <p:spPr>
          <a:xfrm>
            <a:off x="3364992" y="1892808"/>
            <a:ext cx="219456" cy="219456"/>
          </a:xfrm>
          <a:prstGeom prst="ellipse">
            <a:avLst/>
          </a:prstGeom>
          <a:solidFill>
            <a:srgbClr val="C9CED6"/>
          </a:solidFill>
          <a:ln w="12700">
            <a:solidFill>
              <a:srgbClr val="C9CED6"/>
            </a:solidFill>
            <a:prstDash val="solid"/>
          </a:ln>
        </p:spPr>
        <p:txBody>
          <a:bodyPr/>
          <a:lstStyle/>
          <a:p>
            <a:endParaRPr lang="en-US"/>
          </a:p>
        </p:txBody>
      </p:sp>
      <p:sp>
        <p:nvSpPr>
          <p:cNvPr id="32" name="Shape 30"/>
          <p:cNvSpPr/>
          <p:nvPr/>
        </p:nvSpPr>
        <p:spPr>
          <a:xfrm>
            <a:off x="3694176" y="1892808"/>
            <a:ext cx="219456" cy="219456"/>
          </a:xfrm>
          <a:prstGeom prst="ellipse">
            <a:avLst/>
          </a:prstGeom>
          <a:solidFill>
            <a:srgbClr val="C9CED6"/>
          </a:solidFill>
          <a:ln w="12700">
            <a:solidFill>
              <a:srgbClr val="C9CED6"/>
            </a:solidFill>
            <a:prstDash val="solid"/>
          </a:ln>
        </p:spPr>
        <p:txBody>
          <a:bodyPr/>
          <a:lstStyle/>
          <a:p>
            <a:endParaRPr lang="en-US"/>
          </a:p>
        </p:txBody>
      </p:sp>
      <p:sp>
        <p:nvSpPr>
          <p:cNvPr id="33" name="Shape 31"/>
          <p:cNvSpPr/>
          <p:nvPr/>
        </p:nvSpPr>
        <p:spPr>
          <a:xfrm>
            <a:off x="731520" y="2221992"/>
            <a:ext cx="219456" cy="219456"/>
          </a:xfrm>
          <a:prstGeom prst="ellipse">
            <a:avLst/>
          </a:prstGeom>
          <a:solidFill>
            <a:srgbClr val="C9CED6"/>
          </a:solidFill>
          <a:ln w="12700">
            <a:solidFill>
              <a:srgbClr val="C9CED6"/>
            </a:solidFill>
            <a:prstDash val="solid"/>
          </a:ln>
        </p:spPr>
        <p:txBody>
          <a:bodyPr/>
          <a:lstStyle/>
          <a:p>
            <a:endParaRPr lang="en-US"/>
          </a:p>
        </p:txBody>
      </p:sp>
      <p:sp>
        <p:nvSpPr>
          <p:cNvPr id="34" name="Shape 32"/>
          <p:cNvSpPr/>
          <p:nvPr/>
        </p:nvSpPr>
        <p:spPr>
          <a:xfrm>
            <a:off x="1060704" y="2221992"/>
            <a:ext cx="219456" cy="219456"/>
          </a:xfrm>
          <a:prstGeom prst="ellipse">
            <a:avLst/>
          </a:prstGeom>
          <a:solidFill>
            <a:srgbClr val="C9CED6"/>
          </a:solidFill>
          <a:ln w="12700">
            <a:solidFill>
              <a:srgbClr val="C9CED6"/>
            </a:solidFill>
            <a:prstDash val="solid"/>
          </a:ln>
        </p:spPr>
        <p:txBody>
          <a:bodyPr/>
          <a:lstStyle/>
          <a:p>
            <a:endParaRPr lang="en-US"/>
          </a:p>
        </p:txBody>
      </p:sp>
      <p:sp>
        <p:nvSpPr>
          <p:cNvPr id="35" name="Shape 33"/>
          <p:cNvSpPr/>
          <p:nvPr/>
        </p:nvSpPr>
        <p:spPr>
          <a:xfrm>
            <a:off x="1389888" y="2221992"/>
            <a:ext cx="219456" cy="219456"/>
          </a:xfrm>
          <a:prstGeom prst="ellipse">
            <a:avLst/>
          </a:prstGeom>
          <a:solidFill>
            <a:srgbClr val="C9CED6"/>
          </a:solidFill>
          <a:ln w="12700">
            <a:solidFill>
              <a:srgbClr val="C9CED6"/>
            </a:solidFill>
            <a:prstDash val="solid"/>
          </a:ln>
        </p:spPr>
        <p:txBody>
          <a:bodyPr/>
          <a:lstStyle/>
          <a:p>
            <a:endParaRPr lang="en-US"/>
          </a:p>
        </p:txBody>
      </p:sp>
      <p:sp>
        <p:nvSpPr>
          <p:cNvPr id="36" name="Shape 34"/>
          <p:cNvSpPr/>
          <p:nvPr/>
        </p:nvSpPr>
        <p:spPr>
          <a:xfrm>
            <a:off x="1719072" y="2221992"/>
            <a:ext cx="219456" cy="219456"/>
          </a:xfrm>
          <a:prstGeom prst="ellipse">
            <a:avLst/>
          </a:prstGeom>
          <a:solidFill>
            <a:srgbClr val="C9CED6"/>
          </a:solidFill>
          <a:ln w="12700">
            <a:solidFill>
              <a:srgbClr val="C9CED6"/>
            </a:solidFill>
            <a:prstDash val="solid"/>
          </a:ln>
        </p:spPr>
        <p:txBody>
          <a:bodyPr/>
          <a:lstStyle/>
          <a:p>
            <a:endParaRPr lang="en-US"/>
          </a:p>
        </p:txBody>
      </p:sp>
      <p:sp>
        <p:nvSpPr>
          <p:cNvPr id="37" name="Shape 35"/>
          <p:cNvSpPr/>
          <p:nvPr/>
        </p:nvSpPr>
        <p:spPr>
          <a:xfrm>
            <a:off x="2048256" y="2221992"/>
            <a:ext cx="219456" cy="219456"/>
          </a:xfrm>
          <a:prstGeom prst="ellipse">
            <a:avLst/>
          </a:prstGeom>
          <a:solidFill>
            <a:srgbClr val="C9CED6"/>
          </a:solidFill>
          <a:ln w="12700">
            <a:solidFill>
              <a:srgbClr val="C9CED6"/>
            </a:solidFill>
            <a:prstDash val="solid"/>
          </a:ln>
        </p:spPr>
        <p:txBody>
          <a:bodyPr/>
          <a:lstStyle/>
          <a:p>
            <a:endParaRPr lang="en-US"/>
          </a:p>
        </p:txBody>
      </p:sp>
      <p:sp>
        <p:nvSpPr>
          <p:cNvPr id="38" name="Shape 36"/>
          <p:cNvSpPr/>
          <p:nvPr/>
        </p:nvSpPr>
        <p:spPr>
          <a:xfrm>
            <a:off x="2377440" y="2221992"/>
            <a:ext cx="219456" cy="219456"/>
          </a:xfrm>
          <a:prstGeom prst="ellipse">
            <a:avLst/>
          </a:prstGeom>
          <a:solidFill>
            <a:srgbClr val="C9CED6"/>
          </a:solidFill>
          <a:ln w="12700">
            <a:solidFill>
              <a:srgbClr val="C9CED6"/>
            </a:solidFill>
            <a:prstDash val="solid"/>
          </a:ln>
        </p:spPr>
        <p:txBody>
          <a:bodyPr/>
          <a:lstStyle/>
          <a:p>
            <a:endParaRPr lang="en-US"/>
          </a:p>
        </p:txBody>
      </p:sp>
      <p:sp>
        <p:nvSpPr>
          <p:cNvPr id="39" name="Shape 37"/>
          <p:cNvSpPr/>
          <p:nvPr/>
        </p:nvSpPr>
        <p:spPr>
          <a:xfrm>
            <a:off x="2706624" y="2221992"/>
            <a:ext cx="219456" cy="219456"/>
          </a:xfrm>
          <a:prstGeom prst="ellipse">
            <a:avLst/>
          </a:prstGeom>
          <a:solidFill>
            <a:srgbClr val="C9CED6"/>
          </a:solidFill>
          <a:ln w="12700">
            <a:solidFill>
              <a:srgbClr val="C9CED6"/>
            </a:solidFill>
            <a:prstDash val="solid"/>
          </a:ln>
        </p:spPr>
        <p:txBody>
          <a:bodyPr/>
          <a:lstStyle/>
          <a:p>
            <a:endParaRPr lang="en-US"/>
          </a:p>
        </p:txBody>
      </p:sp>
      <p:sp>
        <p:nvSpPr>
          <p:cNvPr id="40" name="Shape 38"/>
          <p:cNvSpPr/>
          <p:nvPr/>
        </p:nvSpPr>
        <p:spPr>
          <a:xfrm>
            <a:off x="3035808" y="2221992"/>
            <a:ext cx="219456" cy="219456"/>
          </a:xfrm>
          <a:prstGeom prst="ellipse">
            <a:avLst/>
          </a:prstGeom>
          <a:solidFill>
            <a:srgbClr val="C9CED6"/>
          </a:solidFill>
          <a:ln w="12700">
            <a:solidFill>
              <a:srgbClr val="C9CED6"/>
            </a:solidFill>
            <a:prstDash val="solid"/>
          </a:ln>
        </p:spPr>
        <p:txBody>
          <a:bodyPr/>
          <a:lstStyle/>
          <a:p>
            <a:endParaRPr lang="en-US"/>
          </a:p>
        </p:txBody>
      </p:sp>
      <p:sp>
        <p:nvSpPr>
          <p:cNvPr id="41" name="Shape 39"/>
          <p:cNvSpPr/>
          <p:nvPr/>
        </p:nvSpPr>
        <p:spPr>
          <a:xfrm>
            <a:off x="3364992" y="2221992"/>
            <a:ext cx="219456" cy="219456"/>
          </a:xfrm>
          <a:prstGeom prst="ellipse">
            <a:avLst/>
          </a:prstGeom>
          <a:solidFill>
            <a:srgbClr val="E4572E"/>
          </a:solidFill>
          <a:ln w="12700">
            <a:solidFill>
              <a:srgbClr val="E4572E"/>
            </a:solidFill>
            <a:prstDash val="solid"/>
          </a:ln>
        </p:spPr>
        <p:txBody>
          <a:bodyPr/>
          <a:lstStyle/>
          <a:p>
            <a:endParaRPr lang="en-US"/>
          </a:p>
        </p:txBody>
      </p:sp>
      <p:sp>
        <p:nvSpPr>
          <p:cNvPr id="42" name="Shape 40"/>
          <p:cNvSpPr/>
          <p:nvPr/>
        </p:nvSpPr>
        <p:spPr>
          <a:xfrm>
            <a:off x="3694176" y="2221992"/>
            <a:ext cx="219456" cy="219456"/>
          </a:xfrm>
          <a:prstGeom prst="ellipse">
            <a:avLst/>
          </a:prstGeom>
          <a:solidFill>
            <a:srgbClr val="C9CED6"/>
          </a:solidFill>
          <a:ln w="12700">
            <a:solidFill>
              <a:srgbClr val="C9CED6"/>
            </a:solidFill>
            <a:prstDash val="solid"/>
          </a:ln>
        </p:spPr>
        <p:txBody>
          <a:bodyPr/>
          <a:lstStyle/>
          <a:p>
            <a:endParaRPr lang="en-US"/>
          </a:p>
        </p:txBody>
      </p:sp>
      <p:sp>
        <p:nvSpPr>
          <p:cNvPr id="43" name="Shape 41"/>
          <p:cNvSpPr/>
          <p:nvPr/>
        </p:nvSpPr>
        <p:spPr>
          <a:xfrm>
            <a:off x="731520" y="2551176"/>
            <a:ext cx="219456" cy="219456"/>
          </a:xfrm>
          <a:prstGeom prst="ellipse">
            <a:avLst/>
          </a:prstGeom>
          <a:solidFill>
            <a:srgbClr val="C9CED6"/>
          </a:solidFill>
          <a:ln w="12700">
            <a:solidFill>
              <a:srgbClr val="C9CED6"/>
            </a:solidFill>
            <a:prstDash val="solid"/>
          </a:ln>
        </p:spPr>
        <p:txBody>
          <a:bodyPr/>
          <a:lstStyle/>
          <a:p>
            <a:endParaRPr lang="en-US"/>
          </a:p>
        </p:txBody>
      </p:sp>
      <p:sp>
        <p:nvSpPr>
          <p:cNvPr id="44" name="Shape 42"/>
          <p:cNvSpPr/>
          <p:nvPr/>
        </p:nvSpPr>
        <p:spPr>
          <a:xfrm>
            <a:off x="1060704" y="2551176"/>
            <a:ext cx="219456" cy="219456"/>
          </a:xfrm>
          <a:prstGeom prst="ellipse">
            <a:avLst/>
          </a:prstGeom>
          <a:solidFill>
            <a:srgbClr val="E4572E"/>
          </a:solidFill>
          <a:ln w="12700">
            <a:solidFill>
              <a:srgbClr val="E4572E"/>
            </a:solidFill>
            <a:prstDash val="solid"/>
          </a:ln>
        </p:spPr>
        <p:txBody>
          <a:bodyPr/>
          <a:lstStyle/>
          <a:p>
            <a:endParaRPr lang="en-US"/>
          </a:p>
        </p:txBody>
      </p:sp>
      <p:sp>
        <p:nvSpPr>
          <p:cNvPr id="45" name="Shape 43"/>
          <p:cNvSpPr/>
          <p:nvPr/>
        </p:nvSpPr>
        <p:spPr>
          <a:xfrm>
            <a:off x="1389888" y="2551176"/>
            <a:ext cx="219456" cy="219456"/>
          </a:xfrm>
          <a:prstGeom prst="ellipse">
            <a:avLst/>
          </a:prstGeom>
          <a:solidFill>
            <a:srgbClr val="C9CED6"/>
          </a:solidFill>
          <a:ln w="12700">
            <a:solidFill>
              <a:srgbClr val="C9CED6"/>
            </a:solidFill>
            <a:prstDash val="solid"/>
          </a:ln>
        </p:spPr>
        <p:txBody>
          <a:bodyPr/>
          <a:lstStyle/>
          <a:p>
            <a:endParaRPr lang="en-US"/>
          </a:p>
        </p:txBody>
      </p:sp>
      <p:sp>
        <p:nvSpPr>
          <p:cNvPr id="46" name="Shape 44"/>
          <p:cNvSpPr/>
          <p:nvPr/>
        </p:nvSpPr>
        <p:spPr>
          <a:xfrm>
            <a:off x="1719072" y="2551176"/>
            <a:ext cx="219456" cy="219456"/>
          </a:xfrm>
          <a:prstGeom prst="ellipse">
            <a:avLst/>
          </a:prstGeom>
          <a:solidFill>
            <a:srgbClr val="C9CED6"/>
          </a:solidFill>
          <a:ln w="12700">
            <a:solidFill>
              <a:srgbClr val="C9CED6"/>
            </a:solidFill>
            <a:prstDash val="solid"/>
          </a:ln>
        </p:spPr>
        <p:txBody>
          <a:bodyPr/>
          <a:lstStyle/>
          <a:p>
            <a:endParaRPr lang="en-US"/>
          </a:p>
        </p:txBody>
      </p:sp>
      <p:sp>
        <p:nvSpPr>
          <p:cNvPr id="47" name="Shape 45"/>
          <p:cNvSpPr/>
          <p:nvPr/>
        </p:nvSpPr>
        <p:spPr>
          <a:xfrm>
            <a:off x="2048256" y="2551176"/>
            <a:ext cx="219456" cy="219456"/>
          </a:xfrm>
          <a:prstGeom prst="ellipse">
            <a:avLst/>
          </a:prstGeom>
          <a:solidFill>
            <a:srgbClr val="C9CED6"/>
          </a:solidFill>
          <a:ln w="12700">
            <a:solidFill>
              <a:srgbClr val="C9CED6"/>
            </a:solidFill>
            <a:prstDash val="solid"/>
          </a:ln>
        </p:spPr>
        <p:txBody>
          <a:bodyPr/>
          <a:lstStyle/>
          <a:p>
            <a:endParaRPr lang="en-US"/>
          </a:p>
        </p:txBody>
      </p:sp>
      <p:sp>
        <p:nvSpPr>
          <p:cNvPr id="48" name="Shape 46"/>
          <p:cNvSpPr/>
          <p:nvPr/>
        </p:nvSpPr>
        <p:spPr>
          <a:xfrm>
            <a:off x="2377440" y="2551176"/>
            <a:ext cx="219456" cy="219456"/>
          </a:xfrm>
          <a:prstGeom prst="ellipse">
            <a:avLst/>
          </a:prstGeom>
          <a:solidFill>
            <a:srgbClr val="C9CED6"/>
          </a:solidFill>
          <a:ln w="12700">
            <a:solidFill>
              <a:srgbClr val="C9CED6"/>
            </a:solidFill>
            <a:prstDash val="solid"/>
          </a:ln>
        </p:spPr>
        <p:txBody>
          <a:bodyPr/>
          <a:lstStyle/>
          <a:p>
            <a:endParaRPr lang="en-US"/>
          </a:p>
        </p:txBody>
      </p:sp>
      <p:sp>
        <p:nvSpPr>
          <p:cNvPr id="49" name="Shape 47"/>
          <p:cNvSpPr/>
          <p:nvPr/>
        </p:nvSpPr>
        <p:spPr>
          <a:xfrm>
            <a:off x="2706624" y="2551176"/>
            <a:ext cx="219456" cy="219456"/>
          </a:xfrm>
          <a:prstGeom prst="ellipse">
            <a:avLst/>
          </a:prstGeom>
          <a:solidFill>
            <a:srgbClr val="C9CED6"/>
          </a:solidFill>
          <a:ln w="12700">
            <a:solidFill>
              <a:srgbClr val="C9CED6"/>
            </a:solidFill>
            <a:prstDash val="solid"/>
          </a:ln>
        </p:spPr>
        <p:txBody>
          <a:bodyPr/>
          <a:lstStyle/>
          <a:p>
            <a:endParaRPr lang="en-US"/>
          </a:p>
        </p:txBody>
      </p:sp>
      <p:sp>
        <p:nvSpPr>
          <p:cNvPr id="50" name="Shape 48"/>
          <p:cNvSpPr/>
          <p:nvPr/>
        </p:nvSpPr>
        <p:spPr>
          <a:xfrm>
            <a:off x="3035808" y="2551176"/>
            <a:ext cx="219456" cy="219456"/>
          </a:xfrm>
          <a:prstGeom prst="ellipse">
            <a:avLst/>
          </a:prstGeom>
          <a:solidFill>
            <a:srgbClr val="E4572E"/>
          </a:solidFill>
          <a:ln w="12700">
            <a:solidFill>
              <a:srgbClr val="C9CED6"/>
            </a:solidFill>
            <a:prstDash val="solid"/>
          </a:ln>
        </p:spPr>
        <p:txBody>
          <a:bodyPr/>
          <a:lstStyle/>
          <a:p>
            <a:endParaRPr lang="en-US"/>
          </a:p>
        </p:txBody>
      </p:sp>
      <p:sp>
        <p:nvSpPr>
          <p:cNvPr id="51" name="Shape 49"/>
          <p:cNvSpPr/>
          <p:nvPr/>
        </p:nvSpPr>
        <p:spPr>
          <a:xfrm>
            <a:off x="3364992" y="2551176"/>
            <a:ext cx="219456" cy="219456"/>
          </a:xfrm>
          <a:prstGeom prst="ellipse">
            <a:avLst/>
          </a:prstGeom>
          <a:solidFill>
            <a:srgbClr val="C9CED6"/>
          </a:solidFill>
          <a:ln w="12700">
            <a:solidFill>
              <a:srgbClr val="C9CED6"/>
            </a:solidFill>
            <a:prstDash val="solid"/>
          </a:ln>
        </p:spPr>
        <p:txBody>
          <a:bodyPr/>
          <a:lstStyle/>
          <a:p>
            <a:endParaRPr lang="en-US"/>
          </a:p>
        </p:txBody>
      </p:sp>
      <p:sp>
        <p:nvSpPr>
          <p:cNvPr id="52" name="Shape 50"/>
          <p:cNvSpPr/>
          <p:nvPr/>
        </p:nvSpPr>
        <p:spPr>
          <a:xfrm>
            <a:off x="3694176" y="2551176"/>
            <a:ext cx="219456" cy="219456"/>
          </a:xfrm>
          <a:prstGeom prst="ellipse">
            <a:avLst/>
          </a:prstGeom>
          <a:solidFill>
            <a:srgbClr val="C9CED6"/>
          </a:solidFill>
          <a:ln w="12700">
            <a:solidFill>
              <a:srgbClr val="C9CED6"/>
            </a:solidFill>
            <a:prstDash val="solid"/>
          </a:ln>
        </p:spPr>
        <p:txBody>
          <a:bodyPr/>
          <a:lstStyle/>
          <a:p>
            <a:endParaRPr lang="en-US"/>
          </a:p>
        </p:txBody>
      </p:sp>
      <p:sp>
        <p:nvSpPr>
          <p:cNvPr id="53" name="Shape 51"/>
          <p:cNvSpPr/>
          <p:nvPr/>
        </p:nvSpPr>
        <p:spPr>
          <a:xfrm>
            <a:off x="731520" y="2880360"/>
            <a:ext cx="219456" cy="219456"/>
          </a:xfrm>
          <a:prstGeom prst="ellipse">
            <a:avLst/>
          </a:prstGeom>
          <a:solidFill>
            <a:srgbClr val="C9CED6"/>
          </a:solidFill>
          <a:ln w="12700">
            <a:solidFill>
              <a:srgbClr val="C9CED6"/>
            </a:solidFill>
            <a:prstDash val="solid"/>
          </a:ln>
        </p:spPr>
        <p:txBody>
          <a:bodyPr/>
          <a:lstStyle/>
          <a:p>
            <a:endParaRPr lang="en-US"/>
          </a:p>
        </p:txBody>
      </p:sp>
      <p:sp>
        <p:nvSpPr>
          <p:cNvPr id="54" name="Shape 52"/>
          <p:cNvSpPr/>
          <p:nvPr/>
        </p:nvSpPr>
        <p:spPr>
          <a:xfrm>
            <a:off x="1060704" y="2880360"/>
            <a:ext cx="219456" cy="219456"/>
          </a:xfrm>
          <a:prstGeom prst="ellipse">
            <a:avLst/>
          </a:prstGeom>
          <a:solidFill>
            <a:srgbClr val="C9CED6"/>
          </a:solidFill>
          <a:ln w="12700">
            <a:solidFill>
              <a:srgbClr val="C9CED6"/>
            </a:solidFill>
            <a:prstDash val="solid"/>
          </a:ln>
        </p:spPr>
        <p:txBody>
          <a:bodyPr/>
          <a:lstStyle/>
          <a:p>
            <a:endParaRPr lang="en-US"/>
          </a:p>
        </p:txBody>
      </p:sp>
      <p:sp>
        <p:nvSpPr>
          <p:cNvPr id="55" name="Shape 53"/>
          <p:cNvSpPr/>
          <p:nvPr/>
        </p:nvSpPr>
        <p:spPr>
          <a:xfrm>
            <a:off x="1389888" y="2880360"/>
            <a:ext cx="219456" cy="219456"/>
          </a:xfrm>
          <a:prstGeom prst="ellipse">
            <a:avLst/>
          </a:prstGeom>
          <a:solidFill>
            <a:srgbClr val="C9CED6"/>
          </a:solidFill>
          <a:ln w="12700">
            <a:solidFill>
              <a:srgbClr val="C9CED6"/>
            </a:solidFill>
            <a:prstDash val="solid"/>
          </a:ln>
        </p:spPr>
        <p:txBody>
          <a:bodyPr/>
          <a:lstStyle/>
          <a:p>
            <a:endParaRPr lang="en-US"/>
          </a:p>
        </p:txBody>
      </p:sp>
      <p:sp>
        <p:nvSpPr>
          <p:cNvPr id="56" name="Shape 54"/>
          <p:cNvSpPr/>
          <p:nvPr/>
        </p:nvSpPr>
        <p:spPr>
          <a:xfrm>
            <a:off x="1719072" y="2880360"/>
            <a:ext cx="219456" cy="219456"/>
          </a:xfrm>
          <a:prstGeom prst="ellipse">
            <a:avLst/>
          </a:prstGeom>
          <a:solidFill>
            <a:srgbClr val="C9CED6"/>
          </a:solidFill>
          <a:ln w="12700">
            <a:solidFill>
              <a:srgbClr val="C9CED6"/>
            </a:solidFill>
            <a:prstDash val="solid"/>
          </a:ln>
        </p:spPr>
        <p:txBody>
          <a:bodyPr/>
          <a:lstStyle/>
          <a:p>
            <a:endParaRPr lang="en-US"/>
          </a:p>
        </p:txBody>
      </p:sp>
      <p:sp>
        <p:nvSpPr>
          <p:cNvPr id="57" name="Shape 55"/>
          <p:cNvSpPr/>
          <p:nvPr/>
        </p:nvSpPr>
        <p:spPr>
          <a:xfrm>
            <a:off x="2048256" y="2880360"/>
            <a:ext cx="219456" cy="219456"/>
          </a:xfrm>
          <a:prstGeom prst="ellipse">
            <a:avLst/>
          </a:prstGeom>
          <a:solidFill>
            <a:srgbClr val="C9CED6"/>
          </a:solidFill>
          <a:ln w="12700">
            <a:solidFill>
              <a:srgbClr val="C9CED6"/>
            </a:solidFill>
            <a:prstDash val="solid"/>
          </a:ln>
        </p:spPr>
        <p:txBody>
          <a:bodyPr/>
          <a:lstStyle/>
          <a:p>
            <a:endParaRPr lang="en-US"/>
          </a:p>
        </p:txBody>
      </p:sp>
      <p:sp>
        <p:nvSpPr>
          <p:cNvPr id="58" name="Shape 56"/>
          <p:cNvSpPr/>
          <p:nvPr/>
        </p:nvSpPr>
        <p:spPr>
          <a:xfrm>
            <a:off x="2377440" y="2880360"/>
            <a:ext cx="219456" cy="219456"/>
          </a:xfrm>
          <a:prstGeom prst="ellipse">
            <a:avLst/>
          </a:prstGeom>
          <a:solidFill>
            <a:srgbClr val="C9CED6"/>
          </a:solidFill>
          <a:ln w="12700">
            <a:solidFill>
              <a:srgbClr val="C9CED6"/>
            </a:solidFill>
            <a:prstDash val="solid"/>
          </a:ln>
        </p:spPr>
        <p:txBody>
          <a:bodyPr/>
          <a:lstStyle/>
          <a:p>
            <a:endParaRPr lang="en-US"/>
          </a:p>
        </p:txBody>
      </p:sp>
      <p:sp>
        <p:nvSpPr>
          <p:cNvPr id="59" name="Shape 57"/>
          <p:cNvSpPr/>
          <p:nvPr/>
        </p:nvSpPr>
        <p:spPr>
          <a:xfrm>
            <a:off x="2706624" y="2880360"/>
            <a:ext cx="219456" cy="219456"/>
          </a:xfrm>
          <a:prstGeom prst="ellipse">
            <a:avLst/>
          </a:prstGeom>
          <a:solidFill>
            <a:srgbClr val="E4572E"/>
          </a:solidFill>
          <a:ln w="12700">
            <a:solidFill>
              <a:srgbClr val="E4572E"/>
            </a:solidFill>
            <a:prstDash val="solid"/>
          </a:ln>
        </p:spPr>
        <p:txBody>
          <a:bodyPr/>
          <a:lstStyle/>
          <a:p>
            <a:endParaRPr lang="en-US"/>
          </a:p>
        </p:txBody>
      </p:sp>
      <p:sp>
        <p:nvSpPr>
          <p:cNvPr id="60" name="Shape 58"/>
          <p:cNvSpPr/>
          <p:nvPr/>
        </p:nvSpPr>
        <p:spPr>
          <a:xfrm>
            <a:off x="3035808" y="2880360"/>
            <a:ext cx="219456" cy="219456"/>
          </a:xfrm>
          <a:prstGeom prst="ellipse">
            <a:avLst/>
          </a:prstGeom>
          <a:solidFill>
            <a:srgbClr val="C9CED6"/>
          </a:solidFill>
          <a:ln w="12700">
            <a:solidFill>
              <a:srgbClr val="C9CED6"/>
            </a:solidFill>
            <a:prstDash val="solid"/>
          </a:ln>
        </p:spPr>
        <p:txBody>
          <a:bodyPr/>
          <a:lstStyle/>
          <a:p>
            <a:endParaRPr lang="en-US"/>
          </a:p>
        </p:txBody>
      </p:sp>
      <p:sp>
        <p:nvSpPr>
          <p:cNvPr id="61" name="Shape 59"/>
          <p:cNvSpPr/>
          <p:nvPr/>
        </p:nvSpPr>
        <p:spPr>
          <a:xfrm>
            <a:off x="3364992" y="2880360"/>
            <a:ext cx="219456" cy="219456"/>
          </a:xfrm>
          <a:prstGeom prst="ellipse">
            <a:avLst/>
          </a:prstGeom>
          <a:solidFill>
            <a:srgbClr val="C9CED6"/>
          </a:solidFill>
          <a:ln w="12700">
            <a:solidFill>
              <a:srgbClr val="C9CED6"/>
            </a:solidFill>
            <a:prstDash val="solid"/>
          </a:ln>
        </p:spPr>
        <p:txBody>
          <a:bodyPr/>
          <a:lstStyle/>
          <a:p>
            <a:endParaRPr lang="en-US"/>
          </a:p>
        </p:txBody>
      </p:sp>
      <p:sp>
        <p:nvSpPr>
          <p:cNvPr id="62" name="Shape 60"/>
          <p:cNvSpPr/>
          <p:nvPr/>
        </p:nvSpPr>
        <p:spPr>
          <a:xfrm>
            <a:off x="3694176" y="2880360"/>
            <a:ext cx="219456" cy="219456"/>
          </a:xfrm>
          <a:prstGeom prst="ellipse">
            <a:avLst/>
          </a:prstGeom>
          <a:solidFill>
            <a:srgbClr val="C9CED6"/>
          </a:solidFill>
          <a:ln w="12700">
            <a:solidFill>
              <a:srgbClr val="C9CED6"/>
            </a:solidFill>
            <a:prstDash val="solid"/>
          </a:ln>
        </p:spPr>
        <p:txBody>
          <a:bodyPr/>
          <a:lstStyle/>
          <a:p>
            <a:endParaRPr lang="en-US"/>
          </a:p>
        </p:txBody>
      </p:sp>
      <p:sp>
        <p:nvSpPr>
          <p:cNvPr id="63" name="Shape 61"/>
          <p:cNvSpPr/>
          <p:nvPr/>
        </p:nvSpPr>
        <p:spPr>
          <a:xfrm>
            <a:off x="731520" y="3209544"/>
            <a:ext cx="219456" cy="219456"/>
          </a:xfrm>
          <a:prstGeom prst="ellipse">
            <a:avLst/>
          </a:prstGeom>
          <a:solidFill>
            <a:srgbClr val="C9CED6"/>
          </a:solidFill>
          <a:ln w="12700">
            <a:solidFill>
              <a:srgbClr val="C9CED6"/>
            </a:solidFill>
            <a:prstDash val="solid"/>
          </a:ln>
        </p:spPr>
        <p:txBody>
          <a:bodyPr/>
          <a:lstStyle/>
          <a:p>
            <a:endParaRPr lang="en-US"/>
          </a:p>
        </p:txBody>
      </p:sp>
      <p:sp>
        <p:nvSpPr>
          <p:cNvPr id="64" name="Shape 62"/>
          <p:cNvSpPr/>
          <p:nvPr/>
        </p:nvSpPr>
        <p:spPr>
          <a:xfrm>
            <a:off x="1060704" y="3209544"/>
            <a:ext cx="219456" cy="219456"/>
          </a:xfrm>
          <a:prstGeom prst="ellipse">
            <a:avLst/>
          </a:prstGeom>
          <a:solidFill>
            <a:srgbClr val="C9CED6"/>
          </a:solidFill>
          <a:ln w="12700">
            <a:solidFill>
              <a:srgbClr val="C9CED6"/>
            </a:solidFill>
            <a:prstDash val="solid"/>
          </a:ln>
        </p:spPr>
        <p:txBody>
          <a:bodyPr/>
          <a:lstStyle/>
          <a:p>
            <a:endParaRPr lang="en-US"/>
          </a:p>
        </p:txBody>
      </p:sp>
      <p:sp>
        <p:nvSpPr>
          <p:cNvPr id="65" name="Shape 63"/>
          <p:cNvSpPr/>
          <p:nvPr/>
        </p:nvSpPr>
        <p:spPr>
          <a:xfrm>
            <a:off x="1389888" y="3209544"/>
            <a:ext cx="219456" cy="219456"/>
          </a:xfrm>
          <a:prstGeom prst="ellipse">
            <a:avLst/>
          </a:prstGeom>
          <a:solidFill>
            <a:srgbClr val="C9CED6"/>
          </a:solidFill>
          <a:ln w="12700">
            <a:solidFill>
              <a:srgbClr val="C9CED6"/>
            </a:solidFill>
            <a:prstDash val="solid"/>
          </a:ln>
        </p:spPr>
        <p:txBody>
          <a:bodyPr/>
          <a:lstStyle/>
          <a:p>
            <a:endParaRPr lang="en-US"/>
          </a:p>
        </p:txBody>
      </p:sp>
      <p:sp>
        <p:nvSpPr>
          <p:cNvPr id="66" name="Shape 64"/>
          <p:cNvSpPr/>
          <p:nvPr/>
        </p:nvSpPr>
        <p:spPr>
          <a:xfrm>
            <a:off x="1719072" y="3209544"/>
            <a:ext cx="219456" cy="219456"/>
          </a:xfrm>
          <a:prstGeom prst="ellipse">
            <a:avLst/>
          </a:prstGeom>
          <a:solidFill>
            <a:srgbClr val="C9CED6"/>
          </a:solidFill>
          <a:ln w="12700">
            <a:solidFill>
              <a:srgbClr val="C9CED6"/>
            </a:solidFill>
            <a:prstDash val="solid"/>
          </a:ln>
        </p:spPr>
        <p:txBody>
          <a:bodyPr/>
          <a:lstStyle/>
          <a:p>
            <a:endParaRPr lang="en-US"/>
          </a:p>
        </p:txBody>
      </p:sp>
      <p:sp>
        <p:nvSpPr>
          <p:cNvPr id="67" name="Shape 65"/>
          <p:cNvSpPr/>
          <p:nvPr/>
        </p:nvSpPr>
        <p:spPr>
          <a:xfrm>
            <a:off x="2048256" y="3209544"/>
            <a:ext cx="219456" cy="219456"/>
          </a:xfrm>
          <a:prstGeom prst="ellipse">
            <a:avLst/>
          </a:prstGeom>
          <a:solidFill>
            <a:srgbClr val="E4572E"/>
          </a:solidFill>
          <a:ln w="12700">
            <a:solidFill>
              <a:srgbClr val="E4572E"/>
            </a:solidFill>
            <a:prstDash val="solid"/>
          </a:ln>
        </p:spPr>
        <p:txBody>
          <a:bodyPr/>
          <a:lstStyle/>
          <a:p>
            <a:endParaRPr lang="en-US"/>
          </a:p>
        </p:txBody>
      </p:sp>
      <p:sp>
        <p:nvSpPr>
          <p:cNvPr id="68" name="Shape 66"/>
          <p:cNvSpPr/>
          <p:nvPr/>
        </p:nvSpPr>
        <p:spPr>
          <a:xfrm>
            <a:off x="2377440" y="3209544"/>
            <a:ext cx="219456" cy="219456"/>
          </a:xfrm>
          <a:prstGeom prst="ellipse">
            <a:avLst/>
          </a:prstGeom>
          <a:solidFill>
            <a:srgbClr val="C9CED6"/>
          </a:solidFill>
          <a:ln w="12700">
            <a:solidFill>
              <a:srgbClr val="C9CED6"/>
            </a:solidFill>
            <a:prstDash val="solid"/>
          </a:ln>
        </p:spPr>
        <p:txBody>
          <a:bodyPr/>
          <a:lstStyle/>
          <a:p>
            <a:endParaRPr lang="en-US"/>
          </a:p>
        </p:txBody>
      </p:sp>
      <p:sp>
        <p:nvSpPr>
          <p:cNvPr id="69" name="Shape 67"/>
          <p:cNvSpPr/>
          <p:nvPr/>
        </p:nvSpPr>
        <p:spPr>
          <a:xfrm>
            <a:off x="2706624" y="3209544"/>
            <a:ext cx="219456" cy="219456"/>
          </a:xfrm>
          <a:prstGeom prst="ellipse">
            <a:avLst/>
          </a:prstGeom>
          <a:solidFill>
            <a:srgbClr val="C9CED6"/>
          </a:solidFill>
          <a:ln w="12700">
            <a:solidFill>
              <a:srgbClr val="C9CED6"/>
            </a:solidFill>
            <a:prstDash val="solid"/>
          </a:ln>
        </p:spPr>
        <p:txBody>
          <a:bodyPr/>
          <a:lstStyle/>
          <a:p>
            <a:endParaRPr lang="en-US"/>
          </a:p>
        </p:txBody>
      </p:sp>
      <p:sp>
        <p:nvSpPr>
          <p:cNvPr id="70" name="Shape 68"/>
          <p:cNvSpPr/>
          <p:nvPr/>
        </p:nvSpPr>
        <p:spPr>
          <a:xfrm>
            <a:off x="3035808" y="3209544"/>
            <a:ext cx="219456" cy="219456"/>
          </a:xfrm>
          <a:prstGeom prst="ellipse">
            <a:avLst/>
          </a:prstGeom>
          <a:solidFill>
            <a:srgbClr val="C9CED6"/>
          </a:solidFill>
          <a:ln w="12700">
            <a:solidFill>
              <a:srgbClr val="C9CED6"/>
            </a:solidFill>
            <a:prstDash val="solid"/>
          </a:ln>
        </p:spPr>
        <p:txBody>
          <a:bodyPr/>
          <a:lstStyle/>
          <a:p>
            <a:endParaRPr lang="en-US"/>
          </a:p>
        </p:txBody>
      </p:sp>
      <p:sp>
        <p:nvSpPr>
          <p:cNvPr id="71" name="Shape 69"/>
          <p:cNvSpPr/>
          <p:nvPr/>
        </p:nvSpPr>
        <p:spPr>
          <a:xfrm>
            <a:off x="3364992" y="3209544"/>
            <a:ext cx="219456" cy="219456"/>
          </a:xfrm>
          <a:prstGeom prst="ellipse">
            <a:avLst/>
          </a:prstGeom>
          <a:solidFill>
            <a:srgbClr val="C9CED6"/>
          </a:solidFill>
          <a:ln w="12700">
            <a:solidFill>
              <a:srgbClr val="C9CED6"/>
            </a:solidFill>
            <a:prstDash val="solid"/>
          </a:ln>
        </p:spPr>
        <p:txBody>
          <a:bodyPr/>
          <a:lstStyle/>
          <a:p>
            <a:endParaRPr lang="en-US"/>
          </a:p>
        </p:txBody>
      </p:sp>
      <p:sp>
        <p:nvSpPr>
          <p:cNvPr id="72" name="Shape 70"/>
          <p:cNvSpPr/>
          <p:nvPr/>
        </p:nvSpPr>
        <p:spPr>
          <a:xfrm>
            <a:off x="3694176" y="3209544"/>
            <a:ext cx="219456" cy="219456"/>
          </a:xfrm>
          <a:prstGeom prst="ellipse">
            <a:avLst/>
          </a:prstGeom>
          <a:solidFill>
            <a:srgbClr val="C9CED6"/>
          </a:solidFill>
          <a:ln w="12700">
            <a:solidFill>
              <a:srgbClr val="C9CED6"/>
            </a:solidFill>
            <a:prstDash val="solid"/>
          </a:ln>
        </p:spPr>
        <p:txBody>
          <a:bodyPr/>
          <a:lstStyle/>
          <a:p>
            <a:endParaRPr lang="en-US"/>
          </a:p>
        </p:txBody>
      </p:sp>
      <p:sp>
        <p:nvSpPr>
          <p:cNvPr id="73" name="Shape 71"/>
          <p:cNvSpPr/>
          <p:nvPr/>
        </p:nvSpPr>
        <p:spPr>
          <a:xfrm>
            <a:off x="731520" y="3538728"/>
            <a:ext cx="219456" cy="219456"/>
          </a:xfrm>
          <a:prstGeom prst="ellipse">
            <a:avLst/>
          </a:prstGeom>
          <a:solidFill>
            <a:srgbClr val="E4572E"/>
          </a:solidFill>
          <a:ln w="12700">
            <a:solidFill>
              <a:srgbClr val="C9CED6"/>
            </a:solidFill>
            <a:prstDash val="solid"/>
          </a:ln>
        </p:spPr>
        <p:txBody>
          <a:bodyPr/>
          <a:lstStyle/>
          <a:p>
            <a:endParaRPr lang="en-US"/>
          </a:p>
        </p:txBody>
      </p:sp>
      <p:sp>
        <p:nvSpPr>
          <p:cNvPr id="74" name="Shape 72"/>
          <p:cNvSpPr/>
          <p:nvPr/>
        </p:nvSpPr>
        <p:spPr>
          <a:xfrm>
            <a:off x="1060704" y="3538728"/>
            <a:ext cx="219456" cy="219456"/>
          </a:xfrm>
          <a:prstGeom prst="ellipse">
            <a:avLst/>
          </a:prstGeom>
          <a:solidFill>
            <a:srgbClr val="C9CED6"/>
          </a:solidFill>
          <a:ln w="12700">
            <a:solidFill>
              <a:srgbClr val="C9CED6"/>
            </a:solidFill>
            <a:prstDash val="solid"/>
          </a:ln>
        </p:spPr>
        <p:txBody>
          <a:bodyPr/>
          <a:lstStyle/>
          <a:p>
            <a:endParaRPr lang="en-US"/>
          </a:p>
        </p:txBody>
      </p:sp>
      <p:sp>
        <p:nvSpPr>
          <p:cNvPr id="75" name="Shape 73"/>
          <p:cNvSpPr/>
          <p:nvPr/>
        </p:nvSpPr>
        <p:spPr>
          <a:xfrm>
            <a:off x="1389888" y="3538728"/>
            <a:ext cx="219456" cy="219456"/>
          </a:xfrm>
          <a:prstGeom prst="ellipse">
            <a:avLst/>
          </a:prstGeom>
          <a:solidFill>
            <a:srgbClr val="C9CED6"/>
          </a:solidFill>
          <a:ln w="12700">
            <a:solidFill>
              <a:srgbClr val="C9CED6"/>
            </a:solidFill>
            <a:prstDash val="solid"/>
          </a:ln>
        </p:spPr>
        <p:txBody>
          <a:bodyPr/>
          <a:lstStyle/>
          <a:p>
            <a:endParaRPr lang="en-US"/>
          </a:p>
        </p:txBody>
      </p:sp>
      <p:sp>
        <p:nvSpPr>
          <p:cNvPr id="76" name="Shape 74"/>
          <p:cNvSpPr/>
          <p:nvPr/>
        </p:nvSpPr>
        <p:spPr>
          <a:xfrm>
            <a:off x="1719072" y="3538728"/>
            <a:ext cx="219456" cy="219456"/>
          </a:xfrm>
          <a:prstGeom prst="ellipse">
            <a:avLst/>
          </a:prstGeom>
          <a:solidFill>
            <a:srgbClr val="C9CED6"/>
          </a:solidFill>
          <a:ln w="12700">
            <a:solidFill>
              <a:srgbClr val="C9CED6"/>
            </a:solidFill>
            <a:prstDash val="solid"/>
          </a:ln>
        </p:spPr>
        <p:txBody>
          <a:bodyPr/>
          <a:lstStyle/>
          <a:p>
            <a:endParaRPr lang="en-US"/>
          </a:p>
        </p:txBody>
      </p:sp>
      <p:sp>
        <p:nvSpPr>
          <p:cNvPr id="77" name="Shape 75"/>
          <p:cNvSpPr/>
          <p:nvPr/>
        </p:nvSpPr>
        <p:spPr>
          <a:xfrm>
            <a:off x="2048256" y="3538728"/>
            <a:ext cx="219456" cy="219456"/>
          </a:xfrm>
          <a:prstGeom prst="ellipse">
            <a:avLst/>
          </a:prstGeom>
          <a:solidFill>
            <a:srgbClr val="C9CED6"/>
          </a:solidFill>
          <a:ln w="12700">
            <a:solidFill>
              <a:srgbClr val="C9CED6"/>
            </a:solidFill>
            <a:prstDash val="solid"/>
          </a:ln>
        </p:spPr>
        <p:txBody>
          <a:bodyPr/>
          <a:lstStyle/>
          <a:p>
            <a:endParaRPr lang="en-US"/>
          </a:p>
        </p:txBody>
      </p:sp>
      <p:sp>
        <p:nvSpPr>
          <p:cNvPr id="78" name="Shape 76"/>
          <p:cNvSpPr/>
          <p:nvPr/>
        </p:nvSpPr>
        <p:spPr>
          <a:xfrm>
            <a:off x="2377440" y="3538728"/>
            <a:ext cx="219456" cy="219456"/>
          </a:xfrm>
          <a:prstGeom prst="ellipse">
            <a:avLst/>
          </a:prstGeom>
          <a:solidFill>
            <a:srgbClr val="C9CED6"/>
          </a:solidFill>
          <a:ln w="12700">
            <a:solidFill>
              <a:srgbClr val="C9CED6"/>
            </a:solidFill>
            <a:prstDash val="solid"/>
          </a:ln>
        </p:spPr>
        <p:txBody>
          <a:bodyPr/>
          <a:lstStyle/>
          <a:p>
            <a:endParaRPr lang="en-US"/>
          </a:p>
        </p:txBody>
      </p:sp>
      <p:sp>
        <p:nvSpPr>
          <p:cNvPr id="79" name="Shape 77"/>
          <p:cNvSpPr/>
          <p:nvPr/>
        </p:nvSpPr>
        <p:spPr>
          <a:xfrm>
            <a:off x="2706624" y="3538728"/>
            <a:ext cx="219456" cy="219456"/>
          </a:xfrm>
          <a:prstGeom prst="ellipse">
            <a:avLst/>
          </a:prstGeom>
          <a:solidFill>
            <a:srgbClr val="C9CED6"/>
          </a:solidFill>
          <a:ln w="12700">
            <a:solidFill>
              <a:srgbClr val="C9CED6"/>
            </a:solidFill>
            <a:prstDash val="solid"/>
          </a:ln>
        </p:spPr>
        <p:txBody>
          <a:bodyPr/>
          <a:lstStyle/>
          <a:p>
            <a:endParaRPr lang="en-US"/>
          </a:p>
        </p:txBody>
      </p:sp>
      <p:sp>
        <p:nvSpPr>
          <p:cNvPr id="80" name="Shape 78"/>
          <p:cNvSpPr/>
          <p:nvPr/>
        </p:nvSpPr>
        <p:spPr>
          <a:xfrm>
            <a:off x="3035808" y="3538728"/>
            <a:ext cx="219456" cy="219456"/>
          </a:xfrm>
          <a:prstGeom prst="ellipse">
            <a:avLst/>
          </a:prstGeom>
          <a:solidFill>
            <a:srgbClr val="C9CED6"/>
          </a:solidFill>
          <a:ln w="12700">
            <a:solidFill>
              <a:srgbClr val="C9CED6"/>
            </a:solidFill>
            <a:prstDash val="solid"/>
          </a:ln>
        </p:spPr>
        <p:txBody>
          <a:bodyPr/>
          <a:lstStyle/>
          <a:p>
            <a:endParaRPr lang="en-US"/>
          </a:p>
        </p:txBody>
      </p:sp>
      <p:sp>
        <p:nvSpPr>
          <p:cNvPr id="81" name="Shape 79"/>
          <p:cNvSpPr/>
          <p:nvPr/>
        </p:nvSpPr>
        <p:spPr>
          <a:xfrm>
            <a:off x="3364992" y="3538728"/>
            <a:ext cx="219456" cy="219456"/>
          </a:xfrm>
          <a:prstGeom prst="ellipse">
            <a:avLst/>
          </a:prstGeom>
          <a:solidFill>
            <a:srgbClr val="C9CED6"/>
          </a:solidFill>
          <a:ln w="12700">
            <a:solidFill>
              <a:srgbClr val="C9CED6"/>
            </a:solidFill>
            <a:prstDash val="solid"/>
          </a:ln>
        </p:spPr>
        <p:txBody>
          <a:bodyPr/>
          <a:lstStyle/>
          <a:p>
            <a:endParaRPr lang="en-US"/>
          </a:p>
        </p:txBody>
      </p:sp>
      <p:sp>
        <p:nvSpPr>
          <p:cNvPr id="82" name="Shape 80"/>
          <p:cNvSpPr/>
          <p:nvPr/>
        </p:nvSpPr>
        <p:spPr>
          <a:xfrm>
            <a:off x="3694176" y="3538728"/>
            <a:ext cx="219456" cy="219456"/>
          </a:xfrm>
          <a:prstGeom prst="ellipse">
            <a:avLst/>
          </a:prstGeom>
          <a:solidFill>
            <a:srgbClr val="E4572E"/>
          </a:solidFill>
          <a:ln w="12700">
            <a:solidFill>
              <a:srgbClr val="E4572E"/>
            </a:solidFill>
            <a:prstDash val="solid"/>
          </a:ln>
        </p:spPr>
        <p:txBody>
          <a:bodyPr/>
          <a:lstStyle/>
          <a:p>
            <a:endParaRPr lang="en-US"/>
          </a:p>
        </p:txBody>
      </p:sp>
      <p:sp>
        <p:nvSpPr>
          <p:cNvPr id="83" name="Shape 81"/>
          <p:cNvSpPr/>
          <p:nvPr/>
        </p:nvSpPr>
        <p:spPr>
          <a:xfrm>
            <a:off x="731520" y="3867912"/>
            <a:ext cx="219456" cy="219456"/>
          </a:xfrm>
          <a:prstGeom prst="ellipse">
            <a:avLst/>
          </a:prstGeom>
          <a:solidFill>
            <a:srgbClr val="C9CED6"/>
          </a:solidFill>
          <a:ln w="12700">
            <a:solidFill>
              <a:srgbClr val="C9CED6"/>
            </a:solidFill>
            <a:prstDash val="solid"/>
          </a:ln>
        </p:spPr>
        <p:txBody>
          <a:bodyPr/>
          <a:lstStyle/>
          <a:p>
            <a:endParaRPr lang="en-US"/>
          </a:p>
        </p:txBody>
      </p:sp>
      <p:sp>
        <p:nvSpPr>
          <p:cNvPr id="84" name="Shape 82"/>
          <p:cNvSpPr/>
          <p:nvPr/>
        </p:nvSpPr>
        <p:spPr>
          <a:xfrm>
            <a:off x="1060704" y="3867912"/>
            <a:ext cx="219456" cy="219456"/>
          </a:xfrm>
          <a:prstGeom prst="ellipse">
            <a:avLst/>
          </a:prstGeom>
          <a:solidFill>
            <a:srgbClr val="C9CED6"/>
          </a:solidFill>
          <a:ln w="12700">
            <a:solidFill>
              <a:srgbClr val="C9CED6"/>
            </a:solidFill>
            <a:prstDash val="solid"/>
          </a:ln>
        </p:spPr>
        <p:txBody>
          <a:bodyPr/>
          <a:lstStyle/>
          <a:p>
            <a:endParaRPr lang="en-US"/>
          </a:p>
        </p:txBody>
      </p:sp>
      <p:sp>
        <p:nvSpPr>
          <p:cNvPr id="85" name="Shape 83"/>
          <p:cNvSpPr/>
          <p:nvPr/>
        </p:nvSpPr>
        <p:spPr>
          <a:xfrm>
            <a:off x="1389888" y="3867912"/>
            <a:ext cx="219456" cy="219456"/>
          </a:xfrm>
          <a:prstGeom prst="ellipse">
            <a:avLst/>
          </a:prstGeom>
          <a:solidFill>
            <a:srgbClr val="C9CED6"/>
          </a:solidFill>
          <a:ln w="12700">
            <a:solidFill>
              <a:srgbClr val="C9CED6"/>
            </a:solidFill>
            <a:prstDash val="solid"/>
          </a:ln>
        </p:spPr>
        <p:txBody>
          <a:bodyPr/>
          <a:lstStyle/>
          <a:p>
            <a:endParaRPr lang="en-US"/>
          </a:p>
        </p:txBody>
      </p:sp>
      <p:sp>
        <p:nvSpPr>
          <p:cNvPr id="86" name="Shape 84"/>
          <p:cNvSpPr/>
          <p:nvPr/>
        </p:nvSpPr>
        <p:spPr>
          <a:xfrm>
            <a:off x="1719072" y="3867912"/>
            <a:ext cx="219456" cy="219456"/>
          </a:xfrm>
          <a:prstGeom prst="ellipse">
            <a:avLst/>
          </a:prstGeom>
          <a:solidFill>
            <a:srgbClr val="C9CED6"/>
          </a:solidFill>
          <a:ln w="12700">
            <a:solidFill>
              <a:srgbClr val="C9CED6"/>
            </a:solidFill>
            <a:prstDash val="solid"/>
          </a:ln>
        </p:spPr>
        <p:txBody>
          <a:bodyPr/>
          <a:lstStyle/>
          <a:p>
            <a:endParaRPr lang="en-US"/>
          </a:p>
        </p:txBody>
      </p:sp>
      <p:sp>
        <p:nvSpPr>
          <p:cNvPr id="87" name="Shape 85"/>
          <p:cNvSpPr/>
          <p:nvPr/>
        </p:nvSpPr>
        <p:spPr>
          <a:xfrm>
            <a:off x="2048256" y="3867912"/>
            <a:ext cx="219456" cy="219456"/>
          </a:xfrm>
          <a:prstGeom prst="ellipse">
            <a:avLst/>
          </a:prstGeom>
          <a:solidFill>
            <a:srgbClr val="C9CED6"/>
          </a:solidFill>
          <a:ln w="12700">
            <a:solidFill>
              <a:srgbClr val="C9CED6"/>
            </a:solidFill>
            <a:prstDash val="solid"/>
          </a:ln>
        </p:spPr>
        <p:txBody>
          <a:bodyPr/>
          <a:lstStyle/>
          <a:p>
            <a:endParaRPr lang="en-US"/>
          </a:p>
        </p:txBody>
      </p:sp>
      <p:sp>
        <p:nvSpPr>
          <p:cNvPr id="88" name="Shape 86"/>
          <p:cNvSpPr/>
          <p:nvPr/>
        </p:nvSpPr>
        <p:spPr>
          <a:xfrm>
            <a:off x="2377440" y="3867912"/>
            <a:ext cx="219456" cy="219456"/>
          </a:xfrm>
          <a:prstGeom prst="ellipse">
            <a:avLst/>
          </a:prstGeom>
          <a:solidFill>
            <a:srgbClr val="E4572E"/>
          </a:solidFill>
          <a:ln w="12700">
            <a:solidFill>
              <a:srgbClr val="E4572E"/>
            </a:solidFill>
            <a:prstDash val="solid"/>
          </a:ln>
        </p:spPr>
        <p:txBody>
          <a:bodyPr/>
          <a:lstStyle/>
          <a:p>
            <a:endParaRPr lang="en-US"/>
          </a:p>
        </p:txBody>
      </p:sp>
      <p:sp>
        <p:nvSpPr>
          <p:cNvPr id="89" name="Shape 87"/>
          <p:cNvSpPr/>
          <p:nvPr/>
        </p:nvSpPr>
        <p:spPr>
          <a:xfrm>
            <a:off x="2706624" y="3867912"/>
            <a:ext cx="219456" cy="219456"/>
          </a:xfrm>
          <a:prstGeom prst="ellipse">
            <a:avLst/>
          </a:prstGeom>
          <a:solidFill>
            <a:srgbClr val="C9CED6"/>
          </a:solidFill>
          <a:ln w="12700">
            <a:solidFill>
              <a:srgbClr val="C9CED6"/>
            </a:solidFill>
            <a:prstDash val="solid"/>
          </a:ln>
        </p:spPr>
        <p:txBody>
          <a:bodyPr/>
          <a:lstStyle/>
          <a:p>
            <a:endParaRPr lang="en-US"/>
          </a:p>
        </p:txBody>
      </p:sp>
      <p:sp>
        <p:nvSpPr>
          <p:cNvPr id="90" name="Shape 88"/>
          <p:cNvSpPr/>
          <p:nvPr/>
        </p:nvSpPr>
        <p:spPr>
          <a:xfrm>
            <a:off x="3035808" y="3867912"/>
            <a:ext cx="219456" cy="219456"/>
          </a:xfrm>
          <a:prstGeom prst="ellipse">
            <a:avLst/>
          </a:prstGeom>
          <a:solidFill>
            <a:srgbClr val="C9CED6"/>
          </a:solidFill>
          <a:ln w="12700">
            <a:solidFill>
              <a:srgbClr val="C9CED6"/>
            </a:solidFill>
            <a:prstDash val="solid"/>
          </a:ln>
        </p:spPr>
        <p:txBody>
          <a:bodyPr/>
          <a:lstStyle/>
          <a:p>
            <a:endParaRPr lang="en-US"/>
          </a:p>
        </p:txBody>
      </p:sp>
      <p:sp>
        <p:nvSpPr>
          <p:cNvPr id="91" name="Shape 89"/>
          <p:cNvSpPr/>
          <p:nvPr/>
        </p:nvSpPr>
        <p:spPr>
          <a:xfrm>
            <a:off x="3364992" y="3867912"/>
            <a:ext cx="219456" cy="219456"/>
          </a:xfrm>
          <a:prstGeom prst="ellipse">
            <a:avLst/>
          </a:prstGeom>
          <a:solidFill>
            <a:srgbClr val="C9CED6"/>
          </a:solidFill>
          <a:ln w="12700">
            <a:solidFill>
              <a:srgbClr val="C9CED6"/>
            </a:solidFill>
            <a:prstDash val="solid"/>
          </a:ln>
        </p:spPr>
        <p:txBody>
          <a:bodyPr/>
          <a:lstStyle/>
          <a:p>
            <a:endParaRPr lang="en-US"/>
          </a:p>
        </p:txBody>
      </p:sp>
      <p:sp>
        <p:nvSpPr>
          <p:cNvPr id="92" name="Shape 90"/>
          <p:cNvSpPr/>
          <p:nvPr/>
        </p:nvSpPr>
        <p:spPr>
          <a:xfrm>
            <a:off x="3694176" y="3867912"/>
            <a:ext cx="219456" cy="219456"/>
          </a:xfrm>
          <a:prstGeom prst="ellipse">
            <a:avLst/>
          </a:prstGeom>
          <a:solidFill>
            <a:srgbClr val="C9CED6"/>
          </a:solidFill>
          <a:ln w="12700">
            <a:solidFill>
              <a:srgbClr val="C9CED6"/>
            </a:solidFill>
            <a:prstDash val="solid"/>
          </a:ln>
        </p:spPr>
        <p:txBody>
          <a:bodyPr/>
          <a:lstStyle/>
          <a:p>
            <a:endParaRPr lang="en-US"/>
          </a:p>
        </p:txBody>
      </p:sp>
      <p:sp>
        <p:nvSpPr>
          <p:cNvPr id="93" name="Shape 91"/>
          <p:cNvSpPr/>
          <p:nvPr/>
        </p:nvSpPr>
        <p:spPr>
          <a:xfrm>
            <a:off x="731520" y="4197096"/>
            <a:ext cx="219456" cy="219456"/>
          </a:xfrm>
          <a:prstGeom prst="ellipse">
            <a:avLst/>
          </a:prstGeom>
          <a:solidFill>
            <a:srgbClr val="C9CED6"/>
          </a:solidFill>
          <a:ln w="12700">
            <a:solidFill>
              <a:srgbClr val="C9CED6"/>
            </a:solidFill>
            <a:prstDash val="solid"/>
          </a:ln>
        </p:spPr>
        <p:txBody>
          <a:bodyPr/>
          <a:lstStyle/>
          <a:p>
            <a:endParaRPr lang="en-US"/>
          </a:p>
        </p:txBody>
      </p:sp>
      <p:sp>
        <p:nvSpPr>
          <p:cNvPr id="94" name="Shape 92"/>
          <p:cNvSpPr/>
          <p:nvPr/>
        </p:nvSpPr>
        <p:spPr>
          <a:xfrm>
            <a:off x="1060704" y="4197096"/>
            <a:ext cx="219456" cy="219456"/>
          </a:xfrm>
          <a:prstGeom prst="ellipse">
            <a:avLst/>
          </a:prstGeom>
          <a:solidFill>
            <a:srgbClr val="C9CED6"/>
          </a:solidFill>
          <a:ln w="12700">
            <a:solidFill>
              <a:srgbClr val="C9CED6"/>
            </a:solidFill>
            <a:prstDash val="solid"/>
          </a:ln>
        </p:spPr>
        <p:txBody>
          <a:bodyPr/>
          <a:lstStyle/>
          <a:p>
            <a:endParaRPr lang="en-US"/>
          </a:p>
        </p:txBody>
      </p:sp>
      <p:sp>
        <p:nvSpPr>
          <p:cNvPr id="95" name="Shape 93"/>
          <p:cNvSpPr/>
          <p:nvPr/>
        </p:nvSpPr>
        <p:spPr>
          <a:xfrm>
            <a:off x="1389888" y="4197096"/>
            <a:ext cx="219456" cy="219456"/>
          </a:xfrm>
          <a:prstGeom prst="ellipse">
            <a:avLst/>
          </a:prstGeom>
          <a:solidFill>
            <a:srgbClr val="E4572E"/>
          </a:solidFill>
          <a:ln w="12700">
            <a:solidFill>
              <a:srgbClr val="E4572E"/>
            </a:solidFill>
            <a:prstDash val="solid"/>
          </a:ln>
        </p:spPr>
        <p:txBody>
          <a:bodyPr/>
          <a:lstStyle/>
          <a:p>
            <a:endParaRPr lang="en-US"/>
          </a:p>
        </p:txBody>
      </p:sp>
      <p:sp>
        <p:nvSpPr>
          <p:cNvPr id="96" name="Shape 94"/>
          <p:cNvSpPr/>
          <p:nvPr/>
        </p:nvSpPr>
        <p:spPr>
          <a:xfrm>
            <a:off x="1719072" y="4197096"/>
            <a:ext cx="219456" cy="219456"/>
          </a:xfrm>
          <a:prstGeom prst="ellipse">
            <a:avLst/>
          </a:prstGeom>
          <a:solidFill>
            <a:srgbClr val="C9CED6"/>
          </a:solidFill>
          <a:ln w="12700">
            <a:solidFill>
              <a:srgbClr val="C9CED6"/>
            </a:solidFill>
            <a:prstDash val="solid"/>
          </a:ln>
        </p:spPr>
        <p:txBody>
          <a:bodyPr/>
          <a:lstStyle/>
          <a:p>
            <a:endParaRPr lang="en-US"/>
          </a:p>
        </p:txBody>
      </p:sp>
      <p:sp>
        <p:nvSpPr>
          <p:cNvPr id="97" name="Shape 95"/>
          <p:cNvSpPr/>
          <p:nvPr/>
        </p:nvSpPr>
        <p:spPr>
          <a:xfrm>
            <a:off x="2048256" y="4197096"/>
            <a:ext cx="219456" cy="219456"/>
          </a:xfrm>
          <a:prstGeom prst="ellipse">
            <a:avLst/>
          </a:prstGeom>
          <a:solidFill>
            <a:srgbClr val="C9CED6"/>
          </a:solidFill>
          <a:ln w="12700">
            <a:solidFill>
              <a:srgbClr val="C9CED6"/>
            </a:solidFill>
            <a:prstDash val="solid"/>
          </a:ln>
        </p:spPr>
        <p:txBody>
          <a:bodyPr/>
          <a:lstStyle/>
          <a:p>
            <a:endParaRPr lang="en-US"/>
          </a:p>
        </p:txBody>
      </p:sp>
      <p:sp>
        <p:nvSpPr>
          <p:cNvPr id="98" name="Shape 96"/>
          <p:cNvSpPr/>
          <p:nvPr/>
        </p:nvSpPr>
        <p:spPr>
          <a:xfrm>
            <a:off x="2377440" y="4197096"/>
            <a:ext cx="219456" cy="219456"/>
          </a:xfrm>
          <a:prstGeom prst="ellipse">
            <a:avLst/>
          </a:prstGeom>
          <a:solidFill>
            <a:srgbClr val="C9CED6"/>
          </a:solidFill>
          <a:ln w="12700">
            <a:solidFill>
              <a:srgbClr val="C9CED6"/>
            </a:solidFill>
            <a:prstDash val="solid"/>
          </a:ln>
        </p:spPr>
        <p:txBody>
          <a:bodyPr/>
          <a:lstStyle/>
          <a:p>
            <a:endParaRPr lang="en-US"/>
          </a:p>
        </p:txBody>
      </p:sp>
      <p:sp>
        <p:nvSpPr>
          <p:cNvPr id="99" name="Shape 97"/>
          <p:cNvSpPr/>
          <p:nvPr/>
        </p:nvSpPr>
        <p:spPr>
          <a:xfrm>
            <a:off x="2706624" y="4197096"/>
            <a:ext cx="219456" cy="219456"/>
          </a:xfrm>
          <a:prstGeom prst="ellipse">
            <a:avLst/>
          </a:prstGeom>
          <a:solidFill>
            <a:srgbClr val="C9CED6"/>
          </a:solidFill>
          <a:ln w="12700">
            <a:solidFill>
              <a:srgbClr val="C9CED6"/>
            </a:solidFill>
            <a:prstDash val="solid"/>
          </a:ln>
        </p:spPr>
        <p:txBody>
          <a:bodyPr/>
          <a:lstStyle/>
          <a:p>
            <a:endParaRPr lang="en-US"/>
          </a:p>
        </p:txBody>
      </p:sp>
      <p:sp>
        <p:nvSpPr>
          <p:cNvPr id="100" name="Shape 98"/>
          <p:cNvSpPr/>
          <p:nvPr/>
        </p:nvSpPr>
        <p:spPr>
          <a:xfrm>
            <a:off x="3035808" y="4197096"/>
            <a:ext cx="219456" cy="219456"/>
          </a:xfrm>
          <a:prstGeom prst="ellipse">
            <a:avLst/>
          </a:prstGeom>
          <a:solidFill>
            <a:srgbClr val="C9CED6"/>
          </a:solidFill>
          <a:ln w="12700">
            <a:solidFill>
              <a:srgbClr val="C9CED6"/>
            </a:solidFill>
            <a:prstDash val="solid"/>
          </a:ln>
        </p:spPr>
        <p:txBody>
          <a:bodyPr/>
          <a:lstStyle/>
          <a:p>
            <a:endParaRPr lang="en-US"/>
          </a:p>
        </p:txBody>
      </p:sp>
      <p:sp>
        <p:nvSpPr>
          <p:cNvPr id="101" name="Shape 99"/>
          <p:cNvSpPr/>
          <p:nvPr/>
        </p:nvSpPr>
        <p:spPr>
          <a:xfrm>
            <a:off x="3364992" y="4197096"/>
            <a:ext cx="219456" cy="219456"/>
          </a:xfrm>
          <a:prstGeom prst="ellipse">
            <a:avLst/>
          </a:prstGeom>
          <a:solidFill>
            <a:srgbClr val="C9CED6"/>
          </a:solidFill>
          <a:ln w="12700">
            <a:solidFill>
              <a:srgbClr val="C9CED6"/>
            </a:solidFill>
            <a:prstDash val="solid"/>
          </a:ln>
        </p:spPr>
        <p:txBody>
          <a:bodyPr/>
          <a:lstStyle/>
          <a:p>
            <a:endParaRPr lang="en-US"/>
          </a:p>
        </p:txBody>
      </p:sp>
      <p:sp>
        <p:nvSpPr>
          <p:cNvPr id="102" name="Shape 100"/>
          <p:cNvSpPr/>
          <p:nvPr/>
        </p:nvSpPr>
        <p:spPr>
          <a:xfrm>
            <a:off x="3694176" y="4197096"/>
            <a:ext cx="219456" cy="219456"/>
          </a:xfrm>
          <a:prstGeom prst="ellipse">
            <a:avLst/>
          </a:prstGeom>
          <a:solidFill>
            <a:srgbClr val="C9CED6"/>
          </a:solidFill>
          <a:ln w="12700">
            <a:solidFill>
              <a:srgbClr val="C9CED6"/>
            </a:solidFill>
            <a:prstDash val="solid"/>
          </a:ln>
        </p:spPr>
        <p:txBody>
          <a:bodyPr/>
          <a:lstStyle/>
          <a:p>
            <a:endParaRPr lang="en-US"/>
          </a:p>
        </p:txBody>
      </p:sp>
      <p:sp>
        <p:nvSpPr>
          <p:cNvPr id="103" name="Text 101"/>
          <p:cNvSpPr txBox="1"/>
          <p:nvPr/>
        </p:nvSpPr>
        <p:spPr>
          <a:xfrm>
            <a:off x="4572000" y="1371600"/>
            <a:ext cx="4023360" cy="274320"/>
          </a:xfrm>
          <a:prstGeom prst="rect">
            <a:avLst/>
          </a:prstGeom>
          <a:noFill/>
          <a:ln/>
        </p:spPr>
        <p:txBody>
          <a:bodyPr wrap="square" lIns="0" tIns="0" rIns="0" bIns="0" rtlCol="0" anchor="ctr"/>
          <a:lstStyle/>
          <a:p>
            <a:pPr marL="0" indent="0">
              <a:buNone/>
            </a:pPr>
            <a:r>
              <a:rPr lang="en-US" sz="1200" b="1" kern="0" spc="300">
                <a:solidFill>
                  <a:srgbClr val="E4572E"/>
                </a:solidFill>
                <a:latin typeface="Calibri" pitchFamily="34" charset="0"/>
                <a:ea typeface="Calibri" pitchFamily="34" charset="-122"/>
                <a:cs typeface="Calibri" pitchFamily="34" charset="-120"/>
              </a:rPr>
              <a:t>TODAY</a:t>
            </a:r>
            <a:endParaRPr lang="en-US" sz="1200"/>
          </a:p>
        </p:txBody>
      </p:sp>
      <p:sp>
        <p:nvSpPr>
          <p:cNvPr id="104" name="Text 102"/>
          <p:cNvSpPr txBox="1"/>
          <p:nvPr/>
        </p:nvSpPr>
        <p:spPr>
          <a:xfrm>
            <a:off x="4572000" y="1691640"/>
            <a:ext cx="4023360" cy="457200"/>
          </a:xfrm>
          <a:prstGeom prst="rect">
            <a:avLst/>
          </a:prstGeom>
          <a:noFill/>
          <a:ln/>
        </p:spPr>
        <p:txBody>
          <a:bodyPr wrap="square" lIns="0" tIns="0" rIns="0" bIns="0" rtlCol="0" anchor="ctr"/>
          <a:lstStyle/>
          <a:p>
            <a:pPr marL="0" indent="0">
              <a:buNone/>
            </a:pPr>
            <a:r>
              <a:rPr lang="en-US" sz="2000">
                <a:solidFill>
                  <a:srgbClr val="1B2A41"/>
                </a:solidFill>
                <a:latin typeface="Calibri" pitchFamily="34" charset="0"/>
                <a:ea typeface="Calibri" pitchFamily="34" charset="-122"/>
                <a:cs typeface="Calibri" pitchFamily="34" charset="-120"/>
              </a:rPr>
              <a:t>Nonprofit outreach rep picks the biggest first gifts.</a:t>
            </a:r>
            <a:endParaRPr lang="en-US" sz="2000"/>
          </a:p>
        </p:txBody>
      </p:sp>
      <p:sp>
        <p:nvSpPr>
          <p:cNvPr id="105" name="Text 103"/>
          <p:cNvSpPr txBox="1"/>
          <p:nvPr/>
        </p:nvSpPr>
        <p:spPr>
          <a:xfrm>
            <a:off x="4572000" y="2651760"/>
            <a:ext cx="4023360" cy="274320"/>
          </a:xfrm>
          <a:prstGeom prst="rect">
            <a:avLst/>
          </a:prstGeom>
          <a:noFill/>
          <a:ln/>
        </p:spPr>
        <p:txBody>
          <a:bodyPr wrap="square" lIns="0" tIns="0" rIns="0" bIns="0" rtlCol="0" anchor="ctr"/>
          <a:lstStyle/>
          <a:p>
            <a:pPr marL="0" indent="0">
              <a:buNone/>
            </a:pPr>
            <a:r>
              <a:rPr lang="en-US" sz="1200" b="1" kern="0" spc="300">
                <a:solidFill>
                  <a:srgbClr val="E4572E"/>
                </a:solidFill>
                <a:latin typeface="Calibri" pitchFamily="34" charset="0"/>
                <a:ea typeface="Calibri" pitchFamily="34" charset="-122"/>
                <a:cs typeface="Calibri" pitchFamily="34" charset="-120"/>
              </a:rPr>
              <a:t>OUR QUESTION</a:t>
            </a:r>
            <a:endParaRPr lang="en-US" sz="1200"/>
          </a:p>
        </p:txBody>
      </p:sp>
      <p:sp>
        <p:nvSpPr>
          <p:cNvPr id="106" name="Text 104"/>
          <p:cNvSpPr txBox="1"/>
          <p:nvPr/>
        </p:nvSpPr>
        <p:spPr>
          <a:xfrm>
            <a:off x="4572000" y="2971800"/>
            <a:ext cx="4023360" cy="457200"/>
          </a:xfrm>
          <a:prstGeom prst="rect">
            <a:avLst/>
          </a:prstGeom>
          <a:noFill/>
          <a:ln/>
        </p:spPr>
        <p:txBody>
          <a:bodyPr wrap="square" lIns="0" tIns="0" rIns="0" bIns="0" rtlCol="0" anchor="ctr"/>
          <a:lstStyle/>
          <a:p>
            <a:pPr marL="0" indent="0">
              <a:buNone/>
            </a:pPr>
            <a:r>
              <a:rPr lang="en-US" sz="2000" b="1">
                <a:solidFill>
                  <a:srgbClr val="1B2A41"/>
                </a:solidFill>
                <a:latin typeface="Calibri" pitchFamily="34" charset="0"/>
                <a:ea typeface="Calibri" pitchFamily="34" charset="-122"/>
                <a:cs typeface="Calibri" pitchFamily="34" charset="-120"/>
              </a:rPr>
              <a:t>Can data predict who gives again?</a:t>
            </a:r>
            <a:endParaRPr lang="en-US" sz="2000"/>
          </a:p>
        </p:txBody>
      </p:sp>
      <p:sp>
        <p:nvSpPr>
          <p:cNvPr id="107" name="Shape 105"/>
          <p:cNvSpPr/>
          <p:nvPr/>
        </p:nvSpPr>
        <p:spPr>
          <a:xfrm>
            <a:off x="4572000" y="4114800"/>
            <a:ext cx="182880" cy="182880"/>
          </a:xfrm>
          <a:prstGeom prst="ellipse">
            <a:avLst/>
          </a:prstGeom>
          <a:solidFill>
            <a:srgbClr val="E4572E"/>
          </a:solidFill>
          <a:ln w="12700">
            <a:solidFill>
              <a:srgbClr val="E4572E"/>
            </a:solidFill>
            <a:prstDash val="solid"/>
          </a:ln>
        </p:spPr>
        <p:txBody>
          <a:bodyPr/>
          <a:lstStyle/>
          <a:p>
            <a:endParaRPr lang="en-US"/>
          </a:p>
        </p:txBody>
      </p:sp>
      <p:sp>
        <p:nvSpPr>
          <p:cNvPr id="108" name="Text 106"/>
          <p:cNvSpPr txBox="1"/>
          <p:nvPr/>
        </p:nvSpPr>
        <p:spPr>
          <a:xfrm>
            <a:off x="4846320" y="4069080"/>
            <a:ext cx="2743200" cy="274320"/>
          </a:xfrm>
          <a:prstGeom prst="rect">
            <a:avLst/>
          </a:prstGeom>
          <a:noFill/>
          <a:ln/>
        </p:spPr>
        <p:txBody>
          <a:bodyPr wrap="square" lIns="0" tIns="0" rIns="0" bIns="0" rtlCol="0" anchor="ctr"/>
          <a:lstStyle/>
          <a:p>
            <a:pPr marL="0" indent="0">
              <a:buNone/>
            </a:pPr>
            <a:r>
              <a:rPr lang="en-US" sz="1200">
                <a:solidFill>
                  <a:srgbClr val="6B7280"/>
                </a:solidFill>
                <a:latin typeface="Calibri" pitchFamily="34" charset="0"/>
                <a:ea typeface="Calibri" pitchFamily="34" charset="-122"/>
                <a:cs typeface="Calibri" pitchFamily="34" charset="-120"/>
              </a:rPr>
              <a:t>gives again within a year</a:t>
            </a:r>
            <a:endParaRPr lang="en-US" sz="1200"/>
          </a:p>
        </p:txBody>
      </p:sp>
    </p:spTree>
    <p:extLst>
      <p:ext uri="{BB962C8B-B14F-4D97-AF65-F5344CB8AC3E}">
        <p14:creationId xmlns:p14="http://schemas.microsoft.com/office/powerpoint/2010/main" val="2471699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52272-2493-7A0F-8559-C5331EE03AEB}"/>
            </a:ext>
          </a:extLst>
        </p:cNvPr>
        <p:cNvGrpSpPr/>
        <p:nvPr/>
      </p:nvGrpSpPr>
      <p:grpSpPr>
        <a:xfrm>
          <a:off x="0" y="0"/>
          <a:ext cx="0" cy="0"/>
          <a:chOff x="0" y="0"/>
          <a:chExt cx="0" cy="0"/>
        </a:xfrm>
      </p:grpSpPr>
      <p:sp>
        <p:nvSpPr>
          <p:cNvPr id="120" name="Shape 2">
            <a:extLst>
              <a:ext uri="{FF2B5EF4-FFF2-40B4-BE49-F238E27FC236}">
                <a16:creationId xmlns:a16="http://schemas.microsoft.com/office/drawing/2014/main" id="{4D354BB6-76C9-E90F-A3CF-8405A5E9486C}"/>
              </a:ext>
            </a:extLst>
          </p:cNvPr>
          <p:cNvSpPr/>
          <p:nvPr/>
        </p:nvSpPr>
        <p:spPr>
          <a:xfrm>
            <a:off x="1192709" y="3281497"/>
            <a:ext cx="6858543" cy="656228"/>
          </a:xfrm>
          <a:prstGeom prst="roundRect">
            <a:avLst>
              <a:gd name="adj" fmla="val 4103"/>
            </a:avLst>
          </a:prstGeom>
          <a:solidFill>
            <a:srgbClr val="F1F3F5"/>
          </a:solidFill>
          <a:ln w="12700">
            <a:solidFill>
              <a:srgbClr val="F1F3F5"/>
            </a:solidFill>
            <a:prstDash val="solid"/>
          </a:ln>
        </p:spPr>
        <p:txBody>
          <a:bodyPr/>
          <a:lstStyle/>
          <a:p>
            <a:endParaRPr lang="en-US"/>
          </a:p>
        </p:txBody>
      </p:sp>
      <p:sp>
        <p:nvSpPr>
          <p:cNvPr id="119" name="Shape 2">
            <a:extLst>
              <a:ext uri="{FF2B5EF4-FFF2-40B4-BE49-F238E27FC236}">
                <a16:creationId xmlns:a16="http://schemas.microsoft.com/office/drawing/2014/main" id="{E1679EAD-BF4C-C4B3-B5E4-8F476D2C7862}"/>
              </a:ext>
            </a:extLst>
          </p:cNvPr>
          <p:cNvSpPr/>
          <p:nvPr/>
        </p:nvSpPr>
        <p:spPr>
          <a:xfrm>
            <a:off x="1192710" y="2351676"/>
            <a:ext cx="6858543" cy="656228"/>
          </a:xfrm>
          <a:prstGeom prst="roundRect">
            <a:avLst>
              <a:gd name="adj" fmla="val 4103"/>
            </a:avLst>
          </a:prstGeom>
          <a:solidFill>
            <a:srgbClr val="F1F3F5"/>
          </a:solidFill>
          <a:ln w="12700">
            <a:solidFill>
              <a:srgbClr val="F1F3F5"/>
            </a:solidFill>
            <a:prstDash val="solid"/>
          </a:ln>
        </p:spPr>
        <p:txBody>
          <a:bodyPr/>
          <a:lstStyle/>
          <a:p>
            <a:endParaRPr lang="en-US"/>
          </a:p>
        </p:txBody>
      </p:sp>
      <p:sp>
        <p:nvSpPr>
          <p:cNvPr id="118" name="Shape 2">
            <a:extLst>
              <a:ext uri="{FF2B5EF4-FFF2-40B4-BE49-F238E27FC236}">
                <a16:creationId xmlns:a16="http://schemas.microsoft.com/office/drawing/2014/main" id="{EDD8E7A3-1940-4554-0B65-F78EC8FA2BBF}"/>
              </a:ext>
            </a:extLst>
          </p:cNvPr>
          <p:cNvSpPr/>
          <p:nvPr/>
        </p:nvSpPr>
        <p:spPr>
          <a:xfrm>
            <a:off x="1192711" y="1526177"/>
            <a:ext cx="6110151" cy="656228"/>
          </a:xfrm>
          <a:prstGeom prst="roundRect">
            <a:avLst>
              <a:gd name="adj" fmla="val 4103"/>
            </a:avLst>
          </a:prstGeom>
          <a:solidFill>
            <a:srgbClr val="F1F3F5"/>
          </a:solidFill>
          <a:ln w="12700">
            <a:solidFill>
              <a:srgbClr val="F1F3F5"/>
            </a:solidFill>
            <a:prstDash val="solid"/>
          </a:ln>
        </p:spPr>
        <p:txBody>
          <a:bodyPr/>
          <a:lstStyle/>
          <a:p>
            <a:endParaRPr lang="en-US"/>
          </a:p>
        </p:txBody>
      </p:sp>
      <p:sp>
        <p:nvSpPr>
          <p:cNvPr id="2" name="Text 0">
            <a:extLst>
              <a:ext uri="{FF2B5EF4-FFF2-40B4-BE49-F238E27FC236}">
                <a16:creationId xmlns:a16="http://schemas.microsoft.com/office/drawing/2014/main" id="{AA82C3AE-3337-5CFB-5E64-04C0F457915E}"/>
              </a:ext>
            </a:extLst>
          </p:cNvPr>
          <p:cNvSpPr txBox="1"/>
          <p:nvPr/>
        </p:nvSpPr>
        <p:spPr>
          <a:xfrm>
            <a:off x="548640" y="320040"/>
            <a:ext cx="8046720" cy="640080"/>
          </a:xfrm>
          <a:prstGeom prst="rect">
            <a:avLst/>
          </a:prstGeom>
          <a:noFill/>
          <a:ln/>
        </p:spPr>
        <p:txBody>
          <a:bodyPr wrap="square" lIns="0" tIns="0" rIns="0" bIns="0" rtlCol="0" anchor="ctr"/>
          <a:lstStyle/>
          <a:p>
            <a:r>
              <a:rPr lang="en-US" sz="3000" b="1">
                <a:solidFill>
                  <a:srgbClr val="1B2A41"/>
                </a:solidFill>
                <a:latin typeface="Cambria"/>
                <a:ea typeface="Cambria"/>
              </a:rPr>
              <a:t>The questions</a:t>
            </a:r>
            <a:endParaRPr lang="en-US"/>
          </a:p>
        </p:txBody>
      </p:sp>
      <p:sp>
        <p:nvSpPr>
          <p:cNvPr id="106" name="Text 104">
            <a:extLst>
              <a:ext uri="{FF2B5EF4-FFF2-40B4-BE49-F238E27FC236}">
                <a16:creationId xmlns:a16="http://schemas.microsoft.com/office/drawing/2014/main" id="{54421F9B-846E-AAB1-058F-64EC7D48DB33}"/>
              </a:ext>
            </a:extLst>
          </p:cNvPr>
          <p:cNvSpPr txBox="1"/>
          <p:nvPr/>
        </p:nvSpPr>
        <p:spPr>
          <a:xfrm>
            <a:off x="1397000" y="1581121"/>
            <a:ext cx="7465966" cy="457200"/>
          </a:xfrm>
          <a:prstGeom prst="rect">
            <a:avLst/>
          </a:prstGeom>
          <a:noFill/>
          <a:ln/>
        </p:spPr>
        <p:txBody>
          <a:bodyPr wrap="square" lIns="0" tIns="0" rIns="0" bIns="0" rtlCol="0" anchor="ctr"/>
          <a:lstStyle/>
          <a:p>
            <a:r>
              <a:rPr lang="en-US" sz="2000" b="1">
                <a:solidFill>
                  <a:srgbClr val="1B2A41"/>
                </a:solidFill>
                <a:latin typeface="Calibri"/>
                <a:ea typeface="Calibri"/>
                <a:cs typeface="Calibri"/>
              </a:rPr>
              <a:t>Can we predict who is most likely to give again?</a:t>
            </a:r>
            <a:endParaRPr lang="en-US" sz="2000">
              <a:latin typeface="Calibri"/>
              <a:ea typeface="Calibri"/>
              <a:cs typeface="Calibri"/>
            </a:endParaRPr>
          </a:p>
        </p:txBody>
      </p:sp>
      <p:sp>
        <p:nvSpPr>
          <p:cNvPr id="112" name="Text 104">
            <a:extLst>
              <a:ext uri="{FF2B5EF4-FFF2-40B4-BE49-F238E27FC236}">
                <a16:creationId xmlns:a16="http://schemas.microsoft.com/office/drawing/2014/main" id="{997D6E12-131F-8089-71E0-98F4DF4F1F95}"/>
              </a:ext>
            </a:extLst>
          </p:cNvPr>
          <p:cNvSpPr txBox="1"/>
          <p:nvPr/>
        </p:nvSpPr>
        <p:spPr>
          <a:xfrm>
            <a:off x="1396999" y="2451978"/>
            <a:ext cx="7465966" cy="457200"/>
          </a:xfrm>
          <a:prstGeom prst="rect">
            <a:avLst/>
          </a:prstGeom>
          <a:noFill/>
          <a:ln/>
        </p:spPr>
        <p:txBody>
          <a:bodyPr wrap="square" lIns="0" tIns="0" rIns="0" bIns="0" rtlCol="0" anchor="ctr"/>
          <a:lstStyle/>
          <a:p>
            <a:r>
              <a:rPr lang="en-US" sz="2000" b="1">
                <a:solidFill>
                  <a:srgbClr val="1B2A41"/>
                </a:solidFill>
                <a:latin typeface="Calibri"/>
                <a:ea typeface="Calibri"/>
                <a:cs typeface="Calibri"/>
              </a:rPr>
              <a:t>Can we predict who is most likely to give the most over time?</a:t>
            </a:r>
            <a:endParaRPr lang="en-US" sz="2000">
              <a:latin typeface="Calibri"/>
              <a:ea typeface="Calibri"/>
              <a:cs typeface="Calibri"/>
            </a:endParaRPr>
          </a:p>
        </p:txBody>
      </p:sp>
      <p:sp>
        <p:nvSpPr>
          <p:cNvPr id="116" name="Text 104">
            <a:extLst>
              <a:ext uri="{FF2B5EF4-FFF2-40B4-BE49-F238E27FC236}">
                <a16:creationId xmlns:a16="http://schemas.microsoft.com/office/drawing/2014/main" id="{89209457-1062-3758-9855-68E11E3919CA}"/>
              </a:ext>
            </a:extLst>
          </p:cNvPr>
          <p:cNvSpPr txBox="1"/>
          <p:nvPr/>
        </p:nvSpPr>
        <p:spPr>
          <a:xfrm>
            <a:off x="1396998" y="3381799"/>
            <a:ext cx="7465966" cy="457200"/>
          </a:xfrm>
          <a:prstGeom prst="rect">
            <a:avLst/>
          </a:prstGeom>
          <a:noFill/>
          <a:ln/>
        </p:spPr>
        <p:txBody>
          <a:bodyPr wrap="square" lIns="0" tIns="0" rIns="0" bIns="0" rtlCol="0" anchor="ctr"/>
          <a:lstStyle/>
          <a:p>
            <a:r>
              <a:rPr lang="en-US" sz="2000" b="1">
                <a:solidFill>
                  <a:srgbClr val="1B2A41"/>
                </a:solidFill>
                <a:latin typeface="Calibri"/>
                <a:ea typeface="Calibri"/>
                <a:cs typeface="Calibri"/>
              </a:rPr>
              <a:t>Is there anything we can do to improve these metrics?</a:t>
            </a:r>
          </a:p>
        </p:txBody>
      </p:sp>
    </p:spTree>
    <p:extLst>
      <p:ext uri="{BB962C8B-B14F-4D97-AF65-F5344CB8AC3E}">
        <p14:creationId xmlns:p14="http://schemas.microsoft.com/office/powerpoint/2010/main" val="2196141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marL="0" indent="0">
              <a:buNone/>
            </a:pPr>
            <a:r>
              <a:rPr lang="en-US" sz="3000" b="1">
                <a:solidFill>
                  <a:srgbClr val="1B2A41"/>
                </a:solidFill>
                <a:latin typeface="Cambria" pitchFamily="34" charset="0"/>
                <a:ea typeface="Cambria" pitchFamily="34" charset="-122"/>
                <a:cs typeface="Cambria" pitchFamily="34" charset="-120"/>
              </a:rPr>
              <a:t>What we did</a:t>
            </a:r>
            <a:endParaRPr lang="en-US" sz="3000"/>
          </a:p>
        </p:txBody>
      </p:sp>
      <p:sp>
        <p:nvSpPr>
          <p:cNvPr id="3" name="Shape 1"/>
          <p:cNvSpPr/>
          <p:nvPr/>
        </p:nvSpPr>
        <p:spPr>
          <a:xfrm>
            <a:off x="1097280" y="1623060"/>
            <a:ext cx="7040880" cy="0"/>
          </a:xfrm>
          <a:prstGeom prst="line">
            <a:avLst/>
          </a:prstGeom>
          <a:noFill/>
          <a:ln w="25400">
            <a:solidFill>
              <a:srgbClr val="C9CED6"/>
            </a:solidFill>
            <a:prstDash val="solid"/>
          </a:ln>
        </p:spPr>
        <p:txBody>
          <a:bodyPr/>
          <a:lstStyle/>
          <a:p>
            <a:endParaRPr lang="en-US"/>
          </a:p>
        </p:txBody>
      </p:sp>
      <p:sp>
        <p:nvSpPr>
          <p:cNvPr id="4" name="Shape 2"/>
          <p:cNvSpPr/>
          <p:nvPr/>
        </p:nvSpPr>
        <p:spPr>
          <a:xfrm>
            <a:off x="685800" y="1234440"/>
            <a:ext cx="777240" cy="777240"/>
          </a:xfrm>
          <a:prstGeom prst="ellipse">
            <a:avLst/>
          </a:prstGeom>
          <a:solidFill>
            <a:srgbClr val="1B2A41"/>
          </a:solidFill>
          <a:ln w="12700">
            <a:solidFill>
              <a:srgbClr val="1B2A41"/>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880110" y="1428750"/>
            <a:ext cx="388620" cy="388620"/>
          </a:xfrm>
          <a:prstGeom prst="rect">
            <a:avLst/>
          </a:prstGeom>
        </p:spPr>
      </p:pic>
      <p:sp>
        <p:nvSpPr>
          <p:cNvPr id="6" name="Text 3"/>
          <p:cNvSpPr txBox="1"/>
          <p:nvPr/>
        </p:nvSpPr>
        <p:spPr>
          <a:xfrm>
            <a:off x="416052" y="2148840"/>
            <a:ext cx="1316736" cy="320040"/>
          </a:xfrm>
          <a:prstGeom prst="rect">
            <a:avLst/>
          </a:prstGeom>
          <a:noFill/>
          <a:ln/>
        </p:spPr>
        <p:txBody>
          <a:bodyPr wrap="square" lIns="0" tIns="0" rIns="0" bIns="0" rtlCol="0" anchor="ctr"/>
          <a:lstStyle/>
          <a:p>
            <a:pPr marL="0" indent="0" algn="ctr">
              <a:buNone/>
            </a:pPr>
            <a:r>
              <a:rPr lang="en-US" sz="1400" b="1">
                <a:solidFill>
                  <a:srgbClr val="1B2A41"/>
                </a:solidFill>
                <a:latin typeface="Calibri" pitchFamily="34" charset="0"/>
                <a:ea typeface="Calibri" pitchFamily="34" charset="-122"/>
                <a:cs typeface="Calibri" pitchFamily="34" charset="-120"/>
              </a:rPr>
              <a:t>1 · Check</a:t>
            </a:r>
            <a:endParaRPr lang="en-US" sz="1400"/>
          </a:p>
        </p:txBody>
      </p:sp>
      <p:sp>
        <p:nvSpPr>
          <p:cNvPr id="7" name="Text 4"/>
          <p:cNvSpPr txBox="1"/>
          <p:nvPr/>
        </p:nvSpPr>
        <p:spPr>
          <a:xfrm>
            <a:off x="416052" y="2487168"/>
            <a:ext cx="1316736" cy="731520"/>
          </a:xfrm>
          <a:prstGeom prst="rect">
            <a:avLst/>
          </a:prstGeom>
          <a:noFill/>
          <a:ln/>
        </p:spPr>
        <p:txBody>
          <a:bodyPr wrap="square" lIns="0" tIns="0" rIns="0" bIns="0" rtlCol="0" anchor="t"/>
          <a:lstStyle/>
          <a:p>
            <a:pPr marL="0" indent="0" algn="ctr">
              <a:buNone/>
            </a:pPr>
            <a:r>
              <a:rPr lang="en-US" sz="1150">
                <a:solidFill>
                  <a:srgbClr val="6B7280"/>
                </a:solidFill>
                <a:latin typeface="Calibri" pitchFamily="34" charset="0"/>
                <a:ea typeface="Calibri" pitchFamily="34" charset="-122"/>
                <a:cs typeface="Calibri" pitchFamily="34" charset="-120"/>
              </a:rPr>
              <a:t>Can we follow one donor over time?</a:t>
            </a:r>
            <a:endParaRPr lang="en-US" sz="1150"/>
          </a:p>
        </p:txBody>
      </p:sp>
      <p:sp>
        <p:nvSpPr>
          <p:cNvPr id="8" name="Shape 5"/>
          <p:cNvSpPr/>
          <p:nvPr/>
        </p:nvSpPr>
        <p:spPr>
          <a:xfrm>
            <a:off x="2103120" y="1234440"/>
            <a:ext cx="777240" cy="777240"/>
          </a:xfrm>
          <a:prstGeom prst="ellipse">
            <a:avLst/>
          </a:prstGeom>
          <a:solidFill>
            <a:srgbClr val="1B2A41"/>
          </a:solidFill>
          <a:ln w="12700">
            <a:solidFill>
              <a:srgbClr val="1B2A41"/>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2297430" y="1428750"/>
            <a:ext cx="388620" cy="388620"/>
          </a:xfrm>
          <a:prstGeom prst="rect">
            <a:avLst/>
          </a:prstGeom>
        </p:spPr>
      </p:pic>
      <p:sp>
        <p:nvSpPr>
          <p:cNvPr id="10" name="Text 6"/>
          <p:cNvSpPr txBox="1"/>
          <p:nvPr/>
        </p:nvSpPr>
        <p:spPr>
          <a:xfrm>
            <a:off x="1833372" y="2148840"/>
            <a:ext cx="1316736" cy="320040"/>
          </a:xfrm>
          <a:prstGeom prst="rect">
            <a:avLst/>
          </a:prstGeom>
          <a:noFill/>
          <a:ln/>
        </p:spPr>
        <p:txBody>
          <a:bodyPr wrap="square" lIns="0" tIns="0" rIns="0" bIns="0" rtlCol="0" anchor="ctr"/>
          <a:lstStyle/>
          <a:p>
            <a:pPr marL="0" indent="0" algn="ctr">
              <a:buNone/>
            </a:pPr>
            <a:r>
              <a:rPr lang="en-US" sz="1400" b="1">
                <a:solidFill>
                  <a:srgbClr val="1B2A41"/>
                </a:solidFill>
                <a:latin typeface="Calibri" pitchFamily="34" charset="0"/>
                <a:ea typeface="Calibri" pitchFamily="34" charset="-122"/>
                <a:cs typeface="Calibri" pitchFamily="34" charset="-120"/>
              </a:rPr>
              <a:t>2 · Label</a:t>
            </a:r>
            <a:endParaRPr lang="en-US" sz="1400"/>
          </a:p>
        </p:txBody>
      </p:sp>
      <p:sp>
        <p:nvSpPr>
          <p:cNvPr id="11" name="Text 7"/>
          <p:cNvSpPr txBox="1"/>
          <p:nvPr/>
        </p:nvSpPr>
        <p:spPr>
          <a:xfrm>
            <a:off x="1833372" y="2487168"/>
            <a:ext cx="1316736" cy="731520"/>
          </a:xfrm>
          <a:prstGeom prst="rect">
            <a:avLst/>
          </a:prstGeom>
          <a:noFill/>
          <a:ln/>
        </p:spPr>
        <p:txBody>
          <a:bodyPr wrap="square" lIns="0" tIns="0" rIns="0" bIns="0" rtlCol="0" anchor="t"/>
          <a:lstStyle/>
          <a:p>
            <a:pPr marL="0" indent="0" algn="ctr">
              <a:buNone/>
            </a:pPr>
            <a:r>
              <a:rPr lang="en-US" sz="1150">
                <a:solidFill>
                  <a:srgbClr val="6B7280"/>
                </a:solidFill>
                <a:latin typeface="Calibri" pitchFamily="34" charset="0"/>
                <a:ea typeface="Calibri" pitchFamily="34" charset="-122"/>
                <a:cs typeface="Calibri" pitchFamily="34" charset="-120"/>
              </a:rPr>
              <a:t>Gave again within 12 months?</a:t>
            </a:r>
            <a:endParaRPr lang="en-US" sz="1150"/>
          </a:p>
        </p:txBody>
      </p:sp>
      <p:sp>
        <p:nvSpPr>
          <p:cNvPr id="12" name="Shape 8"/>
          <p:cNvSpPr/>
          <p:nvPr/>
        </p:nvSpPr>
        <p:spPr>
          <a:xfrm>
            <a:off x="3520440" y="1234440"/>
            <a:ext cx="777240" cy="777240"/>
          </a:xfrm>
          <a:prstGeom prst="ellipse">
            <a:avLst/>
          </a:prstGeom>
          <a:solidFill>
            <a:srgbClr val="1B2A41"/>
          </a:solidFill>
          <a:ln w="12700">
            <a:solidFill>
              <a:srgbClr val="1B2A41"/>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3714750" y="1428750"/>
            <a:ext cx="388620" cy="388620"/>
          </a:xfrm>
          <a:prstGeom prst="rect">
            <a:avLst/>
          </a:prstGeom>
        </p:spPr>
      </p:pic>
      <p:sp>
        <p:nvSpPr>
          <p:cNvPr id="14" name="Text 9"/>
          <p:cNvSpPr txBox="1"/>
          <p:nvPr/>
        </p:nvSpPr>
        <p:spPr>
          <a:xfrm>
            <a:off x="3250692" y="2148840"/>
            <a:ext cx="1316736" cy="320040"/>
          </a:xfrm>
          <a:prstGeom prst="rect">
            <a:avLst/>
          </a:prstGeom>
          <a:noFill/>
          <a:ln/>
        </p:spPr>
        <p:txBody>
          <a:bodyPr wrap="square" lIns="0" tIns="0" rIns="0" bIns="0" rtlCol="0" anchor="ctr"/>
          <a:lstStyle/>
          <a:p>
            <a:pPr marL="0" indent="0" algn="ctr">
              <a:buNone/>
            </a:pPr>
            <a:r>
              <a:rPr lang="en-US" sz="1400" b="1">
                <a:solidFill>
                  <a:srgbClr val="1B2A41"/>
                </a:solidFill>
                <a:latin typeface="Calibri" pitchFamily="34" charset="0"/>
                <a:ea typeface="Calibri" pitchFamily="34" charset="-122"/>
                <a:cs typeface="Calibri" pitchFamily="34" charset="-120"/>
              </a:rPr>
              <a:t>3 · Split</a:t>
            </a:r>
            <a:endParaRPr lang="en-US" sz="1400"/>
          </a:p>
        </p:txBody>
      </p:sp>
      <p:sp>
        <p:nvSpPr>
          <p:cNvPr id="15" name="Text 10"/>
          <p:cNvSpPr txBox="1"/>
          <p:nvPr/>
        </p:nvSpPr>
        <p:spPr>
          <a:xfrm>
            <a:off x="3250692" y="2487168"/>
            <a:ext cx="1316736" cy="731520"/>
          </a:xfrm>
          <a:prstGeom prst="rect">
            <a:avLst/>
          </a:prstGeom>
          <a:noFill/>
          <a:ln/>
        </p:spPr>
        <p:txBody>
          <a:bodyPr wrap="square" lIns="0" tIns="0" rIns="0" bIns="0" rtlCol="0" anchor="t"/>
          <a:lstStyle/>
          <a:p>
            <a:pPr marL="0" indent="0" algn="ctr">
              <a:buNone/>
            </a:pPr>
            <a:r>
              <a:rPr lang="en-US" sz="1150">
                <a:solidFill>
                  <a:srgbClr val="6B7280"/>
                </a:solidFill>
                <a:latin typeface="Calibri" pitchFamily="34" charset="0"/>
                <a:ea typeface="Calibri" pitchFamily="34" charset="-122"/>
                <a:cs typeface="Calibri" pitchFamily="34" charset="-120"/>
              </a:rPr>
              <a:t>Learn from the past, test on the future</a:t>
            </a:r>
            <a:endParaRPr lang="en-US" sz="1150"/>
          </a:p>
        </p:txBody>
      </p:sp>
      <p:sp>
        <p:nvSpPr>
          <p:cNvPr id="16" name="Shape 11"/>
          <p:cNvSpPr/>
          <p:nvPr/>
        </p:nvSpPr>
        <p:spPr>
          <a:xfrm>
            <a:off x="4937760" y="1234440"/>
            <a:ext cx="777240" cy="777240"/>
          </a:xfrm>
          <a:prstGeom prst="ellipse">
            <a:avLst/>
          </a:prstGeom>
          <a:solidFill>
            <a:srgbClr val="1B2A41"/>
          </a:solidFill>
          <a:ln w="12700">
            <a:solidFill>
              <a:srgbClr val="1B2A41"/>
            </a:solidFill>
            <a:prstDash val="solid"/>
          </a:ln>
        </p:spPr>
        <p:txBody>
          <a:bodyPr/>
          <a:lstStyle/>
          <a:p>
            <a:endParaRPr lang="en-US"/>
          </a:p>
        </p:txBody>
      </p:sp>
      <p:pic>
        <p:nvPicPr>
          <p:cNvPr id="17" name="Image 3" descr="preencoded.png"/>
          <p:cNvPicPr>
            <a:picLocks noChangeAspect="1"/>
          </p:cNvPicPr>
          <p:nvPr/>
        </p:nvPicPr>
        <p:blipFill>
          <a:blip r:embed="rId6"/>
          <a:stretch>
            <a:fillRect/>
          </a:stretch>
        </p:blipFill>
        <p:spPr>
          <a:xfrm>
            <a:off x="5132070" y="1428750"/>
            <a:ext cx="388620" cy="388620"/>
          </a:xfrm>
          <a:prstGeom prst="rect">
            <a:avLst/>
          </a:prstGeom>
        </p:spPr>
      </p:pic>
      <p:sp>
        <p:nvSpPr>
          <p:cNvPr id="18" name="Text 12"/>
          <p:cNvSpPr txBox="1"/>
          <p:nvPr/>
        </p:nvSpPr>
        <p:spPr>
          <a:xfrm>
            <a:off x="4668012" y="2148840"/>
            <a:ext cx="1316736" cy="320040"/>
          </a:xfrm>
          <a:prstGeom prst="rect">
            <a:avLst/>
          </a:prstGeom>
          <a:noFill/>
          <a:ln/>
        </p:spPr>
        <p:txBody>
          <a:bodyPr wrap="square" lIns="0" tIns="0" rIns="0" bIns="0" rtlCol="0" anchor="ctr"/>
          <a:lstStyle/>
          <a:p>
            <a:pPr marL="0" indent="0" algn="ctr">
              <a:buNone/>
            </a:pPr>
            <a:r>
              <a:rPr lang="en-US" sz="1400" b="1">
                <a:solidFill>
                  <a:srgbClr val="1B2A41"/>
                </a:solidFill>
                <a:latin typeface="Calibri" pitchFamily="34" charset="0"/>
                <a:ea typeface="Calibri" pitchFamily="34" charset="-122"/>
                <a:cs typeface="Calibri" pitchFamily="34" charset="-120"/>
              </a:rPr>
              <a:t>4 · Baseline</a:t>
            </a:r>
            <a:endParaRPr lang="en-US" sz="1400"/>
          </a:p>
        </p:txBody>
      </p:sp>
      <p:sp>
        <p:nvSpPr>
          <p:cNvPr id="19" name="Text 13"/>
          <p:cNvSpPr txBox="1"/>
          <p:nvPr/>
        </p:nvSpPr>
        <p:spPr>
          <a:xfrm>
            <a:off x="4668012" y="2487168"/>
            <a:ext cx="1316736" cy="731520"/>
          </a:xfrm>
          <a:prstGeom prst="rect">
            <a:avLst/>
          </a:prstGeom>
          <a:noFill/>
          <a:ln/>
        </p:spPr>
        <p:txBody>
          <a:bodyPr wrap="square" lIns="0" tIns="0" rIns="0" bIns="0" rtlCol="0" anchor="t"/>
          <a:lstStyle/>
          <a:p>
            <a:pPr marL="0" indent="0" algn="ctr">
              <a:buNone/>
            </a:pPr>
            <a:r>
              <a:rPr lang="en-US" sz="1150">
                <a:solidFill>
                  <a:srgbClr val="6B7280"/>
                </a:solidFill>
                <a:latin typeface="Calibri" pitchFamily="34" charset="0"/>
                <a:ea typeface="Calibri" pitchFamily="34" charset="-122"/>
                <a:cs typeface="Calibri" pitchFamily="34" charset="-120"/>
              </a:rPr>
              <a:t>Rule to beat: biggest gift first</a:t>
            </a:r>
            <a:endParaRPr lang="en-US" sz="1150"/>
          </a:p>
        </p:txBody>
      </p:sp>
      <p:sp>
        <p:nvSpPr>
          <p:cNvPr id="20" name="Shape 14"/>
          <p:cNvSpPr/>
          <p:nvPr/>
        </p:nvSpPr>
        <p:spPr>
          <a:xfrm>
            <a:off x="6355080" y="1234440"/>
            <a:ext cx="777240" cy="777240"/>
          </a:xfrm>
          <a:prstGeom prst="ellipse">
            <a:avLst/>
          </a:prstGeom>
          <a:solidFill>
            <a:srgbClr val="E4572E"/>
          </a:solidFill>
          <a:ln w="12700">
            <a:solidFill>
              <a:srgbClr val="E4572E"/>
            </a:solidFill>
            <a:prstDash val="solid"/>
          </a:ln>
        </p:spPr>
        <p:txBody>
          <a:bodyPr/>
          <a:lstStyle/>
          <a:p>
            <a:endParaRPr lang="en-US"/>
          </a:p>
        </p:txBody>
      </p:sp>
      <p:pic>
        <p:nvPicPr>
          <p:cNvPr id="21" name="Image 4" descr="preencoded.png"/>
          <p:cNvPicPr>
            <a:picLocks noChangeAspect="1"/>
          </p:cNvPicPr>
          <p:nvPr/>
        </p:nvPicPr>
        <p:blipFill>
          <a:blip r:embed="rId7"/>
          <a:stretch>
            <a:fillRect/>
          </a:stretch>
        </p:blipFill>
        <p:spPr>
          <a:xfrm>
            <a:off x="6549390" y="1428750"/>
            <a:ext cx="388620" cy="388620"/>
          </a:xfrm>
          <a:prstGeom prst="rect">
            <a:avLst/>
          </a:prstGeom>
        </p:spPr>
      </p:pic>
      <p:sp>
        <p:nvSpPr>
          <p:cNvPr id="22" name="Text 15"/>
          <p:cNvSpPr txBox="1"/>
          <p:nvPr/>
        </p:nvSpPr>
        <p:spPr>
          <a:xfrm>
            <a:off x="6085332" y="2148840"/>
            <a:ext cx="1316736" cy="320040"/>
          </a:xfrm>
          <a:prstGeom prst="rect">
            <a:avLst/>
          </a:prstGeom>
          <a:noFill/>
          <a:ln/>
        </p:spPr>
        <p:txBody>
          <a:bodyPr wrap="square" lIns="0" tIns="0" rIns="0" bIns="0" rtlCol="0" anchor="ctr"/>
          <a:lstStyle/>
          <a:p>
            <a:pPr marL="0" indent="0" algn="ctr">
              <a:buNone/>
            </a:pPr>
            <a:r>
              <a:rPr lang="en-US" sz="1400" b="1">
                <a:solidFill>
                  <a:srgbClr val="1B2A41"/>
                </a:solidFill>
                <a:latin typeface="Calibri" pitchFamily="34" charset="0"/>
                <a:ea typeface="Calibri" pitchFamily="34" charset="-122"/>
                <a:cs typeface="Calibri" pitchFamily="34" charset="-120"/>
              </a:rPr>
              <a:t>5 · Model</a:t>
            </a:r>
            <a:endParaRPr lang="en-US" sz="1400"/>
          </a:p>
        </p:txBody>
      </p:sp>
      <p:sp>
        <p:nvSpPr>
          <p:cNvPr id="23" name="Text 16"/>
          <p:cNvSpPr txBox="1"/>
          <p:nvPr/>
        </p:nvSpPr>
        <p:spPr>
          <a:xfrm>
            <a:off x="6085332" y="2487168"/>
            <a:ext cx="1316736" cy="731520"/>
          </a:xfrm>
          <a:prstGeom prst="rect">
            <a:avLst/>
          </a:prstGeom>
          <a:noFill/>
          <a:ln/>
        </p:spPr>
        <p:txBody>
          <a:bodyPr wrap="square" lIns="0" tIns="0" rIns="0" bIns="0" rtlCol="0" anchor="t"/>
          <a:lstStyle/>
          <a:p>
            <a:pPr marL="0" indent="0" algn="ctr">
              <a:buNone/>
            </a:pPr>
            <a:r>
              <a:rPr lang="en-US" sz="1150">
                <a:solidFill>
                  <a:srgbClr val="6B7280"/>
                </a:solidFill>
                <a:latin typeface="Calibri" pitchFamily="34" charset="0"/>
                <a:ea typeface="Calibri" pitchFamily="34" charset="-122"/>
                <a:cs typeface="Calibri" pitchFamily="34" charset="-120"/>
              </a:rPr>
              <a:t>Chance of return × likely amount</a:t>
            </a:r>
            <a:endParaRPr lang="en-US" sz="1150"/>
          </a:p>
        </p:txBody>
      </p:sp>
      <p:sp>
        <p:nvSpPr>
          <p:cNvPr id="24" name="Shape 17"/>
          <p:cNvSpPr/>
          <p:nvPr/>
        </p:nvSpPr>
        <p:spPr>
          <a:xfrm>
            <a:off x="7772400" y="1234440"/>
            <a:ext cx="777240" cy="777240"/>
          </a:xfrm>
          <a:prstGeom prst="ellipse">
            <a:avLst/>
          </a:prstGeom>
          <a:solidFill>
            <a:srgbClr val="1B2A41"/>
          </a:solidFill>
          <a:ln w="12700">
            <a:solidFill>
              <a:srgbClr val="1B2A41"/>
            </a:solidFill>
            <a:prstDash val="solid"/>
          </a:ln>
        </p:spPr>
        <p:txBody>
          <a:bodyPr/>
          <a:lstStyle/>
          <a:p>
            <a:endParaRPr lang="en-US"/>
          </a:p>
        </p:txBody>
      </p:sp>
      <p:sp>
        <p:nvSpPr>
          <p:cNvPr id="26" name="Text 18"/>
          <p:cNvSpPr txBox="1"/>
          <p:nvPr/>
        </p:nvSpPr>
        <p:spPr>
          <a:xfrm>
            <a:off x="7502652" y="2148840"/>
            <a:ext cx="1316736" cy="320040"/>
          </a:xfrm>
          <a:prstGeom prst="rect">
            <a:avLst/>
          </a:prstGeom>
          <a:noFill/>
          <a:ln/>
        </p:spPr>
        <p:txBody>
          <a:bodyPr wrap="square" lIns="0" tIns="0" rIns="0" bIns="0" rtlCol="0" anchor="ctr"/>
          <a:lstStyle/>
          <a:p>
            <a:pPr marL="0" indent="0" algn="ctr">
              <a:buNone/>
            </a:pPr>
            <a:r>
              <a:rPr lang="en-US" sz="1400" b="1">
                <a:solidFill>
                  <a:srgbClr val="1B2A41"/>
                </a:solidFill>
                <a:latin typeface="Calibri" pitchFamily="34" charset="0"/>
                <a:ea typeface="Calibri" pitchFamily="34" charset="-122"/>
                <a:cs typeface="Calibri" pitchFamily="34" charset="-120"/>
              </a:rPr>
              <a:t>6 · Rank</a:t>
            </a:r>
            <a:endParaRPr lang="en-US" sz="1400"/>
          </a:p>
        </p:txBody>
      </p:sp>
      <p:sp>
        <p:nvSpPr>
          <p:cNvPr id="27" name="Text 19"/>
          <p:cNvSpPr txBox="1"/>
          <p:nvPr/>
        </p:nvSpPr>
        <p:spPr>
          <a:xfrm>
            <a:off x="7502652" y="2487168"/>
            <a:ext cx="1316736" cy="731520"/>
          </a:xfrm>
          <a:prstGeom prst="rect">
            <a:avLst/>
          </a:prstGeom>
          <a:noFill/>
          <a:ln/>
        </p:spPr>
        <p:txBody>
          <a:bodyPr wrap="square" lIns="0" tIns="0" rIns="0" bIns="0" rtlCol="0" anchor="t"/>
          <a:lstStyle/>
          <a:p>
            <a:pPr marL="0" indent="0" algn="ctr">
              <a:buNone/>
            </a:pPr>
            <a:r>
              <a:rPr lang="en-US" sz="1150">
                <a:solidFill>
                  <a:srgbClr val="6B7280"/>
                </a:solidFill>
                <a:latin typeface="Calibri" pitchFamily="34" charset="0"/>
                <a:ea typeface="Calibri" pitchFamily="34" charset="-122"/>
                <a:cs typeface="Calibri" pitchFamily="34" charset="-120"/>
              </a:rPr>
              <a:t>Sort by predicted repeat value</a:t>
            </a:r>
            <a:endParaRPr lang="en-US" sz="1150"/>
          </a:p>
        </p:txBody>
      </p:sp>
      <p:sp>
        <p:nvSpPr>
          <p:cNvPr id="28" name="Shape 20"/>
          <p:cNvSpPr/>
          <p:nvPr/>
        </p:nvSpPr>
        <p:spPr>
          <a:xfrm>
            <a:off x="548640" y="3611880"/>
            <a:ext cx="8046720" cy="868680"/>
          </a:xfrm>
          <a:prstGeom prst="roundRect">
            <a:avLst>
              <a:gd name="adj" fmla="val 8421"/>
            </a:avLst>
          </a:prstGeom>
          <a:solidFill>
            <a:srgbClr val="F1F3F5"/>
          </a:solidFill>
          <a:ln w="12700">
            <a:solidFill>
              <a:srgbClr val="F1F3F5"/>
            </a:solidFill>
            <a:prstDash val="solid"/>
          </a:ln>
        </p:spPr>
        <p:txBody>
          <a:bodyPr/>
          <a:lstStyle/>
          <a:p>
            <a:endParaRPr lang="en-US"/>
          </a:p>
        </p:txBody>
      </p:sp>
      <p:sp>
        <p:nvSpPr>
          <p:cNvPr id="29" name="Text 21"/>
          <p:cNvSpPr txBox="1"/>
          <p:nvPr/>
        </p:nvSpPr>
        <p:spPr>
          <a:xfrm>
            <a:off x="822960" y="3611880"/>
            <a:ext cx="3840480" cy="868680"/>
          </a:xfrm>
          <a:prstGeom prst="rect">
            <a:avLst/>
          </a:prstGeom>
          <a:noFill/>
          <a:ln/>
        </p:spPr>
        <p:txBody>
          <a:bodyPr wrap="square" lIns="0" tIns="0" rIns="0" bIns="0" rtlCol="0" anchor="ctr"/>
          <a:lstStyle/>
          <a:p>
            <a:pPr marL="0" indent="0">
              <a:buNone/>
            </a:pPr>
            <a:r>
              <a:rPr lang="en-US" sz="2600" b="1">
                <a:solidFill>
                  <a:srgbClr val="E4572E"/>
                </a:solidFill>
                <a:latin typeface="Cambria" pitchFamily="34" charset="0"/>
                <a:ea typeface="Cambria" pitchFamily="34" charset="-122"/>
                <a:cs typeface="Cambria" pitchFamily="34" charset="-120"/>
              </a:rPr>
              <a:t>3.28M </a:t>
            </a:r>
            <a:r>
              <a:rPr lang="en-US" sz="1400">
                <a:solidFill>
                  <a:srgbClr val="1B2A41"/>
                </a:solidFill>
                <a:latin typeface="Calibri" pitchFamily="34" charset="0"/>
                <a:ea typeface="Calibri" pitchFamily="34" charset="-122"/>
                <a:cs typeface="Calibri" pitchFamily="34" charset="-120"/>
              </a:rPr>
              <a:t>first-time donors labeled</a:t>
            </a:r>
            <a:endParaRPr lang="en-US" sz="2600"/>
          </a:p>
        </p:txBody>
      </p:sp>
      <p:sp>
        <p:nvSpPr>
          <p:cNvPr id="30" name="Text 22"/>
          <p:cNvSpPr txBox="1"/>
          <p:nvPr/>
        </p:nvSpPr>
        <p:spPr>
          <a:xfrm>
            <a:off x="4663440" y="3611880"/>
            <a:ext cx="3840480" cy="868680"/>
          </a:xfrm>
          <a:prstGeom prst="rect">
            <a:avLst/>
          </a:prstGeom>
          <a:noFill/>
          <a:ln/>
        </p:spPr>
        <p:txBody>
          <a:bodyPr wrap="square" lIns="0" tIns="0" rIns="0" bIns="0" rtlCol="0" anchor="ctr"/>
          <a:lstStyle/>
          <a:p>
            <a:pPr marL="0" indent="0">
              <a:buNone/>
            </a:pPr>
            <a:r>
              <a:rPr lang="en-US" sz="2600" b="1">
                <a:solidFill>
                  <a:srgbClr val="E4572E"/>
                </a:solidFill>
                <a:latin typeface="Cambria" pitchFamily="34" charset="0"/>
                <a:ea typeface="Cambria" pitchFamily="34" charset="-122"/>
                <a:cs typeface="Cambria" pitchFamily="34" charset="-120"/>
              </a:rPr>
              <a:t>15.8% </a:t>
            </a:r>
            <a:r>
              <a:rPr lang="en-US" sz="1400">
                <a:solidFill>
                  <a:srgbClr val="1B2A41"/>
                </a:solidFill>
                <a:latin typeface="Calibri" pitchFamily="34" charset="0"/>
                <a:ea typeface="Calibri" pitchFamily="34" charset="-122"/>
                <a:cs typeface="Calibri" pitchFamily="34" charset="-120"/>
              </a:rPr>
              <a:t>gave again within a year</a:t>
            </a:r>
            <a:endParaRPr lang="en-US" sz="2600"/>
          </a:p>
        </p:txBody>
      </p:sp>
      <p:pic>
        <p:nvPicPr>
          <p:cNvPr id="31" name="Picture 30" descr="FaSortAmountDown_FFFFFF.png"/>
          <p:cNvPicPr>
            <a:picLocks noChangeAspect="1"/>
          </p:cNvPicPr>
          <p:nvPr/>
        </p:nvPicPr>
        <p:blipFill>
          <a:blip r:embed="rId8"/>
          <a:stretch>
            <a:fillRect/>
          </a:stretch>
        </p:blipFill>
        <p:spPr>
          <a:xfrm>
            <a:off x="7966710" y="1428750"/>
            <a:ext cx="388620" cy="388620"/>
          </a:xfrm>
          <a:prstGeom prst="rect">
            <a:avLst/>
          </a:prstGeom>
        </p:spPr>
      </p:pic>
    </p:spTree>
    <p:extLst>
      <p:ext uri="{BB962C8B-B14F-4D97-AF65-F5344CB8AC3E}">
        <p14:creationId xmlns:p14="http://schemas.microsoft.com/office/powerpoint/2010/main" val="39326163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8046720" cy="640080"/>
          </a:xfrm>
          <a:prstGeom prst="rect">
            <a:avLst/>
          </a:prstGeom>
          <a:noFill/>
        </p:spPr>
        <p:txBody>
          <a:bodyPr wrap="square" lIns="0" tIns="0" rIns="0" bIns="0" anchor="t">
            <a:spAutoFit/>
          </a:bodyPr>
          <a:lstStyle/>
          <a:p>
            <a:pPr algn="l"/>
            <a:r>
              <a:rPr sz="3000" b="1" i="0">
                <a:solidFill>
                  <a:srgbClr val="1B2A41"/>
                </a:solidFill>
                <a:latin typeface="Cambria"/>
              </a:rPr>
              <a:t>What the model looked at</a:t>
            </a:r>
          </a:p>
        </p:txBody>
      </p:sp>
      <p:sp>
        <p:nvSpPr>
          <p:cNvPr id="3" name="TextBox 2"/>
          <p:cNvSpPr txBox="1"/>
          <p:nvPr/>
        </p:nvSpPr>
        <p:spPr>
          <a:xfrm>
            <a:off x="548640" y="896112"/>
            <a:ext cx="8046720" cy="320040"/>
          </a:xfrm>
          <a:prstGeom prst="rect">
            <a:avLst/>
          </a:prstGeom>
          <a:noFill/>
        </p:spPr>
        <p:txBody>
          <a:bodyPr wrap="square" lIns="0" tIns="0" rIns="0" bIns="0" anchor="t">
            <a:spAutoFit/>
          </a:bodyPr>
          <a:lstStyle/>
          <a:p>
            <a:pPr algn="l"/>
            <a:r>
              <a:rPr sz="1400" b="0" i="0">
                <a:solidFill>
                  <a:srgbClr val="6B7280"/>
                </a:solidFill>
                <a:latin typeface="Calibri"/>
              </a:rPr>
              <a:t>19 inputs, all known the day of the first gift. No names, no demographics.</a:t>
            </a:r>
          </a:p>
        </p:txBody>
      </p:sp>
      <p:sp>
        <p:nvSpPr>
          <p:cNvPr id="4" name="Rounded Rectangle 3"/>
          <p:cNvSpPr/>
          <p:nvPr/>
        </p:nvSpPr>
        <p:spPr>
          <a:xfrm>
            <a:off x="548640" y="1371600"/>
            <a:ext cx="3886200" cy="3246120"/>
          </a:xfrm>
          <a:prstGeom prst="roundRect">
            <a:avLst>
              <a:gd name="adj" fmla="val 2253"/>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77240" y="1600200"/>
            <a:ext cx="502920" cy="5029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902970" y="1725930"/>
            <a:ext cx="251460" cy="251460"/>
          </a:xfrm>
          <a:prstGeom prst="rect">
            <a:avLst/>
          </a:prstGeom>
        </p:spPr>
      </p:pic>
      <p:sp>
        <p:nvSpPr>
          <p:cNvPr id="7" name="TextBox 6"/>
          <p:cNvSpPr txBox="1"/>
          <p:nvPr/>
        </p:nvSpPr>
        <p:spPr>
          <a:xfrm>
            <a:off x="1417319" y="1600200"/>
            <a:ext cx="2743200" cy="502920"/>
          </a:xfrm>
          <a:prstGeom prst="rect">
            <a:avLst/>
          </a:prstGeom>
          <a:noFill/>
        </p:spPr>
        <p:txBody>
          <a:bodyPr wrap="square" lIns="0" tIns="0" rIns="0" bIns="0" anchor="ctr">
            <a:spAutoFit/>
          </a:bodyPr>
          <a:lstStyle/>
          <a:p>
            <a:pPr algn="l"/>
            <a:r>
              <a:rPr sz="1800" b="1" i="0">
                <a:solidFill>
                  <a:srgbClr val="1B2A41"/>
                </a:solidFill>
                <a:latin typeface="Calibri"/>
              </a:rPr>
              <a:t>About the gift</a:t>
            </a:r>
          </a:p>
        </p:txBody>
      </p:sp>
      <p:sp>
        <p:nvSpPr>
          <p:cNvPr id="8" name="Oval 7"/>
          <p:cNvSpPr/>
          <p:nvPr/>
        </p:nvSpPr>
        <p:spPr>
          <a:xfrm>
            <a:off x="868680" y="2423160"/>
            <a:ext cx="91440" cy="9144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97280" y="2331720"/>
            <a:ext cx="3200400" cy="274320"/>
          </a:xfrm>
          <a:prstGeom prst="rect">
            <a:avLst/>
          </a:prstGeom>
          <a:noFill/>
        </p:spPr>
        <p:txBody>
          <a:bodyPr wrap="square" lIns="0" tIns="0" rIns="0" bIns="0" anchor="t">
            <a:spAutoFit/>
          </a:bodyPr>
          <a:lstStyle/>
          <a:p>
            <a:pPr algn="l"/>
            <a:r>
              <a:rPr sz="1400" b="0" i="0">
                <a:solidFill>
                  <a:srgbClr val="1B2A41"/>
                </a:solidFill>
                <a:latin typeface="Calibri"/>
              </a:rPr>
              <a:t>Gift amount</a:t>
            </a:r>
          </a:p>
        </p:txBody>
      </p:sp>
      <p:sp>
        <p:nvSpPr>
          <p:cNvPr id="10" name="Oval 9"/>
          <p:cNvSpPr/>
          <p:nvPr/>
        </p:nvSpPr>
        <p:spPr>
          <a:xfrm>
            <a:off x="868680" y="2734056"/>
            <a:ext cx="91440" cy="9144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7280" y="2642615"/>
            <a:ext cx="3200400" cy="274320"/>
          </a:xfrm>
          <a:prstGeom prst="rect">
            <a:avLst/>
          </a:prstGeom>
          <a:noFill/>
        </p:spPr>
        <p:txBody>
          <a:bodyPr wrap="square" lIns="0" tIns="0" rIns="0" bIns="0" anchor="t">
            <a:spAutoFit/>
          </a:bodyPr>
          <a:lstStyle/>
          <a:p>
            <a:pPr algn="l"/>
            <a:r>
              <a:rPr sz="1400" b="0" i="0">
                <a:solidFill>
                  <a:srgbClr val="1B2A41"/>
                </a:solidFill>
                <a:latin typeface="Calibri"/>
              </a:rPr>
              <a:t>Classrooms funded that month</a:t>
            </a:r>
          </a:p>
        </p:txBody>
      </p:sp>
      <p:sp>
        <p:nvSpPr>
          <p:cNvPr id="12" name="Oval 11"/>
          <p:cNvSpPr/>
          <p:nvPr/>
        </p:nvSpPr>
        <p:spPr>
          <a:xfrm>
            <a:off x="868680" y="3044952"/>
            <a:ext cx="91440" cy="9144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97280" y="2953512"/>
            <a:ext cx="3200400" cy="274320"/>
          </a:xfrm>
          <a:prstGeom prst="rect">
            <a:avLst/>
          </a:prstGeom>
          <a:noFill/>
        </p:spPr>
        <p:txBody>
          <a:bodyPr wrap="square" lIns="0" tIns="0" rIns="0" bIns="0" anchor="t">
            <a:spAutoFit/>
          </a:bodyPr>
          <a:lstStyle/>
          <a:p>
            <a:pPr algn="l"/>
            <a:r>
              <a:rPr sz="1400" b="0" i="0">
                <a:solidFill>
                  <a:srgbClr val="1B2A41"/>
                </a:solidFill>
                <a:latin typeface="Calibri"/>
              </a:rPr>
              <a:t>Matched by a partner</a:t>
            </a:r>
          </a:p>
        </p:txBody>
      </p:sp>
      <p:sp>
        <p:nvSpPr>
          <p:cNvPr id="14" name="Oval 13"/>
          <p:cNvSpPr/>
          <p:nvPr/>
        </p:nvSpPr>
        <p:spPr>
          <a:xfrm>
            <a:off x="868680" y="3355848"/>
            <a:ext cx="91440" cy="9144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97280" y="3264408"/>
            <a:ext cx="3200400" cy="274320"/>
          </a:xfrm>
          <a:prstGeom prst="rect">
            <a:avLst/>
          </a:prstGeom>
          <a:noFill/>
        </p:spPr>
        <p:txBody>
          <a:bodyPr wrap="square" lIns="0" tIns="0" rIns="0" bIns="0" anchor="t">
            <a:spAutoFit/>
          </a:bodyPr>
          <a:lstStyle/>
          <a:p>
            <a:pPr algn="l"/>
            <a:r>
              <a:rPr sz="1400" b="0" i="0">
                <a:solidFill>
                  <a:srgbClr val="1B2A41"/>
                </a:solidFill>
                <a:latin typeface="Calibri"/>
              </a:rPr>
              <a:t>Paid with a gift card</a:t>
            </a:r>
          </a:p>
        </p:txBody>
      </p:sp>
      <p:sp>
        <p:nvSpPr>
          <p:cNvPr id="16" name="Oval 15"/>
          <p:cNvSpPr/>
          <p:nvPr/>
        </p:nvSpPr>
        <p:spPr>
          <a:xfrm>
            <a:off x="868680" y="3666744"/>
            <a:ext cx="91440" cy="9144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97280" y="3575304"/>
            <a:ext cx="3200400" cy="274320"/>
          </a:xfrm>
          <a:prstGeom prst="rect">
            <a:avLst/>
          </a:prstGeom>
          <a:noFill/>
        </p:spPr>
        <p:txBody>
          <a:bodyPr wrap="square" lIns="0" tIns="0" rIns="0" bIns="0" anchor="t">
            <a:spAutoFit/>
          </a:bodyPr>
          <a:lstStyle/>
          <a:p>
            <a:pPr algn="l"/>
            <a:r>
              <a:rPr sz="1400" b="0" i="0">
                <a:solidFill>
                  <a:srgbClr val="1B2A41"/>
                </a:solidFill>
                <a:latin typeface="Calibri"/>
              </a:rPr>
              <a:t>Referred by a teacher</a:t>
            </a:r>
          </a:p>
        </p:txBody>
      </p:sp>
      <p:sp>
        <p:nvSpPr>
          <p:cNvPr id="18" name="Oval 17"/>
          <p:cNvSpPr/>
          <p:nvPr/>
        </p:nvSpPr>
        <p:spPr>
          <a:xfrm>
            <a:off x="868680" y="3977639"/>
            <a:ext cx="91440" cy="9144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97280" y="3886200"/>
            <a:ext cx="3200400" cy="274320"/>
          </a:xfrm>
          <a:prstGeom prst="rect">
            <a:avLst/>
          </a:prstGeom>
          <a:noFill/>
        </p:spPr>
        <p:txBody>
          <a:bodyPr wrap="square" lIns="0" tIns="0" rIns="0" bIns="0" anchor="t">
            <a:spAutoFit/>
          </a:bodyPr>
          <a:lstStyle/>
          <a:p>
            <a:pPr algn="l"/>
            <a:r>
              <a:rPr sz="1400" b="0" i="0">
                <a:solidFill>
                  <a:srgbClr val="1B2A41"/>
                </a:solidFill>
                <a:latin typeface="Calibri"/>
              </a:rPr>
              <a:t>Month and year of the gift</a:t>
            </a:r>
          </a:p>
        </p:txBody>
      </p:sp>
      <p:sp>
        <p:nvSpPr>
          <p:cNvPr id="20" name="Rounded Rectangle 19"/>
          <p:cNvSpPr/>
          <p:nvPr/>
        </p:nvSpPr>
        <p:spPr>
          <a:xfrm>
            <a:off x="4709159" y="1371600"/>
            <a:ext cx="3886200" cy="3246120"/>
          </a:xfrm>
          <a:prstGeom prst="roundRect">
            <a:avLst>
              <a:gd name="adj" fmla="val 2253"/>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4937759" y="1600200"/>
            <a:ext cx="502920" cy="50292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image.png"/>
          <p:cNvPicPr>
            <a:picLocks noChangeAspect="1"/>
          </p:cNvPicPr>
          <p:nvPr/>
        </p:nvPicPr>
        <p:blipFill>
          <a:blip r:embed="rId4"/>
          <a:stretch>
            <a:fillRect/>
          </a:stretch>
        </p:blipFill>
        <p:spPr>
          <a:xfrm>
            <a:off x="5063490" y="1725930"/>
            <a:ext cx="251460" cy="251460"/>
          </a:xfrm>
          <a:prstGeom prst="rect">
            <a:avLst/>
          </a:prstGeom>
        </p:spPr>
      </p:pic>
      <p:sp>
        <p:nvSpPr>
          <p:cNvPr id="23" name="TextBox 22"/>
          <p:cNvSpPr txBox="1"/>
          <p:nvPr/>
        </p:nvSpPr>
        <p:spPr>
          <a:xfrm>
            <a:off x="5577840" y="1600200"/>
            <a:ext cx="2743200" cy="502920"/>
          </a:xfrm>
          <a:prstGeom prst="rect">
            <a:avLst/>
          </a:prstGeom>
          <a:noFill/>
        </p:spPr>
        <p:txBody>
          <a:bodyPr wrap="square" lIns="0" tIns="0" rIns="0" bIns="0" anchor="ctr">
            <a:spAutoFit/>
          </a:bodyPr>
          <a:lstStyle/>
          <a:p>
            <a:pPr algn="l"/>
            <a:r>
              <a:rPr sz="1800" b="1" i="0">
                <a:solidFill>
                  <a:srgbClr val="1B2A41"/>
                </a:solidFill>
                <a:latin typeface="Calibri"/>
              </a:rPr>
              <a:t>About the project</a:t>
            </a:r>
          </a:p>
        </p:txBody>
      </p:sp>
      <p:sp>
        <p:nvSpPr>
          <p:cNvPr id="24" name="Oval 23"/>
          <p:cNvSpPr/>
          <p:nvPr/>
        </p:nvSpPr>
        <p:spPr>
          <a:xfrm>
            <a:off x="5029199" y="2423160"/>
            <a:ext cx="91440" cy="9144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257799" y="2331720"/>
            <a:ext cx="3200400" cy="274320"/>
          </a:xfrm>
          <a:prstGeom prst="rect">
            <a:avLst/>
          </a:prstGeom>
          <a:noFill/>
        </p:spPr>
        <p:txBody>
          <a:bodyPr wrap="square" lIns="0" tIns="0" rIns="0" bIns="0" anchor="t">
            <a:spAutoFit/>
          </a:bodyPr>
          <a:lstStyle/>
          <a:p>
            <a:pPr algn="l"/>
            <a:r>
              <a:rPr sz="1400" b="0" i="0">
                <a:solidFill>
                  <a:srgbClr val="1B2A41"/>
                </a:solidFill>
                <a:latin typeface="Calibri"/>
              </a:rPr>
              <a:t>School state</a:t>
            </a:r>
          </a:p>
        </p:txBody>
      </p:sp>
      <p:sp>
        <p:nvSpPr>
          <p:cNvPr id="26" name="Oval 25"/>
          <p:cNvSpPr/>
          <p:nvPr/>
        </p:nvSpPr>
        <p:spPr>
          <a:xfrm>
            <a:off x="5029199" y="2734056"/>
            <a:ext cx="91440" cy="9144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257799" y="2642615"/>
            <a:ext cx="3200400" cy="274320"/>
          </a:xfrm>
          <a:prstGeom prst="rect">
            <a:avLst/>
          </a:prstGeom>
          <a:noFill/>
        </p:spPr>
        <p:txBody>
          <a:bodyPr wrap="square" lIns="0" tIns="0" rIns="0" bIns="0" anchor="t">
            <a:spAutoFit/>
          </a:bodyPr>
          <a:lstStyle/>
          <a:p>
            <a:pPr algn="l"/>
            <a:r>
              <a:rPr sz="1400" b="0" i="0">
                <a:solidFill>
                  <a:srgbClr val="1B2A41"/>
                </a:solidFill>
                <a:latin typeface="Calibri"/>
              </a:rPr>
              <a:t>Subject</a:t>
            </a:r>
          </a:p>
        </p:txBody>
      </p:sp>
      <p:sp>
        <p:nvSpPr>
          <p:cNvPr id="28" name="Oval 27"/>
          <p:cNvSpPr/>
          <p:nvPr/>
        </p:nvSpPr>
        <p:spPr>
          <a:xfrm>
            <a:off x="5029199" y="3044952"/>
            <a:ext cx="91440" cy="9144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257799" y="2953512"/>
            <a:ext cx="3200400" cy="274320"/>
          </a:xfrm>
          <a:prstGeom prst="rect">
            <a:avLst/>
          </a:prstGeom>
          <a:noFill/>
        </p:spPr>
        <p:txBody>
          <a:bodyPr wrap="square" lIns="0" tIns="0" rIns="0" bIns="0" anchor="t">
            <a:spAutoFit/>
          </a:bodyPr>
          <a:lstStyle/>
          <a:p>
            <a:pPr algn="l"/>
            <a:r>
              <a:rPr sz="1400" b="0" i="0">
                <a:solidFill>
                  <a:srgbClr val="1B2A41"/>
                </a:solidFill>
                <a:latin typeface="Calibri"/>
              </a:rPr>
              <a:t>Grade level</a:t>
            </a:r>
          </a:p>
        </p:txBody>
      </p:sp>
      <p:sp>
        <p:nvSpPr>
          <p:cNvPr id="30" name="Oval 29"/>
          <p:cNvSpPr/>
          <p:nvPr/>
        </p:nvSpPr>
        <p:spPr>
          <a:xfrm>
            <a:off x="5029199" y="3355848"/>
            <a:ext cx="91440" cy="9144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257799" y="3264408"/>
            <a:ext cx="3200400" cy="274320"/>
          </a:xfrm>
          <a:prstGeom prst="rect">
            <a:avLst/>
          </a:prstGeom>
          <a:noFill/>
        </p:spPr>
        <p:txBody>
          <a:bodyPr wrap="square" lIns="0" tIns="0" rIns="0" bIns="0" anchor="t">
            <a:spAutoFit/>
          </a:bodyPr>
          <a:lstStyle/>
          <a:p>
            <a:pPr algn="l"/>
            <a:r>
              <a:rPr sz="1400" b="0" i="0">
                <a:solidFill>
                  <a:srgbClr val="1B2A41"/>
                </a:solidFill>
                <a:latin typeface="Calibri"/>
              </a:rPr>
              <a:t>Project cost</a:t>
            </a:r>
          </a:p>
        </p:txBody>
      </p:sp>
      <p:sp>
        <p:nvSpPr>
          <p:cNvPr id="32" name="Oval 31"/>
          <p:cNvSpPr/>
          <p:nvPr/>
        </p:nvSpPr>
        <p:spPr>
          <a:xfrm>
            <a:off x="5029199" y="3666744"/>
            <a:ext cx="91440" cy="9144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257799" y="3575304"/>
            <a:ext cx="3200400" cy="274320"/>
          </a:xfrm>
          <a:prstGeom prst="rect">
            <a:avLst/>
          </a:prstGeom>
          <a:noFill/>
        </p:spPr>
        <p:txBody>
          <a:bodyPr wrap="square" lIns="0" tIns="0" rIns="0" bIns="0" anchor="t">
            <a:spAutoFit/>
          </a:bodyPr>
          <a:lstStyle/>
          <a:p>
            <a:pPr algn="l"/>
            <a:r>
              <a:rPr sz="1400" b="0" i="0">
                <a:solidFill>
                  <a:srgbClr val="1B2A41"/>
                </a:solidFill>
                <a:latin typeface="Calibri"/>
              </a:rPr>
              <a:t>Students reached</a:t>
            </a:r>
          </a:p>
        </p:txBody>
      </p:sp>
      <p:sp>
        <p:nvSpPr>
          <p:cNvPr id="34" name="Oval 33"/>
          <p:cNvSpPr/>
          <p:nvPr/>
        </p:nvSpPr>
        <p:spPr>
          <a:xfrm>
            <a:off x="5029199" y="3977639"/>
            <a:ext cx="91440" cy="9144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257799" y="3886200"/>
            <a:ext cx="3200400" cy="274320"/>
          </a:xfrm>
          <a:prstGeom prst="rect">
            <a:avLst/>
          </a:prstGeom>
          <a:noFill/>
        </p:spPr>
        <p:txBody>
          <a:bodyPr wrap="square" lIns="0" tIns="0" rIns="0" bIns="0" anchor="t">
            <a:spAutoFit/>
          </a:bodyPr>
          <a:lstStyle/>
          <a:p>
            <a:pPr algn="l"/>
            <a:r>
              <a:rPr sz="1400" b="0" i="0">
                <a:solidFill>
                  <a:srgbClr val="1B2A41"/>
                </a:solidFill>
                <a:latin typeface="Calibri"/>
              </a:rPr>
              <a:t>School poverty level</a:t>
            </a:r>
          </a:p>
        </p:txBody>
      </p:sp>
      <p:sp>
        <p:nvSpPr>
          <p:cNvPr id="36" name="Oval 35"/>
          <p:cNvSpPr/>
          <p:nvPr/>
        </p:nvSpPr>
        <p:spPr>
          <a:xfrm>
            <a:off x="5029199" y="4288536"/>
            <a:ext cx="91440" cy="9144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257799" y="4197096"/>
            <a:ext cx="3200400" cy="274320"/>
          </a:xfrm>
          <a:prstGeom prst="rect">
            <a:avLst/>
          </a:prstGeom>
          <a:noFill/>
        </p:spPr>
        <p:txBody>
          <a:bodyPr wrap="square" lIns="0" tIns="0" rIns="0" bIns="0" anchor="t">
            <a:spAutoFit/>
          </a:bodyPr>
          <a:lstStyle/>
          <a:p>
            <a:pPr algn="l"/>
            <a:r>
              <a:rPr sz="1400" b="0" i="0">
                <a:solidFill>
                  <a:srgbClr val="1B2A41"/>
                </a:solidFill>
                <a:latin typeface="Calibri"/>
              </a:rPr>
              <a:t>How long it had been posted</a:t>
            </a:r>
          </a:p>
        </p:txBody>
      </p:sp>
    </p:spTree>
    <p:extLst>
      <p:ext uri="{BB962C8B-B14F-4D97-AF65-F5344CB8AC3E}">
        <p14:creationId xmlns:p14="http://schemas.microsoft.com/office/powerpoint/2010/main" val="987169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7DADF-CDBC-C488-D1EB-FBA2A848D092}"/>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EDD2E2D4-1E50-5C47-6CF4-8AD8FCB29505}"/>
              </a:ext>
            </a:extLst>
          </p:cNvPr>
          <p:cNvSpPr>
            <a:spLocks noGrp="1"/>
          </p:cNvSpPr>
          <p:nvPr/>
        </p:nvSpPr>
        <p:spPr>
          <a:xfrm>
            <a:off x="548640" y="304800"/>
            <a:ext cx="8039100" cy="609600"/>
          </a:xfrm>
          <a:prstGeom prst="rect">
            <a:avLst/>
          </a:prstGeom>
          <a:noFill/>
          <a:ln w="0">
            <a:noFill/>
          </a:ln>
        </p:spPr>
        <p:txBody>
          <a:bodyPr anchor="ctr">
            <a:noAutofit/>
          </a:bodyPr>
          <a:lstStyle/>
          <a:p>
            <a:pPr>
              <a:defRPr sz="3000" b="1">
                <a:solidFill>
                  <a:srgbClr val="1B2A41"/>
                </a:solidFill>
                <a:latin typeface="Cambria"/>
                <a:ea typeface="Cambria"/>
                <a:cs typeface="Cambria"/>
              </a:defRPr>
            </a:pPr>
            <a:r>
              <a:rPr lang="de-DE" sz="3000" b="1">
                <a:solidFill>
                  <a:srgbClr val="1B2A41"/>
                </a:solidFill>
                <a:latin typeface="Cambria"/>
                <a:ea typeface="Cambria"/>
                <a:cs typeface="Cambria"/>
              </a:rPr>
              <a:t>Two </a:t>
            </a:r>
            <a:r>
              <a:rPr lang="de-DE" sz="3000" b="1" err="1">
                <a:solidFill>
                  <a:srgbClr val="1B2A41"/>
                </a:solidFill>
                <a:latin typeface="Cambria"/>
                <a:ea typeface="Cambria"/>
                <a:cs typeface="Cambria"/>
              </a:rPr>
              <a:t>decision</a:t>
            </a:r>
            <a:r>
              <a:rPr lang="de-DE" sz="3000" b="1">
                <a:solidFill>
                  <a:srgbClr val="1B2A41"/>
                </a:solidFill>
                <a:latin typeface="Cambria"/>
                <a:ea typeface="Cambria"/>
                <a:cs typeface="Cambria"/>
              </a:rPr>
              <a:t> </a:t>
            </a:r>
            <a:r>
              <a:rPr lang="de-DE" sz="3000" b="1" err="1">
                <a:solidFill>
                  <a:srgbClr val="1B2A41"/>
                </a:solidFill>
                <a:latin typeface="Cambria"/>
                <a:ea typeface="Cambria"/>
                <a:cs typeface="Cambria"/>
              </a:rPr>
              <a:t>tree</a:t>
            </a:r>
            <a:r>
              <a:rPr lang="de-DE" sz="3000" b="1">
                <a:solidFill>
                  <a:srgbClr val="1B2A41"/>
                </a:solidFill>
                <a:latin typeface="Cambria"/>
                <a:ea typeface="Cambria"/>
                <a:cs typeface="Cambria"/>
              </a:rPr>
              <a:t> </a:t>
            </a:r>
            <a:r>
              <a:rPr lang="de-DE" sz="3000" b="1" err="1">
                <a:solidFill>
                  <a:srgbClr val="1B2A41"/>
                </a:solidFill>
                <a:latin typeface="Cambria"/>
                <a:ea typeface="Cambria"/>
                <a:cs typeface="Cambria"/>
              </a:rPr>
              <a:t>models</a:t>
            </a:r>
            <a:endParaRPr sz="3000" b="1">
              <a:solidFill>
                <a:srgbClr val="1B2A41"/>
              </a:solidFill>
              <a:latin typeface="Cambria"/>
              <a:ea typeface="Cambria"/>
              <a:cs typeface="Cambria"/>
            </a:endParaRPr>
          </a:p>
        </p:txBody>
      </p:sp>
      <p:sp>
        <p:nvSpPr>
          <p:cNvPr id="4" name="Rectangle 3">
            <a:extLst>
              <a:ext uri="{FF2B5EF4-FFF2-40B4-BE49-F238E27FC236}">
                <a16:creationId xmlns:a16="http://schemas.microsoft.com/office/drawing/2014/main" id="{7D70963F-DEDD-C9D7-1DE5-A5245A2AAFFC}"/>
              </a:ext>
            </a:extLst>
          </p:cNvPr>
          <p:cNvSpPr>
            <a:spLocks noGrp="1"/>
          </p:cNvSpPr>
          <p:nvPr/>
        </p:nvSpPr>
        <p:spPr>
          <a:xfrm>
            <a:off x="554355" y="1137844"/>
            <a:ext cx="8035290" cy="434500"/>
          </a:xfrm>
          <a:prstGeom prst="rect">
            <a:avLst/>
          </a:prstGeom>
          <a:solidFill>
            <a:srgbClr val="F1F3F5"/>
          </a:solidFill>
          <a:ln w="0">
            <a:noFill/>
          </a:ln>
        </p:spPr>
        <p:txBody>
          <a:bodyPr/>
          <a:lstStyle/>
          <a:p>
            <a:endParaRPr lang="en-US"/>
          </a:p>
        </p:txBody>
      </p:sp>
      <p:sp>
        <p:nvSpPr>
          <p:cNvPr id="5" name="Rectangle 4">
            <a:extLst>
              <a:ext uri="{FF2B5EF4-FFF2-40B4-BE49-F238E27FC236}">
                <a16:creationId xmlns:a16="http://schemas.microsoft.com/office/drawing/2014/main" id="{DE0C4BC5-070E-2C79-6DAE-373C94EE0D2A}"/>
              </a:ext>
            </a:extLst>
          </p:cNvPr>
          <p:cNvSpPr>
            <a:spLocks noGrp="1"/>
          </p:cNvSpPr>
          <p:nvPr/>
        </p:nvSpPr>
        <p:spPr>
          <a:xfrm>
            <a:off x="647700" y="1225216"/>
            <a:ext cx="7612380" cy="259755"/>
          </a:xfrm>
          <a:prstGeom prst="rect">
            <a:avLst/>
          </a:prstGeom>
          <a:noFill/>
          <a:ln w="0">
            <a:noFill/>
          </a:ln>
        </p:spPr>
        <p:txBody>
          <a:bodyPr anchor="ctr">
            <a:noAutofit/>
          </a:bodyPr>
          <a:lstStyle/>
          <a:p>
            <a:pPr algn="ctr">
              <a:defRPr sz="1800" b="1">
                <a:solidFill>
                  <a:srgbClr val="1B2A41"/>
                </a:solidFill>
                <a:latin typeface="Calibri"/>
                <a:ea typeface="Calibri"/>
                <a:cs typeface="Calibri"/>
              </a:defRPr>
            </a:pPr>
            <a:r>
              <a:rPr sz="1600" b="1">
                <a:solidFill>
                  <a:srgbClr val="1B2A41"/>
                </a:solidFill>
                <a:latin typeface="Calibri"/>
                <a:ea typeface="Calibri"/>
                <a:cs typeface="Calibri"/>
              </a:rPr>
              <a:t>Gift + project inputs</a:t>
            </a:r>
          </a:p>
        </p:txBody>
      </p:sp>
      <p:sp>
        <p:nvSpPr>
          <p:cNvPr id="6" name="Right Arrow 5">
            <a:extLst>
              <a:ext uri="{FF2B5EF4-FFF2-40B4-BE49-F238E27FC236}">
                <a16:creationId xmlns:a16="http://schemas.microsoft.com/office/drawing/2014/main" id="{8AE009E3-1D28-D895-A5B4-F3BF81D2992F}"/>
              </a:ext>
            </a:extLst>
          </p:cNvPr>
          <p:cNvSpPr>
            <a:spLocks noGrp="1"/>
          </p:cNvSpPr>
          <p:nvPr/>
        </p:nvSpPr>
        <p:spPr>
          <a:xfrm rot="5400000">
            <a:off x="6476047" y="1743403"/>
            <a:ext cx="257175" cy="171450"/>
          </a:xfrm>
          <a:prstGeom prst="rightArrow">
            <a:avLst/>
          </a:prstGeom>
          <a:solidFill>
            <a:srgbClr val="6B7280"/>
          </a:solidFill>
          <a:ln w="0">
            <a:noFill/>
          </a:ln>
        </p:spPr>
        <p:txBody>
          <a:bodyPr/>
          <a:lstStyle/>
          <a:p>
            <a:endParaRPr lang="en-US"/>
          </a:p>
        </p:txBody>
      </p:sp>
      <p:sp>
        <p:nvSpPr>
          <p:cNvPr id="7" name="Right Arrow 6">
            <a:extLst>
              <a:ext uri="{FF2B5EF4-FFF2-40B4-BE49-F238E27FC236}">
                <a16:creationId xmlns:a16="http://schemas.microsoft.com/office/drawing/2014/main" id="{12B7EE62-B4A5-7803-0E2A-F4008A036D29}"/>
              </a:ext>
            </a:extLst>
          </p:cNvPr>
          <p:cNvSpPr>
            <a:spLocks noGrp="1"/>
          </p:cNvSpPr>
          <p:nvPr/>
        </p:nvSpPr>
        <p:spPr>
          <a:xfrm rot="5400000">
            <a:off x="2410777" y="1743403"/>
            <a:ext cx="257175" cy="171450"/>
          </a:xfrm>
          <a:prstGeom prst="rightArrow">
            <a:avLst/>
          </a:prstGeom>
          <a:solidFill>
            <a:srgbClr val="6B7280"/>
          </a:solidFill>
          <a:ln w="0">
            <a:noFill/>
          </a:ln>
        </p:spPr>
        <p:txBody>
          <a:bodyPr/>
          <a:lstStyle/>
          <a:p>
            <a:endParaRPr lang="en-US"/>
          </a:p>
        </p:txBody>
      </p:sp>
      <p:sp>
        <p:nvSpPr>
          <p:cNvPr id="8" name="Rectangle 7">
            <a:extLst>
              <a:ext uri="{FF2B5EF4-FFF2-40B4-BE49-F238E27FC236}">
                <a16:creationId xmlns:a16="http://schemas.microsoft.com/office/drawing/2014/main" id="{7E357845-8664-3CFE-FBC3-891FD2091BCB}"/>
              </a:ext>
            </a:extLst>
          </p:cNvPr>
          <p:cNvSpPr>
            <a:spLocks noGrp="1"/>
          </p:cNvSpPr>
          <p:nvPr/>
        </p:nvSpPr>
        <p:spPr>
          <a:xfrm>
            <a:off x="548640" y="2028611"/>
            <a:ext cx="3981450" cy="257175"/>
          </a:xfrm>
          <a:prstGeom prst="rect">
            <a:avLst/>
          </a:prstGeom>
          <a:noFill/>
          <a:ln w="0">
            <a:noFill/>
          </a:ln>
        </p:spPr>
        <p:txBody>
          <a:bodyPr anchor="ctr">
            <a:noAutofit/>
          </a:bodyPr>
          <a:lstStyle/>
          <a:p>
            <a:pPr algn="ctr">
              <a:defRPr sz="1275" b="1">
                <a:solidFill>
                  <a:srgbClr val="2A9D8F"/>
                </a:solidFill>
                <a:latin typeface="Calibri"/>
                <a:ea typeface="Calibri"/>
                <a:cs typeface="Calibri"/>
              </a:defRPr>
            </a:pPr>
            <a:r>
              <a:rPr sz="1275" b="1">
                <a:solidFill>
                  <a:srgbClr val="2A9D8F"/>
                </a:solidFill>
                <a:latin typeface="Calibri"/>
                <a:ea typeface="Calibri"/>
                <a:cs typeface="Calibri"/>
              </a:rPr>
              <a:t>MODEL 1</a:t>
            </a:r>
          </a:p>
        </p:txBody>
      </p:sp>
      <p:sp>
        <p:nvSpPr>
          <p:cNvPr id="9" name="Rectangle 8">
            <a:extLst>
              <a:ext uri="{FF2B5EF4-FFF2-40B4-BE49-F238E27FC236}">
                <a16:creationId xmlns:a16="http://schemas.microsoft.com/office/drawing/2014/main" id="{57E0D0B3-820F-D46D-CE7F-1B7C3E68B2B1}"/>
              </a:ext>
            </a:extLst>
          </p:cNvPr>
          <p:cNvSpPr>
            <a:spLocks noGrp="1"/>
          </p:cNvSpPr>
          <p:nvPr/>
        </p:nvSpPr>
        <p:spPr>
          <a:xfrm>
            <a:off x="548640" y="2276625"/>
            <a:ext cx="3981450" cy="352425"/>
          </a:xfrm>
          <a:prstGeom prst="rect">
            <a:avLst/>
          </a:prstGeom>
          <a:noFill/>
          <a:ln w="0">
            <a:noFill/>
          </a:ln>
        </p:spPr>
        <p:txBody>
          <a:bodyPr anchor="ctr">
            <a:noAutofit/>
          </a:bodyPr>
          <a:lstStyle/>
          <a:p>
            <a:pPr algn="ctr">
              <a:defRPr sz="2100" b="1">
                <a:solidFill>
                  <a:srgbClr val="2A9D8F"/>
                </a:solidFill>
                <a:latin typeface="Calibri"/>
                <a:ea typeface="Calibri"/>
                <a:cs typeface="Calibri"/>
              </a:defRPr>
            </a:pPr>
            <a:r>
              <a:rPr sz="1600" b="1">
                <a:solidFill>
                  <a:srgbClr val="2A9D8F"/>
                </a:solidFill>
                <a:latin typeface="Calibri"/>
                <a:ea typeface="Calibri"/>
                <a:cs typeface="Calibri"/>
              </a:rPr>
              <a:t>Chance of giving again</a:t>
            </a:r>
          </a:p>
        </p:txBody>
      </p:sp>
      <p:sp>
        <p:nvSpPr>
          <p:cNvPr id="10" name="Rectangle 9">
            <a:extLst>
              <a:ext uri="{FF2B5EF4-FFF2-40B4-BE49-F238E27FC236}">
                <a16:creationId xmlns:a16="http://schemas.microsoft.com/office/drawing/2014/main" id="{21720FB9-0EDC-E22E-6D77-103849C697E4}"/>
              </a:ext>
            </a:extLst>
          </p:cNvPr>
          <p:cNvSpPr>
            <a:spLocks noGrp="1"/>
          </p:cNvSpPr>
          <p:nvPr/>
        </p:nvSpPr>
        <p:spPr>
          <a:xfrm>
            <a:off x="4613910" y="2028611"/>
            <a:ext cx="3981450" cy="257175"/>
          </a:xfrm>
          <a:prstGeom prst="rect">
            <a:avLst/>
          </a:prstGeom>
          <a:noFill/>
          <a:ln w="0">
            <a:noFill/>
          </a:ln>
        </p:spPr>
        <p:txBody>
          <a:bodyPr anchor="ctr">
            <a:noAutofit/>
          </a:bodyPr>
          <a:lstStyle/>
          <a:p>
            <a:pPr algn="ctr">
              <a:defRPr sz="1275" b="1">
                <a:solidFill>
                  <a:srgbClr val="E4572E"/>
                </a:solidFill>
                <a:latin typeface="Calibri"/>
                <a:ea typeface="Calibri"/>
                <a:cs typeface="Calibri"/>
              </a:defRPr>
            </a:pPr>
            <a:r>
              <a:rPr sz="1275" b="1">
                <a:solidFill>
                  <a:srgbClr val="E4572E"/>
                </a:solidFill>
                <a:latin typeface="Calibri"/>
                <a:ea typeface="Calibri"/>
                <a:cs typeface="Calibri"/>
              </a:rPr>
              <a:t>MODEL 2</a:t>
            </a:r>
          </a:p>
        </p:txBody>
      </p:sp>
      <p:sp>
        <p:nvSpPr>
          <p:cNvPr id="11" name="Rectangle 10">
            <a:extLst>
              <a:ext uri="{FF2B5EF4-FFF2-40B4-BE49-F238E27FC236}">
                <a16:creationId xmlns:a16="http://schemas.microsoft.com/office/drawing/2014/main" id="{108EF185-5E32-F91A-3092-5FE487024348}"/>
              </a:ext>
            </a:extLst>
          </p:cNvPr>
          <p:cNvSpPr>
            <a:spLocks noGrp="1"/>
          </p:cNvSpPr>
          <p:nvPr/>
        </p:nvSpPr>
        <p:spPr>
          <a:xfrm>
            <a:off x="4613910" y="2257575"/>
            <a:ext cx="3981450" cy="371475"/>
          </a:xfrm>
          <a:prstGeom prst="rect">
            <a:avLst/>
          </a:prstGeom>
          <a:noFill/>
          <a:ln w="0">
            <a:noFill/>
          </a:ln>
        </p:spPr>
        <p:txBody>
          <a:bodyPr anchor="ctr">
            <a:noAutofit/>
          </a:bodyPr>
          <a:lstStyle/>
          <a:p>
            <a:pPr algn="ctr">
              <a:defRPr sz="2100" b="1">
                <a:solidFill>
                  <a:srgbClr val="E4572E"/>
                </a:solidFill>
                <a:latin typeface="Calibri"/>
                <a:ea typeface="Calibri"/>
                <a:cs typeface="Calibri"/>
              </a:defRPr>
            </a:pPr>
            <a:r>
              <a:rPr sz="1600" b="1">
                <a:solidFill>
                  <a:srgbClr val="E4572E"/>
                </a:solidFill>
                <a:latin typeface="Calibri"/>
                <a:ea typeface="Calibri"/>
                <a:cs typeface="Calibri"/>
              </a:rPr>
              <a:t>Total giving if they return</a:t>
            </a:r>
          </a:p>
        </p:txBody>
      </p:sp>
      <p:graphicFrame>
        <p:nvGraphicFramePr>
          <p:cNvPr id="17" name="Table 16">
            <a:extLst>
              <a:ext uri="{FF2B5EF4-FFF2-40B4-BE49-F238E27FC236}">
                <a16:creationId xmlns:a16="http://schemas.microsoft.com/office/drawing/2014/main" id="{E39EBFC0-DAB6-B9A4-28AE-01CE0067C10A}"/>
              </a:ext>
            </a:extLst>
          </p:cNvPr>
          <p:cNvGraphicFramePr/>
          <p:nvPr/>
        </p:nvGraphicFramePr>
        <p:xfrm>
          <a:off x="552450" y="2757246"/>
          <a:ext cx="8039102" cy="1632585"/>
        </p:xfrm>
        <a:graphic>
          <a:graphicData uri="http://schemas.openxmlformats.org/drawingml/2006/table">
            <a:tbl>
              <a:tblPr/>
              <a:tblGrid>
                <a:gridCol w="1248918">
                  <a:extLst>
                    <a:ext uri="{9D8B030D-6E8A-4147-A177-3AD203B41FA5}">
                      <a16:colId xmlns:a16="http://schemas.microsoft.com/office/drawing/2014/main" val="20000"/>
                    </a:ext>
                  </a:extLst>
                </a:gridCol>
                <a:gridCol w="1697546">
                  <a:extLst>
                    <a:ext uri="{9D8B030D-6E8A-4147-A177-3AD203B41FA5}">
                      <a16:colId xmlns:a16="http://schemas.microsoft.com/office/drawing/2014/main" val="20001"/>
                    </a:ext>
                  </a:extLst>
                </a:gridCol>
                <a:gridCol w="1697546">
                  <a:extLst>
                    <a:ext uri="{9D8B030D-6E8A-4147-A177-3AD203B41FA5}">
                      <a16:colId xmlns:a16="http://schemas.microsoft.com/office/drawing/2014/main" val="20002"/>
                    </a:ext>
                  </a:extLst>
                </a:gridCol>
                <a:gridCol w="1697546">
                  <a:extLst>
                    <a:ext uri="{9D8B030D-6E8A-4147-A177-3AD203B41FA5}">
                      <a16:colId xmlns:a16="http://schemas.microsoft.com/office/drawing/2014/main" val="20003"/>
                    </a:ext>
                  </a:extLst>
                </a:gridCol>
                <a:gridCol w="1697546">
                  <a:extLst>
                    <a:ext uri="{9D8B030D-6E8A-4147-A177-3AD203B41FA5}">
                      <a16:colId xmlns:a16="http://schemas.microsoft.com/office/drawing/2014/main" val="3939960848"/>
                    </a:ext>
                  </a:extLst>
                </a:gridCol>
              </a:tblGrid>
              <a:tr h="384175">
                <a:tc>
                  <a:txBody>
                    <a:bodyPr/>
                    <a:lstStyle/>
                    <a:p>
                      <a:r>
                        <a:rPr sz="1275" b="1">
                          <a:solidFill>
                            <a:srgbClr val="6B7280"/>
                          </a:solidFill>
                          <a:latin typeface="Calibri"/>
                          <a:ea typeface="Calibri"/>
                          <a:cs typeface="Calibri"/>
                        </a:rPr>
                        <a:t>Donor</a:t>
                      </a:r>
                    </a:p>
                  </a:txBody>
                  <a:tcPr>
                    <a:solidFill>
                      <a:srgbClr val="FFFFFF"/>
                    </a:solidFill>
                  </a:tcPr>
                </a:tc>
                <a:tc>
                  <a:txBody>
                    <a:bodyPr/>
                    <a:lstStyle/>
                    <a:p>
                      <a:r>
                        <a:rPr sz="1275" b="1">
                          <a:solidFill>
                            <a:srgbClr val="6B7280"/>
                          </a:solidFill>
                          <a:latin typeface="Calibri"/>
                          <a:ea typeface="Calibri"/>
                          <a:cs typeface="Calibri"/>
                        </a:rPr>
                        <a:t>First-month</a:t>
                      </a:r>
                    </a:p>
                    <a:p>
                      <a:r>
                        <a:rPr sz="1275" b="1">
                          <a:solidFill>
                            <a:srgbClr val="6B7280"/>
                          </a:solidFill>
                          <a:latin typeface="Calibri"/>
                          <a:ea typeface="Calibri"/>
                          <a:cs typeface="Calibri"/>
                        </a:rPr>
                        <a:t>giving</a:t>
                      </a:r>
                    </a:p>
                  </a:txBody>
                  <a:tcPr>
                    <a:solidFill>
                      <a:srgbClr val="FFFFFF"/>
                    </a:solidFill>
                  </a:tcPr>
                </a:tc>
                <a:tc>
                  <a:txBody>
                    <a:bodyPr/>
                    <a:lstStyle/>
                    <a:p>
                      <a:r>
                        <a:rPr sz="1275" b="1">
                          <a:solidFill>
                            <a:srgbClr val="6B7280"/>
                          </a:solidFill>
                          <a:latin typeface="Calibri"/>
                          <a:ea typeface="Calibri"/>
                          <a:cs typeface="Calibri"/>
                        </a:rPr>
                        <a:t>Return</a:t>
                      </a:r>
                    </a:p>
                    <a:p>
                      <a:r>
                        <a:rPr sz="1275" b="1">
                          <a:solidFill>
                            <a:srgbClr val="6B7280"/>
                          </a:solidFill>
                          <a:latin typeface="Calibri"/>
                          <a:ea typeface="Calibri"/>
                          <a:cs typeface="Calibri"/>
                        </a:rPr>
                        <a:t>probability</a:t>
                      </a:r>
                    </a:p>
                  </a:txBody>
                  <a:tcPr>
                    <a:solidFill>
                      <a:srgbClr val="FFFFFF"/>
                    </a:solidFill>
                  </a:tcPr>
                </a:tc>
                <a:tc>
                  <a:txBody>
                    <a:bodyPr/>
                    <a:lstStyle/>
                    <a:p>
                      <a:r>
                        <a:rPr sz="1275" b="1">
                          <a:solidFill>
                            <a:srgbClr val="6B7280"/>
                          </a:solidFill>
                          <a:latin typeface="Calibri"/>
                          <a:ea typeface="Calibri"/>
                          <a:cs typeface="Calibri"/>
                        </a:rPr>
                        <a:t>Amount if</a:t>
                      </a:r>
                    </a:p>
                    <a:p>
                      <a:r>
                        <a:rPr sz="1275" b="1">
                          <a:solidFill>
                            <a:srgbClr val="6B7280"/>
                          </a:solidFill>
                          <a:latin typeface="Calibri"/>
                          <a:ea typeface="Calibri"/>
                          <a:cs typeface="Calibri"/>
                        </a:rPr>
                        <a:t>returning</a:t>
                      </a:r>
                    </a:p>
                  </a:txBody>
                  <a:tcPr>
                    <a:solidFill>
                      <a:srgbClr val="FFFFFF"/>
                    </a:solidFill>
                  </a:tcPr>
                </a:tc>
                <a:tc>
                  <a:txBody>
                    <a:bodyPr/>
                    <a:lstStyle/>
                    <a:p>
                      <a:r>
                        <a:rPr sz="1275" b="1">
                          <a:solidFill>
                            <a:srgbClr val="6B7280"/>
                          </a:solidFill>
                          <a:latin typeface="Calibri"/>
                          <a:ea typeface="Calibri"/>
                          <a:cs typeface="Calibri"/>
                        </a:rPr>
                        <a:t>Probability</a:t>
                      </a:r>
                    </a:p>
                    <a:p>
                      <a:r>
                        <a:rPr sz="1275" b="1">
                          <a:solidFill>
                            <a:srgbClr val="6B7280"/>
                          </a:solidFill>
                          <a:latin typeface="Calibri"/>
                          <a:ea typeface="Calibri"/>
                          <a:cs typeface="Calibri"/>
                        </a:rPr>
                        <a:t>× amount</a:t>
                      </a:r>
                    </a:p>
                  </a:txBody>
                  <a:tcPr>
                    <a:solidFill>
                      <a:srgbClr val="FFFFFF"/>
                    </a:solidFill>
                  </a:tcPr>
                </a:tc>
                <a:extLst>
                  <a:ext uri="{0D108BD9-81ED-4DB2-BD59-A6C34878D82A}">
                    <a16:rowId xmlns:a16="http://schemas.microsoft.com/office/drawing/2014/main" val="10000"/>
                  </a:ext>
                </a:extLst>
              </a:tr>
              <a:tr h="384175">
                <a:tc>
                  <a:txBody>
                    <a:bodyPr/>
                    <a:lstStyle/>
                    <a:p>
                      <a:r>
                        <a:rPr sz="1400" b="1">
                          <a:solidFill>
                            <a:srgbClr val="1B2A41"/>
                          </a:solidFill>
                          <a:latin typeface="Calibri"/>
                          <a:ea typeface="Calibri"/>
                          <a:cs typeface="Calibri"/>
                        </a:rPr>
                        <a:t>A</a:t>
                      </a:r>
                    </a:p>
                  </a:txBody>
                  <a:tcPr>
                    <a:solidFill>
                      <a:srgbClr val="F1F3F5"/>
                    </a:solidFill>
                  </a:tcPr>
                </a:tc>
                <a:tc>
                  <a:txBody>
                    <a:bodyPr/>
                    <a:lstStyle/>
                    <a:p>
                      <a:r>
                        <a:rPr sz="1600" b="1">
                          <a:solidFill>
                            <a:srgbClr val="1B2A41"/>
                          </a:solidFill>
                          <a:latin typeface="Calibri"/>
                          <a:ea typeface="Calibri"/>
                          <a:cs typeface="Calibri"/>
                        </a:rPr>
                        <a:t>$200</a:t>
                      </a:r>
                    </a:p>
                  </a:txBody>
                  <a:tcPr>
                    <a:solidFill>
                      <a:srgbClr val="F1F3F5"/>
                    </a:solidFill>
                  </a:tcPr>
                </a:tc>
                <a:tc>
                  <a:txBody>
                    <a:bodyPr/>
                    <a:lstStyle/>
                    <a:p>
                      <a:r>
                        <a:rPr sz="1400" b="0">
                          <a:solidFill>
                            <a:srgbClr val="1B2A41"/>
                          </a:solidFill>
                          <a:latin typeface="Calibri"/>
                          <a:ea typeface="Calibri"/>
                          <a:cs typeface="Calibri"/>
                        </a:rPr>
                        <a:t>10%</a:t>
                      </a:r>
                    </a:p>
                  </a:txBody>
                  <a:tcPr>
                    <a:solidFill>
                      <a:srgbClr val="F1F3F5"/>
                    </a:solidFill>
                  </a:tcPr>
                </a:tc>
                <a:tc>
                  <a:txBody>
                    <a:bodyPr/>
                    <a:lstStyle/>
                    <a:p>
                      <a:r>
                        <a:rPr sz="1400" b="0">
                          <a:solidFill>
                            <a:srgbClr val="1B2A41"/>
                          </a:solidFill>
                          <a:latin typeface="Calibri"/>
                          <a:ea typeface="Calibri"/>
                          <a:cs typeface="Calibri"/>
                        </a:rPr>
                        <a:t>$150</a:t>
                      </a:r>
                    </a:p>
                  </a:txBody>
                  <a:tcPr>
                    <a:solidFill>
                      <a:srgbClr val="F1F3F5"/>
                    </a:solidFill>
                  </a:tcPr>
                </a:tc>
                <a:tc>
                  <a:txBody>
                    <a:bodyPr/>
                    <a:lstStyle/>
                    <a:p>
                      <a:r>
                        <a:rPr sz="1400" b="0">
                          <a:solidFill>
                            <a:srgbClr val="1B2A41"/>
                          </a:solidFill>
                          <a:latin typeface="Calibri"/>
                          <a:ea typeface="Calibri"/>
                          <a:cs typeface="Calibri"/>
                        </a:rPr>
                        <a:t>$15</a:t>
                      </a:r>
                    </a:p>
                  </a:txBody>
                  <a:tcPr>
                    <a:solidFill>
                      <a:srgbClr val="F1F3F5"/>
                    </a:solidFill>
                  </a:tcPr>
                </a:tc>
                <a:extLst>
                  <a:ext uri="{0D108BD9-81ED-4DB2-BD59-A6C34878D82A}">
                    <a16:rowId xmlns:a16="http://schemas.microsoft.com/office/drawing/2014/main" val="10001"/>
                  </a:ext>
                </a:extLst>
              </a:tr>
              <a:tr h="384175">
                <a:tc>
                  <a:txBody>
                    <a:bodyPr/>
                    <a:lstStyle/>
                    <a:p>
                      <a:r>
                        <a:rPr sz="1400" b="1">
                          <a:solidFill>
                            <a:srgbClr val="1B2A41"/>
                          </a:solidFill>
                          <a:latin typeface="Calibri"/>
                          <a:ea typeface="Calibri"/>
                          <a:cs typeface="Calibri"/>
                        </a:rPr>
                        <a:t>B</a:t>
                      </a:r>
                    </a:p>
                  </a:txBody>
                  <a:tcPr>
                    <a:solidFill>
                      <a:srgbClr val="F1F3F5"/>
                    </a:solidFill>
                  </a:tcPr>
                </a:tc>
                <a:tc>
                  <a:txBody>
                    <a:bodyPr/>
                    <a:lstStyle/>
                    <a:p>
                      <a:r>
                        <a:rPr sz="1400" b="0">
                          <a:solidFill>
                            <a:srgbClr val="1B2A41"/>
                          </a:solidFill>
                          <a:latin typeface="Calibri"/>
                          <a:ea typeface="Calibri"/>
                          <a:cs typeface="Calibri"/>
                        </a:rPr>
                        <a:t>$50</a:t>
                      </a:r>
                    </a:p>
                  </a:txBody>
                  <a:tcPr>
                    <a:solidFill>
                      <a:srgbClr val="F1F3F5"/>
                    </a:solidFill>
                  </a:tcPr>
                </a:tc>
                <a:tc>
                  <a:txBody>
                    <a:bodyPr/>
                    <a:lstStyle/>
                    <a:p>
                      <a:r>
                        <a:rPr sz="1600" b="1">
                          <a:solidFill>
                            <a:srgbClr val="2A9D8F"/>
                          </a:solidFill>
                          <a:latin typeface="Calibri"/>
                          <a:ea typeface="Calibri"/>
                          <a:cs typeface="Calibri"/>
                        </a:rPr>
                        <a:t>40%</a:t>
                      </a:r>
                    </a:p>
                  </a:txBody>
                  <a:tcPr>
                    <a:solidFill>
                      <a:srgbClr val="F1F3F5"/>
                    </a:solidFill>
                  </a:tcPr>
                </a:tc>
                <a:tc>
                  <a:txBody>
                    <a:bodyPr/>
                    <a:lstStyle/>
                    <a:p>
                      <a:r>
                        <a:rPr sz="1400" b="0">
                          <a:solidFill>
                            <a:srgbClr val="1B2A41"/>
                          </a:solidFill>
                          <a:latin typeface="Calibri"/>
                          <a:ea typeface="Calibri"/>
                          <a:cs typeface="Calibri"/>
                        </a:rPr>
                        <a:t>$75</a:t>
                      </a:r>
                    </a:p>
                  </a:txBody>
                  <a:tcPr>
                    <a:solidFill>
                      <a:srgbClr val="F1F3F5"/>
                    </a:solidFill>
                  </a:tcPr>
                </a:tc>
                <a:tc>
                  <a:txBody>
                    <a:bodyPr/>
                    <a:lstStyle/>
                    <a:p>
                      <a:r>
                        <a:rPr sz="1400" b="0">
                          <a:solidFill>
                            <a:srgbClr val="1B2A41"/>
                          </a:solidFill>
                          <a:latin typeface="Calibri"/>
                          <a:ea typeface="Calibri"/>
                          <a:cs typeface="Calibri"/>
                        </a:rPr>
                        <a:t>$30</a:t>
                      </a:r>
                    </a:p>
                  </a:txBody>
                  <a:tcPr>
                    <a:solidFill>
                      <a:srgbClr val="F1F3F5"/>
                    </a:solidFill>
                  </a:tcPr>
                </a:tc>
                <a:extLst>
                  <a:ext uri="{0D108BD9-81ED-4DB2-BD59-A6C34878D82A}">
                    <a16:rowId xmlns:a16="http://schemas.microsoft.com/office/drawing/2014/main" val="10002"/>
                  </a:ext>
                </a:extLst>
              </a:tr>
              <a:tr h="384175">
                <a:tc>
                  <a:txBody>
                    <a:bodyPr/>
                    <a:lstStyle/>
                    <a:p>
                      <a:r>
                        <a:rPr sz="1400" b="1">
                          <a:solidFill>
                            <a:srgbClr val="1B2A41"/>
                          </a:solidFill>
                          <a:latin typeface="Calibri"/>
                          <a:ea typeface="Calibri"/>
                          <a:cs typeface="Calibri"/>
                        </a:rPr>
                        <a:t>C</a:t>
                      </a:r>
                    </a:p>
                  </a:txBody>
                  <a:tcPr>
                    <a:solidFill>
                      <a:srgbClr val="F1F3F5"/>
                    </a:solidFill>
                  </a:tcPr>
                </a:tc>
                <a:tc>
                  <a:txBody>
                    <a:bodyPr/>
                    <a:lstStyle/>
                    <a:p>
                      <a:r>
                        <a:rPr sz="1400" b="0">
                          <a:solidFill>
                            <a:srgbClr val="1B2A41"/>
                          </a:solidFill>
                          <a:latin typeface="Calibri"/>
                          <a:ea typeface="Calibri"/>
                          <a:cs typeface="Calibri"/>
                        </a:rPr>
                        <a:t>$100</a:t>
                      </a:r>
                    </a:p>
                  </a:txBody>
                  <a:tcPr>
                    <a:solidFill>
                      <a:srgbClr val="F1F3F5"/>
                    </a:solidFill>
                  </a:tcPr>
                </a:tc>
                <a:tc>
                  <a:txBody>
                    <a:bodyPr/>
                    <a:lstStyle/>
                    <a:p>
                      <a:r>
                        <a:rPr sz="1400" b="0">
                          <a:solidFill>
                            <a:srgbClr val="1B2A41"/>
                          </a:solidFill>
                          <a:latin typeface="Calibri"/>
                          <a:ea typeface="Calibri"/>
                          <a:cs typeface="Calibri"/>
                        </a:rPr>
                        <a:t>25%</a:t>
                      </a:r>
                    </a:p>
                  </a:txBody>
                  <a:tcPr>
                    <a:solidFill>
                      <a:srgbClr val="F1F3F5"/>
                    </a:solidFill>
                  </a:tcPr>
                </a:tc>
                <a:tc>
                  <a:txBody>
                    <a:bodyPr/>
                    <a:lstStyle/>
                    <a:p>
                      <a:r>
                        <a:rPr sz="1400" b="0">
                          <a:solidFill>
                            <a:srgbClr val="1B2A41"/>
                          </a:solidFill>
                          <a:latin typeface="Calibri"/>
                          <a:ea typeface="Calibri"/>
                          <a:cs typeface="Calibri"/>
                        </a:rPr>
                        <a:t>$200</a:t>
                      </a:r>
                    </a:p>
                  </a:txBody>
                  <a:tcPr>
                    <a:solidFill>
                      <a:srgbClr val="F1F3F5"/>
                    </a:solidFill>
                  </a:tcPr>
                </a:tc>
                <a:tc>
                  <a:txBody>
                    <a:bodyPr/>
                    <a:lstStyle/>
                    <a:p>
                      <a:r>
                        <a:rPr sz="1600" b="1">
                          <a:solidFill>
                            <a:srgbClr val="E4572E"/>
                          </a:solidFill>
                          <a:latin typeface="Calibri"/>
                          <a:ea typeface="Calibri"/>
                          <a:cs typeface="Calibri"/>
                        </a:rPr>
                        <a:t>$50</a:t>
                      </a:r>
                    </a:p>
                  </a:txBody>
                  <a:tcPr>
                    <a:solidFill>
                      <a:srgbClr val="F1F3F5"/>
                    </a:solidFill>
                  </a:tcPr>
                </a:tc>
                <a:extLst>
                  <a:ext uri="{0D108BD9-81ED-4DB2-BD59-A6C34878D82A}">
                    <a16:rowId xmlns:a16="http://schemas.microsoft.com/office/drawing/2014/main" val="2525028126"/>
                  </a:ext>
                </a:extLst>
              </a:tr>
            </a:tbl>
          </a:graphicData>
        </a:graphic>
      </p:graphicFrame>
      <p:sp>
        <p:nvSpPr>
          <p:cNvPr id="18" name="Rectangle 17">
            <a:extLst>
              <a:ext uri="{FF2B5EF4-FFF2-40B4-BE49-F238E27FC236}">
                <a16:creationId xmlns:a16="http://schemas.microsoft.com/office/drawing/2014/main" id="{36F707BE-F8A3-5CDA-717D-6928B1412BDA}"/>
              </a:ext>
            </a:extLst>
          </p:cNvPr>
          <p:cNvSpPr>
            <a:spLocks noGrp="1"/>
          </p:cNvSpPr>
          <p:nvPr/>
        </p:nvSpPr>
        <p:spPr>
          <a:xfrm>
            <a:off x="3013890" y="4575327"/>
            <a:ext cx="2880000" cy="304800"/>
          </a:xfrm>
          <a:prstGeom prst="rect">
            <a:avLst/>
          </a:prstGeom>
          <a:noFill/>
          <a:ln w="0">
            <a:noFill/>
          </a:ln>
        </p:spPr>
        <p:txBody>
          <a:bodyPr anchor="ctr">
            <a:noAutofit/>
          </a:bodyPr>
          <a:lstStyle/>
          <a:p>
            <a:pPr algn="ctr">
              <a:defRPr sz="1725" b="1">
                <a:solidFill>
                  <a:srgbClr val="2A9D8F"/>
                </a:solidFill>
                <a:latin typeface="Calibri"/>
                <a:ea typeface="Calibri"/>
                <a:cs typeface="Calibri"/>
              </a:defRPr>
            </a:pPr>
            <a:r>
              <a:rPr sz="1600" b="1">
                <a:solidFill>
                  <a:srgbClr val="2A9D8F"/>
                </a:solidFill>
                <a:latin typeface="Calibri"/>
                <a:ea typeface="Calibri"/>
                <a:cs typeface="Calibri"/>
              </a:rPr>
              <a:t>Probability ranking picks </a:t>
            </a:r>
            <a:r>
              <a:rPr lang="de-DE" sz="1600" b="1">
                <a:solidFill>
                  <a:srgbClr val="2A9D8F"/>
                </a:solidFill>
                <a:latin typeface="Calibri"/>
                <a:ea typeface="Calibri"/>
                <a:cs typeface="Calibri"/>
              </a:rPr>
              <a:t>B</a:t>
            </a:r>
            <a:endParaRPr sz="1600" b="1">
              <a:solidFill>
                <a:srgbClr val="2A9D8F"/>
              </a:solidFill>
              <a:latin typeface="Calibri"/>
              <a:ea typeface="Calibri"/>
              <a:cs typeface="Calibri"/>
            </a:endParaRPr>
          </a:p>
        </p:txBody>
      </p:sp>
      <p:sp>
        <p:nvSpPr>
          <p:cNvPr id="19" name="Rectangle 18">
            <a:extLst>
              <a:ext uri="{FF2B5EF4-FFF2-40B4-BE49-F238E27FC236}">
                <a16:creationId xmlns:a16="http://schemas.microsoft.com/office/drawing/2014/main" id="{296BC3F3-4638-280A-929A-074A07FD3CD8}"/>
              </a:ext>
            </a:extLst>
          </p:cNvPr>
          <p:cNvSpPr>
            <a:spLocks noGrp="1"/>
          </p:cNvSpPr>
          <p:nvPr/>
        </p:nvSpPr>
        <p:spPr>
          <a:xfrm>
            <a:off x="5690415" y="4575327"/>
            <a:ext cx="2880000" cy="304800"/>
          </a:xfrm>
          <a:prstGeom prst="rect">
            <a:avLst/>
          </a:prstGeom>
          <a:noFill/>
          <a:ln w="0">
            <a:noFill/>
          </a:ln>
        </p:spPr>
        <p:txBody>
          <a:bodyPr anchor="ctr">
            <a:noAutofit/>
          </a:bodyPr>
          <a:lstStyle/>
          <a:p>
            <a:pPr algn="ctr">
              <a:defRPr sz="1725" b="1">
                <a:solidFill>
                  <a:srgbClr val="E4572E"/>
                </a:solidFill>
                <a:latin typeface="Calibri"/>
                <a:ea typeface="Calibri"/>
                <a:cs typeface="Calibri"/>
              </a:defRPr>
            </a:pPr>
            <a:r>
              <a:rPr sz="1600" b="1">
                <a:solidFill>
                  <a:srgbClr val="E4572E"/>
                </a:solidFill>
                <a:latin typeface="Calibri"/>
                <a:ea typeface="Calibri"/>
                <a:cs typeface="Calibri"/>
              </a:rPr>
              <a:t>Dollar ranking picks </a:t>
            </a:r>
            <a:r>
              <a:rPr lang="de-DE" sz="1600" b="1">
                <a:solidFill>
                  <a:srgbClr val="E4572E"/>
                </a:solidFill>
                <a:latin typeface="Calibri"/>
                <a:ea typeface="Calibri"/>
                <a:cs typeface="Calibri"/>
              </a:rPr>
              <a:t>C</a:t>
            </a:r>
            <a:endParaRPr sz="1600" b="1">
              <a:solidFill>
                <a:srgbClr val="E4572E"/>
              </a:solidFill>
              <a:latin typeface="Calibri"/>
              <a:ea typeface="Calibri"/>
              <a:cs typeface="Calibri"/>
            </a:endParaRPr>
          </a:p>
        </p:txBody>
      </p:sp>
      <p:sp>
        <p:nvSpPr>
          <p:cNvPr id="2" name="Rectangle 1">
            <a:extLst>
              <a:ext uri="{FF2B5EF4-FFF2-40B4-BE49-F238E27FC236}">
                <a16:creationId xmlns:a16="http://schemas.microsoft.com/office/drawing/2014/main" id="{4F09CFD6-C787-3D4B-9415-1D3B37785531}"/>
              </a:ext>
            </a:extLst>
          </p:cNvPr>
          <p:cNvSpPr>
            <a:spLocks noGrp="1"/>
          </p:cNvSpPr>
          <p:nvPr/>
        </p:nvSpPr>
        <p:spPr>
          <a:xfrm>
            <a:off x="337365" y="4575327"/>
            <a:ext cx="2880000" cy="304800"/>
          </a:xfrm>
          <a:prstGeom prst="rect">
            <a:avLst/>
          </a:prstGeom>
          <a:noFill/>
          <a:ln w="0">
            <a:noFill/>
          </a:ln>
        </p:spPr>
        <p:txBody>
          <a:bodyPr anchor="ctr">
            <a:noAutofit/>
          </a:bodyPr>
          <a:lstStyle/>
          <a:p>
            <a:pPr algn="ctr">
              <a:defRPr sz="1725" b="1">
                <a:solidFill>
                  <a:srgbClr val="2A9D8F"/>
                </a:solidFill>
                <a:latin typeface="Calibri"/>
                <a:ea typeface="Calibri"/>
                <a:cs typeface="Calibri"/>
              </a:defRPr>
            </a:pPr>
            <a:r>
              <a:rPr lang="de-DE" sz="1600" b="1">
                <a:solidFill>
                  <a:srgbClr val="1A2A41"/>
                </a:solidFill>
                <a:latin typeface="Calibri"/>
                <a:ea typeface="Calibri"/>
                <a:cs typeface="Calibri"/>
              </a:rPr>
              <a:t>Baseline </a:t>
            </a:r>
            <a:r>
              <a:rPr lang="de-DE" sz="1600" b="1" err="1">
                <a:solidFill>
                  <a:srgbClr val="1A2A41"/>
                </a:solidFill>
                <a:latin typeface="Calibri"/>
                <a:ea typeface="Calibri"/>
                <a:cs typeface="Calibri"/>
              </a:rPr>
              <a:t>picks</a:t>
            </a:r>
            <a:r>
              <a:rPr lang="de-DE" sz="1600" b="1">
                <a:solidFill>
                  <a:srgbClr val="1A2A41"/>
                </a:solidFill>
                <a:latin typeface="Calibri"/>
                <a:ea typeface="Calibri"/>
                <a:cs typeface="Calibri"/>
              </a:rPr>
              <a:t> A</a:t>
            </a:r>
            <a:endParaRPr sz="1600" b="1">
              <a:solidFill>
                <a:srgbClr val="1A2A41"/>
              </a:solidFill>
              <a:latin typeface="Calibri"/>
              <a:ea typeface="Calibri"/>
              <a:cs typeface="Calibri"/>
            </a:endParaRPr>
          </a:p>
        </p:txBody>
      </p:sp>
    </p:spTree>
    <p:extLst>
      <p:ext uri="{BB962C8B-B14F-4D97-AF65-F5344CB8AC3E}">
        <p14:creationId xmlns:p14="http://schemas.microsoft.com/office/powerpoint/2010/main" val="15164773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FC7B870-BCC8-4498-91BD-A9F82589638F}"/>
              </a:ext>
            </a:extLst>
          </p:cNvPr>
          <p:cNvSpPr>
            <a:spLocks noGrp="1"/>
          </p:cNvSpPr>
          <p:nvPr/>
        </p:nvSpPr>
        <p:spPr>
          <a:xfrm>
            <a:off x="548640" y="530860"/>
            <a:ext cx="8039100" cy="609600"/>
          </a:xfrm>
          <a:prstGeom prst="rect">
            <a:avLst/>
          </a:prstGeom>
          <a:noFill/>
          <a:ln w="0">
            <a:noFill/>
          </a:ln>
        </p:spPr>
        <p:txBody>
          <a:bodyPr anchor="ctr">
            <a:noAutofit/>
          </a:bodyPr>
          <a:lstStyle/>
          <a:p>
            <a:pPr>
              <a:buNone/>
              <a:defRPr sz="3000" b="1">
                <a:solidFill>
                  <a:srgbClr val="1B2A41"/>
                </a:solidFill>
                <a:latin typeface="Cambria"/>
                <a:ea typeface="Cambria"/>
                <a:cs typeface="Cambria"/>
              </a:defRPr>
            </a:pPr>
            <a:r>
              <a:rPr lang="de-DE" sz="3000" b="1" err="1">
                <a:solidFill>
                  <a:srgbClr val="1B2A41"/>
                </a:solidFill>
                <a:latin typeface="Cambria"/>
                <a:ea typeface="Cambria"/>
                <a:cs typeface="Cambria"/>
              </a:rPr>
              <a:t>Comparing</a:t>
            </a:r>
            <a:r>
              <a:rPr lang="de-DE" sz="3000" b="1">
                <a:solidFill>
                  <a:srgbClr val="1B2A41"/>
                </a:solidFill>
                <a:latin typeface="Cambria"/>
                <a:ea typeface="Cambria"/>
                <a:cs typeface="Cambria"/>
              </a:rPr>
              <a:t> the </a:t>
            </a:r>
            <a:r>
              <a:rPr lang="de-DE" sz="3000" b="1" err="1">
                <a:solidFill>
                  <a:srgbClr val="1B2A41"/>
                </a:solidFill>
                <a:latin typeface="Cambria"/>
                <a:ea typeface="Cambria"/>
                <a:cs typeface="Cambria"/>
              </a:rPr>
              <a:t>selected</a:t>
            </a:r>
            <a:r>
              <a:rPr lang="de-DE" sz="3000" b="1">
                <a:solidFill>
                  <a:srgbClr val="1B2A41"/>
                </a:solidFill>
                <a:latin typeface="Cambria"/>
                <a:ea typeface="Cambria"/>
                <a:cs typeface="Cambria"/>
              </a:rPr>
              <a:t> </a:t>
            </a:r>
            <a:r>
              <a:rPr lang="de-DE" sz="3000" b="1" err="1">
                <a:solidFill>
                  <a:srgbClr val="1B2A41"/>
                </a:solidFill>
                <a:latin typeface="Cambria"/>
                <a:ea typeface="Cambria"/>
                <a:cs typeface="Cambria"/>
              </a:rPr>
              <a:t>donors</a:t>
            </a:r>
            <a:r>
              <a:rPr lang="de-DE" sz="3000" b="1">
                <a:solidFill>
                  <a:srgbClr val="1B2A41"/>
                </a:solidFill>
                <a:latin typeface="Cambria"/>
                <a:ea typeface="Cambria"/>
                <a:cs typeface="Cambria"/>
              </a:rPr>
              <a:t> of </a:t>
            </a:r>
            <a:r>
              <a:rPr lang="de-DE" sz="3000" b="1" err="1">
                <a:solidFill>
                  <a:srgbClr val="1B2A41"/>
                </a:solidFill>
                <a:latin typeface="Cambria"/>
                <a:ea typeface="Cambria"/>
                <a:cs typeface="Cambria"/>
              </a:rPr>
              <a:t>each</a:t>
            </a:r>
            <a:r>
              <a:rPr lang="de-DE" sz="3000" b="1">
                <a:solidFill>
                  <a:srgbClr val="1B2A41"/>
                </a:solidFill>
                <a:latin typeface="Cambria"/>
                <a:ea typeface="Cambria"/>
                <a:cs typeface="Cambria"/>
              </a:rPr>
              <a:t> </a:t>
            </a:r>
            <a:r>
              <a:rPr lang="de-DE" sz="3000" b="1" err="1">
                <a:solidFill>
                  <a:srgbClr val="1B2A41"/>
                </a:solidFill>
                <a:latin typeface="Cambria"/>
                <a:ea typeface="Cambria"/>
                <a:cs typeface="Cambria"/>
              </a:rPr>
              <a:t>ranking</a:t>
            </a:r>
            <a:endParaRPr sz="3000" b="1">
              <a:solidFill>
                <a:srgbClr val="1B2A41"/>
              </a:solidFill>
              <a:latin typeface="Cambria"/>
              <a:ea typeface="Cambria"/>
              <a:cs typeface="Cambria"/>
            </a:endParaRPr>
          </a:p>
        </p:txBody>
      </p:sp>
      <p:sp>
        <p:nvSpPr>
          <p:cNvPr id="3" name="Rectangle 2">
            <a:extLst>
              <a:ext uri="{FF2B5EF4-FFF2-40B4-BE49-F238E27FC236}">
                <a16:creationId xmlns:a16="http://schemas.microsoft.com/office/drawing/2014/main" id="{0CC9A111-2C4F-4E84-927F-F465F5E61890}"/>
              </a:ext>
            </a:extLst>
          </p:cNvPr>
          <p:cNvSpPr>
            <a:spLocks noGrp="1"/>
          </p:cNvSpPr>
          <p:nvPr/>
        </p:nvSpPr>
        <p:spPr>
          <a:xfrm>
            <a:off x="552450" y="1639888"/>
            <a:ext cx="3857625" cy="314325"/>
          </a:xfrm>
          <a:prstGeom prst="rect">
            <a:avLst/>
          </a:prstGeom>
          <a:noFill/>
          <a:ln w="0">
            <a:noFill/>
          </a:ln>
        </p:spPr>
        <p:txBody>
          <a:bodyPr anchor="ctr">
            <a:noAutofit/>
          </a:bodyPr>
          <a:lstStyle/>
          <a:p>
            <a:pPr>
              <a:buNone/>
              <a:defRPr sz="1875" b="1">
                <a:solidFill>
                  <a:srgbClr val="1B2A41"/>
                </a:solidFill>
                <a:latin typeface="Calibri"/>
                <a:ea typeface="Calibri"/>
                <a:cs typeface="Calibri"/>
              </a:defRPr>
            </a:pPr>
            <a:r>
              <a:rPr sz="1875" b="1">
                <a:solidFill>
                  <a:srgbClr val="1B2A41"/>
                </a:solidFill>
                <a:latin typeface="Calibri"/>
                <a:ea typeface="Calibri"/>
                <a:cs typeface="Calibri"/>
              </a:rPr>
              <a:t>Who gives again?</a:t>
            </a:r>
          </a:p>
        </p:txBody>
      </p:sp>
      <p:sp>
        <p:nvSpPr>
          <p:cNvPr id="4" name="Rectangle 3">
            <a:extLst>
              <a:ext uri="{FF2B5EF4-FFF2-40B4-BE49-F238E27FC236}">
                <a16:creationId xmlns:a16="http://schemas.microsoft.com/office/drawing/2014/main" id="{554467F2-D74A-4F42-BDB6-E03A2DD9A508}"/>
              </a:ext>
            </a:extLst>
          </p:cNvPr>
          <p:cNvSpPr>
            <a:spLocks noGrp="1"/>
          </p:cNvSpPr>
          <p:nvPr/>
        </p:nvSpPr>
        <p:spPr>
          <a:xfrm>
            <a:off x="552450" y="2030413"/>
            <a:ext cx="3857625" cy="266700"/>
          </a:xfrm>
          <a:prstGeom prst="rect">
            <a:avLst/>
          </a:prstGeom>
          <a:noFill/>
          <a:ln w="0">
            <a:noFill/>
          </a:ln>
        </p:spPr>
        <p:txBody>
          <a:bodyPr anchor="ctr">
            <a:noAutofit/>
          </a:bodyPr>
          <a:lstStyle/>
          <a:p>
            <a:pPr>
              <a:buNone/>
              <a:defRPr sz="1275" b="0">
                <a:solidFill>
                  <a:srgbClr val="6B7280"/>
                </a:solidFill>
                <a:latin typeface="Calibri"/>
                <a:ea typeface="Calibri"/>
                <a:cs typeface="Calibri"/>
              </a:defRPr>
            </a:pPr>
            <a:r>
              <a:rPr sz="1275" b="0">
                <a:solidFill>
                  <a:srgbClr val="6B7280"/>
                </a:solidFill>
                <a:latin typeface="Calibri"/>
                <a:ea typeface="Calibri"/>
                <a:cs typeface="Calibri"/>
              </a:rPr>
              <a:t>Share of selected donors who returned</a:t>
            </a:r>
          </a:p>
        </p:txBody>
      </p:sp>
      <p:sp>
        <p:nvSpPr>
          <p:cNvPr id="5" name="Rectangle 4">
            <a:extLst>
              <a:ext uri="{FF2B5EF4-FFF2-40B4-BE49-F238E27FC236}">
                <a16:creationId xmlns:a16="http://schemas.microsoft.com/office/drawing/2014/main" id="{738343F4-8D7C-41A8-9883-11E27460CAAA}"/>
              </a:ext>
            </a:extLst>
          </p:cNvPr>
          <p:cNvSpPr>
            <a:spLocks noGrp="1"/>
          </p:cNvSpPr>
          <p:nvPr/>
        </p:nvSpPr>
        <p:spPr>
          <a:xfrm>
            <a:off x="4800600" y="1639888"/>
            <a:ext cx="3790950" cy="314325"/>
          </a:xfrm>
          <a:prstGeom prst="rect">
            <a:avLst/>
          </a:prstGeom>
          <a:noFill/>
          <a:ln w="0">
            <a:noFill/>
          </a:ln>
        </p:spPr>
        <p:txBody>
          <a:bodyPr anchor="ctr">
            <a:noAutofit/>
          </a:bodyPr>
          <a:lstStyle/>
          <a:p>
            <a:pPr>
              <a:buNone/>
              <a:defRPr sz="1875" b="1">
                <a:solidFill>
                  <a:srgbClr val="1B2A41"/>
                </a:solidFill>
                <a:latin typeface="Calibri"/>
                <a:ea typeface="Calibri"/>
                <a:cs typeface="Calibri"/>
              </a:defRPr>
            </a:pPr>
            <a:r>
              <a:rPr sz="1875" b="1">
                <a:solidFill>
                  <a:srgbClr val="1B2A41"/>
                </a:solidFill>
                <a:latin typeface="Calibri"/>
                <a:ea typeface="Calibri"/>
                <a:cs typeface="Calibri"/>
              </a:rPr>
              <a:t>How much giving?</a:t>
            </a:r>
          </a:p>
        </p:txBody>
      </p:sp>
      <p:sp>
        <p:nvSpPr>
          <p:cNvPr id="6" name="Rectangle 5">
            <a:extLst>
              <a:ext uri="{FF2B5EF4-FFF2-40B4-BE49-F238E27FC236}">
                <a16:creationId xmlns:a16="http://schemas.microsoft.com/office/drawing/2014/main" id="{C250ABF6-B067-4F7B-84AC-A53ED9FC6A0C}"/>
              </a:ext>
            </a:extLst>
          </p:cNvPr>
          <p:cNvSpPr>
            <a:spLocks noGrp="1"/>
          </p:cNvSpPr>
          <p:nvPr/>
        </p:nvSpPr>
        <p:spPr>
          <a:xfrm>
            <a:off x="4800600" y="2030413"/>
            <a:ext cx="3790950" cy="266700"/>
          </a:xfrm>
          <a:prstGeom prst="rect">
            <a:avLst/>
          </a:prstGeom>
          <a:noFill/>
          <a:ln w="0">
            <a:noFill/>
          </a:ln>
        </p:spPr>
        <p:txBody>
          <a:bodyPr anchor="ctr">
            <a:noAutofit/>
          </a:bodyPr>
          <a:lstStyle/>
          <a:p>
            <a:pPr>
              <a:buNone/>
              <a:defRPr sz="1275" b="0">
                <a:solidFill>
                  <a:srgbClr val="6B7280"/>
                </a:solidFill>
                <a:latin typeface="Calibri"/>
                <a:ea typeface="Calibri"/>
                <a:cs typeface="Calibri"/>
              </a:defRPr>
            </a:pPr>
            <a:r>
              <a:rPr sz="1275" b="0">
                <a:solidFill>
                  <a:srgbClr val="6B7280"/>
                </a:solidFill>
                <a:latin typeface="Calibri"/>
                <a:ea typeface="Calibri"/>
                <a:cs typeface="Calibri"/>
              </a:rPr>
              <a:t>Subsequent dollars per selected donor</a:t>
            </a:r>
          </a:p>
        </p:txBody>
      </p:sp>
      <p:graphicFrame>
        <p:nvGraphicFramePr>
          <p:cNvPr id="21" name="Chart"/>
          <p:cNvGraphicFramePr/>
          <p:nvPr/>
        </p:nvGraphicFramePr>
        <p:xfrm>
          <a:off x="514350" y="2388235"/>
          <a:ext cx="4029075" cy="16668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2" name="Chart"/>
          <p:cNvGraphicFramePr/>
          <p:nvPr/>
        </p:nvGraphicFramePr>
        <p:xfrm>
          <a:off x="4724400" y="2388235"/>
          <a:ext cx="3933825" cy="1666875"/>
        </p:xfrm>
        <a:graphic>
          <a:graphicData uri="http://schemas.openxmlformats.org/drawingml/2006/chart">
            <c:chart xmlns:c="http://schemas.openxmlformats.org/drawingml/2006/chart" xmlns:r="http://schemas.openxmlformats.org/officeDocument/2006/relationships" r:id="rId4"/>
          </a:graphicData>
        </a:graphic>
      </p:graphicFrame>
      <p:sp>
        <p:nvSpPr>
          <p:cNvPr id="9" name="Rectangle 8">
            <a:extLst>
              <a:ext uri="{FF2B5EF4-FFF2-40B4-BE49-F238E27FC236}">
                <a16:creationId xmlns:a16="http://schemas.microsoft.com/office/drawing/2014/main" id="{7E8B262F-10D2-4AAF-8BE0-51403E07C9A2}"/>
              </a:ext>
            </a:extLst>
          </p:cNvPr>
          <p:cNvSpPr>
            <a:spLocks noGrp="1"/>
          </p:cNvSpPr>
          <p:nvPr/>
        </p:nvSpPr>
        <p:spPr>
          <a:xfrm>
            <a:off x="552450" y="4265930"/>
            <a:ext cx="1714500" cy="495300"/>
          </a:xfrm>
          <a:prstGeom prst="rect">
            <a:avLst/>
          </a:prstGeom>
          <a:noFill/>
          <a:ln w="0">
            <a:noFill/>
          </a:ln>
        </p:spPr>
        <p:txBody>
          <a:bodyPr anchor="ctr">
            <a:noAutofit/>
          </a:bodyPr>
          <a:lstStyle/>
          <a:p>
            <a:pPr>
              <a:buNone/>
              <a:defRPr sz="2775" b="1">
                <a:solidFill>
                  <a:srgbClr val="E4572E"/>
                </a:solidFill>
                <a:latin typeface="Cambria"/>
                <a:ea typeface="Cambria"/>
                <a:cs typeface="Cambria"/>
              </a:defRPr>
            </a:pPr>
            <a:r>
              <a:rPr sz="2775" b="1">
                <a:solidFill>
                  <a:srgbClr val="E4572E"/>
                </a:solidFill>
                <a:latin typeface="Cambria"/>
                <a:ea typeface="Cambria"/>
                <a:cs typeface="Cambria"/>
              </a:rPr>
              <a:t>+$3.45</a:t>
            </a:r>
          </a:p>
        </p:txBody>
      </p:sp>
      <p:sp>
        <p:nvSpPr>
          <p:cNvPr id="10" name="Rectangle 9">
            <a:extLst>
              <a:ext uri="{FF2B5EF4-FFF2-40B4-BE49-F238E27FC236}">
                <a16:creationId xmlns:a16="http://schemas.microsoft.com/office/drawing/2014/main" id="{DAE480B1-7E46-4CEC-B50C-908D69294462}"/>
              </a:ext>
            </a:extLst>
          </p:cNvPr>
          <p:cNvSpPr>
            <a:spLocks noGrp="1"/>
          </p:cNvSpPr>
          <p:nvPr/>
        </p:nvSpPr>
        <p:spPr>
          <a:xfrm>
            <a:off x="2362200" y="4361180"/>
            <a:ext cx="6191250" cy="352425"/>
          </a:xfrm>
          <a:prstGeom prst="rect">
            <a:avLst/>
          </a:prstGeom>
          <a:noFill/>
          <a:ln w="0">
            <a:noFill/>
          </a:ln>
        </p:spPr>
        <p:txBody>
          <a:bodyPr anchor="ctr">
            <a:noAutofit/>
          </a:bodyPr>
          <a:lstStyle/>
          <a:p>
            <a:pPr>
              <a:buNone/>
              <a:defRPr sz="1650" b="1">
                <a:solidFill>
                  <a:srgbClr val="1B2A41"/>
                </a:solidFill>
                <a:latin typeface="Calibri"/>
                <a:ea typeface="Calibri"/>
                <a:cs typeface="Calibri"/>
              </a:defRPr>
            </a:pPr>
            <a:r>
              <a:rPr sz="1650" b="1">
                <a:solidFill>
                  <a:srgbClr val="1B2A41"/>
                </a:solidFill>
                <a:latin typeface="Calibri"/>
                <a:ea typeface="Calibri"/>
                <a:cs typeface="Calibri"/>
              </a:rPr>
              <a:t>per selected donor versus gift size</a:t>
            </a:r>
            <a:r>
              <a:rPr lang="en-US" sz="1650" b="1">
                <a:solidFill>
                  <a:srgbClr val="1B2A41"/>
                </a:solidFill>
                <a:latin typeface="Calibri"/>
                <a:ea typeface="Calibri"/>
                <a:cs typeface="Calibri"/>
              </a:rPr>
              <a:t>; a 3.0% gain</a:t>
            </a:r>
            <a:endParaRPr sz="1650" b="1">
              <a:solidFill>
                <a:srgbClr val="1B2A41"/>
              </a:solidFill>
              <a:latin typeface="Calibri"/>
              <a:ea typeface="Calibri"/>
              <a:cs typeface="Calibri"/>
            </a:endParaRPr>
          </a:p>
        </p:txBody>
      </p:sp>
    </p:spTree>
    <p:extLst>
      <p:ext uri="{BB962C8B-B14F-4D97-AF65-F5344CB8AC3E}">
        <p14:creationId xmlns:p14="http://schemas.microsoft.com/office/powerpoint/2010/main" val="19503047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6905B8-7750-4DF6-B6F0-27C958BFD4BB}"/>
              </a:ext>
            </a:extLst>
          </p:cNvPr>
          <p:cNvSpPr>
            <a:spLocks noGrp="1"/>
          </p:cNvSpPr>
          <p:nvPr/>
        </p:nvSpPr>
        <p:spPr>
          <a:xfrm>
            <a:off x="548640" y="304800"/>
            <a:ext cx="8039100" cy="609600"/>
          </a:xfrm>
          <a:prstGeom prst="rect">
            <a:avLst/>
          </a:prstGeom>
          <a:noFill/>
          <a:ln w="0">
            <a:noFill/>
          </a:ln>
        </p:spPr>
        <p:txBody>
          <a:bodyPr anchor="ctr">
            <a:noAutofit/>
          </a:bodyPr>
          <a:lstStyle/>
          <a:p>
            <a:pPr>
              <a:buNone/>
              <a:defRPr sz="3000" b="1">
                <a:solidFill>
                  <a:srgbClr val="1B2A41"/>
                </a:solidFill>
                <a:latin typeface="Cambria"/>
                <a:ea typeface="Cambria"/>
                <a:cs typeface="Cambria"/>
              </a:defRPr>
            </a:pPr>
            <a:r>
              <a:rPr sz="3000" b="1">
                <a:solidFill>
                  <a:srgbClr val="1B2A41"/>
                </a:solidFill>
                <a:latin typeface="Cambria"/>
                <a:ea typeface="Cambria"/>
                <a:cs typeface="Cambria"/>
              </a:rPr>
              <a:t>Gift behavior carries the strongest signal</a:t>
            </a:r>
          </a:p>
        </p:txBody>
      </p:sp>
      <p:sp>
        <p:nvSpPr>
          <p:cNvPr id="3" name="Rectangle 2">
            <a:extLst>
              <a:ext uri="{FF2B5EF4-FFF2-40B4-BE49-F238E27FC236}">
                <a16:creationId xmlns:a16="http://schemas.microsoft.com/office/drawing/2014/main" id="{E4517523-5C08-4CF6-A9AD-778542B5034B}"/>
              </a:ext>
            </a:extLst>
          </p:cNvPr>
          <p:cNvSpPr>
            <a:spLocks noGrp="1"/>
          </p:cNvSpPr>
          <p:nvPr/>
        </p:nvSpPr>
        <p:spPr>
          <a:xfrm>
            <a:off x="552450" y="1657350"/>
            <a:ext cx="3524250" cy="276225"/>
          </a:xfrm>
          <a:prstGeom prst="rect">
            <a:avLst/>
          </a:prstGeom>
          <a:noFill/>
          <a:ln w="0">
            <a:noFill/>
          </a:ln>
        </p:spPr>
        <p:txBody>
          <a:bodyPr anchor="ctr">
            <a:noAutofit/>
          </a:bodyPr>
          <a:lstStyle/>
          <a:p>
            <a:pPr>
              <a:buNone/>
              <a:defRPr sz="1350" b="1">
                <a:solidFill>
                  <a:srgbClr val="E4572E"/>
                </a:solidFill>
                <a:latin typeface="Calibri"/>
                <a:ea typeface="Calibri"/>
                <a:cs typeface="Calibri"/>
              </a:defRPr>
            </a:pPr>
            <a:r>
              <a:rPr sz="1350" b="1">
                <a:solidFill>
                  <a:srgbClr val="E4572E"/>
                </a:solidFill>
                <a:latin typeface="Calibri"/>
                <a:ea typeface="Calibri"/>
                <a:cs typeface="Calibri"/>
              </a:rPr>
              <a:t>GIVING BEHAVIOR</a:t>
            </a:r>
          </a:p>
        </p:txBody>
      </p:sp>
      <p:sp>
        <p:nvSpPr>
          <p:cNvPr id="4" name="Rectangle 3">
            <a:extLst>
              <a:ext uri="{FF2B5EF4-FFF2-40B4-BE49-F238E27FC236}">
                <a16:creationId xmlns:a16="http://schemas.microsoft.com/office/drawing/2014/main" id="{2ED91247-B28E-4005-A339-6367773D91CC}"/>
              </a:ext>
            </a:extLst>
          </p:cNvPr>
          <p:cNvSpPr>
            <a:spLocks noGrp="1"/>
          </p:cNvSpPr>
          <p:nvPr/>
        </p:nvSpPr>
        <p:spPr>
          <a:xfrm>
            <a:off x="4857750" y="1657350"/>
            <a:ext cx="3733800" cy="276225"/>
          </a:xfrm>
          <a:prstGeom prst="rect">
            <a:avLst/>
          </a:prstGeom>
          <a:noFill/>
          <a:ln w="0">
            <a:noFill/>
          </a:ln>
        </p:spPr>
        <p:txBody>
          <a:bodyPr anchor="ctr">
            <a:noAutofit/>
          </a:bodyPr>
          <a:lstStyle/>
          <a:p>
            <a:pPr>
              <a:buNone/>
              <a:defRPr sz="1350" b="1">
                <a:solidFill>
                  <a:srgbClr val="2A9D8F"/>
                </a:solidFill>
                <a:latin typeface="Calibri"/>
                <a:ea typeface="Calibri"/>
                <a:cs typeface="Calibri"/>
              </a:defRPr>
            </a:pPr>
            <a:r>
              <a:rPr sz="1350" b="1">
                <a:solidFill>
                  <a:srgbClr val="2A9D8F"/>
                </a:solidFill>
                <a:latin typeface="Calibri"/>
                <a:ea typeface="Calibri"/>
                <a:cs typeface="Calibri"/>
              </a:rPr>
              <a:t>PROJECT CONTEXT</a:t>
            </a:r>
          </a:p>
        </p:txBody>
      </p:sp>
      <p:graphicFrame>
        <p:nvGraphicFramePr>
          <p:cNvPr id="14" name="Chart"/>
          <p:cNvGraphicFramePr/>
          <p:nvPr/>
        </p:nvGraphicFramePr>
        <p:xfrm>
          <a:off x="552450" y="2028825"/>
          <a:ext cx="8039100" cy="2390775"/>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D2D582F6-9187-4555-936E-761ED2EAC0A2}"/>
              </a:ext>
            </a:extLst>
          </p:cNvPr>
          <p:cNvSpPr>
            <a:spLocks noGrp="1"/>
          </p:cNvSpPr>
          <p:nvPr/>
        </p:nvSpPr>
        <p:spPr>
          <a:xfrm>
            <a:off x="548640" y="4610100"/>
            <a:ext cx="8039100" cy="257175"/>
          </a:xfrm>
          <a:prstGeom prst="rect">
            <a:avLst/>
          </a:prstGeom>
          <a:noFill/>
          <a:ln w="0">
            <a:noFill/>
          </a:ln>
        </p:spPr>
        <p:txBody>
          <a:bodyPr anchor="ctr">
            <a:noAutofit/>
          </a:bodyPr>
          <a:lstStyle/>
          <a:p>
            <a:pPr>
              <a:buNone/>
              <a:defRPr sz="1275" b="0">
                <a:solidFill>
                  <a:srgbClr val="6B7280"/>
                </a:solidFill>
                <a:latin typeface="Calibri"/>
                <a:ea typeface="Calibri"/>
                <a:cs typeface="Calibri"/>
              </a:defRPr>
            </a:pPr>
            <a:r>
              <a:rPr sz="1275" b="0">
                <a:solidFill>
                  <a:srgbClr val="6B7280"/>
                </a:solidFill>
                <a:latin typeface="Calibri"/>
                <a:ea typeface="Calibri"/>
                <a:cs typeface="Calibri"/>
              </a:rPr>
              <a:t>Longer bar = greater loss of ranking accuracy (ROC-AUC) when shuffled</a:t>
            </a:r>
          </a:p>
        </p:txBody>
      </p:sp>
    </p:spTree>
    <p:extLst>
      <p:ext uri="{BB962C8B-B14F-4D97-AF65-F5344CB8AC3E}">
        <p14:creationId xmlns:p14="http://schemas.microsoft.com/office/powerpoint/2010/main" val="9739589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2">
            <a:extLst>
              <a:ext uri="{FF2B5EF4-FFF2-40B4-BE49-F238E27FC236}">
                <a16:creationId xmlns:a16="http://schemas.microsoft.com/office/drawing/2014/main" id="{F927A359-CB65-C056-4AFC-A31D91930A22}"/>
              </a:ext>
            </a:extLst>
          </p:cNvPr>
          <p:cNvSpPr/>
          <p:nvPr/>
        </p:nvSpPr>
        <p:spPr>
          <a:xfrm>
            <a:off x="929298" y="1141303"/>
            <a:ext cx="1722711" cy="342836"/>
          </a:xfrm>
          <a:prstGeom prst="rect">
            <a:avLst/>
          </a:prstGeom>
          <a:noFill/>
          <a:ln/>
        </p:spPr>
        <p:txBody>
          <a:bodyPr wrap="square" lIns="0" tIns="0" rIns="0" bIns="0" rtlCol="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380"/>
              </a:lnSpc>
              <a:buNone/>
            </a:pPr>
            <a:r>
              <a:rPr lang="en-US" sz="2000" b="1" kern="0" spc="150">
                <a:solidFill>
                  <a:srgbClr val="E57200"/>
                </a:solidFill>
                <a:latin typeface="Helvetica"/>
                <a:ea typeface="Helvetica" pitchFamily="34" charset="-122"/>
                <a:cs typeface="Helvetica"/>
              </a:rPr>
              <a:t>THE TRAP</a:t>
            </a:r>
            <a:endParaRPr lang="en-US" sz="2000">
              <a:latin typeface="Helvetica"/>
              <a:ea typeface="Calibri"/>
              <a:cs typeface="Helvetica"/>
            </a:endParaRPr>
          </a:p>
        </p:txBody>
      </p:sp>
      <p:pic>
        <p:nvPicPr>
          <p:cNvPr id="4" name="Image 0" descr="0.1 percent of donors hold 62 percent of repeat dollars">
            <a:extLst>
              <a:ext uri="{FF2B5EF4-FFF2-40B4-BE49-F238E27FC236}">
                <a16:creationId xmlns:a16="http://schemas.microsoft.com/office/drawing/2014/main" id="{063A8A86-5971-D747-3E61-C95E362E9B14}"/>
              </a:ext>
            </a:extLst>
          </p:cNvPr>
          <p:cNvPicPr>
            <a:picLocks noChangeAspect="1"/>
          </p:cNvPicPr>
          <p:nvPr/>
        </p:nvPicPr>
        <p:blipFill>
          <a:blip r:embed="rId2"/>
          <a:srcRect l="-1" r="-1"/>
          <a:stretch/>
        </p:blipFill>
        <p:spPr>
          <a:xfrm>
            <a:off x="555918" y="1517109"/>
            <a:ext cx="3663925" cy="2092910"/>
          </a:xfrm>
          <a:prstGeom prst="rect">
            <a:avLst/>
          </a:prstGeom>
        </p:spPr>
      </p:pic>
      <p:sp>
        <p:nvSpPr>
          <p:cNvPr id="5" name="Text 3">
            <a:extLst>
              <a:ext uri="{FF2B5EF4-FFF2-40B4-BE49-F238E27FC236}">
                <a16:creationId xmlns:a16="http://schemas.microsoft.com/office/drawing/2014/main" id="{33BB1861-8D24-ED9C-BB5F-A9A9A85038F6}"/>
              </a:ext>
            </a:extLst>
          </p:cNvPr>
          <p:cNvSpPr/>
          <p:nvPr/>
        </p:nvSpPr>
        <p:spPr>
          <a:xfrm>
            <a:off x="715938" y="3858890"/>
            <a:ext cx="4488771" cy="82431"/>
          </a:xfrm>
          <a:prstGeom prst="rect">
            <a:avLst/>
          </a:prstGeom>
          <a:noFill/>
          <a:ln/>
        </p:spPr>
        <p:txBody>
          <a:bodyPr wrap="square" lIns="0" tIns="0" rIns="0" bIns="0" rtlCol="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45"/>
              </a:lnSpc>
              <a:buNone/>
            </a:pPr>
            <a:r>
              <a:rPr lang="en-US" sz="1000">
                <a:solidFill>
                  <a:srgbClr val="2B2F36"/>
                </a:solidFill>
                <a:latin typeface="Helvetica"/>
                <a:ea typeface="Helvetica" pitchFamily="34" charset="-122"/>
                <a:cs typeface="Helvetica"/>
              </a:rPr>
              <a:t>Corporate matching, not people. </a:t>
            </a:r>
            <a:r>
              <a:rPr lang="en-US" sz="1000" b="1">
                <a:solidFill>
                  <a:srgbClr val="2B2F36"/>
                </a:solidFill>
                <a:latin typeface="Helvetica"/>
                <a:ea typeface="Helvetica" pitchFamily="34" charset="-122"/>
                <a:cs typeface="Helvetica"/>
              </a:rPr>
              <a:t>We score individuals only.</a:t>
            </a:r>
            <a:endParaRPr lang="en-US" sz="1000">
              <a:latin typeface="Helvetica"/>
              <a:ea typeface="Calibri"/>
              <a:cs typeface="Helvetica"/>
            </a:endParaRPr>
          </a:p>
        </p:txBody>
      </p:sp>
      <p:sp>
        <p:nvSpPr>
          <p:cNvPr id="6" name="Text 5">
            <a:extLst>
              <a:ext uri="{FF2B5EF4-FFF2-40B4-BE49-F238E27FC236}">
                <a16:creationId xmlns:a16="http://schemas.microsoft.com/office/drawing/2014/main" id="{471B88D6-A53A-80ED-5E42-771D298FD007}"/>
              </a:ext>
            </a:extLst>
          </p:cNvPr>
          <p:cNvSpPr/>
          <p:nvPr/>
        </p:nvSpPr>
        <p:spPr>
          <a:xfrm>
            <a:off x="4925988" y="1141303"/>
            <a:ext cx="2446611" cy="312356"/>
          </a:xfrm>
          <a:prstGeom prst="rect">
            <a:avLst/>
          </a:prstGeom>
          <a:noFill/>
          <a:ln/>
        </p:spPr>
        <p:txBody>
          <a:bodyPr wrap="square" lIns="0" tIns="0" rIns="0" bIns="0" rtlCol="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380"/>
              </a:lnSpc>
              <a:buNone/>
            </a:pPr>
            <a:r>
              <a:rPr lang="en-US" sz="2000" b="1" kern="0" spc="150">
                <a:solidFill>
                  <a:srgbClr val="E57200"/>
                </a:solidFill>
                <a:latin typeface="Helvetica"/>
                <a:ea typeface="Helvetica" pitchFamily="34" charset="-122"/>
                <a:cs typeface="Helvetica"/>
              </a:rPr>
              <a:t>THE DOOR</a:t>
            </a:r>
            <a:endParaRPr lang="en-US" sz="2000">
              <a:latin typeface="Helvetica"/>
              <a:cs typeface="Helvetica"/>
            </a:endParaRPr>
          </a:p>
        </p:txBody>
      </p:sp>
      <p:pic>
        <p:nvPicPr>
          <p:cNvPr id="7" name="Image 1" descr="Second to third gift rate is 2.7 times the first to second rate">
            <a:extLst>
              <a:ext uri="{FF2B5EF4-FFF2-40B4-BE49-F238E27FC236}">
                <a16:creationId xmlns:a16="http://schemas.microsoft.com/office/drawing/2014/main" id="{2B308B6D-DFAF-0B76-484A-79BAD62105BD}"/>
              </a:ext>
            </a:extLst>
          </p:cNvPr>
          <p:cNvPicPr>
            <a:picLocks noChangeAspect="1"/>
          </p:cNvPicPr>
          <p:nvPr/>
        </p:nvPicPr>
        <p:blipFill>
          <a:blip r:embed="rId3"/>
          <a:srcRect l="-1" r="-1"/>
          <a:stretch/>
        </p:blipFill>
        <p:spPr>
          <a:xfrm>
            <a:off x="4476408" y="1524729"/>
            <a:ext cx="3564865" cy="2092910"/>
          </a:xfrm>
          <a:prstGeom prst="rect">
            <a:avLst/>
          </a:prstGeom>
        </p:spPr>
      </p:pic>
      <p:sp>
        <p:nvSpPr>
          <p:cNvPr id="8" name="Text 6">
            <a:extLst>
              <a:ext uri="{FF2B5EF4-FFF2-40B4-BE49-F238E27FC236}">
                <a16:creationId xmlns:a16="http://schemas.microsoft.com/office/drawing/2014/main" id="{A4EFEB4C-35DC-8694-AC39-1F4E1505E0CC}"/>
              </a:ext>
            </a:extLst>
          </p:cNvPr>
          <p:cNvSpPr/>
          <p:nvPr/>
        </p:nvSpPr>
        <p:spPr>
          <a:xfrm>
            <a:off x="4865028" y="3858890"/>
            <a:ext cx="4481151" cy="46295"/>
          </a:xfrm>
          <a:prstGeom prst="rect">
            <a:avLst/>
          </a:prstGeom>
          <a:noFill/>
          <a:ln/>
        </p:spPr>
        <p:txBody>
          <a:bodyPr wrap="square" lIns="0" tIns="0" rIns="0" bIns="0" rtlCol="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45"/>
              </a:lnSpc>
              <a:buNone/>
            </a:pPr>
            <a:r>
              <a:rPr lang="en-US" sz="1000">
                <a:solidFill>
                  <a:srgbClr val="2B2F36"/>
                </a:solidFill>
                <a:latin typeface="Helvetica"/>
                <a:ea typeface="Helvetica" pitchFamily="34" charset="-122"/>
                <a:cs typeface="Helvetica"/>
              </a:rPr>
              <a:t>Loyalty compounds. </a:t>
            </a:r>
            <a:r>
              <a:rPr lang="en-US" sz="1000" b="1">
                <a:solidFill>
                  <a:srgbClr val="2B2F36"/>
                </a:solidFill>
                <a:latin typeface="Helvetica"/>
                <a:ea typeface="Helvetica" pitchFamily="34" charset="-122"/>
                <a:cs typeface="Helvetica"/>
              </a:rPr>
              <a:t>The second gift is the door.</a:t>
            </a:r>
            <a:endParaRPr lang="en-US" sz="1000">
              <a:latin typeface="Helvetica"/>
              <a:ea typeface="Calibri"/>
              <a:cs typeface="Helvetica"/>
            </a:endParaRPr>
          </a:p>
        </p:txBody>
      </p:sp>
      <p:sp>
        <p:nvSpPr>
          <p:cNvPr id="10" name="Rectangle 9">
            <a:extLst>
              <a:ext uri="{FF2B5EF4-FFF2-40B4-BE49-F238E27FC236}">
                <a16:creationId xmlns:a16="http://schemas.microsoft.com/office/drawing/2014/main" id="{52C0325A-161E-4ABF-A417-0330B258F23C}"/>
              </a:ext>
            </a:extLst>
          </p:cNvPr>
          <p:cNvSpPr>
            <a:spLocks noGrp="1"/>
          </p:cNvSpPr>
          <p:nvPr/>
        </p:nvSpPr>
        <p:spPr>
          <a:xfrm>
            <a:off x="556260" y="510540"/>
            <a:ext cx="8039100" cy="609600"/>
          </a:xfrm>
          <a:prstGeom prst="rect">
            <a:avLst/>
          </a:prstGeom>
          <a:noFill/>
          <a:ln w="0">
            <a:noFill/>
          </a:ln>
        </p:spPr>
        <p:txBody>
          <a:bodyPr lIns="91440" tIns="45720" rIns="91440" bIns="45720" anchor="ctr">
            <a:noAutofit/>
          </a:bodyPr>
          <a:lstStyle/>
          <a:p>
            <a:pPr>
              <a:defRPr sz="3000" b="1">
                <a:solidFill>
                  <a:srgbClr val="1B2A41"/>
                </a:solidFill>
                <a:latin typeface="Cambria"/>
                <a:ea typeface="Cambria"/>
                <a:cs typeface="Cambria"/>
              </a:defRPr>
            </a:pPr>
            <a:r>
              <a:rPr lang="en-US" sz="3000" b="1">
                <a:solidFill>
                  <a:srgbClr val="232D4B"/>
                </a:solidFill>
                <a:latin typeface="Cambria"/>
                <a:ea typeface="Cambria"/>
                <a:cs typeface="Cambria"/>
              </a:rPr>
              <a:t>What the data taught us</a:t>
            </a:r>
            <a:endParaRPr lang="en-US" sz="3000">
              <a:solidFill>
                <a:srgbClr val="000000"/>
              </a:solidFill>
              <a:latin typeface="Cambria"/>
              <a:ea typeface="Cambria"/>
              <a:cs typeface="Cambria"/>
            </a:endParaRPr>
          </a:p>
          <a:p>
            <a:pPr>
              <a:buNone/>
              <a:defRPr sz="3000" b="1">
                <a:solidFill>
                  <a:srgbClr val="1B2A41"/>
                </a:solidFill>
                <a:latin typeface="Cambria"/>
                <a:ea typeface="Cambria"/>
                <a:cs typeface="Cambria"/>
              </a:defRPr>
            </a:pPr>
            <a:endParaRPr sz="3000" b="1">
              <a:solidFill>
                <a:srgbClr val="1B2A41"/>
              </a:solidFill>
              <a:latin typeface="Cambria"/>
              <a:ea typeface="Cambria"/>
              <a:cs typeface="Cambria"/>
            </a:endParaRPr>
          </a:p>
        </p:txBody>
      </p:sp>
    </p:spTree>
    <p:extLst>
      <p:ext uri="{BB962C8B-B14F-4D97-AF65-F5344CB8AC3E}">
        <p14:creationId xmlns:p14="http://schemas.microsoft.com/office/powerpoint/2010/main" val="19225745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2">
            <a:extLst>
              <a:ext uri="{FF2B5EF4-FFF2-40B4-BE49-F238E27FC236}">
                <a16:creationId xmlns:a16="http://schemas.microsoft.com/office/drawing/2014/main" id="{BFAE638D-6F2C-96D3-C819-EF2E7504F2E9}"/>
              </a:ext>
            </a:extLst>
          </p:cNvPr>
          <p:cNvSpPr/>
          <p:nvPr/>
        </p:nvSpPr>
        <p:spPr>
          <a:xfrm>
            <a:off x="919162" y="1110823"/>
            <a:ext cx="7494365" cy="350456"/>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380"/>
              </a:lnSpc>
              <a:buNone/>
            </a:pPr>
            <a:r>
              <a:rPr lang="en-US" sz="2000" b="1" kern="0" spc="150">
                <a:solidFill>
                  <a:srgbClr val="E57200"/>
                </a:solidFill>
                <a:latin typeface="Helvetica"/>
                <a:ea typeface="Helvetica" pitchFamily="34" charset="-122"/>
                <a:cs typeface="Helvetica"/>
              </a:rPr>
              <a:t>THE SPLIT</a:t>
            </a:r>
            <a:endParaRPr lang="en-US" sz="2000">
              <a:latin typeface="Helvetica"/>
              <a:ea typeface="Calibri"/>
              <a:cs typeface="Helvetica"/>
            </a:endParaRPr>
          </a:p>
        </p:txBody>
      </p:sp>
      <p:pic>
        <p:nvPicPr>
          <p:cNvPr id="4" name="Image 0" descr="Gift size correlates 0.55 with next amount but only 0.13 with returning">
            <a:extLst>
              <a:ext uri="{FF2B5EF4-FFF2-40B4-BE49-F238E27FC236}">
                <a16:creationId xmlns:a16="http://schemas.microsoft.com/office/drawing/2014/main" id="{F3610726-A585-9955-2E85-549BFBF6983D}"/>
              </a:ext>
            </a:extLst>
          </p:cNvPr>
          <p:cNvPicPr>
            <a:picLocks noChangeAspect="1"/>
          </p:cNvPicPr>
          <p:nvPr/>
        </p:nvPicPr>
        <p:blipFill>
          <a:blip r:embed="rId2"/>
          <a:srcRect t="-20" b="-20"/>
          <a:stretch/>
        </p:blipFill>
        <p:spPr>
          <a:xfrm>
            <a:off x="736282" y="1285994"/>
            <a:ext cx="7856220" cy="2263140"/>
          </a:xfrm>
          <a:prstGeom prst="rect">
            <a:avLst/>
          </a:prstGeom>
        </p:spPr>
      </p:pic>
      <p:sp>
        <p:nvSpPr>
          <p:cNvPr id="5" name="Text 3">
            <a:extLst>
              <a:ext uri="{FF2B5EF4-FFF2-40B4-BE49-F238E27FC236}">
                <a16:creationId xmlns:a16="http://schemas.microsoft.com/office/drawing/2014/main" id="{9D0CA936-4552-18A4-FCBE-2D90FF2BB7F3}"/>
              </a:ext>
            </a:extLst>
          </p:cNvPr>
          <p:cNvSpPr/>
          <p:nvPr/>
        </p:nvSpPr>
        <p:spPr>
          <a:xfrm>
            <a:off x="736282" y="3940269"/>
            <a:ext cx="8103965" cy="642590"/>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30"/>
              </a:lnSpc>
            </a:pPr>
            <a:r>
              <a:rPr lang="en-US" sz="1300">
                <a:solidFill>
                  <a:srgbClr val="2B2F36"/>
                </a:solidFill>
                <a:latin typeface="Helvetica"/>
                <a:ea typeface="Helvetica" pitchFamily="34" charset="-122"/>
                <a:cs typeface="Helvetica"/>
              </a:rPr>
              <a:t>Gift size tells you </a:t>
            </a:r>
            <a:r>
              <a:rPr lang="en-US" sz="1300" b="1">
                <a:solidFill>
                  <a:srgbClr val="2B2F36"/>
                </a:solidFill>
                <a:latin typeface="Helvetica"/>
                <a:ea typeface="Helvetica" pitchFamily="34" charset="-122"/>
                <a:cs typeface="Helvetica"/>
              </a:rPr>
              <a:t>how much</a:t>
            </a:r>
            <a:r>
              <a:rPr lang="en-US" sz="1300">
                <a:solidFill>
                  <a:srgbClr val="2B2F36"/>
                </a:solidFill>
                <a:latin typeface="Helvetica"/>
                <a:ea typeface="Helvetica" pitchFamily="34" charset="-122"/>
                <a:cs typeface="Helvetica"/>
              </a:rPr>
              <a:t> someone gives next — almost nothing about </a:t>
            </a:r>
            <a:r>
              <a:rPr lang="en-US" sz="1300" b="1">
                <a:solidFill>
                  <a:srgbClr val="2B2F36"/>
                </a:solidFill>
                <a:latin typeface="Helvetica"/>
                <a:ea typeface="Helvetica" pitchFamily="34" charset="-122"/>
                <a:cs typeface="Helvetica"/>
              </a:rPr>
              <a:t>whether</a:t>
            </a:r>
            <a:r>
              <a:rPr lang="en-US" sz="1300">
                <a:solidFill>
                  <a:srgbClr val="2B2F36"/>
                </a:solidFill>
                <a:latin typeface="Helvetica"/>
                <a:ea typeface="Helvetica" pitchFamily="34" charset="-122"/>
                <a:cs typeface="Helvetica"/>
              </a:rPr>
              <a:t> they come back.</a:t>
            </a:r>
            <a:endParaRPr lang="en-US" sz="1300">
              <a:solidFill>
                <a:srgbClr val="000000"/>
              </a:solidFill>
              <a:latin typeface="Helvetica"/>
              <a:ea typeface="Calibri"/>
              <a:cs typeface="Helvetica"/>
            </a:endParaRPr>
          </a:p>
          <a:p>
            <a:pPr>
              <a:lnSpc>
                <a:spcPts val="2430"/>
              </a:lnSpc>
            </a:pPr>
            <a:r>
              <a:rPr lang="en-US" sz="1300">
                <a:solidFill>
                  <a:srgbClr val="2B2F36"/>
                </a:solidFill>
                <a:latin typeface="Helvetica"/>
                <a:ea typeface="Helvetica" pitchFamily="34" charset="-122"/>
                <a:cs typeface="Helvetica"/>
              </a:rPr>
              <a:t> </a:t>
            </a:r>
            <a:r>
              <a:rPr lang="en-US" sz="1300" b="1">
                <a:solidFill>
                  <a:srgbClr val="2B2F36"/>
                </a:solidFill>
                <a:latin typeface="Helvetica"/>
                <a:ea typeface="Helvetica" pitchFamily="34" charset="-122"/>
                <a:cs typeface="Helvetica"/>
              </a:rPr>
              <a:t>Two questions, two models.</a:t>
            </a:r>
            <a:endParaRPr lang="en-US" sz="1300">
              <a:latin typeface="Helvetica"/>
              <a:ea typeface="Calibri"/>
              <a:cs typeface="Helvetica"/>
            </a:endParaRPr>
          </a:p>
        </p:txBody>
      </p:sp>
      <p:sp>
        <p:nvSpPr>
          <p:cNvPr id="9" name="Rectangle 8">
            <a:extLst>
              <a:ext uri="{FF2B5EF4-FFF2-40B4-BE49-F238E27FC236}">
                <a16:creationId xmlns:a16="http://schemas.microsoft.com/office/drawing/2014/main" id="{F007E972-4201-2DF6-75B8-D9187769A735}"/>
              </a:ext>
            </a:extLst>
          </p:cNvPr>
          <p:cNvSpPr>
            <a:spLocks noGrp="1"/>
          </p:cNvSpPr>
          <p:nvPr/>
        </p:nvSpPr>
        <p:spPr>
          <a:xfrm>
            <a:off x="556260" y="510540"/>
            <a:ext cx="8039100" cy="609600"/>
          </a:xfrm>
          <a:prstGeom prst="rect">
            <a:avLst/>
          </a:prstGeom>
          <a:noFill/>
          <a:ln w="0">
            <a:noFill/>
          </a:ln>
        </p:spPr>
        <p:txBody>
          <a:bodyPr lIns="91440" tIns="45720" rIns="91440" bIns="45720" anchor="ctr">
            <a:noAutofit/>
          </a:bodyPr>
          <a:lstStyle/>
          <a:p>
            <a:pPr>
              <a:defRPr sz="3000" b="1">
                <a:solidFill>
                  <a:srgbClr val="1B2A41"/>
                </a:solidFill>
                <a:latin typeface="Cambria"/>
                <a:ea typeface="Cambria"/>
                <a:cs typeface="Cambria"/>
              </a:defRPr>
            </a:pPr>
            <a:r>
              <a:rPr lang="en-US" sz="3000" b="1">
                <a:solidFill>
                  <a:srgbClr val="232D4B"/>
                </a:solidFill>
                <a:latin typeface="Cambria"/>
                <a:ea typeface="Cambria"/>
                <a:cs typeface="Cambria"/>
              </a:rPr>
              <a:t>What the data taught us</a:t>
            </a:r>
            <a:endParaRPr lang="en-US" sz="3000">
              <a:solidFill>
                <a:srgbClr val="000000"/>
              </a:solidFill>
              <a:latin typeface="Cambria"/>
              <a:ea typeface="Cambria"/>
              <a:cs typeface="Cambria"/>
            </a:endParaRPr>
          </a:p>
          <a:p>
            <a:pPr>
              <a:buNone/>
              <a:defRPr sz="3000" b="1">
                <a:solidFill>
                  <a:srgbClr val="1B2A41"/>
                </a:solidFill>
                <a:latin typeface="Cambria"/>
                <a:ea typeface="Cambria"/>
                <a:cs typeface="Cambria"/>
              </a:defRPr>
            </a:pPr>
            <a:endParaRPr sz="3000" b="1">
              <a:solidFill>
                <a:srgbClr val="1B2A41"/>
              </a:solidFill>
              <a:latin typeface="Cambria"/>
              <a:ea typeface="Cambria"/>
              <a:cs typeface="Cambria"/>
            </a:endParaRPr>
          </a:p>
        </p:txBody>
      </p:sp>
    </p:spTree>
    <p:extLst>
      <p:ext uri="{BB962C8B-B14F-4D97-AF65-F5344CB8AC3E}">
        <p14:creationId xmlns:p14="http://schemas.microsoft.com/office/powerpoint/2010/main" val="37643154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marL="0" indent="0">
              <a:buNone/>
            </a:pPr>
            <a:r>
              <a:rPr lang="en-US" sz="3000" b="1">
                <a:solidFill>
                  <a:srgbClr val="1B2A41"/>
                </a:solidFill>
                <a:latin typeface="Cambria" pitchFamily="34" charset="0"/>
                <a:ea typeface="Cambria" pitchFamily="34" charset="-122"/>
                <a:cs typeface="Cambria" pitchFamily="34" charset="-120"/>
              </a:rPr>
              <a:t>What changed, and why</a:t>
            </a:r>
            <a:endParaRPr lang="en-US" sz="3000"/>
          </a:p>
        </p:txBody>
      </p:sp>
      <p:sp>
        <p:nvSpPr>
          <p:cNvPr id="3" name="Text 1"/>
          <p:cNvSpPr txBox="1"/>
          <p:nvPr/>
        </p:nvSpPr>
        <p:spPr>
          <a:xfrm>
            <a:off x="548640" y="1024128"/>
            <a:ext cx="3566160" cy="274320"/>
          </a:xfrm>
          <a:prstGeom prst="rect">
            <a:avLst/>
          </a:prstGeom>
          <a:noFill/>
          <a:ln/>
        </p:spPr>
        <p:txBody>
          <a:bodyPr wrap="square" lIns="0" tIns="0" rIns="0" bIns="0" rtlCol="0" anchor="ctr"/>
          <a:lstStyle/>
          <a:p>
            <a:pPr marL="0" indent="0">
              <a:buNone/>
            </a:pPr>
            <a:r>
              <a:rPr lang="en-US" sz="1100" b="1" kern="0" spc="200">
                <a:solidFill>
                  <a:srgbClr val="6B7280"/>
                </a:solidFill>
                <a:latin typeface="Calibri"/>
                <a:ea typeface="Calibri"/>
                <a:cs typeface="Calibri"/>
              </a:rPr>
              <a:t>HYPOTHESIS</a:t>
            </a:r>
            <a:endParaRPr lang="en-US"/>
          </a:p>
        </p:txBody>
      </p:sp>
      <p:sp>
        <p:nvSpPr>
          <p:cNvPr id="4" name="Text 2"/>
          <p:cNvSpPr txBox="1"/>
          <p:nvPr/>
        </p:nvSpPr>
        <p:spPr>
          <a:xfrm>
            <a:off x="4846320" y="1024128"/>
            <a:ext cx="3749040" cy="274320"/>
          </a:xfrm>
          <a:prstGeom prst="rect">
            <a:avLst/>
          </a:prstGeom>
          <a:noFill/>
          <a:ln/>
        </p:spPr>
        <p:txBody>
          <a:bodyPr wrap="square" lIns="0" tIns="0" rIns="0" bIns="0" rtlCol="0" anchor="ctr"/>
          <a:lstStyle/>
          <a:p>
            <a:r>
              <a:rPr lang="en-US" sz="1100" b="1" kern="0" spc="200">
                <a:solidFill>
                  <a:srgbClr val="E4572E"/>
                </a:solidFill>
                <a:ea typeface="Calibri"/>
                <a:cs typeface="Calibri"/>
              </a:rPr>
              <a:t>ACTUAL</a:t>
            </a:r>
          </a:p>
        </p:txBody>
      </p:sp>
      <p:sp>
        <p:nvSpPr>
          <p:cNvPr id="10" name="Shape 7"/>
          <p:cNvSpPr/>
          <p:nvPr/>
        </p:nvSpPr>
        <p:spPr>
          <a:xfrm>
            <a:off x="472440" y="1443228"/>
            <a:ext cx="3566160" cy="530352"/>
          </a:xfrm>
          <a:prstGeom prst="roundRect">
            <a:avLst>
              <a:gd name="adj" fmla="val 13793"/>
            </a:avLst>
          </a:prstGeom>
          <a:solidFill>
            <a:srgbClr val="F1F3F5"/>
          </a:solidFill>
          <a:ln w="12700">
            <a:solidFill>
              <a:srgbClr val="F1F3F5"/>
            </a:solidFill>
            <a:prstDash val="solid"/>
          </a:ln>
        </p:spPr>
        <p:txBody>
          <a:bodyPr/>
          <a:lstStyle/>
          <a:p>
            <a:endParaRPr lang="en-US"/>
          </a:p>
        </p:txBody>
      </p:sp>
      <p:sp>
        <p:nvSpPr>
          <p:cNvPr id="11" name="Text 8"/>
          <p:cNvSpPr txBox="1"/>
          <p:nvPr/>
        </p:nvSpPr>
        <p:spPr>
          <a:xfrm>
            <a:off x="655320" y="1443228"/>
            <a:ext cx="3291840" cy="530352"/>
          </a:xfrm>
          <a:prstGeom prst="rect">
            <a:avLst/>
          </a:prstGeom>
          <a:noFill/>
          <a:ln/>
        </p:spPr>
        <p:txBody>
          <a:bodyPr wrap="square" lIns="0" tIns="0" rIns="0" bIns="0" rtlCol="0" anchor="ctr"/>
          <a:lstStyle/>
          <a:p>
            <a:pPr marL="0" indent="0">
              <a:buNone/>
            </a:pPr>
            <a:r>
              <a:rPr lang="en-US" sz="1300">
                <a:solidFill>
                  <a:srgbClr val="6B7280"/>
                </a:solidFill>
                <a:latin typeface="Calibri" pitchFamily="34" charset="0"/>
                <a:ea typeface="Calibri" pitchFamily="34" charset="-122"/>
                <a:cs typeface="Calibri" pitchFamily="34" charset="-120"/>
              </a:rPr>
              <a:t>"Gift size finds 80% of dollars!"</a:t>
            </a:r>
            <a:endParaRPr lang="en-US" sz="1300"/>
          </a:p>
        </p:txBody>
      </p:sp>
      <p:pic>
        <p:nvPicPr>
          <p:cNvPr id="12" name="Image 1" descr="preencoded.png"/>
          <p:cNvPicPr>
            <a:picLocks noChangeAspect="1"/>
          </p:cNvPicPr>
          <p:nvPr/>
        </p:nvPicPr>
        <p:blipFill>
          <a:blip r:embed="rId3"/>
          <a:stretch>
            <a:fillRect/>
          </a:stretch>
        </p:blipFill>
        <p:spPr>
          <a:xfrm>
            <a:off x="4239768" y="1571244"/>
            <a:ext cx="274320" cy="274320"/>
          </a:xfrm>
          <a:prstGeom prst="rect">
            <a:avLst/>
          </a:prstGeom>
        </p:spPr>
      </p:pic>
      <p:sp>
        <p:nvSpPr>
          <p:cNvPr id="13" name="Shape 9"/>
          <p:cNvSpPr/>
          <p:nvPr/>
        </p:nvSpPr>
        <p:spPr>
          <a:xfrm>
            <a:off x="4770120" y="1443228"/>
            <a:ext cx="3749040" cy="530352"/>
          </a:xfrm>
          <a:prstGeom prst="roundRect">
            <a:avLst>
              <a:gd name="adj" fmla="val 13793"/>
            </a:avLst>
          </a:prstGeom>
          <a:solidFill>
            <a:srgbClr val="FDECE7"/>
          </a:solidFill>
          <a:ln w="12700">
            <a:solidFill>
              <a:srgbClr val="FDECE7"/>
            </a:solidFill>
            <a:prstDash val="solid"/>
          </a:ln>
        </p:spPr>
        <p:txBody>
          <a:bodyPr/>
          <a:lstStyle/>
          <a:p>
            <a:endParaRPr lang="en-US"/>
          </a:p>
        </p:txBody>
      </p:sp>
      <p:sp>
        <p:nvSpPr>
          <p:cNvPr id="14" name="Text 10"/>
          <p:cNvSpPr txBox="1"/>
          <p:nvPr/>
        </p:nvSpPr>
        <p:spPr>
          <a:xfrm>
            <a:off x="4953000" y="1443228"/>
            <a:ext cx="3474720" cy="530352"/>
          </a:xfrm>
          <a:prstGeom prst="rect">
            <a:avLst/>
          </a:prstGeom>
          <a:noFill/>
          <a:ln/>
        </p:spPr>
        <p:txBody>
          <a:bodyPr wrap="square" lIns="0" tIns="0" rIns="0" bIns="0" rtlCol="0" anchor="ctr"/>
          <a:lstStyle/>
          <a:p>
            <a:pPr marL="0" indent="0">
              <a:buNone/>
            </a:pPr>
            <a:r>
              <a:rPr lang="en-US" sz="1300" b="1">
                <a:solidFill>
                  <a:srgbClr val="1B2A41"/>
                </a:solidFill>
                <a:latin typeface="Calibri" pitchFamily="34" charset="0"/>
                <a:ea typeface="Calibri" pitchFamily="34" charset="-122"/>
                <a:cs typeface="Calibri" pitchFamily="34" charset="-120"/>
              </a:rPr>
              <a:t>It was corporate matching. Individuals only.</a:t>
            </a:r>
            <a:endParaRPr lang="en-US" sz="1300"/>
          </a:p>
        </p:txBody>
      </p:sp>
      <p:sp>
        <p:nvSpPr>
          <p:cNvPr id="15" name="Shape 11"/>
          <p:cNvSpPr/>
          <p:nvPr/>
        </p:nvSpPr>
        <p:spPr>
          <a:xfrm>
            <a:off x="472440" y="2179756"/>
            <a:ext cx="3566160" cy="530352"/>
          </a:xfrm>
          <a:prstGeom prst="roundRect">
            <a:avLst>
              <a:gd name="adj" fmla="val 13793"/>
            </a:avLst>
          </a:prstGeom>
          <a:solidFill>
            <a:srgbClr val="F1F3F5"/>
          </a:solidFill>
          <a:ln w="12700">
            <a:solidFill>
              <a:srgbClr val="F1F3F5"/>
            </a:solidFill>
            <a:prstDash val="solid"/>
          </a:ln>
        </p:spPr>
        <p:txBody>
          <a:bodyPr/>
          <a:lstStyle/>
          <a:p>
            <a:endParaRPr lang="en-US"/>
          </a:p>
        </p:txBody>
      </p:sp>
      <p:sp>
        <p:nvSpPr>
          <p:cNvPr id="16" name="Text 12"/>
          <p:cNvSpPr txBox="1"/>
          <p:nvPr/>
        </p:nvSpPr>
        <p:spPr>
          <a:xfrm>
            <a:off x="655320" y="2179756"/>
            <a:ext cx="3291840" cy="530352"/>
          </a:xfrm>
          <a:prstGeom prst="rect">
            <a:avLst/>
          </a:prstGeom>
          <a:noFill/>
          <a:ln/>
        </p:spPr>
        <p:txBody>
          <a:bodyPr wrap="square" lIns="0" tIns="0" rIns="0" bIns="0" rtlCol="0" anchor="ctr"/>
          <a:lstStyle/>
          <a:p>
            <a:r>
              <a:rPr lang="en-US" sz="1300">
                <a:solidFill>
                  <a:srgbClr val="6B7280"/>
                </a:solidFill>
                <a:latin typeface="Calibri"/>
                <a:ea typeface="Calibri"/>
                <a:cs typeface="Calibri"/>
              </a:rPr>
              <a:t>Thank-you packet as a key feature</a:t>
            </a:r>
            <a:endParaRPr lang="en-US" sz="1300"/>
          </a:p>
        </p:txBody>
      </p:sp>
      <p:pic>
        <p:nvPicPr>
          <p:cNvPr id="17" name="Image 2" descr="preencoded.png"/>
          <p:cNvPicPr>
            <a:picLocks noChangeAspect="1"/>
          </p:cNvPicPr>
          <p:nvPr/>
        </p:nvPicPr>
        <p:blipFill>
          <a:blip r:embed="rId3"/>
          <a:stretch>
            <a:fillRect/>
          </a:stretch>
        </p:blipFill>
        <p:spPr>
          <a:xfrm>
            <a:off x="4239768" y="2307772"/>
            <a:ext cx="274320" cy="274320"/>
          </a:xfrm>
          <a:prstGeom prst="rect">
            <a:avLst/>
          </a:prstGeom>
        </p:spPr>
      </p:pic>
      <p:sp>
        <p:nvSpPr>
          <p:cNvPr id="18" name="Shape 13"/>
          <p:cNvSpPr/>
          <p:nvPr/>
        </p:nvSpPr>
        <p:spPr>
          <a:xfrm>
            <a:off x="4770120" y="2179756"/>
            <a:ext cx="3749040" cy="530352"/>
          </a:xfrm>
          <a:prstGeom prst="roundRect">
            <a:avLst>
              <a:gd name="adj" fmla="val 13793"/>
            </a:avLst>
          </a:prstGeom>
          <a:solidFill>
            <a:srgbClr val="FDECE7"/>
          </a:solidFill>
          <a:ln w="12700">
            <a:solidFill>
              <a:srgbClr val="FDECE7"/>
            </a:solidFill>
            <a:prstDash val="solid"/>
          </a:ln>
        </p:spPr>
        <p:txBody>
          <a:bodyPr/>
          <a:lstStyle/>
          <a:p>
            <a:endParaRPr lang="en-US"/>
          </a:p>
        </p:txBody>
      </p:sp>
      <p:sp>
        <p:nvSpPr>
          <p:cNvPr id="19" name="Text 14"/>
          <p:cNvSpPr txBox="1"/>
          <p:nvPr/>
        </p:nvSpPr>
        <p:spPr>
          <a:xfrm>
            <a:off x="4953000" y="2179756"/>
            <a:ext cx="3474720" cy="530352"/>
          </a:xfrm>
          <a:prstGeom prst="rect">
            <a:avLst/>
          </a:prstGeom>
          <a:noFill/>
          <a:ln/>
        </p:spPr>
        <p:txBody>
          <a:bodyPr wrap="square" lIns="0" tIns="0" rIns="0" bIns="0" rtlCol="0" anchor="ctr"/>
          <a:lstStyle/>
          <a:p>
            <a:r>
              <a:rPr lang="en-US" sz="1300" b="1">
                <a:solidFill>
                  <a:srgbClr val="1B2A41"/>
                </a:solidFill>
                <a:latin typeface="Calibri"/>
                <a:ea typeface="Calibri"/>
                <a:cs typeface="Calibri"/>
              </a:rPr>
              <a:t>Not able to predict if it influences second gift </a:t>
            </a:r>
            <a:endParaRPr lang="en-US"/>
          </a:p>
        </p:txBody>
      </p:sp>
      <p:sp>
        <p:nvSpPr>
          <p:cNvPr id="20" name="Shape 15"/>
          <p:cNvSpPr/>
          <p:nvPr/>
        </p:nvSpPr>
        <p:spPr>
          <a:xfrm>
            <a:off x="472440" y="2916284"/>
            <a:ext cx="3566160" cy="530352"/>
          </a:xfrm>
          <a:prstGeom prst="roundRect">
            <a:avLst>
              <a:gd name="adj" fmla="val 13793"/>
            </a:avLst>
          </a:prstGeom>
          <a:solidFill>
            <a:srgbClr val="F1F3F5"/>
          </a:solidFill>
          <a:ln w="12700">
            <a:solidFill>
              <a:srgbClr val="F1F3F5"/>
            </a:solidFill>
            <a:prstDash val="solid"/>
          </a:ln>
        </p:spPr>
        <p:txBody>
          <a:bodyPr lIns="91440" tIns="45720" rIns="91440" bIns="45720" anchor="t"/>
          <a:lstStyle/>
          <a:p>
            <a:endParaRPr lang="en-US" sz="1400">
              <a:ea typeface="Calibri"/>
              <a:cs typeface="Calibri"/>
            </a:endParaRPr>
          </a:p>
        </p:txBody>
      </p:sp>
      <p:pic>
        <p:nvPicPr>
          <p:cNvPr id="22" name="Image 3" descr="preencoded.png"/>
          <p:cNvPicPr>
            <a:picLocks noChangeAspect="1"/>
          </p:cNvPicPr>
          <p:nvPr/>
        </p:nvPicPr>
        <p:blipFill>
          <a:blip r:embed="rId3"/>
          <a:stretch>
            <a:fillRect/>
          </a:stretch>
        </p:blipFill>
        <p:spPr>
          <a:xfrm>
            <a:off x="4239768" y="3044300"/>
            <a:ext cx="274320" cy="274320"/>
          </a:xfrm>
          <a:prstGeom prst="rect">
            <a:avLst/>
          </a:prstGeom>
        </p:spPr>
      </p:pic>
      <p:sp>
        <p:nvSpPr>
          <p:cNvPr id="23" name="Shape 17"/>
          <p:cNvSpPr/>
          <p:nvPr/>
        </p:nvSpPr>
        <p:spPr>
          <a:xfrm>
            <a:off x="4770120" y="2916284"/>
            <a:ext cx="3749040" cy="530352"/>
          </a:xfrm>
          <a:prstGeom prst="roundRect">
            <a:avLst>
              <a:gd name="adj" fmla="val 13793"/>
            </a:avLst>
          </a:prstGeom>
          <a:solidFill>
            <a:srgbClr val="FDECE7"/>
          </a:solidFill>
          <a:ln w="12700">
            <a:solidFill>
              <a:srgbClr val="FDECE7"/>
            </a:solidFill>
            <a:prstDash val="solid"/>
          </a:ln>
        </p:spPr>
        <p:txBody>
          <a:bodyPr/>
          <a:lstStyle/>
          <a:p>
            <a:endParaRPr lang="en-US"/>
          </a:p>
        </p:txBody>
      </p:sp>
      <p:sp>
        <p:nvSpPr>
          <p:cNvPr id="5" name="Text 12">
            <a:extLst>
              <a:ext uri="{FF2B5EF4-FFF2-40B4-BE49-F238E27FC236}">
                <a16:creationId xmlns:a16="http://schemas.microsoft.com/office/drawing/2014/main" id="{4033D228-FA14-11E5-DC00-F45FA1F844E5}"/>
              </a:ext>
            </a:extLst>
          </p:cNvPr>
          <p:cNvSpPr txBox="1"/>
          <p:nvPr/>
        </p:nvSpPr>
        <p:spPr>
          <a:xfrm>
            <a:off x="655319" y="2922285"/>
            <a:ext cx="3291840" cy="530352"/>
          </a:xfrm>
          <a:prstGeom prst="rect">
            <a:avLst/>
          </a:prstGeom>
          <a:noFill/>
          <a:ln/>
        </p:spPr>
        <p:txBody>
          <a:bodyPr wrap="square" lIns="0" tIns="0" rIns="0" bIns="0" rtlCol="0" anchor="ctr"/>
          <a:lstStyle/>
          <a:p>
            <a:r>
              <a:rPr lang="en-US" sz="1300">
                <a:solidFill>
                  <a:srgbClr val="6B7280"/>
                </a:solidFill>
                <a:latin typeface="Calibri"/>
                <a:ea typeface="Calibri"/>
                <a:cs typeface="Calibri"/>
              </a:rPr>
              <a:t>Specific donation targets drive increased donation</a:t>
            </a:r>
            <a:endParaRPr lang="en-US"/>
          </a:p>
        </p:txBody>
      </p:sp>
      <p:sp>
        <p:nvSpPr>
          <p:cNvPr id="7" name="Text 14">
            <a:extLst>
              <a:ext uri="{FF2B5EF4-FFF2-40B4-BE49-F238E27FC236}">
                <a16:creationId xmlns:a16="http://schemas.microsoft.com/office/drawing/2014/main" id="{C22CC837-CB49-D363-69D7-723BCE1128BD}"/>
              </a:ext>
            </a:extLst>
          </p:cNvPr>
          <p:cNvSpPr txBox="1"/>
          <p:nvPr/>
        </p:nvSpPr>
        <p:spPr>
          <a:xfrm>
            <a:off x="4952999" y="2915141"/>
            <a:ext cx="3474720" cy="530352"/>
          </a:xfrm>
          <a:prstGeom prst="rect">
            <a:avLst/>
          </a:prstGeom>
          <a:noFill/>
          <a:ln/>
        </p:spPr>
        <p:txBody>
          <a:bodyPr wrap="square" lIns="0" tIns="0" rIns="0" bIns="0" rtlCol="0" anchor="ctr"/>
          <a:lstStyle/>
          <a:p>
            <a:r>
              <a:rPr lang="en-US" sz="1300" b="1">
                <a:solidFill>
                  <a:srgbClr val="1B2A41"/>
                </a:solidFill>
                <a:latin typeface="Calibri"/>
                <a:ea typeface="Calibri"/>
                <a:cs typeface="Calibri"/>
              </a:rPr>
              <a:t>Individual donors not as much a trend</a:t>
            </a:r>
            <a:endParaRPr lang="en-US"/>
          </a:p>
        </p:txBody>
      </p:sp>
    </p:spTree>
    <p:extLst>
      <p:ext uri="{BB962C8B-B14F-4D97-AF65-F5344CB8AC3E}">
        <p14:creationId xmlns:p14="http://schemas.microsoft.com/office/powerpoint/2010/main" val="834240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6DDEA-10FF-C55E-85FE-5D23EB5E0CD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F394635-420E-1CB2-18FF-F69EC5555215}"/>
              </a:ext>
            </a:extLst>
          </p:cNvPr>
          <p:cNvSpPr txBox="1"/>
          <p:nvPr/>
        </p:nvSpPr>
        <p:spPr>
          <a:xfrm>
            <a:off x="548640" y="320040"/>
            <a:ext cx="8046720" cy="640080"/>
          </a:xfrm>
          <a:prstGeom prst="rect">
            <a:avLst/>
          </a:prstGeom>
          <a:noFill/>
        </p:spPr>
        <p:txBody>
          <a:bodyPr wrap="square" lIns="0" tIns="0" rIns="0" bIns="0" anchor="t">
            <a:spAutoFit/>
          </a:bodyPr>
          <a:lstStyle/>
          <a:p>
            <a:pPr algn="l"/>
            <a:r>
              <a:rPr sz="3000" b="1" i="0">
                <a:solidFill>
                  <a:srgbClr val="1B2A41"/>
                </a:solidFill>
                <a:latin typeface="Cambria"/>
              </a:rPr>
              <a:t>What we don't know yet</a:t>
            </a:r>
          </a:p>
        </p:txBody>
      </p:sp>
      <p:sp>
        <p:nvSpPr>
          <p:cNvPr id="3" name="Rounded Rectangle 2">
            <a:extLst>
              <a:ext uri="{FF2B5EF4-FFF2-40B4-BE49-F238E27FC236}">
                <a16:creationId xmlns:a16="http://schemas.microsoft.com/office/drawing/2014/main" id="{2F036519-6F3C-ADBB-2677-287C4CCC4459}"/>
              </a:ext>
            </a:extLst>
          </p:cNvPr>
          <p:cNvSpPr/>
          <p:nvPr/>
        </p:nvSpPr>
        <p:spPr>
          <a:xfrm>
            <a:off x="548640" y="1051560"/>
            <a:ext cx="3886200" cy="1600200"/>
          </a:xfrm>
          <a:prstGeom prst="roundRect">
            <a:avLst>
              <a:gd name="adj" fmla="val 4571"/>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B5E1F20B-ACE8-3F5A-AA84-55B106E0BAEB}"/>
              </a:ext>
            </a:extLst>
          </p:cNvPr>
          <p:cNvSpPr/>
          <p:nvPr/>
        </p:nvSpPr>
        <p:spPr>
          <a:xfrm>
            <a:off x="777240" y="1280160"/>
            <a:ext cx="502920" cy="5029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aQuestion_FFFFFF.png">
            <a:extLst>
              <a:ext uri="{FF2B5EF4-FFF2-40B4-BE49-F238E27FC236}">
                <a16:creationId xmlns:a16="http://schemas.microsoft.com/office/drawing/2014/main" id="{83F7CEDE-7171-D92C-F859-9818FFC0EA7C}"/>
              </a:ext>
            </a:extLst>
          </p:cNvPr>
          <p:cNvPicPr>
            <a:picLocks noChangeAspect="1"/>
          </p:cNvPicPr>
          <p:nvPr/>
        </p:nvPicPr>
        <p:blipFill>
          <a:blip r:embed="rId3"/>
          <a:stretch>
            <a:fillRect/>
          </a:stretch>
        </p:blipFill>
        <p:spPr>
          <a:xfrm>
            <a:off x="902970" y="1405889"/>
            <a:ext cx="251460" cy="251460"/>
          </a:xfrm>
          <a:prstGeom prst="rect">
            <a:avLst/>
          </a:prstGeom>
        </p:spPr>
      </p:pic>
      <p:sp>
        <p:nvSpPr>
          <p:cNvPr id="6" name="TextBox 5">
            <a:extLst>
              <a:ext uri="{FF2B5EF4-FFF2-40B4-BE49-F238E27FC236}">
                <a16:creationId xmlns:a16="http://schemas.microsoft.com/office/drawing/2014/main" id="{55C6A9E6-919B-E90B-D6BE-22547B6A1E50}"/>
              </a:ext>
            </a:extLst>
          </p:cNvPr>
          <p:cNvSpPr txBox="1"/>
          <p:nvPr/>
        </p:nvSpPr>
        <p:spPr>
          <a:xfrm>
            <a:off x="1417319" y="1280160"/>
            <a:ext cx="2834640" cy="502920"/>
          </a:xfrm>
          <a:prstGeom prst="rect">
            <a:avLst/>
          </a:prstGeom>
          <a:noFill/>
        </p:spPr>
        <p:txBody>
          <a:bodyPr wrap="square" lIns="0" tIns="0" rIns="0" bIns="0" anchor="ctr">
            <a:spAutoFit/>
          </a:bodyPr>
          <a:lstStyle/>
          <a:p>
            <a:pPr algn="l"/>
            <a:r>
              <a:rPr sz="1500" b="1" i="0">
                <a:solidFill>
                  <a:srgbClr val="1B2A41"/>
                </a:solidFill>
                <a:latin typeface="Calibri"/>
              </a:rPr>
              <a:t>Does outreach cause the gift?</a:t>
            </a:r>
          </a:p>
        </p:txBody>
      </p:sp>
      <p:sp>
        <p:nvSpPr>
          <p:cNvPr id="7" name="TextBox 6">
            <a:extLst>
              <a:ext uri="{FF2B5EF4-FFF2-40B4-BE49-F238E27FC236}">
                <a16:creationId xmlns:a16="http://schemas.microsoft.com/office/drawing/2014/main" id="{9B0AFBCB-89E7-FC84-DD10-F44E042559A5}"/>
              </a:ext>
            </a:extLst>
          </p:cNvPr>
          <p:cNvSpPr txBox="1"/>
          <p:nvPr/>
        </p:nvSpPr>
        <p:spPr>
          <a:xfrm>
            <a:off x="777240" y="1920239"/>
            <a:ext cx="3474720" cy="640080"/>
          </a:xfrm>
          <a:prstGeom prst="rect">
            <a:avLst/>
          </a:prstGeom>
          <a:noFill/>
        </p:spPr>
        <p:txBody>
          <a:bodyPr wrap="square" lIns="0" tIns="0" rIns="0" bIns="0" anchor="t">
            <a:spAutoFit/>
          </a:bodyPr>
          <a:lstStyle/>
          <a:p>
            <a:pPr algn="l"/>
            <a:r>
              <a:rPr sz="1300" b="0" i="0">
                <a:solidFill>
                  <a:srgbClr val="6B7280"/>
                </a:solidFill>
                <a:latin typeface="Calibri"/>
              </a:rPr>
              <a:t>Nobody was randomly contacted, so we can't find the persuadables.</a:t>
            </a:r>
          </a:p>
        </p:txBody>
      </p:sp>
      <p:sp>
        <p:nvSpPr>
          <p:cNvPr id="8" name="Rounded Rectangle 7">
            <a:extLst>
              <a:ext uri="{FF2B5EF4-FFF2-40B4-BE49-F238E27FC236}">
                <a16:creationId xmlns:a16="http://schemas.microsoft.com/office/drawing/2014/main" id="{6A8A08B7-134F-755D-1B7F-09ABCA5907FB}"/>
              </a:ext>
            </a:extLst>
          </p:cNvPr>
          <p:cNvSpPr/>
          <p:nvPr/>
        </p:nvSpPr>
        <p:spPr>
          <a:xfrm>
            <a:off x="4709159" y="1051560"/>
            <a:ext cx="3886200" cy="1600200"/>
          </a:xfrm>
          <a:prstGeom prst="roundRect">
            <a:avLst>
              <a:gd name="adj" fmla="val 4571"/>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6BEDB810-F5E7-F30E-6419-0E3E39815D9C}"/>
              </a:ext>
            </a:extLst>
          </p:cNvPr>
          <p:cNvSpPr/>
          <p:nvPr/>
        </p:nvSpPr>
        <p:spPr>
          <a:xfrm>
            <a:off x="4937759" y="1280160"/>
            <a:ext cx="502920" cy="50292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a:extLst>
              <a:ext uri="{FF2B5EF4-FFF2-40B4-BE49-F238E27FC236}">
                <a16:creationId xmlns:a16="http://schemas.microsoft.com/office/drawing/2014/main" id="{7127BCB7-5A8B-CC44-0E6C-616AAAFD9649}"/>
              </a:ext>
            </a:extLst>
          </p:cNvPr>
          <p:cNvPicPr>
            <a:picLocks noChangeAspect="1"/>
          </p:cNvPicPr>
          <p:nvPr/>
        </p:nvPicPr>
        <p:blipFill>
          <a:blip r:embed="rId4"/>
          <a:stretch>
            <a:fillRect/>
          </a:stretch>
        </p:blipFill>
        <p:spPr>
          <a:xfrm>
            <a:off x="5063490" y="1405889"/>
            <a:ext cx="251460" cy="251460"/>
          </a:xfrm>
          <a:prstGeom prst="rect">
            <a:avLst/>
          </a:prstGeom>
        </p:spPr>
      </p:pic>
      <p:sp>
        <p:nvSpPr>
          <p:cNvPr id="11" name="TextBox 10">
            <a:extLst>
              <a:ext uri="{FF2B5EF4-FFF2-40B4-BE49-F238E27FC236}">
                <a16:creationId xmlns:a16="http://schemas.microsoft.com/office/drawing/2014/main" id="{9A138AF5-C5CA-CC67-5EAA-7B9EE5BC8D2E}"/>
              </a:ext>
            </a:extLst>
          </p:cNvPr>
          <p:cNvSpPr txBox="1"/>
          <p:nvPr/>
        </p:nvSpPr>
        <p:spPr>
          <a:xfrm>
            <a:off x="5577840" y="1280160"/>
            <a:ext cx="2834640" cy="502920"/>
          </a:xfrm>
          <a:prstGeom prst="rect">
            <a:avLst/>
          </a:prstGeom>
          <a:noFill/>
        </p:spPr>
        <p:txBody>
          <a:bodyPr wrap="square" lIns="0" tIns="0" rIns="0" bIns="0" anchor="ctr">
            <a:spAutoFit/>
          </a:bodyPr>
          <a:lstStyle/>
          <a:p>
            <a:pPr algn="l"/>
            <a:r>
              <a:rPr sz="1500" b="1" i="0">
                <a:solidFill>
                  <a:srgbClr val="1B2A41"/>
                </a:solidFill>
                <a:latin typeface="Calibri"/>
              </a:rPr>
              <a:t>Who was already followed up with?</a:t>
            </a:r>
          </a:p>
        </p:txBody>
      </p:sp>
      <p:sp>
        <p:nvSpPr>
          <p:cNvPr id="12" name="TextBox 11">
            <a:extLst>
              <a:ext uri="{FF2B5EF4-FFF2-40B4-BE49-F238E27FC236}">
                <a16:creationId xmlns:a16="http://schemas.microsoft.com/office/drawing/2014/main" id="{C5F6DFFB-5A9C-0C32-78F2-0BAF51270173}"/>
              </a:ext>
            </a:extLst>
          </p:cNvPr>
          <p:cNvSpPr txBox="1"/>
          <p:nvPr/>
        </p:nvSpPr>
        <p:spPr>
          <a:xfrm>
            <a:off x="4937759" y="1920239"/>
            <a:ext cx="3474720" cy="640080"/>
          </a:xfrm>
          <a:prstGeom prst="rect">
            <a:avLst/>
          </a:prstGeom>
          <a:noFill/>
        </p:spPr>
        <p:txBody>
          <a:bodyPr wrap="square" lIns="0" tIns="0" rIns="0" bIns="0" anchor="t">
            <a:spAutoFit/>
          </a:bodyPr>
          <a:lstStyle/>
          <a:p>
            <a:pPr algn="l"/>
            <a:r>
              <a:rPr sz="1300" b="0" i="0">
                <a:solidFill>
                  <a:srgbClr val="6B7280"/>
                </a:solidFill>
                <a:latin typeface="Calibri"/>
              </a:rPr>
              <a:t>Calls and emails aren't recorded. Some repeat gifts may be from follow-up we can't see.</a:t>
            </a:r>
          </a:p>
        </p:txBody>
      </p:sp>
      <p:sp>
        <p:nvSpPr>
          <p:cNvPr id="13" name="Rounded Rectangle 12">
            <a:extLst>
              <a:ext uri="{FF2B5EF4-FFF2-40B4-BE49-F238E27FC236}">
                <a16:creationId xmlns:a16="http://schemas.microsoft.com/office/drawing/2014/main" id="{5D6AC32A-661E-B112-01D6-F93C78C46831}"/>
              </a:ext>
            </a:extLst>
          </p:cNvPr>
          <p:cNvSpPr/>
          <p:nvPr/>
        </p:nvSpPr>
        <p:spPr>
          <a:xfrm>
            <a:off x="548640" y="2834639"/>
            <a:ext cx="3886200" cy="1600200"/>
          </a:xfrm>
          <a:prstGeom prst="roundRect">
            <a:avLst>
              <a:gd name="adj" fmla="val 4571"/>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a:extLst>
              <a:ext uri="{FF2B5EF4-FFF2-40B4-BE49-F238E27FC236}">
                <a16:creationId xmlns:a16="http://schemas.microsoft.com/office/drawing/2014/main" id="{ED76D9DD-3199-F3E6-298A-5B6B4FAA913C}"/>
              </a:ext>
            </a:extLst>
          </p:cNvPr>
          <p:cNvSpPr/>
          <p:nvPr/>
        </p:nvSpPr>
        <p:spPr>
          <a:xfrm>
            <a:off x="777240" y="3063239"/>
            <a:ext cx="502920" cy="50292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aEnvelopeOpenText_FFFFFF.png">
            <a:extLst>
              <a:ext uri="{FF2B5EF4-FFF2-40B4-BE49-F238E27FC236}">
                <a16:creationId xmlns:a16="http://schemas.microsoft.com/office/drawing/2014/main" id="{0962986C-9A09-103A-6673-0C626DE1E605}"/>
              </a:ext>
            </a:extLst>
          </p:cNvPr>
          <p:cNvPicPr>
            <a:picLocks noChangeAspect="1"/>
          </p:cNvPicPr>
          <p:nvPr/>
        </p:nvPicPr>
        <p:blipFill>
          <a:blip r:embed="rId5"/>
          <a:stretch>
            <a:fillRect/>
          </a:stretch>
        </p:blipFill>
        <p:spPr>
          <a:xfrm>
            <a:off x="902970" y="3188970"/>
            <a:ext cx="251460" cy="251460"/>
          </a:xfrm>
          <a:prstGeom prst="rect">
            <a:avLst/>
          </a:prstGeom>
        </p:spPr>
      </p:pic>
      <p:sp>
        <p:nvSpPr>
          <p:cNvPr id="16" name="TextBox 15">
            <a:extLst>
              <a:ext uri="{FF2B5EF4-FFF2-40B4-BE49-F238E27FC236}">
                <a16:creationId xmlns:a16="http://schemas.microsoft.com/office/drawing/2014/main" id="{AC810952-0757-AECD-D321-2DA09AE864A8}"/>
              </a:ext>
            </a:extLst>
          </p:cNvPr>
          <p:cNvSpPr txBox="1"/>
          <p:nvPr/>
        </p:nvSpPr>
        <p:spPr>
          <a:xfrm>
            <a:off x="1417319" y="3063239"/>
            <a:ext cx="2834640" cy="502920"/>
          </a:xfrm>
          <a:prstGeom prst="rect">
            <a:avLst/>
          </a:prstGeom>
          <a:noFill/>
        </p:spPr>
        <p:txBody>
          <a:bodyPr wrap="square" lIns="0" tIns="0" rIns="0" bIns="0" anchor="ctr">
            <a:spAutoFit/>
          </a:bodyPr>
          <a:lstStyle/>
          <a:p>
            <a:pPr algn="l"/>
            <a:r>
              <a:rPr sz="1500" b="1" i="0">
                <a:solidFill>
                  <a:srgbClr val="1B2A41"/>
                </a:solidFill>
                <a:latin typeface="Calibri"/>
              </a:rPr>
              <a:t>Does the thank-you packet work?</a:t>
            </a:r>
          </a:p>
        </p:txBody>
      </p:sp>
      <p:sp>
        <p:nvSpPr>
          <p:cNvPr id="17" name="TextBox 16">
            <a:extLst>
              <a:ext uri="{FF2B5EF4-FFF2-40B4-BE49-F238E27FC236}">
                <a16:creationId xmlns:a16="http://schemas.microsoft.com/office/drawing/2014/main" id="{015832FD-5A81-F391-005B-A056F5CD9084}"/>
              </a:ext>
            </a:extLst>
          </p:cNvPr>
          <p:cNvSpPr txBox="1"/>
          <p:nvPr/>
        </p:nvSpPr>
        <p:spPr>
          <a:xfrm>
            <a:off x="777240" y="3703320"/>
            <a:ext cx="3474720" cy="400110"/>
          </a:xfrm>
          <a:prstGeom prst="rect">
            <a:avLst/>
          </a:prstGeom>
          <a:noFill/>
        </p:spPr>
        <p:txBody>
          <a:bodyPr wrap="square" lIns="0" tIns="0" rIns="0" bIns="0" anchor="t">
            <a:spAutoFit/>
          </a:bodyPr>
          <a:lstStyle/>
          <a:p>
            <a:r>
              <a:rPr lang="en-US" sz="1300">
                <a:solidFill>
                  <a:srgbClr val="6B7280"/>
                </a:solidFill>
                <a:latin typeface="Calibri"/>
              </a:rPr>
              <a:t>Citizen donors with a packet recorded returned at </a:t>
            </a:r>
            <a:r>
              <a:rPr lang="en-US" sz="1300" b="1">
                <a:solidFill>
                  <a:srgbClr val="6B7280"/>
                </a:solidFill>
                <a:latin typeface="Calibri"/>
              </a:rPr>
              <a:t>20.3%</a:t>
            </a:r>
            <a:r>
              <a:rPr lang="en-US" sz="1300">
                <a:solidFill>
                  <a:srgbClr val="6B7280"/>
                </a:solidFill>
                <a:latin typeface="Calibri"/>
              </a:rPr>
              <a:t>,</a:t>
            </a:r>
            <a:r>
              <a:rPr lang="en-US" sz="1300" b="1">
                <a:solidFill>
                  <a:srgbClr val="6B7280"/>
                </a:solidFill>
                <a:latin typeface="Calibri"/>
              </a:rPr>
              <a:t> </a:t>
            </a:r>
            <a:r>
              <a:rPr lang="en-US" sz="1300">
                <a:solidFill>
                  <a:srgbClr val="6B7280"/>
                </a:solidFill>
                <a:latin typeface="Calibri"/>
              </a:rPr>
              <a:t>versus </a:t>
            </a:r>
            <a:r>
              <a:rPr lang="en-US" sz="1300" b="1">
                <a:solidFill>
                  <a:srgbClr val="6B7280"/>
                </a:solidFill>
                <a:latin typeface="Calibri"/>
              </a:rPr>
              <a:t>12.8%</a:t>
            </a:r>
            <a:r>
              <a:rPr lang="en-US" sz="1300">
                <a:solidFill>
                  <a:srgbClr val="6B7280"/>
                </a:solidFill>
                <a:latin typeface="Calibri"/>
              </a:rPr>
              <a:t> without one.</a:t>
            </a:r>
            <a:endParaRPr sz="1300" b="0" i="0">
              <a:solidFill>
                <a:srgbClr val="6B7280"/>
              </a:solidFill>
              <a:latin typeface="Calibri"/>
            </a:endParaRPr>
          </a:p>
        </p:txBody>
      </p:sp>
      <p:sp>
        <p:nvSpPr>
          <p:cNvPr id="18" name="Rounded Rectangle 17">
            <a:extLst>
              <a:ext uri="{FF2B5EF4-FFF2-40B4-BE49-F238E27FC236}">
                <a16:creationId xmlns:a16="http://schemas.microsoft.com/office/drawing/2014/main" id="{496502DB-3FB1-0AE6-536C-082FF0C7EA78}"/>
              </a:ext>
            </a:extLst>
          </p:cNvPr>
          <p:cNvSpPr/>
          <p:nvPr/>
        </p:nvSpPr>
        <p:spPr>
          <a:xfrm>
            <a:off x="4709159" y="2834639"/>
            <a:ext cx="3886200" cy="1600200"/>
          </a:xfrm>
          <a:prstGeom prst="roundRect">
            <a:avLst>
              <a:gd name="adj" fmla="val 4571"/>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a:extLst>
              <a:ext uri="{FF2B5EF4-FFF2-40B4-BE49-F238E27FC236}">
                <a16:creationId xmlns:a16="http://schemas.microsoft.com/office/drawing/2014/main" id="{6D54AE55-587F-A709-FAF1-695D8C1903C9}"/>
              </a:ext>
            </a:extLst>
          </p:cNvPr>
          <p:cNvSpPr/>
          <p:nvPr/>
        </p:nvSpPr>
        <p:spPr>
          <a:xfrm>
            <a:off x="4937759" y="3063239"/>
            <a:ext cx="502920" cy="50292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FaStore_FFFFFF.png">
            <a:extLst>
              <a:ext uri="{FF2B5EF4-FFF2-40B4-BE49-F238E27FC236}">
                <a16:creationId xmlns:a16="http://schemas.microsoft.com/office/drawing/2014/main" id="{1B38504D-0A7E-9867-BC3C-EEC557271D1E}"/>
              </a:ext>
            </a:extLst>
          </p:cNvPr>
          <p:cNvPicPr>
            <a:picLocks noChangeAspect="1"/>
          </p:cNvPicPr>
          <p:nvPr/>
        </p:nvPicPr>
        <p:blipFill>
          <a:blip r:embed="rId6"/>
          <a:stretch>
            <a:fillRect/>
          </a:stretch>
        </p:blipFill>
        <p:spPr>
          <a:xfrm>
            <a:off x="5063490" y="3188970"/>
            <a:ext cx="251460" cy="251460"/>
          </a:xfrm>
          <a:prstGeom prst="rect">
            <a:avLst/>
          </a:prstGeom>
        </p:spPr>
      </p:pic>
      <p:sp>
        <p:nvSpPr>
          <p:cNvPr id="21" name="TextBox 20">
            <a:extLst>
              <a:ext uri="{FF2B5EF4-FFF2-40B4-BE49-F238E27FC236}">
                <a16:creationId xmlns:a16="http://schemas.microsoft.com/office/drawing/2014/main" id="{3F4DD42F-3A6D-EE53-7011-E82EC6ACFAF0}"/>
              </a:ext>
            </a:extLst>
          </p:cNvPr>
          <p:cNvSpPr txBox="1"/>
          <p:nvPr/>
        </p:nvSpPr>
        <p:spPr>
          <a:xfrm>
            <a:off x="5577840" y="3063239"/>
            <a:ext cx="2834640" cy="502920"/>
          </a:xfrm>
          <a:prstGeom prst="rect">
            <a:avLst/>
          </a:prstGeom>
          <a:noFill/>
        </p:spPr>
        <p:txBody>
          <a:bodyPr wrap="square" lIns="0" tIns="0" rIns="0" bIns="0" anchor="ctr">
            <a:spAutoFit/>
          </a:bodyPr>
          <a:lstStyle/>
          <a:p>
            <a:pPr algn="l"/>
            <a:r>
              <a:rPr sz="1500" b="1" i="0">
                <a:solidFill>
                  <a:srgbClr val="1B2A41"/>
                </a:solidFill>
                <a:latin typeface="Calibri"/>
              </a:rPr>
              <a:t>Does this carry over to one nonprofit?</a:t>
            </a:r>
          </a:p>
        </p:txBody>
      </p:sp>
      <p:sp>
        <p:nvSpPr>
          <p:cNvPr id="22" name="TextBox 21">
            <a:extLst>
              <a:ext uri="{FF2B5EF4-FFF2-40B4-BE49-F238E27FC236}">
                <a16:creationId xmlns:a16="http://schemas.microsoft.com/office/drawing/2014/main" id="{BE0F3687-E866-D55D-B20A-79C7895660B0}"/>
              </a:ext>
            </a:extLst>
          </p:cNvPr>
          <p:cNvSpPr txBox="1"/>
          <p:nvPr/>
        </p:nvSpPr>
        <p:spPr>
          <a:xfrm>
            <a:off x="4937759" y="3703320"/>
            <a:ext cx="3474720" cy="640080"/>
          </a:xfrm>
          <a:prstGeom prst="rect">
            <a:avLst/>
          </a:prstGeom>
          <a:noFill/>
        </p:spPr>
        <p:txBody>
          <a:bodyPr wrap="square" lIns="0" tIns="0" rIns="0" bIns="0" anchor="t">
            <a:spAutoFit/>
          </a:bodyPr>
          <a:lstStyle/>
          <a:p>
            <a:pPr algn="l"/>
            <a:r>
              <a:rPr sz="1300" b="0" i="0">
                <a:solidFill>
                  <a:srgbClr val="6B7280"/>
                </a:solidFill>
                <a:latin typeface="Calibri"/>
              </a:rPr>
              <a:t>We count a gift to any classroom, not to the same organization.</a:t>
            </a:r>
          </a:p>
        </p:txBody>
      </p:sp>
      <p:pic>
        <p:nvPicPr>
          <p:cNvPr id="24" name="Picture 23">
            <a:extLst>
              <a:ext uri="{FF2B5EF4-FFF2-40B4-BE49-F238E27FC236}">
                <a16:creationId xmlns:a16="http://schemas.microsoft.com/office/drawing/2014/main" id="{E6EF8692-5B49-F21F-7384-6C2FA1C7AF76}"/>
              </a:ext>
            </a:extLst>
          </p:cNvPr>
          <p:cNvPicPr>
            <a:picLocks noChangeAspect="1"/>
          </p:cNvPicPr>
          <p:nvPr/>
        </p:nvPicPr>
        <p:blipFill>
          <a:blip r:embed="rId7"/>
          <a:stretch>
            <a:fillRect/>
          </a:stretch>
        </p:blipFill>
        <p:spPr>
          <a:xfrm>
            <a:off x="-7930627" y="3440430"/>
            <a:ext cx="7772400" cy="3228791"/>
          </a:xfrm>
          <a:prstGeom prst="rect">
            <a:avLst/>
          </a:prstGeom>
        </p:spPr>
      </p:pic>
      <p:sp>
        <p:nvSpPr>
          <p:cNvPr id="25" name="TextBox 24">
            <a:extLst>
              <a:ext uri="{FF2B5EF4-FFF2-40B4-BE49-F238E27FC236}">
                <a16:creationId xmlns:a16="http://schemas.microsoft.com/office/drawing/2014/main" id="{CE550F07-1C82-4D8B-D1CC-AE1F4BA52BF2}"/>
              </a:ext>
            </a:extLst>
          </p:cNvPr>
          <p:cNvSpPr txBox="1"/>
          <p:nvPr/>
        </p:nvSpPr>
        <p:spPr>
          <a:xfrm>
            <a:off x="-2424203" y="2571750"/>
            <a:ext cx="2265976" cy="773772"/>
          </a:xfrm>
          <a:prstGeom prst="rect">
            <a:avLst/>
          </a:prstGeom>
          <a:solidFill>
            <a:schemeClr val="accent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a:ea typeface="Calibri"/>
                <a:cs typeface="Calibri"/>
              </a:rPr>
              <a:t>Thadeus: Summary of thank you analysis</a:t>
            </a:r>
          </a:p>
        </p:txBody>
      </p:sp>
    </p:spTree>
    <p:extLst>
      <p:ext uri="{BB962C8B-B14F-4D97-AF65-F5344CB8AC3E}">
        <p14:creationId xmlns:p14="http://schemas.microsoft.com/office/powerpoint/2010/main" val="312785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8046720" cy="640080"/>
          </a:xfrm>
          <a:prstGeom prst="rect">
            <a:avLst/>
          </a:prstGeom>
          <a:noFill/>
        </p:spPr>
        <p:txBody>
          <a:bodyPr wrap="square" lIns="0" tIns="0" rIns="0" bIns="0" anchor="t">
            <a:spAutoFit/>
          </a:bodyPr>
          <a:lstStyle/>
          <a:p>
            <a:pPr algn="l"/>
            <a:r>
              <a:rPr sz="3000" b="1" i="0">
                <a:solidFill>
                  <a:srgbClr val="1B2A41"/>
                </a:solidFill>
                <a:latin typeface="Cambria"/>
              </a:rPr>
              <a:t>Next: the Darden pilot</a:t>
            </a:r>
          </a:p>
        </p:txBody>
      </p:sp>
      <p:cxnSp>
        <p:nvCxnSpPr>
          <p:cNvPr id="3" name="Connector 2"/>
          <p:cNvCxnSpPr/>
          <p:nvPr/>
        </p:nvCxnSpPr>
        <p:spPr>
          <a:xfrm>
            <a:off x="1234440" y="1623060"/>
            <a:ext cx="6675120" cy="0"/>
          </a:xfrm>
          <a:prstGeom prst="line">
            <a:avLst/>
          </a:prstGeom>
          <a:ln>
            <a:solidFill>
              <a:srgbClr val="C9CED6"/>
            </a:solidFill>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822960" y="1234440"/>
            <a:ext cx="777240" cy="77724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aChartBar_FFFFFF.png"/>
          <p:cNvPicPr>
            <a:picLocks noChangeAspect="1"/>
          </p:cNvPicPr>
          <p:nvPr/>
        </p:nvPicPr>
        <p:blipFill>
          <a:blip r:embed="rId3"/>
          <a:stretch>
            <a:fillRect/>
          </a:stretch>
        </p:blipFill>
        <p:spPr>
          <a:xfrm>
            <a:off x="1017270" y="1428750"/>
            <a:ext cx="388620" cy="388620"/>
          </a:xfrm>
          <a:prstGeom prst="rect">
            <a:avLst/>
          </a:prstGeom>
        </p:spPr>
      </p:pic>
      <p:sp>
        <p:nvSpPr>
          <p:cNvPr id="6" name="TextBox 5"/>
          <p:cNvSpPr txBox="1"/>
          <p:nvPr/>
        </p:nvSpPr>
        <p:spPr>
          <a:xfrm>
            <a:off x="342900" y="2148840"/>
            <a:ext cx="1737360" cy="320040"/>
          </a:xfrm>
          <a:prstGeom prst="rect">
            <a:avLst/>
          </a:prstGeom>
          <a:noFill/>
        </p:spPr>
        <p:txBody>
          <a:bodyPr wrap="square" lIns="0" tIns="0" rIns="0" bIns="0" anchor="t">
            <a:spAutoFit/>
          </a:bodyPr>
          <a:lstStyle/>
          <a:p>
            <a:pPr algn="ctr"/>
            <a:r>
              <a:rPr sz="1400" b="1" i="0">
                <a:solidFill>
                  <a:srgbClr val="1B2A41"/>
                </a:solidFill>
                <a:latin typeface="Calibri"/>
              </a:rPr>
              <a:t>1 · Score</a:t>
            </a:r>
          </a:p>
        </p:txBody>
      </p:sp>
      <p:sp>
        <p:nvSpPr>
          <p:cNvPr id="7" name="TextBox 6"/>
          <p:cNvSpPr txBox="1"/>
          <p:nvPr/>
        </p:nvSpPr>
        <p:spPr>
          <a:xfrm>
            <a:off x="342900" y="2468880"/>
            <a:ext cx="1737360" cy="548640"/>
          </a:xfrm>
          <a:prstGeom prst="rect">
            <a:avLst/>
          </a:prstGeom>
          <a:noFill/>
        </p:spPr>
        <p:txBody>
          <a:bodyPr wrap="square" lIns="0" tIns="0" rIns="0" bIns="0" anchor="t">
            <a:spAutoFit/>
          </a:bodyPr>
          <a:lstStyle/>
          <a:p>
            <a:pPr algn="ctr"/>
            <a:r>
              <a:rPr sz="1200" b="0" i="0">
                <a:solidFill>
                  <a:srgbClr val="6B7280"/>
                </a:solidFill>
                <a:latin typeface="Calibri"/>
              </a:rPr>
              <a:t>Model predicts who's likely to give</a:t>
            </a:r>
          </a:p>
        </p:txBody>
      </p:sp>
      <p:sp>
        <p:nvSpPr>
          <p:cNvPr id="8" name="Oval 7"/>
          <p:cNvSpPr/>
          <p:nvPr/>
        </p:nvSpPr>
        <p:spPr>
          <a:xfrm>
            <a:off x="2880360" y="1234440"/>
            <a:ext cx="777240" cy="77724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FaRandom_FFFFFF.png"/>
          <p:cNvPicPr>
            <a:picLocks noChangeAspect="1"/>
          </p:cNvPicPr>
          <p:nvPr/>
        </p:nvPicPr>
        <p:blipFill>
          <a:blip r:embed="rId4"/>
          <a:stretch>
            <a:fillRect/>
          </a:stretch>
        </p:blipFill>
        <p:spPr>
          <a:xfrm>
            <a:off x="3074670" y="1428750"/>
            <a:ext cx="388620" cy="388620"/>
          </a:xfrm>
          <a:prstGeom prst="rect">
            <a:avLst/>
          </a:prstGeom>
        </p:spPr>
      </p:pic>
      <p:sp>
        <p:nvSpPr>
          <p:cNvPr id="10" name="TextBox 9"/>
          <p:cNvSpPr txBox="1"/>
          <p:nvPr/>
        </p:nvSpPr>
        <p:spPr>
          <a:xfrm>
            <a:off x="2400300" y="2148840"/>
            <a:ext cx="1737360" cy="320040"/>
          </a:xfrm>
          <a:prstGeom prst="rect">
            <a:avLst/>
          </a:prstGeom>
          <a:noFill/>
        </p:spPr>
        <p:txBody>
          <a:bodyPr wrap="square" lIns="0" tIns="0" rIns="0" bIns="0" anchor="t">
            <a:spAutoFit/>
          </a:bodyPr>
          <a:lstStyle/>
          <a:p>
            <a:pPr algn="ctr"/>
            <a:r>
              <a:rPr sz="1400" b="1" i="0">
                <a:solidFill>
                  <a:srgbClr val="1B2A41"/>
                </a:solidFill>
                <a:latin typeface="Calibri"/>
              </a:rPr>
              <a:t>2 · Split at random</a:t>
            </a:r>
          </a:p>
        </p:txBody>
      </p:sp>
      <p:sp>
        <p:nvSpPr>
          <p:cNvPr id="11" name="TextBox 10"/>
          <p:cNvSpPr txBox="1"/>
          <p:nvPr/>
        </p:nvSpPr>
        <p:spPr>
          <a:xfrm>
            <a:off x="2400300" y="2468880"/>
            <a:ext cx="1737360" cy="548640"/>
          </a:xfrm>
          <a:prstGeom prst="rect">
            <a:avLst/>
          </a:prstGeom>
          <a:noFill/>
        </p:spPr>
        <p:txBody>
          <a:bodyPr wrap="square" lIns="0" tIns="0" rIns="0" bIns="0" anchor="t">
            <a:spAutoFit/>
          </a:bodyPr>
          <a:lstStyle/>
          <a:p>
            <a:pPr algn="ctr"/>
            <a:r>
              <a:rPr sz="1200" b="0" i="0">
                <a:solidFill>
                  <a:srgbClr val="6B7280"/>
                </a:solidFill>
                <a:latin typeface="Calibri"/>
              </a:rPr>
              <a:t>Within each score group</a:t>
            </a:r>
          </a:p>
        </p:txBody>
      </p:sp>
      <p:sp>
        <p:nvSpPr>
          <p:cNvPr id="12" name="Oval 11"/>
          <p:cNvSpPr/>
          <p:nvPr/>
        </p:nvSpPr>
        <p:spPr>
          <a:xfrm>
            <a:off x="4937760" y="1234440"/>
            <a:ext cx="777240" cy="77724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image.png"/>
          <p:cNvPicPr>
            <a:picLocks noChangeAspect="1"/>
          </p:cNvPicPr>
          <p:nvPr/>
        </p:nvPicPr>
        <p:blipFill>
          <a:blip r:embed="rId5"/>
          <a:stretch>
            <a:fillRect/>
          </a:stretch>
        </p:blipFill>
        <p:spPr>
          <a:xfrm>
            <a:off x="5132070" y="1428750"/>
            <a:ext cx="388620" cy="388620"/>
          </a:xfrm>
          <a:prstGeom prst="rect">
            <a:avLst/>
          </a:prstGeom>
        </p:spPr>
      </p:pic>
      <p:sp>
        <p:nvSpPr>
          <p:cNvPr id="14" name="TextBox 13"/>
          <p:cNvSpPr txBox="1"/>
          <p:nvPr/>
        </p:nvSpPr>
        <p:spPr>
          <a:xfrm>
            <a:off x="4457700" y="2148840"/>
            <a:ext cx="1737360" cy="320040"/>
          </a:xfrm>
          <a:prstGeom prst="rect">
            <a:avLst/>
          </a:prstGeom>
          <a:noFill/>
        </p:spPr>
        <p:txBody>
          <a:bodyPr wrap="square" lIns="0" tIns="0" rIns="0" bIns="0" anchor="t">
            <a:spAutoFit/>
          </a:bodyPr>
          <a:lstStyle/>
          <a:p>
            <a:pPr algn="ctr"/>
            <a:r>
              <a:rPr sz="1400" b="1" i="0">
                <a:solidFill>
                  <a:srgbClr val="1B2A41"/>
                </a:solidFill>
                <a:latin typeface="Calibri"/>
              </a:rPr>
              <a:t>3 · Reach out</a:t>
            </a:r>
          </a:p>
        </p:txBody>
      </p:sp>
      <p:sp>
        <p:nvSpPr>
          <p:cNvPr id="15" name="TextBox 14"/>
          <p:cNvSpPr txBox="1"/>
          <p:nvPr/>
        </p:nvSpPr>
        <p:spPr>
          <a:xfrm>
            <a:off x="4457700" y="2468880"/>
            <a:ext cx="1737360" cy="738664"/>
          </a:xfrm>
          <a:prstGeom prst="rect">
            <a:avLst/>
          </a:prstGeom>
          <a:noFill/>
        </p:spPr>
        <p:txBody>
          <a:bodyPr wrap="square" lIns="0" tIns="0" rIns="0" bIns="0" anchor="t">
            <a:spAutoFit/>
          </a:bodyPr>
          <a:lstStyle/>
          <a:p>
            <a:pPr algn="ctr"/>
            <a:r>
              <a:rPr sz="1200" b="0" i="0">
                <a:solidFill>
                  <a:srgbClr val="6B7280"/>
                </a:solidFill>
                <a:latin typeface="Calibri"/>
              </a:rPr>
              <a:t>Class agents contact one group first</a:t>
            </a:r>
            <a:r>
              <a:rPr lang="en-US" sz="1200">
                <a:solidFill>
                  <a:srgbClr val="6B7280"/>
                </a:solidFill>
                <a:latin typeface="Calibri"/>
              </a:rPr>
              <a:t> starting with those who have given before</a:t>
            </a:r>
            <a:endParaRPr sz="1200" b="0" i="0">
              <a:solidFill>
                <a:srgbClr val="6B7280"/>
              </a:solidFill>
              <a:latin typeface="Calibri"/>
            </a:endParaRPr>
          </a:p>
        </p:txBody>
      </p:sp>
      <p:sp>
        <p:nvSpPr>
          <p:cNvPr id="16" name="Oval 15"/>
          <p:cNvSpPr/>
          <p:nvPr/>
        </p:nvSpPr>
        <p:spPr>
          <a:xfrm>
            <a:off x="6995160" y="1234440"/>
            <a:ext cx="777240" cy="77724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image.png"/>
          <p:cNvPicPr>
            <a:picLocks noChangeAspect="1"/>
          </p:cNvPicPr>
          <p:nvPr/>
        </p:nvPicPr>
        <p:blipFill>
          <a:blip r:embed="rId6"/>
          <a:stretch>
            <a:fillRect/>
          </a:stretch>
        </p:blipFill>
        <p:spPr>
          <a:xfrm>
            <a:off x="7189470" y="1428750"/>
            <a:ext cx="388620" cy="388620"/>
          </a:xfrm>
          <a:prstGeom prst="rect">
            <a:avLst/>
          </a:prstGeom>
        </p:spPr>
      </p:pic>
      <p:sp>
        <p:nvSpPr>
          <p:cNvPr id="18" name="TextBox 17"/>
          <p:cNvSpPr txBox="1"/>
          <p:nvPr/>
        </p:nvSpPr>
        <p:spPr>
          <a:xfrm>
            <a:off x="6515100" y="2148840"/>
            <a:ext cx="1737360" cy="320040"/>
          </a:xfrm>
          <a:prstGeom prst="rect">
            <a:avLst/>
          </a:prstGeom>
          <a:noFill/>
        </p:spPr>
        <p:txBody>
          <a:bodyPr wrap="square" lIns="0" tIns="0" rIns="0" bIns="0" anchor="t">
            <a:spAutoFit/>
          </a:bodyPr>
          <a:lstStyle/>
          <a:p>
            <a:pPr algn="ctr"/>
            <a:r>
              <a:rPr sz="1400" b="1" i="0">
                <a:solidFill>
                  <a:srgbClr val="1B2A41"/>
                </a:solidFill>
                <a:latin typeface="Calibri"/>
              </a:rPr>
              <a:t>4 · Compare</a:t>
            </a:r>
          </a:p>
        </p:txBody>
      </p:sp>
      <p:sp>
        <p:nvSpPr>
          <p:cNvPr id="19" name="TextBox 18"/>
          <p:cNvSpPr txBox="1"/>
          <p:nvPr/>
        </p:nvSpPr>
        <p:spPr>
          <a:xfrm>
            <a:off x="6515100" y="2468880"/>
            <a:ext cx="1737360" cy="548640"/>
          </a:xfrm>
          <a:prstGeom prst="rect">
            <a:avLst/>
          </a:prstGeom>
          <a:noFill/>
        </p:spPr>
        <p:txBody>
          <a:bodyPr wrap="square" lIns="0" tIns="0" rIns="0" bIns="0" anchor="t">
            <a:spAutoFit/>
          </a:bodyPr>
          <a:lstStyle/>
          <a:p>
            <a:pPr algn="ctr"/>
            <a:r>
              <a:rPr sz="1200" b="0" i="0">
                <a:solidFill>
                  <a:srgbClr val="6B7280"/>
                </a:solidFill>
                <a:latin typeface="Calibri"/>
              </a:rPr>
              <a:t>The gap is what outreach adds</a:t>
            </a:r>
          </a:p>
        </p:txBody>
      </p:sp>
      <p:sp>
        <p:nvSpPr>
          <p:cNvPr id="20" name="TextBox 19"/>
          <p:cNvSpPr txBox="1"/>
          <p:nvPr/>
        </p:nvSpPr>
        <p:spPr>
          <a:xfrm>
            <a:off x="548640" y="3108960"/>
            <a:ext cx="8046720" cy="274320"/>
          </a:xfrm>
          <a:prstGeom prst="rect">
            <a:avLst/>
          </a:prstGeom>
          <a:noFill/>
        </p:spPr>
        <p:txBody>
          <a:bodyPr wrap="square" lIns="0" tIns="0" rIns="0" bIns="0" anchor="t">
            <a:spAutoFit/>
          </a:bodyPr>
          <a:lstStyle/>
          <a:p>
            <a:pPr algn="l"/>
            <a:r>
              <a:rPr sz="1050" b="1" i="0">
                <a:solidFill>
                  <a:srgbClr val="E4572E"/>
                </a:solidFill>
                <a:latin typeface="Calibri"/>
              </a:rPr>
              <a:t>WHAT WE'D TEST</a:t>
            </a:r>
          </a:p>
        </p:txBody>
      </p:sp>
      <p:sp>
        <p:nvSpPr>
          <p:cNvPr id="21" name="Rounded Rectangle 20"/>
          <p:cNvSpPr/>
          <p:nvPr/>
        </p:nvSpPr>
        <p:spPr>
          <a:xfrm>
            <a:off x="548640" y="3429000"/>
            <a:ext cx="2514600" cy="777240"/>
          </a:xfrm>
          <a:prstGeom prst="roundRect">
            <a:avLst>
              <a:gd name="adj" fmla="val 9411"/>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31520" y="3566160"/>
            <a:ext cx="502920" cy="50292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FaCommentDots_FFFFFF.png"/>
          <p:cNvPicPr>
            <a:picLocks noChangeAspect="1"/>
          </p:cNvPicPr>
          <p:nvPr/>
        </p:nvPicPr>
        <p:blipFill>
          <a:blip r:embed="rId7"/>
          <a:stretch>
            <a:fillRect/>
          </a:stretch>
        </p:blipFill>
        <p:spPr>
          <a:xfrm>
            <a:off x="857250" y="3691889"/>
            <a:ext cx="251460" cy="251460"/>
          </a:xfrm>
          <a:prstGeom prst="rect">
            <a:avLst/>
          </a:prstGeom>
        </p:spPr>
      </p:pic>
      <p:sp>
        <p:nvSpPr>
          <p:cNvPr id="24" name="TextBox 23"/>
          <p:cNvSpPr txBox="1"/>
          <p:nvPr/>
        </p:nvSpPr>
        <p:spPr>
          <a:xfrm>
            <a:off x="1371600" y="3429000"/>
            <a:ext cx="1600200" cy="777240"/>
          </a:xfrm>
          <a:prstGeom prst="rect">
            <a:avLst/>
          </a:prstGeom>
          <a:noFill/>
        </p:spPr>
        <p:txBody>
          <a:bodyPr wrap="square" lIns="0" tIns="0" rIns="0" bIns="0" anchor="ctr">
            <a:spAutoFit/>
          </a:bodyPr>
          <a:lstStyle/>
          <a:p>
            <a:pPr algn="l"/>
            <a:r>
              <a:rPr sz="1300" b="1" i="0">
                <a:solidFill>
                  <a:srgbClr val="1B2A41"/>
                </a:solidFill>
                <a:latin typeface="Calibri"/>
              </a:rPr>
              <a:t>Personal outreach vs. none</a:t>
            </a:r>
          </a:p>
        </p:txBody>
      </p:sp>
      <p:sp>
        <p:nvSpPr>
          <p:cNvPr id="25" name="Rounded Rectangle 24"/>
          <p:cNvSpPr/>
          <p:nvPr/>
        </p:nvSpPr>
        <p:spPr>
          <a:xfrm>
            <a:off x="3291840" y="3429000"/>
            <a:ext cx="2514600" cy="777240"/>
          </a:xfrm>
          <a:prstGeom prst="roundRect">
            <a:avLst>
              <a:gd name="adj" fmla="val 9411"/>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3474720" y="3566160"/>
            <a:ext cx="502920" cy="50292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FaHandHoldingHeart_FFFFFF.png"/>
          <p:cNvPicPr>
            <a:picLocks noChangeAspect="1"/>
          </p:cNvPicPr>
          <p:nvPr/>
        </p:nvPicPr>
        <p:blipFill>
          <a:blip r:embed="rId8"/>
          <a:stretch>
            <a:fillRect/>
          </a:stretch>
        </p:blipFill>
        <p:spPr>
          <a:xfrm>
            <a:off x="3600450" y="3691889"/>
            <a:ext cx="251460" cy="251460"/>
          </a:xfrm>
          <a:prstGeom prst="rect">
            <a:avLst/>
          </a:prstGeom>
        </p:spPr>
      </p:pic>
      <p:sp>
        <p:nvSpPr>
          <p:cNvPr id="28" name="TextBox 27"/>
          <p:cNvSpPr txBox="1"/>
          <p:nvPr/>
        </p:nvSpPr>
        <p:spPr>
          <a:xfrm>
            <a:off x="4114800" y="3429000"/>
            <a:ext cx="1600200" cy="777240"/>
          </a:xfrm>
          <a:prstGeom prst="rect">
            <a:avLst/>
          </a:prstGeom>
          <a:noFill/>
        </p:spPr>
        <p:txBody>
          <a:bodyPr wrap="square" lIns="0" tIns="0" rIns="0" bIns="0" anchor="ctr">
            <a:spAutoFit/>
          </a:bodyPr>
          <a:lstStyle/>
          <a:p>
            <a:pPr algn="l"/>
            <a:r>
              <a:rPr sz="1300" b="1" i="0">
                <a:solidFill>
                  <a:srgbClr val="1B2A41"/>
                </a:solidFill>
                <a:latin typeface="Calibri"/>
              </a:rPr>
              <a:t>Personal thank-you vs. standard</a:t>
            </a:r>
          </a:p>
        </p:txBody>
      </p:sp>
      <p:sp>
        <p:nvSpPr>
          <p:cNvPr id="29" name="Rounded Rectangle 28"/>
          <p:cNvSpPr/>
          <p:nvPr/>
        </p:nvSpPr>
        <p:spPr>
          <a:xfrm>
            <a:off x="6035040" y="3429000"/>
            <a:ext cx="2514600" cy="777240"/>
          </a:xfrm>
          <a:prstGeom prst="roundRect">
            <a:avLst>
              <a:gd name="adj" fmla="val 9411"/>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6217920" y="3566160"/>
            <a:ext cx="502920" cy="50292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FaSeedling_FFFFFF.png"/>
          <p:cNvPicPr>
            <a:picLocks noChangeAspect="1"/>
          </p:cNvPicPr>
          <p:nvPr/>
        </p:nvPicPr>
        <p:blipFill>
          <a:blip r:embed="rId9"/>
          <a:stretch>
            <a:fillRect/>
          </a:stretch>
        </p:blipFill>
        <p:spPr>
          <a:xfrm>
            <a:off x="6343650" y="3691889"/>
            <a:ext cx="251460" cy="251460"/>
          </a:xfrm>
          <a:prstGeom prst="rect">
            <a:avLst/>
          </a:prstGeom>
        </p:spPr>
      </p:pic>
      <p:sp>
        <p:nvSpPr>
          <p:cNvPr id="32" name="TextBox 31"/>
          <p:cNvSpPr txBox="1"/>
          <p:nvPr/>
        </p:nvSpPr>
        <p:spPr>
          <a:xfrm>
            <a:off x="6858000" y="3429000"/>
            <a:ext cx="1600200" cy="777240"/>
          </a:xfrm>
          <a:prstGeom prst="rect">
            <a:avLst/>
          </a:prstGeom>
          <a:noFill/>
        </p:spPr>
        <p:txBody>
          <a:bodyPr wrap="square" lIns="0" tIns="0" rIns="0" bIns="0" anchor="ctr">
            <a:spAutoFit/>
          </a:bodyPr>
          <a:lstStyle/>
          <a:p>
            <a:pPr algn="l"/>
            <a:r>
              <a:rPr sz="1300" b="1" i="0">
                <a:solidFill>
                  <a:srgbClr val="1B2A41"/>
                </a:solidFill>
                <a:latin typeface="Calibri"/>
              </a:rPr>
              <a:t>Impact update vs. none</a:t>
            </a:r>
          </a:p>
        </p:txBody>
      </p:sp>
    </p:spTree>
    <p:extLst>
      <p:ext uri="{BB962C8B-B14F-4D97-AF65-F5344CB8AC3E}">
        <p14:creationId xmlns:p14="http://schemas.microsoft.com/office/powerpoint/2010/main" val="636626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name="Slide 14">
    <p:bg>
      <p:bgPr>
        <a:solidFill>
          <a:srgbClr val="1B2A41"/>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3200" b="1">
                <a:solidFill>
                  <a:srgbClr val="FFFFFF"/>
                </a:solidFill>
                <a:latin typeface="Cambria" pitchFamily="34" charset="0"/>
                <a:ea typeface="Cambria" pitchFamily="34" charset="-122"/>
                <a:cs typeface="Cambria" pitchFamily="34" charset="-120"/>
              </a:rPr>
              <a:t>What GoGood should do</a:t>
            </a:r>
            <a:endParaRPr lang="en-US" sz="3200"/>
          </a:p>
        </p:txBody>
      </p:sp>
      <p:sp>
        <p:nvSpPr>
          <p:cNvPr id="3" name="Text 1"/>
          <p:cNvSpPr txBox="1"/>
          <p:nvPr/>
        </p:nvSpPr>
        <p:spPr>
          <a:xfrm>
            <a:off x="548640" y="1280160"/>
            <a:ext cx="548640" cy="731520"/>
          </a:xfrm>
          <a:prstGeom prst="rect">
            <a:avLst/>
          </a:prstGeom>
          <a:noFill/>
          <a:ln/>
        </p:spPr>
        <p:txBody>
          <a:bodyPr wrap="square" lIns="0" tIns="0" rIns="0" bIns="0" rtlCol="0" anchor="ctr"/>
          <a:lstStyle/>
          <a:p>
            <a:pPr marL="0" indent="0">
              <a:buNone/>
            </a:pPr>
            <a:r>
              <a:rPr lang="en-US" sz="4000" b="1">
                <a:solidFill>
                  <a:srgbClr val="E4572E"/>
                </a:solidFill>
                <a:latin typeface="Cambria" pitchFamily="34" charset="0"/>
                <a:ea typeface="Cambria" pitchFamily="34" charset="-122"/>
                <a:cs typeface="Cambria" pitchFamily="34" charset="-120"/>
              </a:rPr>
              <a:t>1</a:t>
            </a:r>
            <a:endParaRPr lang="en-US" sz="4000"/>
          </a:p>
        </p:txBody>
      </p:sp>
      <p:sp>
        <p:nvSpPr>
          <p:cNvPr id="4" name="Text 2"/>
          <p:cNvSpPr txBox="1"/>
          <p:nvPr/>
        </p:nvSpPr>
        <p:spPr>
          <a:xfrm>
            <a:off x="1234440" y="1298448"/>
            <a:ext cx="7315200" cy="384048"/>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Predict who's likely to give again.</a:t>
            </a:r>
            <a:endParaRPr lang="en-US" sz="2000"/>
          </a:p>
        </p:txBody>
      </p:sp>
      <p:sp>
        <p:nvSpPr>
          <p:cNvPr id="5" name="Text 3"/>
          <p:cNvSpPr txBox="1"/>
          <p:nvPr/>
        </p:nvSpPr>
        <p:spPr>
          <a:xfrm>
            <a:off x="1234440" y="1691640"/>
            <a:ext cx="7315200" cy="320040"/>
          </a:xfrm>
          <a:prstGeom prst="rect">
            <a:avLst/>
          </a:prstGeom>
          <a:noFill/>
          <a:ln/>
        </p:spPr>
        <p:txBody>
          <a:bodyPr wrap="square" lIns="0" tIns="0" rIns="0" bIns="0" rtlCol="0" anchor="ctr"/>
          <a:lstStyle/>
          <a:p>
            <a:pPr marL="0" indent="0">
              <a:buNone/>
            </a:pPr>
            <a:r>
              <a:rPr lang="en-US" sz="1400">
                <a:solidFill>
                  <a:srgbClr val="CADCFC"/>
                </a:solidFill>
                <a:latin typeface="Calibri" pitchFamily="34" charset="0"/>
                <a:ea typeface="Calibri" pitchFamily="34" charset="-122"/>
                <a:cs typeface="Calibri" pitchFamily="34" charset="-120"/>
              </a:rPr>
              <a:t>Its top 10% held 58% of next year's repeat dollars</a:t>
            </a:r>
            <a:endParaRPr lang="en-US" sz="1400"/>
          </a:p>
        </p:txBody>
      </p:sp>
      <p:sp>
        <p:nvSpPr>
          <p:cNvPr id="6" name="Text 4"/>
          <p:cNvSpPr txBox="1"/>
          <p:nvPr/>
        </p:nvSpPr>
        <p:spPr>
          <a:xfrm>
            <a:off x="548640" y="2286000"/>
            <a:ext cx="548640" cy="731520"/>
          </a:xfrm>
          <a:prstGeom prst="rect">
            <a:avLst/>
          </a:prstGeom>
          <a:noFill/>
          <a:ln/>
        </p:spPr>
        <p:txBody>
          <a:bodyPr wrap="square" lIns="0" tIns="0" rIns="0" bIns="0" rtlCol="0" anchor="ctr"/>
          <a:lstStyle/>
          <a:p>
            <a:pPr marL="0" indent="0">
              <a:buNone/>
            </a:pPr>
            <a:r>
              <a:rPr lang="en-US" sz="4000" b="1">
                <a:solidFill>
                  <a:srgbClr val="E4572E"/>
                </a:solidFill>
                <a:latin typeface="Cambria" pitchFamily="34" charset="0"/>
                <a:ea typeface="Cambria" pitchFamily="34" charset="-122"/>
                <a:cs typeface="Cambria" pitchFamily="34" charset="-120"/>
              </a:rPr>
              <a:t>2</a:t>
            </a:r>
            <a:endParaRPr lang="en-US" sz="4000"/>
          </a:p>
        </p:txBody>
      </p:sp>
      <p:sp>
        <p:nvSpPr>
          <p:cNvPr id="7" name="Text 5"/>
          <p:cNvSpPr txBox="1"/>
          <p:nvPr/>
        </p:nvSpPr>
        <p:spPr>
          <a:xfrm>
            <a:off x="1234440" y="2304288"/>
            <a:ext cx="7315200" cy="384048"/>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Don't spend outreach on sure things.</a:t>
            </a:r>
            <a:endParaRPr lang="en-US" sz="2000"/>
          </a:p>
        </p:txBody>
      </p:sp>
      <p:sp>
        <p:nvSpPr>
          <p:cNvPr id="8" name="Text 6"/>
          <p:cNvSpPr txBox="1"/>
          <p:nvPr/>
        </p:nvSpPr>
        <p:spPr>
          <a:xfrm>
            <a:off x="1234440" y="2697480"/>
            <a:ext cx="7315200" cy="320040"/>
          </a:xfrm>
          <a:prstGeom prst="rect">
            <a:avLst/>
          </a:prstGeom>
          <a:noFill/>
          <a:ln/>
        </p:spPr>
        <p:txBody>
          <a:bodyPr wrap="square" lIns="0" tIns="0" rIns="0" bIns="0" rtlCol="0" anchor="ctr"/>
          <a:lstStyle/>
          <a:p>
            <a:pPr marL="0" indent="0">
              <a:buNone/>
            </a:pPr>
            <a:r>
              <a:rPr lang="en-US" sz="1400">
                <a:solidFill>
                  <a:srgbClr val="CADCFC"/>
                </a:solidFill>
                <a:latin typeface="Calibri" pitchFamily="34" charset="0"/>
                <a:ea typeface="Calibri" pitchFamily="34" charset="-122"/>
                <a:cs typeface="Calibri" pitchFamily="34" charset="-120"/>
              </a:rPr>
              <a:t>Likely givers may come back anyway. Save personal time.</a:t>
            </a:r>
            <a:endParaRPr lang="en-US" sz="1400"/>
          </a:p>
        </p:txBody>
      </p:sp>
      <p:sp>
        <p:nvSpPr>
          <p:cNvPr id="9" name="Text 7"/>
          <p:cNvSpPr txBox="1"/>
          <p:nvPr/>
        </p:nvSpPr>
        <p:spPr>
          <a:xfrm>
            <a:off x="548640" y="3291840"/>
            <a:ext cx="548640" cy="731520"/>
          </a:xfrm>
          <a:prstGeom prst="rect">
            <a:avLst/>
          </a:prstGeom>
          <a:noFill/>
          <a:ln/>
        </p:spPr>
        <p:txBody>
          <a:bodyPr wrap="square" lIns="0" tIns="0" rIns="0" bIns="0" rtlCol="0" anchor="ctr"/>
          <a:lstStyle/>
          <a:p>
            <a:pPr marL="0" indent="0">
              <a:buNone/>
            </a:pPr>
            <a:r>
              <a:rPr lang="en-US" sz="4000" b="1">
                <a:solidFill>
                  <a:srgbClr val="E4572E"/>
                </a:solidFill>
                <a:latin typeface="Cambria" pitchFamily="34" charset="0"/>
                <a:ea typeface="Cambria" pitchFamily="34" charset="-122"/>
                <a:cs typeface="Cambria" pitchFamily="34" charset="-120"/>
              </a:rPr>
              <a:t>3</a:t>
            </a:r>
            <a:endParaRPr lang="en-US" sz="4000"/>
          </a:p>
        </p:txBody>
      </p:sp>
      <p:sp>
        <p:nvSpPr>
          <p:cNvPr id="10" name="Text 8"/>
          <p:cNvSpPr txBox="1"/>
          <p:nvPr/>
        </p:nvSpPr>
        <p:spPr>
          <a:xfrm>
            <a:off x="1234440" y="3310128"/>
            <a:ext cx="7315200" cy="384048"/>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Run the Darden pilot to find the </a:t>
            </a:r>
            <a:r>
              <a:rPr lang="en-US" sz="2000" b="1" err="1">
                <a:solidFill>
                  <a:srgbClr val="FFFFFF"/>
                </a:solidFill>
                <a:latin typeface="Calibri" pitchFamily="34" charset="0"/>
                <a:ea typeface="Calibri" pitchFamily="34" charset="-122"/>
                <a:cs typeface="Calibri" pitchFamily="34" charset="-120"/>
              </a:rPr>
              <a:t>persuadables</a:t>
            </a:r>
            <a:r>
              <a:rPr lang="en-US" sz="2000" b="1">
                <a:solidFill>
                  <a:srgbClr val="FFFFFF"/>
                </a:solidFill>
                <a:latin typeface="Calibri" pitchFamily="34" charset="0"/>
                <a:ea typeface="Calibri" pitchFamily="34" charset="-122"/>
                <a:cs typeface="Calibri" pitchFamily="34" charset="-120"/>
              </a:rPr>
              <a:t>.</a:t>
            </a:r>
            <a:endParaRPr lang="en-US" sz="2000"/>
          </a:p>
        </p:txBody>
      </p:sp>
      <p:sp>
        <p:nvSpPr>
          <p:cNvPr id="11" name="Text 9"/>
          <p:cNvSpPr txBox="1"/>
          <p:nvPr/>
        </p:nvSpPr>
        <p:spPr>
          <a:xfrm>
            <a:off x="1234440" y="3703320"/>
            <a:ext cx="7315200" cy="320040"/>
          </a:xfrm>
          <a:prstGeom prst="rect">
            <a:avLst/>
          </a:prstGeom>
          <a:noFill/>
          <a:ln/>
        </p:spPr>
        <p:txBody>
          <a:bodyPr wrap="square" lIns="0" tIns="0" rIns="0" bIns="0" rtlCol="0" anchor="ctr"/>
          <a:lstStyle/>
          <a:p>
            <a:pPr marL="0" indent="0">
              <a:buNone/>
            </a:pPr>
            <a:r>
              <a:rPr lang="en-US" sz="1400">
                <a:solidFill>
                  <a:srgbClr val="CADCFC"/>
                </a:solidFill>
                <a:latin typeface="Calibri" pitchFamily="34" charset="0"/>
                <a:ea typeface="Calibri" pitchFamily="34" charset="-122"/>
                <a:cs typeface="Calibri" pitchFamily="34" charset="-120"/>
              </a:rPr>
              <a:t>Random outreach, measured within each score group</a:t>
            </a:r>
            <a:endParaRPr lang="en-US" sz="1400"/>
          </a:p>
        </p:txBody>
      </p:sp>
      <p:sp>
        <p:nvSpPr>
          <p:cNvPr id="12" name="Text 10"/>
          <p:cNvSpPr txBox="1"/>
          <p:nvPr/>
        </p:nvSpPr>
        <p:spPr>
          <a:xfrm>
            <a:off x="548640" y="4572000"/>
            <a:ext cx="8046720" cy="274320"/>
          </a:xfrm>
          <a:prstGeom prst="rect">
            <a:avLst/>
          </a:prstGeom>
          <a:noFill/>
          <a:ln/>
        </p:spPr>
        <p:txBody>
          <a:bodyPr wrap="square" lIns="0" tIns="0" rIns="0" bIns="0" rtlCol="0" anchor="ctr"/>
          <a:lstStyle/>
          <a:p>
            <a:pPr marL="0" indent="0">
              <a:buNone/>
            </a:pPr>
            <a:r>
              <a:rPr lang="en-US" sz="1100">
                <a:solidFill>
                  <a:srgbClr val="9AA5B8"/>
                </a:solidFill>
                <a:latin typeface="Calibri" pitchFamily="34" charset="0"/>
                <a:ea typeface="Calibri" pitchFamily="34" charset="-122"/>
                <a:cs typeface="Calibri" pitchFamily="34" charset="-120"/>
              </a:rPr>
              <a:t>github.com/</a:t>
            </a:r>
            <a:r>
              <a:rPr lang="en-US" sz="1100" err="1">
                <a:solidFill>
                  <a:srgbClr val="9AA5B8"/>
                </a:solidFill>
                <a:latin typeface="Calibri" pitchFamily="34" charset="0"/>
                <a:ea typeface="Calibri" pitchFamily="34" charset="-122"/>
                <a:cs typeface="Calibri" pitchFamily="34" charset="-120"/>
              </a:rPr>
              <a:t>bakulbadwal</a:t>
            </a:r>
            <a:r>
              <a:rPr lang="en-US" sz="1100">
                <a:solidFill>
                  <a:srgbClr val="9AA5B8"/>
                </a:solidFill>
                <a:latin typeface="Calibri" pitchFamily="34" charset="0"/>
                <a:ea typeface="Calibri" pitchFamily="34" charset="-122"/>
                <a:cs typeface="Calibri" pitchFamily="34" charset="-120"/>
              </a:rPr>
              <a:t>/gbus8496-project</a:t>
            </a:r>
            <a:endParaRPr lang="en-US" sz="1100"/>
          </a:p>
        </p:txBody>
      </p:sp>
    </p:spTree>
    <p:extLst>
      <p:ext uri="{BB962C8B-B14F-4D97-AF65-F5344CB8AC3E}">
        <p14:creationId xmlns:p14="http://schemas.microsoft.com/office/powerpoint/2010/main" val="13889126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name="Slide 10">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marL="0" indent="0">
              <a:buNone/>
            </a:pPr>
            <a:r>
              <a:rPr lang="en-US" sz="3000" b="1">
                <a:solidFill>
                  <a:srgbClr val="1B2A41"/>
                </a:solidFill>
                <a:latin typeface="Cambria" pitchFamily="34" charset="0"/>
                <a:ea typeface="Cambria" pitchFamily="34" charset="-122"/>
                <a:cs typeface="Cambria" pitchFamily="34" charset="-120"/>
              </a:rPr>
              <a:t>How we double-checked</a:t>
            </a:r>
            <a:endParaRPr lang="en-US" sz="3000"/>
          </a:p>
        </p:txBody>
      </p:sp>
      <p:sp>
        <p:nvSpPr>
          <p:cNvPr id="3" name="Shape 1"/>
          <p:cNvSpPr/>
          <p:nvPr/>
        </p:nvSpPr>
        <p:spPr>
          <a:xfrm>
            <a:off x="548640" y="1097280"/>
            <a:ext cx="2514600" cy="1417320"/>
          </a:xfrm>
          <a:prstGeom prst="roundRect">
            <a:avLst>
              <a:gd name="adj" fmla="val 5161"/>
            </a:avLst>
          </a:prstGeom>
          <a:solidFill>
            <a:srgbClr val="F1F3F5"/>
          </a:solidFill>
          <a:ln w="12700">
            <a:solidFill>
              <a:srgbClr val="F1F3F5"/>
            </a:solidFill>
            <a:prstDash val="solid"/>
          </a:ln>
        </p:spPr>
        <p:txBody>
          <a:bodyPr/>
          <a:lstStyle/>
          <a:p>
            <a:endParaRPr lang="en-US"/>
          </a:p>
        </p:txBody>
      </p:sp>
      <p:sp>
        <p:nvSpPr>
          <p:cNvPr id="4" name="Shape 2"/>
          <p:cNvSpPr/>
          <p:nvPr/>
        </p:nvSpPr>
        <p:spPr>
          <a:xfrm>
            <a:off x="731520" y="1280160"/>
            <a:ext cx="502920" cy="502920"/>
          </a:xfrm>
          <a:prstGeom prst="ellipse">
            <a:avLst/>
          </a:prstGeom>
          <a:solidFill>
            <a:srgbClr val="1B2A41"/>
          </a:solidFill>
          <a:ln w="12700">
            <a:solidFill>
              <a:srgbClr val="1B2A41"/>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857250" y="1405890"/>
            <a:ext cx="251460" cy="251460"/>
          </a:xfrm>
          <a:prstGeom prst="rect">
            <a:avLst/>
          </a:prstGeom>
        </p:spPr>
      </p:pic>
      <p:sp>
        <p:nvSpPr>
          <p:cNvPr id="6" name="Text 3"/>
          <p:cNvSpPr txBox="1"/>
          <p:nvPr/>
        </p:nvSpPr>
        <p:spPr>
          <a:xfrm>
            <a:off x="1371600" y="1280160"/>
            <a:ext cx="1600200" cy="502920"/>
          </a:xfrm>
          <a:prstGeom prst="rect">
            <a:avLst/>
          </a:prstGeom>
          <a:noFill/>
          <a:ln/>
        </p:spPr>
        <p:txBody>
          <a:bodyPr wrap="square" lIns="0" tIns="0" rIns="0" bIns="0" rtlCol="0" anchor="ctr"/>
          <a:lstStyle/>
          <a:p>
            <a:pPr marL="0" indent="0">
              <a:buNone/>
            </a:pPr>
            <a:r>
              <a:rPr lang="en-US" sz="1500" b="1">
                <a:solidFill>
                  <a:srgbClr val="1B2A41"/>
                </a:solidFill>
                <a:latin typeface="Calibri" pitchFamily="34" charset="0"/>
                <a:ea typeface="Calibri" pitchFamily="34" charset="-122"/>
                <a:cs typeface="Calibri" pitchFamily="34" charset="-120"/>
              </a:rPr>
              <a:t>13 label tests</a:t>
            </a:r>
            <a:endParaRPr lang="en-US" sz="1500"/>
          </a:p>
        </p:txBody>
      </p:sp>
      <p:sp>
        <p:nvSpPr>
          <p:cNvPr id="7" name="Text 4"/>
          <p:cNvSpPr txBox="1"/>
          <p:nvPr/>
        </p:nvSpPr>
        <p:spPr>
          <a:xfrm>
            <a:off x="731520" y="1901952"/>
            <a:ext cx="2194560" cy="502920"/>
          </a:xfrm>
          <a:prstGeom prst="rect">
            <a:avLst/>
          </a:prstGeom>
          <a:noFill/>
          <a:ln/>
        </p:spPr>
        <p:txBody>
          <a:bodyPr wrap="square" lIns="0" tIns="0" rIns="0" bIns="0" rtlCol="0" anchor="t"/>
          <a:lstStyle/>
          <a:p>
            <a:pPr marL="0" indent="0">
              <a:buNone/>
            </a:pPr>
            <a:r>
              <a:rPr lang="en-US" sz="1200">
                <a:solidFill>
                  <a:srgbClr val="6B7280"/>
                </a:solidFill>
                <a:latin typeface="Calibri" pitchFamily="34" charset="0"/>
                <a:ea typeface="Calibri" pitchFamily="34" charset="-122"/>
                <a:cs typeface="Calibri" pitchFamily="34" charset="-120"/>
              </a:rPr>
              <a:t>Tiny fake dataset with known answers</a:t>
            </a:r>
            <a:endParaRPr lang="en-US" sz="1200"/>
          </a:p>
        </p:txBody>
      </p:sp>
      <p:sp>
        <p:nvSpPr>
          <p:cNvPr id="8" name="Shape 5"/>
          <p:cNvSpPr/>
          <p:nvPr/>
        </p:nvSpPr>
        <p:spPr>
          <a:xfrm>
            <a:off x="3314700" y="1097280"/>
            <a:ext cx="2514600" cy="1417320"/>
          </a:xfrm>
          <a:prstGeom prst="roundRect">
            <a:avLst>
              <a:gd name="adj" fmla="val 5161"/>
            </a:avLst>
          </a:prstGeom>
          <a:solidFill>
            <a:srgbClr val="F1F3F5"/>
          </a:solidFill>
          <a:ln w="12700">
            <a:solidFill>
              <a:srgbClr val="F1F3F5"/>
            </a:solidFill>
            <a:prstDash val="solid"/>
          </a:ln>
        </p:spPr>
        <p:txBody>
          <a:bodyPr/>
          <a:lstStyle/>
          <a:p>
            <a:endParaRPr lang="en-US"/>
          </a:p>
        </p:txBody>
      </p:sp>
      <p:sp>
        <p:nvSpPr>
          <p:cNvPr id="9" name="Shape 6"/>
          <p:cNvSpPr/>
          <p:nvPr/>
        </p:nvSpPr>
        <p:spPr>
          <a:xfrm>
            <a:off x="3497580" y="1280160"/>
            <a:ext cx="502920" cy="502920"/>
          </a:xfrm>
          <a:prstGeom prst="ellipse">
            <a:avLst/>
          </a:prstGeom>
          <a:solidFill>
            <a:srgbClr val="1B2A41"/>
          </a:solidFill>
          <a:ln w="12700">
            <a:solidFill>
              <a:srgbClr val="1B2A41"/>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3623310" y="1405890"/>
            <a:ext cx="251460" cy="251460"/>
          </a:xfrm>
          <a:prstGeom prst="rect">
            <a:avLst/>
          </a:prstGeom>
        </p:spPr>
      </p:pic>
      <p:sp>
        <p:nvSpPr>
          <p:cNvPr id="11" name="Text 7"/>
          <p:cNvSpPr txBox="1"/>
          <p:nvPr/>
        </p:nvSpPr>
        <p:spPr>
          <a:xfrm>
            <a:off x="4137660" y="1280160"/>
            <a:ext cx="1600200" cy="502920"/>
          </a:xfrm>
          <a:prstGeom prst="rect">
            <a:avLst/>
          </a:prstGeom>
          <a:noFill/>
          <a:ln/>
        </p:spPr>
        <p:txBody>
          <a:bodyPr wrap="square" lIns="0" tIns="0" rIns="0" bIns="0" rtlCol="0" anchor="ctr"/>
          <a:lstStyle/>
          <a:p>
            <a:pPr marL="0" indent="0">
              <a:buNone/>
            </a:pPr>
            <a:r>
              <a:rPr lang="en-US" sz="1500" b="1">
                <a:solidFill>
                  <a:srgbClr val="1B2A41"/>
                </a:solidFill>
                <a:latin typeface="Calibri" pitchFamily="34" charset="0"/>
                <a:ea typeface="Calibri" pitchFamily="34" charset="-122"/>
                <a:cs typeface="Calibri" pitchFamily="34" charset="-120"/>
              </a:rPr>
              <a:t>No peeking</a:t>
            </a:r>
            <a:endParaRPr lang="en-US" sz="1500"/>
          </a:p>
        </p:txBody>
      </p:sp>
      <p:sp>
        <p:nvSpPr>
          <p:cNvPr id="12" name="Text 8"/>
          <p:cNvSpPr txBox="1"/>
          <p:nvPr/>
        </p:nvSpPr>
        <p:spPr>
          <a:xfrm>
            <a:off x="3497580" y="1901952"/>
            <a:ext cx="2194560" cy="502920"/>
          </a:xfrm>
          <a:prstGeom prst="rect">
            <a:avLst/>
          </a:prstGeom>
          <a:noFill/>
          <a:ln/>
        </p:spPr>
        <p:txBody>
          <a:bodyPr wrap="square" lIns="0" tIns="0" rIns="0" bIns="0" rtlCol="0" anchor="t"/>
          <a:lstStyle/>
          <a:p>
            <a:pPr marL="0" indent="0">
              <a:buNone/>
            </a:pPr>
            <a:r>
              <a:rPr lang="en-US" sz="1200">
                <a:solidFill>
                  <a:srgbClr val="6B7280"/>
                </a:solidFill>
                <a:latin typeface="Calibri" pitchFamily="34" charset="0"/>
                <a:ea typeface="Calibri" pitchFamily="34" charset="-122"/>
                <a:cs typeface="Calibri" pitchFamily="34" charset="-120"/>
              </a:rPr>
              <a:t>Only what's known on day one</a:t>
            </a:r>
            <a:endParaRPr lang="en-US" sz="1200"/>
          </a:p>
        </p:txBody>
      </p:sp>
      <p:sp>
        <p:nvSpPr>
          <p:cNvPr id="13" name="Shape 9"/>
          <p:cNvSpPr/>
          <p:nvPr/>
        </p:nvSpPr>
        <p:spPr>
          <a:xfrm>
            <a:off x="6080760" y="1097280"/>
            <a:ext cx="2514600" cy="1417320"/>
          </a:xfrm>
          <a:prstGeom prst="roundRect">
            <a:avLst>
              <a:gd name="adj" fmla="val 5161"/>
            </a:avLst>
          </a:prstGeom>
          <a:solidFill>
            <a:srgbClr val="F1F3F5"/>
          </a:solidFill>
          <a:ln w="12700">
            <a:solidFill>
              <a:srgbClr val="F1F3F5"/>
            </a:solidFill>
            <a:prstDash val="solid"/>
          </a:ln>
        </p:spPr>
        <p:txBody>
          <a:bodyPr/>
          <a:lstStyle/>
          <a:p>
            <a:endParaRPr lang="en-US"/>
          </a:p>
        </p:txBody>
      </p:sp>
      <p:sp>
        <p:nvSpPr>
          <p:cNvPr id="14" name="Shape 10"/>
          <p:cNvSpPr/>
          <p:nvPr/>
        </p:nvSpPr>
        <p:spPr>
          <a:xfrm>
            <a:off x="6263640" y="1280160"/>
            <a:ext cx="502920" cy="502920"/>
          </a:xfrm>
          <a:prstGeom prst="ellipse">
            <a:avLst/>
          </a:prstGeom>
          <a:solidFill>
            <a:srgbClr val="1B2A41"/>
          </a:solidFill>
          <a:ln w="12700">
            <a:solidFill>
              <a:srgbClr val="1B2A41"/>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6389370" y="1405890"/>
            <a:ext cx="251460" cy="251460"/>
          </a:xfrm>
          <a:prstGeom prst="rect">
            <a:avLst/>
          </a:prstGeom>
        </p:spPr>
      </p:pic>
      <p:sp>
        <p:nvSpPr>
          <p:cNvPr id="16" name="Text 11"/>
          <p:cNvSpPr txBox="1"/>
          <p:nvPr/>
        </p:nvSpPr>
        <p:spPr>
          <a:xfrm>
            <a:off x="6903720" y="1280160"/>
            <a:ext cx="1600200" cy="502920"/>
          </a:xfrm>
          <a:prstGeom prst="rect">
            <a:avLst/>
          </a:prstGeom>
          <a:noFill/>
          <a:ln/>
        </p:spPr>
        <p:txBody>
          <a:bodyPr wrap="square" lIns="0" tIns="0" rIns="0" bIns="0" rtlCol="0" anchor="ctr"/>
          <a:lstStyle/>
          <a:p>
            <a:pPr marL="0" indent="0">
              <a:buNone/>
            </a:pPr>
            <a:r>
              <a:rPr lang="en-US" sz="1500" b="1">
                <a:solidFill>
                  <a:srgbClr val="1B2A41"/>
                </a:solidFill>
                <a:latin typeface="Calibri" pitchFamily="34" charset="0"/>
                <a:ea typeface="Calibri" pitchFamily="34" charset="-122"/>
                <a:cs typeface="Calibri" pitchFamily="34" charset="-120"/>
              </a:rPr>
              <a:t>Test opened once</a:t>
            </a:r>
            <a:endParaRPr lang="en-US" sz="1500"/>
          </a:p>
        </p:txBody>
      </p:sp>
      <p:sp>
        <p:nvSpPr>
          <p:cNvPr id="17" name="Text 12"/>
          <p:cNvSpPr txBox="1"/>
          <p:nvPr/>
        </p:nvSpPr>
        <p:spPr>
          <a:xfrm>
            <a:off x="6263640" y="1901952"/>
            <a:ext cx="2194560" cy="502920"/>
          </a:xfrm>
          <a:prstGeom prst="rect">
            <a:avLst/>
          </a:prstGeom>
          <a:noFill/>
          <a:ln/>
        </p:spPr>
        <p:txBody>
          <a:bodyPr wrap="square" lIns="0" tIns="0" rIns="0" bIns="0" rtlCol="0" anchor="t"/>
          <a:lstStyle/>
          <a:p>
            <a:pPr marL="0" indent="0">
              <a:buNone/>
            </a:pPr>
            <a:r>
              <a:rPr lang="en-US" sz="1200">
                <a:solidFill>
                  <a:srgbClr val="6B7280"/>
                </a:solidFill>
                <a:latin typeface="Calibri" pitchFamily="34" charset="0"/>
                <a:ea typeface="Calibri" pitchFamily="34" charset="-122"/>
                <a:cs typeface="Calibri" pitchFamily="34" charset="-120"/>
              </a:rPr>
              <a:t>Locked until the model was final</a:t>
            </a:r>
            <a:endParaRPr lang="en-US" sz="1200"/>
          </a:p>
        </p:txBody>
      </p:sp>
      <p:sp>
        <p:nvSpPr>
          <p:cNvPr id="18" name="Shape 13"/>
          <p:cNvSpPr/>
          <p:nvPr/>
        </p:nvSpPr>
        <p:spPr>
          <a:xfrm>
            <a:off x="548640" y="2788920"/>
            <a:ext cx="2514600" cy="1417320"/>
          </a:xfrm>
          <a:prstGeom prst="roundRect">
            <a:avLst>
              <a:gd name="adj" fmla="val 5161"/>
            </a:avLst>
          </a:prstGeom>
          <a:solidFill>
            <a:srgbClr val="F1F3F5"/>
          </a:solidFill>
          <a:ln w="12700">
            <a:solidFill>
              <a:srgbClr val="F1F3F5"/>
            </a:solidFill>
            <a:prstDash val="solid"/>
          </a:ln>
        </p:spPr>
        <p:txBody>
          <a:bodyPr/>
          <a:lstStyle/>
          <a:p>
            <a:endParaRPr lang="en-US"/>
          </a:p>
        </p:txBody>
      </p:sp>
      <p:sp>
        <p:nvSpPr>
          <p:cNvPr id="19" name="Shape 14"/>
          <p:cNvSpPr/>
          <p:nvPr/>
        </p:nvSpPr>
        <p:spPr>
          <a:xfrm>
            <a:off x="731520" y="2971800"/>
            <a:ext cx="502920" cy="502920"/>
          </a:xfrm>
          <a:prstGeom prst="ellipse">
            <a:avLst/>
          </a:prstGeom>
          <a:solidFill>
            <a:srgbClr val="1B2A41"/>
          </a:solidFill>
          <a:ln w="12700">
            <a:solidFill>
              <a:srgbClr val="1B2A41"/>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857250" y="3097530"/>
            <a:ext cx="251460" cy="251460"/>
          </a:xfrm>
          <a:prstGeom prst="rect">
            <a:avLst/>
          </a:prstGeom>
        </p:spPr>
      </p:pic>
      <p:sp>
        <p:nvSpPr>
          <p:cNvPr id="21" name="Text 15"/>
          <p:cNvSpPr txBox="1"/>
          <p:nvPr/>
        </p:nvSpPr>
        <p:spPr>
          <a:xfrm>
            <a:off x="1371600" y="2971800"/>
            <a:ext cx="1600200" cy="502920"/>
          </a:xfrm>
          <a:prstGeom prst="rect">
            <a:avLst/>
          </a:prstGeom>
          <a:noFill/>
          <a:ln/>
        </p:spPr>
        <p:txBody>
          <a:bodyPr wrap="square" lIns="0" tIns="0" rIns="0" bIns="0" rtlCol="0" anchor="ctr"/>
          <a:lstStyle/>
          <a:p>
            <a:pPr marL="0" indent="0">
              <a:buNone/>
            </a:pPr>
            <a:r>
              <a:rPr lang="en-US" sz="1500" b="1">
                <a:solidFill>
                  <a:srgbClr val="1B2A41"/>
                </a:solidFill>
                <a:latin typeface="Calibri" pitchFamily="34" charset="0"/>
                <a:ea typeface="Calibri" pitchFamily="34" charset="-122"/>
                <a:cs typeface="Calibri" pitchFamily="34" charset="-120"/>
              </a:rPr>
              <a:t>Bootstrap</a:t>
            </a:r>
            <a:endParaRPr lang="en-US" sz="1500"/>
          </a:p>
        </p:txBody>
      </p:sp>
      <p:sp>
        <p:nvSpPr>
          <p:cNvPr id="22" name="Text 16"/>
          <p:cNvSpPr txBox="1"/>
          <p:nvPr/>
        </p:nvSpPr>
        <p:spPr>
          <a:xfrm>
            <a:off x="731520" y="3593592"/>
            <a:ext cx="2194560" cy="502920"/>
          </a:xfrm>
          <a:prstGeom prst="rect">
            <a:avLst/>
          </a:prstGeom>
          <a:noFill/>
          <a:ln/>
        </p:spPr>
        <p:txBody>
          <a:bodyPr wrap="square" lIns="0" tIns="0" rIns="0" bIns="0" rtlCol="0" anchor="t"/>
          <a:lstStyle/>
          <a:p>
            <a:pPr marL="0" indent="0">
              <a:buNone/>
            </a:pPr>
            <a:r>
              <a:rPr lang="en-US" sz="1200">
                <a:solidFill>
                  <a:srgbClr val="6B7280"/>
                </a:solidFill>
                <a:latin typeface="Calibri" pitchFamily="34" charset="0"/>
                <a:ea typeface="Calibri" pitchFamily="34" charset="-122"/>
                <a:cs typeface="Calibri" pitchFamily="34" charset="-120"/>
              </a:rPr>
              <a:t>The +$3.80 gap is not luck</a:t>
            </a:r>
            <a:endParaRPr lang="en-US" sz="1200"/>
          </a:p>
        </p:txBody>
      </p:sp>
      <p:sp>
        <p:nvSpPr>
          <p:cNvPr id="23" name="Shape 17"/>
          <p:cNvSpPr/>
          <p:nvPr/>
        </p:nvSpPr>
        <p:spPr>
          <a:xfrm>
            <a:off x="3314700" y="2788920"/>
            <a:ext cx="2514600" cy="1417320"/>
          </a:xfrm>
          <a:prstGeom prst="roundRect">
            <a:avLst>
              <a:gd name="adj" fmla="val 5161"/>
            </a:avLst>
          </a:prstGeom>
          <a:solidFill>
            <a:srgbClr val="F1F3F5"/>
          </a:solidFill>
          <a:ln w="12700">
            <a:solidFill>
              <a:srgbClr val="F1F3F5"/>
            </a:solidFill>
            <a:prstDash val="solid"/>
          </a:ln>
        </p:spPr>
        <p:txBody>
          <a:bodyPr/>
          <a:lstStyle/>
          <a:p>
            <a:endParaRPr lang="en-US"/>
          </a:p>
        </p:txBody>
      </p:sp>
      <p:sp>
        <p:nvSpPr>
          <p:cNvPr id="24" name="Shape 18"/>
          <p:cNvSpPr/>
          <p:nvPr/>
        </p:nvSpPr>
        <p:spPr>
          <a:xfrm>
            <a:off x="3497580" y="2971800"/>
            <a:ext cx="502920" cy="502920"/>
          </a:xfrm>
          <a:prstGeom prst="ellipse">
            <a:avLst/>
          </a:prstGeom>
          <a:solidFill>
            <a:srgbClr val="E4572E"/>
          </a:solidFill>
          <a:ln w="12700">
            <a:solidFill>
              <a:srgbClr val="E4572E"/>
            </a:solidFill>
            <a:prstDash val="solid"/>
          </a:ln>
        </p:spPr>
        <p:txBody>
          <a:bodyPr/>
          <a:lstStyle/>
          <a:p>
            <a:endParaRPr lang="en-US"/>
          </a:p>
        </p:txBody>
      </p:sp>
      <p:pic>
        <p:nvPicPr>
          <p:cNvPr id="25" name="Image 4" descr="preencoded.png"/>
          <p:cNvPicPr>
            <a:picLocks noChangeAspect="1"/>
          </p:cNvPicPr>
          <p:nvPr/>
        </p:nvPicPr>
        <p:blipFill>
          <a:blip r:embed="rId7"/>
          <a:stretch>
            <a:fillRect/>
          </a:stretch>
        </p:blipFill>
        <p:spPr>
          <a:xfrm>
            <a:off x="3623310" y="3097530"/>
            <a:ext cx="251460" cy="251460"/>
          </a:xfrm>
          <a:prstGeom prst="rect">
            <a:avLst/>
          </a:prstGeom>
        </p:spPr>
      </p:pic>
      <p:sp>
        <p:nvSpPr>
          <p:cNvPr id="26" name="Text 19"/>
          <p:cNvSpPr txBox="1"/>
          <p:nvPr/>
        </p:nvSpPr>
        <p:spPr>
          <a:xfrm>
            <a:off x="4137660" y="2971800"/>
            <a:ext cx="1600200" cy="502920"/>
          </a:xfrm>
          <a:prstGeom prst="rect">
            <a:avLst/>
          </a:prstGeom>
          <a:noFill/>
          <a:ln/>
        </p:spPr>
        <p:txBody>
          <a:bodyPr wrap="square" lIns="0" tIns="0" rIns="0" bIns="0" rtlCol="0" anchor="ctr"/>
          <a:lstStyle/>
          <a:p>
            <a:pPr marL="0" indent="0">
              <a:buNone/>
            </a:pPr>
            <a:r>
              <a:rPr lang="en-US" sz="1500" b="1">
                <a:solidFill>
                  <a:srgbClr val="1B2A41"/>
                </a:solidFill>
                <a:latin typeface="Calibri" pitchFamily="34" charset="0"/>
                <a:ea typeface="Calibri" pitchFamily="34" charset="-122"/>
                <a:cs typeface="Calibri" pitchFamily="34" charset="-120"/>
              </a:rPr>
              <a:t>Calibrated</a:t>
            </a:r>
            <a:endParaRPr lang="en-US" sz="1500"/>
          </a:p>
        </p:txBody>
      </p:sp>
      <p:sp>
        <p:nvSpPr>
          <p:cNvPr id="27" name="Text 20"/>
          <p:cNvSpPr txBox="1"/>
          <p:nvPr/>
        </p:nvSpPr>
        <p:spPr>
          <a:xfrm>
            <a:off x="3497580" y="3593592"/>
            <a:ext cx="2194560" cy="502920"/>
          </a:xfrm>
          <a:prstGeom prst="rect">
            <a:avLst/>
          </a:prstGeom>
          <a:noFill/>
          <a:ln/>
        </p:spPr>
        <p:txBody>
          <a:bodyPr wrap="square" lIns="0" tIns="0" rIns="0" bIns="0" rtlCol="0" anchor="t"/>
          <a:lstStyle/>
          <a:p>
            <a:pPr marL="0" indent="0">
              <a:buNone/>
            </a:pPr>
            <a:r>
              <a:rPr lang="en-US" sz="1200">
                <a:solidFill>
                  <a:srgbClr val="6B7280"/>
                </a:solidFill>
                <a:latin typeface="Calibri" pitchFamily="34" charset="0"/>
                <a:ea typeface="Calibri" pitchFamily="34" charset="-122"/>
                <a:cs typeface="Calibri" pitchFamily="34" charset="-120"/>
              </a:rPr>
              <a:t>Top 10%: predicted 27%, actual 24%</a:t>
            </a:r>
            <a:endParaRPr lang="en-US" sz="1200"/>
          </a:p>
        </p:txBody>
      </p:sp>
      <p:sp>
        <p:nvSpPr>
          <p:cNvPr id="28" name="Shape 21"/>
          <p:cNvSpPr/>
          <p:nvPr/>
        </p:nvSpPr>
        <p:spPr>
          <a:xfrm>
            <a:off x="6080760" y="2788920"/>
            <a:ext cx="2514600" cy="1417320"/>
          </a:xfrm>
          <a:prstGeom prst="roundRect">
            <a:avLst>
              <a:gd name="adj" fmla="val 5161"/>
            </a:avLst>
          </a:prstGeom>
          <a:solidFill>
            <a:srgbClr val="F1F3F5"/>
          </a:solidFill>
          <a:ln w="12700">
            <a:solidFill>
              <a:srgbClr val="F1F3F5"/>
            </a:solidFill>
            <a:prstDash val="solid"/>
          </a:ln>
        </p:spPr>
        <p:txBody>
          <a:bodyPr/>
          <a:lstStyle/>
          <a:p>
            <a:endParaRPr lang="en-US"/>
          </a:p>
        </p:txBody>
      </p:sp>
      <p:sp>
        <p:nvSpPr>
          <p:cNvPr id="29" name="Shape 22"/>
          <p:cNvSpPr/>
          <p:nvPr/>
        </p:nvSpPr>
        <p:spPr>
          <a:xfrm>
            <a:off x="6263640" y="2971800"/>
            <a:ext cx="502920" cy="502920"/>
          </a:xfrm>
          <a:prstGeom prst="ellipse">
            <a:avLst/>
          </a:prstGeom>
          <a:solidFill>
            <a:srgbClr val="1B2A41"/>
          </a:solidFill>
          <a:ln w="12700">
            <a:solidFill>
              <a:srgbClr val="1B2A41"/>
            </a:solidFill>
            <a:prstDash val="solid"/>
          </a:ln>
        </p:spPr>
        <p:txBody>
          <a:bodyPr/>
          <a:lstStyle/>
          <a:p>
            <a:endParaRPr lang="en-US"/>
          </a:p>
        </p:txBody>
      </p:sp>
      <p:pic>
        <p:nvPicPr>
          <p:cNvPr id="30" name="Image 5" descr="preencoded.png"/>
          <p:cNvPicPr>
            <a:picLocks noChangeAspect="1"/>
          </p:cNvPicPr>
          <p:nvPr/>
        </p:nvPicPr>
        <p:blipFill>
          <a:blip r:embed="rId8"/>
          <a:stretch>
            <a:fillRect/>
          </a:stretch>
        </p:blipFill>
        <p:spPr>
          <a:xfrm>
            <a:off x="6389370" y="3097530"/>
            <a:ext cx="251460" cy="251460"/>
          </a:xfrm>
          <a:prstGeom prst="rect">
            <a:avLst/>
          </a:prstGeom>
        </p:spPr>
      </p:pic>
      <p:sp>
        <p:nvSpPr>
          <p:cNvPr id="31" name="Text 23"/>
          <p:cNvSpPr txBox="1"/>
          <p:nvPr/>
        </p:nvSpPr>
        <p:spPr>
          <a:xfrm>
            <a:off x="6903720" y="2971800"/>
            <a:ext cx="1600200" cy="502920"/>
          </a:xfrm>
          <a:prstGeom prst="rect">
            <a:avLst/>
          </a:prstGeom>
          <a:noFill/>
          <a:ln/>
        </p:spPr>
        <p:txBody>
          <a:bodyPr wrap="square" lIns="0" tIns="0" rIns="0" bIns="0" rtlCol="0" anchor="ctr"/>
          <a:lstStyle/>
          <a:p>
            <a:pPr marL="0" indent="0">
              <a:buNone/>
            </a:pPr>
            <a:r>
              <a:rPr lang="en-US" sz="1500" b="1">
                <a:solidFill>
                  <a:srgbClr val="1B2A41"/>
                </a:solidFill>
                <a:latin typeface="Calibri" pitchFamily="34" charset="0"/>
                <a:ea typeface="Calibri" pitchFamily="34" charset="-122"/>
                <a:cs typeface="Calibri" pitchFamily="34" charset="-120"/>
              </a:rPr>
              <a:t>One command</a:t>
            </a:r>
            <a:endParaRPr lang="en-US" sz="1500"/>
          </a:p>
        </p:txBody>
      </p:sp>
      <p:sp>
        <p:nvSpPr>
          <p:cNvPr id="32" name="Text 24"/>
          <p:cNvSpPr txBox="1"/>
          <p:nvPr/>
        </p:nvSpPr>
        <p:spPr>
          <a:xfrm>
            <a:off x="6263640" y="3593592"/>
            <a:ext cx="2194560" cy="502920"/>
          </a:xfrm>
          <a:prstGeom prst="rect">
            <a:avLst/>
          </a:prstGeom>
          <a:noFill/>
          <a:ln/>
        </p:spPr>
        <p:txBody>
          <a:bodyPr wrap="square" lIns="0" tIns="0" rIns="0" bIns="0" rtlCol="0" anchor="t"/>
          <a:lstStyle/>
          <a:p>
            <a:pPr marL="0" indent="0">
              <a:buNone/>
            </a:pPr>
            <a:r>
              <a:rPr lang="en-US" sz="1200">
                <a:solidFill>
                  <a:srgbClr val="6B7280"/>
                </a:solidFill>
                <a:latin typeface="Calibri" pitchFamily="34" charset="0"/>
                <a:ea typeface="Calibri" pitchFamily="34" charset="-122"/>
                <a:cs typeface="Calibri" pitchFamily="34" charset="-120"/>
              </a:rPr>
              <a:t>Re-runs everything from raw data</a:t>
            </a:r>
            <a:endParaRPr lang="en-US" sz="1200"/>
          </a:p>
        </p:txBody>
      </p:sp>
    </p:spTree>
    <p:extLst>
      <p:ext uri="{BB962C8B-B14F-4D97-AF65-F5344CB8AC3E}">
        <p14:creationId xmlns:p14="http://schemas.microsoft.com/office/powerpoint/2010/main" val="26214441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name="Slide 11">
    <p:spTree>
      <p:nvGrpSpPr>
        <p:cNvPr id="1" name=""/>
        <p:cNvGrpSpPr/>
        <p:nvPr/>
      </p:nvGrpSpPr>
      <p:grpSpPr>
        <a:xfrm>
          <a:off x="0" y="0"/>
          <a:ext cx="0" cy="0"/>
          <a:chOff x="0" y="0"/>
          <a:chExt cx="0" cy="0"/>
        </a:xfrm>
      </p:grpSpPr>
      <p:graphicFrame>
        <p:nvGraphicFramePr>
          <p:cNvPr id="19" name="thinkcell data - do not delete" hidden="1">
            <a:extLst>
              <a:ext uri="{FF2B5EF4-FFF2-40B4-BE49-F238E27FC236}">
                <a16:creationId xmlns:a16="http://schemas.microsoft.com/office/drawing/2014/main" id="{27CB6222-6655-4C31-A2D2-AB53A8C6AEC3}"/>
              </a:ext>
            </a:extLst>
          </p:cNvPr>
          <p:cNvGraphicFramePr>
            <a:graphicFrameLocks/>
          </p:cNvGraphicFramePr>
          <p:nvPr>
            <p:custDataLst>
              <p:tags r:id="rId1"/>
            </p:custDataLst>
            <p:extLst>
              <p:ext uri="{D42A27DB-BD31-4B8C-83A1-F6EECF244321}">
                <p14:modId xmlns:p14="http://schemas.microsoft.com/office/powerpoint/2010/main" val="36558595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60" imgH="645" progId="TCLayout.ActiveDocument.1">
                  <p:embed/>
                </p:oleObj>
              </mc:Choice>
              <mc:Fallback>
                <p:oleObj name="thinkcell Slide" r:id="rId4" imgW="660" imgH="645" progId="TCLayout.ActiveDocument.1">
                  <p:embed/>
                  <p:pic>
                    <p:nvPicPr>
                      <p:cNvPr id="19" name="thinkcell data - do not delete" hidden="1">
                        <a:extLst>
                          <a:ext uri="{FF2B5EF4-FFF2-40B4-BE49-F238E27FC236}">
                            <a16:creationId xmlns:a16="http://schemas.microsoft.com/office/drawing/2014/main" id="{27CB6222-6655-4C31-A2D2-AB53A8C6AEC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18" name="Group 17">
            <a:extLst>
              <a:ext uri="{FF2B5EF4-FFF2-40B4-BE49-F238E27FC236}">
                <a16:creationId xmlns:a16="http://schemas.microsoft.com/office/drawing/2014/main" id="{A6DEB121-E13D-E6CD-454F-B1CED8F9F1B1}"/>
              </a:ext>
            </a:extLst>
          </p:cNvPr>
          <p:cNvGrpSpPr/>
          <p:nvPr/>
        </p:nvGrpSpPr>
        <p:grpSpPr>
          <a:xfrm>
            <a:off x="548640" y="1051560"/>
            <a:ext cx="3886200" cy="1600200"/>
            <a:chOff x="548640" y="2834640"/>
            <a:chExt cx="3886200" cy="1600200"/>
          </a:xfrm>
        </p:grpSpPr>
        <p:sp>
          <p:nvSpPr>
            <p:cNvPr id="9" name="Shape 7"/>
            <p:cNvSpPr/>
            <p:nvPr/>
          </p:nvSpPr>
          <p:spPr>
            <a:xfrm>
              <a:off x="548640" y="2834640"/>
              <a:ext cx="3886200" cy="1600200"/>
            </a:xfrm>
            <a:prstGeom prst="roundRect">
              <a:avLst>
                <a:gd name="adj" fmla="val 4571"/>
              </a:avLst>
            </a:prstGeom>
            <a:solidFill>
              <a:srgbClr val="F1F3F5"/>
            </a:solidFill>
            <a:ln w="12700">
              <a:solidFill>
                <a:srgbClr val="F1F3F5"/>
              </a:solidFill>
              <a:prstDash val="solid"/>
            </a:ln>
          </p:spPr>
          <p:txBody>
            <a:bodyPr/>
            <a:lstStyle/>
            <a:p>
              <a:endParaRPr lang="en-US"/>
            </a:p>
          </p:txBody>
        </p:sp>
        <p:sp>
          <p:nvSpPr>
            <p:cNvPr id="10" name="Text 8"/>
            <p:cNvSpPr txBox="1"/>
            <p:nvPr/>
          </p:nvSpPr>
          <p:spPr>
            <a:xfrm>
              <a:off x="822960" y="3035808"/>
              <a:ext cx="3474720" cy="594360"/>
            </a:xfrm>
            <a:prstGeom prst="rect">
              <a:avLst/>
            </a:prstGeom>
            <a:noFill/>
            <a:ln/>
          </p:spPr>
          <p:txBody>
            <a:bodyPr wrap="square" lIns="0" tIns="0" rIns="0" bIns="0" rtlCol="0" anchor="ctr"/>
            <a:lstStyle/>
            <a:p>
              <a:r>
                <a:rPr lang="en-US" sz="3000" b="1">
                  <a:solidFill>
                    <a:srgbClr val="E4572E"/>
                  </a:solidFill>
                  <a:latin typeface="Cambria"/>
                  <a:ea typeface="Cambria"/>
                </a:rPr>
                <a:t>Organizations vs Individuals</a:t>
              </a:r>
              <a:endParaRPr lang="en-US"/>
            </a:p>
          </p:txBody>
        </p:sp>
        <p:sp>
          <p:nvSpPr>
            <p:cNvPr id="11" name="Text 9"/>
            <p:cNvSpPr txBox="1"/>
            <p:nvPr/>
          </p:nvSpPr>
          <p:spPr>
            <a:xfrm>
              <a:off x="822960" y="3749040"/>
              <a:ext cx="3383280" cy="594360"/>
            </a:xfrm>
            <a:prstGeom prst="rect">
              <a:avLst/>
            </a:prstGeom>
            <a:noFill/>
            <a:ln/>
          </p:spPr>
          <p:txBody>
            <a:bodyPr wrap="square" lIns="0" tIns="0" rIns="0" bIns="0" rtlCol="0" anchor="t"/>
            <a:lstStyle/>
            <a:p>
              <a:r>
                <a:rPr lang="en-US" sz="1400">
                  <a:solidFill>
                    <a:srgbClr val="1B2A41"/>
                  </a:solidFill>
                  <a:latin typeface="Calibri"/>
                  <a:ea typeface="Calibri"/>
                  <a:cs typeface="Calibri"/>
                </a:rPr>
                <a:t>62% of repeat dollars came from just 708 organizations</a:t>
              </a:r>
              <a:endParaRPr lang="en-US" sz="1400">
                <a:solidFill>
                  <a:srgbClr val="000000"/>
                </a:solidFill>
                <a:latin typeface="Calibri"/>
                <a:ea typeface="Calibri"/>
                <a:cs typeface="Calibri"/>
              </a:endParaRPr>
            </a:p>
            <a:p>
              <a:pPr marL="0" indent="0">
                <a:buNone/>
              </a:pPr>
              <a:endParaRPr lang="en-US" sz="1400">
                <a:solidFill>
                  <a:srgbClr val="1B2A41"/>
                </a:solidFill>
                <a:ea typeface="Calibri"/>
                <a:cs typeface="Calibri"/>
              </a:endParaRPr>
            </a:p>
          </p:txBody>
        </p:sp>
      </p:grpSp>
      <p:sp>
        <p:nvSpPr>
          <p:cNvPr id="2" name="Text 0"/>
          <p:cNvSpPr txBox="1"/>
          <p:nvPr/>
        </p:nvSpPr>
        <p:spPr>
          <a:xfrm>
            <a:off x="548640" y="320040"/>
            <a:ext cx="8046720" cy="640080"/>
          </a:xfrm>
          <a:prstGeom prst="rect">
            <a:avLst/>
          </a:prstGeom>
          <a:noFill/>
          <a:ln/>
        </p:spPr>
        <p:txBody>
          <a:bodyPr wrap="square" lIns="0" tIns="0" rIns="0" bIns="0" rtlCol="0" anchor="ctr"/>
          <a:lstStyle/>
          <a:p>
            <a:pPr marL="0" indent="0">
              <a:buNone/>
            </a:pPr>
            <a:r>
              <a:rPr lang="en-US" sz="3000" b="1">
                <a:solidFill>
                  <a:srgbClr val="1B2A41"/>
                </a:solidFill>
                <a:latin typeface="Cambria" pitchFamily="34" charset="0"/>
                <a:ea typeface="Cambria" pitchFamily="34" charset="-122"/>
                <a:cs typeface="Cambria" pitchFamily="34" charset="-120"/>
              </a:rPr>
              <a:t>What the data taught us</a:t>
            </a:r>
            <a:endParaRPr lang="en-US" sz="3000"/>
          </a:p>
        </p:txBody>
      </p:sp>
      <p:grpSp>
        <p:nvGrpSpPr>
          <p:cNvPr id="17" name="Group 16">
            <a:extLst>
              <a:ext uri="{FF2B5EF4-FFF2-40B4-BE49-F238E27FC236}">
                <a16:creationId xmlns:a16="http://schemas.microsoft.com/office/drawing/2014/main" id="{1C656F4A-CC9E-B7D8-425F-78A8BB754A0E}"/>
              </a:ext>
            </a:extLst>
          </p:cNvPr>
          <p:cNvGrpSpPr/>
          <p:nvPr/>
        </p:nvGrpSpPr>
        <p:grpSpPr>
          <a:xfrm>
            <a:off x="548640" y="2834640"/>
            <a:ext cx="3886200" cy="1600200"/>
            <a:chOff x="548640" y="1051560"/>
            <a:chExt cx="3886200" cy="1600200"/>
          </a:xfrm>
        </p:grpSpPr>
        <p:sp>
          <p:nvSpPr>
            <p:cNvPr id="3" name="Shape 1"/>
            <p:cNvSpPr/>
            <p:nvPr/>
          </p:nvSpPr>
          <p:spPr>
            <a:xfrm>
              <a:off x="548640" y="1051560"/>
              <a:ext cx="3886200" cy="1600200"/>
            </a:xfrm>
            <a:prstGeom prst="roundRect">
              <a:avLst>
                <a:gd name="adj" fmla="val 4571"/>
              </a:avLst>
            </a:prstGeom>
            <a:solidFill>
              <a:srgbClr val="F1F3F5"/>
            </a:solidFill>
            <a:ln w="12700">
              <a:solidFill>
                <a:srgbClr val="F1F3F5"/>
              </a:solidFill>
              <a:prstDash val="solid"/>
            </a:ln>
          </p:spPr>
          <p:txBody>
            <a:bodyPr/>
            <a:lstStyle/>
            <a:p>
              <a:endParaRPr lang="en-US"/>
            </a:p>
          </p:txBody>
        </p:sp>
        <p:sp>
          <p:nvSpPr>
            <p:cNvPr id="4" name="Text 2"/>
            <p:cNvSpPr txBox="1"/>
            <p:nvPr/>
          </p:nvSpPr>
          <p:spPr>
            <a:xfrm>
              <a:off x="822960" y="1252728"/>
              <a:ext cx="3474720" cy="594360"/>
            </a:xfrm>
            <a:prstGeom prst="rect">
              <a:avLst/>
            </a:prstGeom>
            <a:noFill/>
            <a:ln/>
          </p:spPr>
          <p:txBody>
            <a:bodyPr wrap="square" lIns="0" tIns="0" rIns="0" bIns="0" rtlCol="0" anchor="ctr"/>
            <a:lstStyle/>
            <a:p>
              <a:r>
                <a:rPr lang="en-US" sz="3000" b="1">
                  <a:solidFill>
                    <a:srgbClr val="E4572E"/>
                  </a:solidFill>
                  <a:latin typeface="Cambria"/>
                  <a:ea typeface="Cambria"/>
                </a:rPr>
                <a:t>Selection Effects Compound</a:t>
              </a:r>
              <a:endParaRPr lang="en-US"/>
            </a:p>
          </p:txBody>
        </p:sp>
        <p:sp>
          <p:nvSpPr>
            <p:cNvPr id="5" name="Text 3"/>
            <p:cNvSpPr txBox="1"/>
            <p:nvPr/>
          </p:nvSpPr>
          <p:spPr>
            <a:xfrm>
              <a:off x="822960" y="1965960"/>
              <a:ext cx="3383280" cy="594360"/>
            </a:xfrm>
            <a:prstGeom prst="rect">
              <a:avLst/>
            </a:prstGeom>
            <a:noFill/>
            <a:ln/>
          </p:spPr>
          <p:txBody>
            <a:bodyPr wrap="square" lIns="0" tIns="0" rIns="0" bIns="0" rtlCol="0" anchor="t"/>
            <a:lstStyle/>
            <a:p>
              <a:r>
                <a:rPr lang="en-US" sz="1400">
                  <a:solidFill>
                    <a:srgbClr val="1B2A41"/>
                  </a:solidFill>
                  <a:latin typeface="Calibri"/>
                  <a:ea typeface="Calibri"/>
                  <a:cs typeface="Calibri"/>
                </a:rPr>
                <a:t>36% of 2nd time donors give a 3rd time vs 13.6% from first to 2nd (2.7 times as likely)</a:t>
              </a:r>
              <a:endParaRPr lang="en-US" sz="1400">
                <a:solidFill>
                  <a:srgbClr val="1B2A41"/>
                </a:solidFill>
              </a:endParaRPr>
            </a:p>
          </p:txBody>
        </p:sp>
      </p:grpSp>
      <p:sp>
        <p:nvSpPr>
          <p:cNvPr id="6" name="Shape 4"/>
          <p:cNvSpPr/>
          <p:nvPr/>
        </p:nvSpPr>
        <p:spPr>
          <a:xfrm>
            <a:off x="4709160" y="1051560"/>
            <a:ext cx="3886200" cy="1600200"/>
          </a:xfrm>
          <a:prstGeom prst="roundRect">
            <a:avLst>
              <a:gd name="adj" fmla="val 4571"/>
            </a:avLst>
          </a:prstGeom>
          <a:solidFill>
            <a:srgbClr val="F1F3F5"/>
          </a:solidFill>
          <a:ln w="12700">
            <a:solidFill>
              <a:srgbClr val="F1F3F5"/>
            </a:solidFill>
            <a:prstDash val="solid"/>
          </a:ln>
        </p:spPr>
        <p:txBody>
          <a:bodyPr/>
          <a:lstStyle/>
          <a:p>
            <a:endParaRPr lang="en-US"/>
          </a:p>
        </p:txBody>
      </p:sp>
      <p:sp>
        <p:nvSpPr>
          <p:cNvPr id="7" name="Text 5"/>
          <p:cNvSpPr txBox="1"/>
          <p:nvPr/>
        </p:nvSpPr>
        <p:spPr>
          <a:xfrm>
            <a:off x="4983480" y="1252728"/>
            <a:ext cx="3474720" cy="594360"/>
          </a:xfrm>
          <a:prstGeom prst="rect">
            <a:avLst/>
          </a:prstGeom>
          <a:noFill/>
          <a:ln/>
        </p:spPr>
        <p:txBody>
          <a:bodyPr wrap="square" lIns="0" tIns="0" rIns="0" bIns="0" rtlCol="0" anchor="ctr"/>
          <a:lstStyle/>
          <a:p>
            <a:r>
              <a:rPr lang="en-US" sz="3000" b="1">
                <a:solidFill>
                  <a:srgbClr val="E4572E"/>
                </a:solidFill>
                <a:latin typeface="Cambria"/>
                <a:ea typeface="Cambria"/>
                <a:cs typeface="Cambria" pitchFamily="34" charset="-120"/>
              </a:rPr>
              <a:t>Who gives </a:t>
            </a:r>
            <a:r>
              <a:rPr lang="en-US" sz="3000" b="1">
                <a:solidFill>
                  <a:srgbClr val="E4572E"/>
                </a:solidFill>
                <a:latin typeface="Cambria" pitchFamily="34" charset="0"/>
                <a:ea typeface="Cambria" pitchFamily="34" charset="-122"/>
                <a:cs typeface="Cambria" pitchFamily="34" charset="-120"/>
              </a:rPr>
              <a:t>≠ Who gives most</a:t>
            </a:r>
            <a:endParaRPr lang="en-US" sz="3000">
              <a:latin typeface="Cambria"/>
              <a:ea typeface="Cambria"/>
            </a:endParaRPr>
          </a:p>
        </p:txBody>
      </p:sp>
      <p:sp>
        <p:nvSpPr>
          <p:cNvPr id="8" name="Text 6"/>
          <p:cNvSpPr txBox="1"/>
          <p:nvPr/>
        </p:nvSpPr>
        <p:spPr>
          <a:xfrm>
            <a:off x="4983480" y="1920240"/>
            <a:ext cx="3383280" cy="594360"/>
          </a:xfrm>
          <a:prstGeom prst="rect">
            <a:avLst/>
          </a:prstGeom>
          <a:noFill/>
          <a:ln/>
        </p:spPr>
        <p:txBody>
          <a:bodyPr wrap="square" lIns="0" tIns="0" rIns="0" bIns="0" rtlCol="0" anchor="t"/>
          <a:lstStyle/>
          <a:p>
            <a:pPr marL="0" indent="0">
              <a:buNone/>
            </a:pPr>
            <a:r>
              <a:rPr lang="en-US" sz="1400">
                <a:solidFill>
                  <a:srgbClr val="1B2A41"/>
                </a:solidFill>
                <a:latin typeface="Calibri" pitchFamily="34" charset="0"/>
                <a:ea typeface="Calibri" pitchFamily="34" charset="-122"/>
                <a:cs typeface="Calibri" pitchFamily="34" charset="-120"/>
              </a:rPr>
              <a:t>Ranking by who returns finds more people, but fewer dollars</a:t>
            </a:r>
            <a:endParaRPr lang="en-US" sz="1400"/>
          </a:p>
        </p:txBody>
      </p:sp>
      <p:sp>
        <p:nvSpPr>
          <p:cNvPr id="12" name="Shape 10"/>
          <p:cNvSpPr/>
          <p:nvPr/>
        </p:nvSpPr>
        <p:spPr>
          <a:xfrm>
            <a:off x="4709160" y="2834640"/>
            <a:ext cx="3886200" cy="1600200"/>
          </a:xfrm>
          <a:prstGeom prst="roundRect">
            <a:avLst>
              <a:gd name="adj" fmla="val 4571"/>
            </a:avLst>
          </a:prstGeom>
          <a:solidFill>
            <a:srgbClr val="F1F3F5"/>
          </a:solidFill>
          <a:ln w="12700">
            <a:solidFill>
              <a:srgbClr val="F1F3F5"/>
            </a:solidFill>
            <a:prstDash val="solid"/>
          </a:ln>
        </p:spPr>
        <p:txBody>
          <a:bodyPr/>
          <a:lstStyle/>
          <a:p>
            <a:endParaRPr lang="en-US"/>
          </a:p>
        </p:txBody>
      </p:sp>
      <p:sp>
        <p:nvSpPr>
          <p:cNvPr id="13" name="Text 11"/>
          <p:cNvSpPr txBox="1"/>
          <p:nvPr/>
        </p:nvSpPr>
        <p:spPr>
          <a:xfrm>
            <a:off x="4983480" y="3035808"/>
            <a:ext cx="3474720" cy="594360"/>
          </a:xfrm>
          <a:prstGeom prst="rect">
            <a:avLst/>
          </a:prstGeom>
          <a:noFill/>
          <a:ln/>
        </p:spPr>
        <p:txBody>
          <a:bodyPr wrap="square" lIns="0" tIns="0" rIns="0" bIns="0" rtlCol="0" anchor="ctr"/>
          <a:lstStyle/>
          <a:p>
            <a:pPr marL="0" indent="0">
              <a:buNone/>
            </a:pPr>
            <a:r>
              <a:rPr lang="en-US" sz="3000" b="1">
                <a:solidFill>
                  <a:srgbClr val="E4572E"/>
                </a:solidFill>
                <a:latin typeface="Cambria" pitchFamily="34" charset="0"/>
                <a:ea typeface="Cambria" pitchFamily="34" charset="-122"/>
                <a:cs typeface="Cambria" pitchFamily="34" charset="-120"/>
              </a:rPr>
              <a:t>How much ≠ who</a:t>
            </a:r>
            <a:endParaRPr lang="en-US" sz="3000"/>
          </a:p>
        </p:txBody>
      </p:sp>
      <p:sp>
        <p:nvSpPr>
          <p:cNvPr id="14" name="Text 12"/>
          <p:cNvSpPr txBox="1"/>
          <p:nvPr/>
        </p:nvSpPr>
        <p:spPr>
          <a:xfrm>
            <a:off x="4983480" y="3749040"/>
            <a:ext cx="3383280" cy="594360"/>
          </a:xfrm>
          <a:prstGeom prst="rect">
            <a:avLst/>
          </a:prstGeom>
          <a:noFill/>
          <a:ln/>
        </p:spPr>
        <p:txBody>
          <a:bodyPr wrap="square" lIns="0" tIns="0" rIns="0" bIns="0" rtlCol="0" anchor="t"/>
          <a:lstStyle/>
          <a:p>
            <a:pPr marL="0" indent="0">
              <a:buNone/>
            </a:pPr>
            <a:r>
              <a:rPr lang="en-US" sz="1400">
                <a:solidFill>
                  <a:srgbClr val="1B2A41"/>
                </a:solidFill>
                <a:latin typeface="Calibri" pitchFamily="34" charset="0"/>
                <a:ea typeface="Calibri" pitchFamily="34" charset="-122"/>
                <a:cs typeface="Calibri" pitchFamily="34" charset="-120"/>
              </a:rPr>
              <a:t>Gift size predicts the next amount, barely whether they return</a:t>
            </a:r>
            <a:endParaRPr lang="en-US" sz="1400"/>
          </a:p>
        </p:txBody>
      </p:sp>
    </p:spTree>
    <p:extLst>
      <p:ext uri="{BB962C8B-B14F-4D97-AF65-F5344CB8AC3E}">
        <p14:creationId xmlns:p14="http://schemas.microsoft.com/office/powerpoint/2010/main" val="38302427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name="Slide 12">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marL="0" indent="0">
              <a:buNone/>
            </a:pPr>
            <a:r>
              <a:rPr lang="en-US" sz="3000" b="1">
                <a:solidFill>
                  <a:srgbClr val="1B2A41"/>
                </a:solidFill>
                <a:latin typeface="Cambria" pitchFamily="34" charset="0"/>
                <a:ea typeface="Cambria" pitchFamily="34" charset="-122"/>
                <a:cs typeface="Cambria" pitchFamily="34" charset="-120"/>
              </a:rPr>
              <a:t>What building it taught us</a:t>
            </a:r>
            <a:endParaRPr lang="en-US" sz="3000"/>
          </a:p>
        </p:txBody>
      </p:sp>
      <p:sp>
        <p:nvSpPr>
          <p:cNvPr id="3" name="Shape 1"/>
          <p:cNvSpPr/>
          <p:nvPr/>
        </p:nvSpPr>
        <p:spPr>
          <a:xfrm>
            <a:off x="548640" y="1097280"/>
            <a:ext cx="548640" cy="548640"/>
          </a:xfrm>
          <a:prstGeom prst="ellipse">
            <a:avLst/>
          </a:prstGeom>
          <a:solidFill>
            <a:srgbClr val="1B2A41"/>
          </a:solidFill>
          <a:ln w="12700">
            <a:solidFill>
              <a:srgbClr val="1B2A41"/>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685800" y="1234440"/>
            <a:ext cx="274320" cy="274320"/>
          </a:xfrm>
          <a:prstGeom prst="rect">
            <a:avLst/>
          </a:prstGeom>
        </p:spPr>
      </p:pic>
      <p:sp>
        <p:nvSpPr>
          <p:cNvPr id="5" name="Text 2"/>
          <p:cNvSpPr txBox="1"/>
          <p:nvPr/>
        </p:nvSpPr>
        <p:spPr>
          <a:xfrm>
            <a:off x="1280160" y="1078992"/>
            <a:ext cx="4114800" cy="320040"/>
          </a:xfrm>
          <a:prstGeom prst="rect">
            <a:avLst/>
          </a:prstGeom>
          <a:noFill/>
          <a:ln/>
        </p:spPr>
        <p:txBody>
          <a:bodyPr wrap="square" lIns="0" tIns="0" rIns="0" bIns="0" rtlCol="0" anchor="ctr"/>
          <a:lstStyle/>
          <a:p>
            <a:pPr marL="0" indent="0">
              <a:buNone/>
            </a:pPr>
            <a:r>
              <a:rPr lang="en-US" sz="1600" b="1">
                <a:solidFill>
                  <a:srgbClr val="1B2A41"/>
                </a:solidFill>
                <a:latin typeface="Calibri" pitchFamily="34" charset="0"/>
                <a:ea typeface="Calibri" pitchFamily="34" charset="-122"/>
                <a:cs typeface="Calibri" pitchFamily="34" charset="-120"/>
              </a:rPr>
              <a:t>Beat the simple rule first</a:t>
            </a:r>
            <a:endParaRPr lang="en-US" sz="1600"/>
          </a:p>
        </p:txBody>
      </p:sp>
      <p:sp>
        <p:nvSpPr>
          <p:cNvPr id="6" name="Text 3"/>
          <p:cNvSpPr txBox="1"/>
          <p:nvPr/>
        </p:nvSpPr>
        <p:spPr>
          <a:xfrm>
            <a:off x="1280160" y="1399032"/>
            <a:ext cx="4114800" cy="274320"/>
          </a:xfrm>
          <a:prstGeom prst="rect">
            <a:avLst/>
          </a:prstGeom>
          <a:noFill/>
          <a:ln/>
        </p:spPr>
        <p:txBody>
          <a:bodyPr wrap="square" lIns="0" tIns="0" rIns="0" bIns="0" rtlCol="0" anchor="ctr"/>
          <a:lstStyle/>
          <a:p>
            <a:pPr marL="0" indent="0">
              <a:buNone/>
            </a:pPr>
            <a:r>
              <a:rPr lang="en-US" sz="1200">
                <a:solidFill>
                  <a:srgbClr val="6B7280"/>
                </a:solidFill>
                <a:latin typeface="Calibri" pitchFamily="34" charset="0"/>
                <a:ea typeface="Calibri" pitchFamily="34" charset="-122"/>
                <a:cs typeface="Calibri" pitchFamily="34" charset="-120"/>
              </a:rPr>
              <a:t>Biggest gift first was hard to beat</a:t>
            </a:r>
            <a:endParaRPr lang="en-US" sz="1200"/>
          </a:p>
        </p:txBody>
      </p:sp>
      <p:sp>
        <p:nvSpPr>
          <p:cNvPr id="7" name="Shape 4"/>
          <p:cNvSpPr/>
          <p:nvPr/>
        </p:nvSpPr>
        <p:spPr>
          <a:xfrm>
            <a:off x="548640" y="1920240"/>
            <a:ext cx="548640" cy="548640"/>
          </a:xfrm>
          <a:prstGeom prst="ellipse">
            <a:avLst/>
          </a:prstGeom>
          <a:solidFill>
            <a:srgbClr val="1B2A41"/>
          </a:solidFill>
          <a:ln w="12700">
            <a:solidFill>
              <a:srgbClr val="1B2A41"/>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685800" y="2057400"/>
            <a:ext cx="274320" cy="274320"/>
          </a:xfrm>
          <a:prstGeom prst="rect">
            <a:avLst/>
          </a:prstGeom>
        </p:spPr>
      </p:pic>
      <p:sp>
        <p:nvSpPr>
          <p:cNvPr id="9" name="Text 5"/>
          <p:cNvSpPr txBox="1"/>
          <p:nvPr/>
        </p:nvSpPr>
        <p:spPr>
          <a:xfrm>
            <a:off x="1280160" y="1901952"/>
            <a:ext cx="4114800" cy="320040"/>
          </a:xfrm>
          <a:prstGeom prst="rect">
            <a:avLst/>
          </a:prstGeom>
          <a:noFill/>
          <a:ln/>
        </p:spPr>
        <p:txBody>
          <a:bodyPr wrap="square" lIns="0" tIns="0" rIns="0" bIns="0" rtlCol="0" anchor="ctr"/>
          <a:lstStyle/>
          <a:p>
            <a:pPr marL="0" indent="0">
              <a:buNone/>
            </a:pPr>
            <a:r>
              <a:rPr lang="en-US" sz="1600" b="1">
                <a:solidFill>
                  <a:srgbClr val="1B2A41"/>
                </a:solidFill>
                <a:latin typeface="Calibri" pitchFamily="34" charset="0"/>
                <a:ea typeface="Calibri" pitchFamily="34" charset="-122"/>
                <a:cs typeface="Calibri" pitchFamily="34" charset="-120"/>
              </a:rPr>
              <a:t>Split by time</a:t>
            </a:r>
            <a:endParaRPr lang="en-US" sz="1600"/>
          </a:p>
        </p:txBody>
      </p:sp>
      <p:sp>
        <p:nvSpPr>
          <p:cNvPr id="10" name="Text 6"/>
          <p:cNvSpPr txBox="1"/>
          <p:nvPr/>
        </p:nvSpPr>
        <p:spPr>
          <a:xfrm>
            <a:off x="1280160" y="2221992"/>
            <a:ext cx="4114800" cy="274320"/>
          </a:xfrm>
          <a:prstGeom prst="rect">
            <a:avLst/>
          </a:prstGeom>
          <a:noFill/>
          <a:ln/>
        </p:spPr>
        <p:txBody>
          <a:bodyPr wrap="square" lIns="0" tIns="0" rIns="0" bIns="0" rtlCol="0" anchor="ctr"/>
          <a:lstStyle/>
          <a:p>
            <a:pPr marL="0" indent="0">
              <a:buNone/>
            </a:pPr>
            <a:r>
              <a:rPr lang="en-US" sz="1200">
                <a:solidFill>
                  <a:srgbClr val="6B7280"/>
                </a:solidFill>
                <a:latin typeface="Calibri" pitchFamily="34" charset="0"/>
                <a:ea typeface="Calibri" pitchFamily="34" charset="-122"/>
                <a:cs typeface="Calibri" pitchFamily="34" charset="-120"/>
              </a:rPr>
              <a:t>Random splits flatter the model</a:t>
            </a:r>
            <a:endParaRPr lang="en-US" sz="1200"/>
          </a:p>
        </p:txBody>
      </p:sp>
      <p:sp>
        <p:nvSpPr>
          <p:cNvPr id="11" name="Shape 7"/>
          <p:cNvSpPr/>
          <p:nvPr/>
        </p:nvSpPr>
        <p:spPr>
          <a:xfrm>
            <a:off x="548640" y="2743200"/>
            <a:ext cx="548640" cy="548640"/>
          </a:xfrm>
          <a:prstGeom prst="ellipse">
            <a:avLst/>
          </a:prstGeom>
          <a:solidFill>
            <a:srgbClr val="1B2A41"/>
          </a:solidFill>
          <a:ln w="12700">
            <a:solidFill>
              <a:srgbClr val="1B2A41"/>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685800" y="2880360"/>
            <a:ext cx="274320" cy="274320"/>
          </a:xfrm>
          <a:prstGeom prst="rect">
            <a:avLst/>
          </a:prstGeom>
        </p:spPr>
      </p:pic>
      <p:sp>
        <p:nvSpPr>
          <p:cNvPr id="13" name="Text 8"/>
          <p:cNvSpPr txBox="1"/>
          <p:nvPr/>
        </p:nvSpPr>
        <p:spPr>
          <a:xfrm>
            <a:off x="1280160" y="2724912"/>
            <a:ext cx="4114800" cy="320040"/>
          </a:xfrm>
          <a:prstGeom prst="rect">
            <a:avLst/>
          </a:prstGeom>
          <a:noFill/>
          <a:ln/>
        </p:spPr>
        <p:txBody>
          <a:bodyPr wrap="square" lIns="0" tIns="0" rIns="0" bIns="0" rtlCol="0" anchor="ctr"/>
          <a:lstStyle/>
          <a:p>
            <a:pPr marL="0" indent="0">
              <a:buNone/>
            </a:pPr>
            <a:r>
              <a:rPr lang="en-US" sz="1600" b="1">
                <a:solidFill>
                  <a:srgbClr val="1B2A41"/>
                </a:solidFill>
                <a:latin typeface="Calibri" pitchFamily="34" charset="0"/>
                <a:ea typeface="Calibri" pitchFamily="34" charset="-122"/>
                <a:cs typeface="Calibri" pitchFamily="34" charset="-120"/>
              </a:rPr>
              <a:t>Lock the test</a:t>
            </a:r>
            <a:endParaRPr lang="en-US" sz="1600"/>
          </a:p>
        </p:txBody>
      </p:sp>
      <p:sp>
        <p:nvSpPr>
          <p:cNvPr id="14" name="Text 9"/>
          <p:cNvSpPr txBox="1"/>
          <p:nvPr/>
        </p:nvSpPr>
        <p:spPr>
          <a:xfrm>
            <a:off x="1280160" y="3044952"/>
            <a:ext cx="4114800" cy="274320"/>
          </a:xfrm>
          <a:prstGeom prst="rect">
            <a:avLst/>
          </a:prstGeom>
          <a:noFill/>
          <a:ln/>
        </p:spPr>
        <p:txBody>
          <a:bodyPr wrap="square" lIns="0" tIns="0" rIns="0" bIns="0" rtlCol="0" anchor="ctr"/>
          <a:lstStyle/>
          <a:p>
            <a:pPr marL="0" indent="0">
              <a:buNone/>
            </a:pPr>
            <a:r>
              <a:rPr lang="en-US" sz="1200">
                <a:solidFill>
                  <a:srgbClr val="6B7280"/>
                </a:solidFill>
                <a:latin typeface="Calibri" pitchFamily="34" charset="0"/>
                <a:ea typeface="Calibri" pitchFamily="34" charset="-122"/>
                <a:cs typeface="Calibri" pitchFamily="34" charset="-120"/>
              </a:rPr>
              <a:t>One look, at the very end</a:t>
            </a:r>
            <a:endParaRPr lang="en-US" sz="1200"/>
          </a:p>
        </p:txBody>
      </p:sp>
      <p:sp>
        <p:nvSpPr>
          <p:cNvPr id="15" name="Shape 10"/>
          <p:cNvSpPr/>
          <p:nvPr/>
        </p:nvSpPr>
        <p:spPr>
          <a:xfrm>
            <a:off x="548640" y="3566160"/>
            <a:ext cx="548640" cy="548640"/>
          </a:xfrm>
          <a:prstGeom prst="ellipse">
            <a:avLst/>
          </a:prstGeom>
          <a:solidFill>
            <a:srgbClr val="E4572E"/>
          </a:solidFill>
          <a:ln w="12700">
            <a:solidFill>
              <a:srgbClr val="E4572E"/>
            </a:solidFill>
            <a:prstDash val="solid"/>
          </a:ln>
        </p:spPr>
        <p:txBody>
          <a:bodyPr/>
          <a:lstStyle/>
          <a:p>
            <a:endParaRPr lang="en-US"/>
          </a:p>
        </p:txBody>
      </p:sp>
      <p:pic>
        <p:nvPicPr>
          <p:cNvPr id="16" name="Image 3" descr="preencoded.png"/>
          <p:cNvPicPr>
            <a:picLocks noChangeAspect="1"/>
          </p:cNvPicPr>
          <p:nvPr/>
        </p:nvPicPr>
        <p:blipFill>
          <a:blip r:embed="rId6"/>
          <a:stretch>
            <a:fillRect/>
          </a:stretch>
        </p:blipFill>
        <p:spPr>
          <a:xfrm>
            <a:off x="685800" y="3703320"/>
            <a:ext cx="274320" cy="274320"/>
          </a:xfrm>
          <a:prstGeom prst="rect">
            <a:avLst/>
          </a:prstGeom>
        </p:spPr>
      </p:pic>
      <p:sp>
        <p:nvSpPr>
          <p:cNvPr id="17" name="Text 11"/>
          <p:cNvSpPr txBox="1"/>
          <p:nvPr/>
        </p:nvSpPr>
        <p:spPr>
          <a:xfrm>
            <a:off x="1280160" y="3547872"/>
            <a:ext cx="4114800" cy="320040"/>
          </a:xfrm>
          <a:prstGeom prst="rect">
            <a:avLst/>
          </a:prstGeom>
          <a:noFill/>
          <a:ln/>
        </p:spPr>
        <p:txBody>
          <a:bodyPr wrap="square" lIns="0" tIns="0" rIns="0" bIns="0" rtlCol="0" anchor="ctr"/>
          <a:lstStyle/>
          <a:p>
            <a:pPr marL="0" indent="0">
              <a:buNone/>
            </a:pPr>
            <a:r>
              <a:rPr lang="en-US" sz="1600" b="1">
                <a:solidFill>
                  <a:srgbClr val="1B2A41"/>
                </a:solidFill>
                <a:latin typeface="Calibri" pitchFamily="34" charset="0"/>
                <a:ea typeface="Calibri" pitchFamily="34" charset="-122"/>
                <a:cs typeface="Calibri" pitchFamily="34" charset="-120"/>
              </a:rPr>
              <a:t>AI wrote code, tests checked it</a:t>
            </a:r>
            <a:endParaRPr lang="en-US" sz="1600"/>
          </a:p>
        </p:txBody>
      </p:sp>
      <p:sp>
        <p:nvSpPr>
          <p:cNvPr id="18" name="Text 12"/>
          <p:cNvSpPr txBox="1"/>
          <p:nvPr/>
        </p:nvSpPr>
        <p:spPr>
          <a:xfrm>
            <a:off x="1280160" y="3867912"/>
            <a:ext cx="4114800" cy="274320"/>
          </a:xfrm>
          <a:prstGeom prst="rect">
            <a:avLst/>
          </a:prstGeom>
          <a:noFill/>
          <a:ln/>
        </p:spPr>
        <p:txBody>
          <a:bodyPr wrap="square" lIns="0" tIns="0" rIns="0" bIns="0" rtlCol="0" anchor="ctr"/>
          <a:lstStyle/>
          <a:p>
            <a:pPr marL="0" indent="0">
              <a:buNone/>
            </a:pPr>
            <a:r>
              <a:rPr lang="en-US" sz="1200">
                <a:solidFill>
                  <a:srgbClr val="6B7280"/>
                </a:solidFill>
                <a:latin typeface="Calibri" pitchFamily="34" charset="0"/>
                <a:ea typeface="Calibri" pitchFamily="34" charset="-122"/>
                <a:cs typeface="Calibri" pitchFamily="34" charset="-120"/>
              </a:rPr>
              <a:t>Every AI session logged and verified</a:t>
            </a:r>
            <a:endParaRPr lang="en-US" sz="1200"/>
          </a:p>
        </p:txBody>
      </p:sp>
      <p:sp>
        <p:nvSpPr>
          <p:cNvPr id="19" name="Shape 13"/>
          <p:cNvSpPr/>
          <p:nvPr/>
        </p:nvSpPr>
        <p:spPr>
          <a:xfrm>
            <a:off x="5486400" y="1371600"/>
            <a:ext cx="3108960" cy="2103120"/>
          </a:xfrm>
          <a:prstGeom prst="roundRect">
            <a:avLst>
              <a:gd name="adj" fmla="val 3478"/>
            </a:avLst>
          </a:prstGeom>
          <a:solidFill>
            <a:srgbClr val="1B2A41"/>
          </a:solidFill>
          <a:ln w="12700">
            <a:solidFill>
              <a:srgbClr val="1B2A41"/>
            </a:solidFill>
            <a:prstDash val="solid"/>
          </a:ln>
        </p:spPr>
        <p:txBody>
          <a:bodyPr/>
          <a:lstStyle/>
          <a:p>
            <a:endParaRPr lang="en-US"/>
          </a:p>
        </p:txBody>
      </p:sp>
      <p:sp>
        <p:nvSpPr>
          <p:cNvPr id="20" name="Text 14"/>
          <p:cNvSpPr txBox="1"/>
          <p:nvPr/>
        </p:nvSpPr>
        <p:spPr>
          <a:xfrm>
            <a:off x="5715000" y="1600200"/>
            <a:ext cx="2743200" cy="274320"/>
          </a:xfrm>
          <a:prstGeom prst="rect">
            <a:avLst/>
          </a:prstGeom>
          <a:noFill/>
          <a:ln/>
        </p:spPr>
        <p:txBody>
          <a:bodyPr wrap="square" lIns="0" tIns="0" rIns="0" bIns="0" rtlCol="0" anchor="ctr"/>
          <a:lstStyle/>
          <a:p>
            <a:pPr marL="0" indent="0">
              <a:buNone/>
            </a:pPr>
            <a:r>
              <a:rPr lang="en-US" sz="1000" b="1" kern="0" spc="200">
                <a:solidFill>
                  <a:srgbClr val="E4572E"/>
                </a:solidFill>
                <a:latin typeface="Calibri" pitchFamily="34" charset="0"/>
                <a:ea typeface="Calibri" pitchFamily="34" charset="-122"/>
                <a:cs typeface="Calibri" pitchFamily="34" charset="-120"/>
              </a:rPr>
              <a:t>EVERY NUMBER, ONE COMMAND</a:t>
            </a:r>
            <a:endParaRPr lang="en-US" sz="1000"/>
          </a:p>
        </p:txBody>
      </p:sp>
      <p:sp>
        <p:nvSpPr>
          <p:cNvPr id="21" name="Text 15"/>
          <p:cNvSpPr txBox="1"/>
          <p:nvPr/>
        </p:nvSpPr>
        <p:spPr>
          <a:xfrm>
            <a:off x="5715000" y="2103120"/>
            <a:ext cx="2743200" cy="457200"/>
          </a:xfrm>
          <a:prstGeom prst="rect">
            <a:avLst/>
          </a:prstGeom>
          <a:noFill/>
          <a:ln/>
        </p:spPr>
        <p:txBody>
          <a:bodyPr wrap="square" lIns="0" tIns="0" rIns="0" bIns="0" rtlCol="0" anchor="ctr"/>
          <a:lstStyle/>
          <a:p>
            <a:pPr marL="0" indent="0">
              <a:buNone/>
            </a:pPr>
            <a:r>
              <a:rPr lang="en-US" sz="1300" b="1">
                <a:solidFill>
                  <a:srgbClr val="FFFFFF"/>
                </a:solidFill>
                <a:latin typeface="Courier New" pitchFamily="34" charset="0"/>
                <a:ea typeface="Courier New" pitchFamily="34" charset="-122"/>
                <a:cs typeface="Courier New" pitchFamily="34" charset="-120"/>
              </a:rPr>
              <a:t>python evals/run_all.py</a:t>
            </a:r>
            <a:endParaRPr lang="en-US" sz="1300"/>
          </a:p>
        </p:txBody>
      </p:sp>
      <p:sp>
        <p:nvSpPr>
          <p:cNvPr id="22" name="Text 16"/>
          <p:cNvSpPr txBox="1"/>
          <p:nvPr/>
        </p:nvSpPr>
        <p:spPr>
          <a:xfrm>
            <a:off x="5715000" y="2697480"/>
            <a:ext cx="2651760" cy="548640"/>
          </a:xfrm>
          <a:prstGeom prst="rect">
            <a:avLst/>
          </a:prstGeom>
          <a:noFill/>
          <a:ln/>
        </p:spPr>
        <p:txBody>
          <a:bodyPr wrap="square" lIns="0" tIns="0" rIns="0" bIns="0" rtlCol="0" anchor="ctr"/>
          <a:lstStyle/>
          <a:p>
            <a:pPr marL="0" indent="0">
              <a:buNone/>
            </a:pPr>
            <a:r>
              <a:rPr lang="en-US" sz="1200">
                <a:solidFill>
                  <a:srgbClr val="CADCFC"/>
                </a:solidFill>
                <a:latin typeface="Calibri" pitchFamily="34" charset="0"/>
                <a:ea typeface="Calibri" pitchFamily="34" charset="-122"/>
                <a:cs typeface="Calibri" pitchFamily="34" charset="-120"/>
              </a:rPr>
              <a:t>About 10 minutes on a laptop. No API costs.</a:t>
            </a:r>
            <a:endParaRPr lang="en-US" sz="1200"/>
          </a:p>
        </p:txBody>
      </p:sp>
    </p:spTree>
    <p:extLst>
      <p:ext uri="{BB962C8B-B14F-4D97-AF65-F5344CB8AC3E}">
        <p14:creationId xmlns:p14="http://schemas.microsoft.com/office/powerpoint/2010/main" val="1005158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name="Slide 8">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marL="0" indent="0">
              <a:buNone/>
            </a:pPr>
            <a:r>
              <a:rPr lang="en-US" sz="3000" b="1">
                <a:solidFill>
                  <a:srgbClr val="1B2A41"/>
                </a:solidFill>
                <a:latin typeface="Cambria" pitchFamily="34" charset="0"/>
                <a:ea typeface="Cambria" pitchFamily="34" charset="-122"/>
                <a:cs typeface="Cambria" pitchFamily="34" charset="-120"/>
              </a:rPr>
              <a:t>We tested on the future</a:t>
            </a:r>
            <a:endParaRPr lang="en-US" sz="3000"/>
          </a:p>
        </p:txBody>
      </p:sp>
      <p:sp>
        <p:nvSpPr>
          <p:cNvPr id="3" name="Text 1"/>
          <p:cNvSpPr txBox="1"/>
          <p:nvPr/>
        </p:nvSpPr>
        <p:spPr>
          <a:xfrm>
            <a:off x="548640" y="1645920"/>
            <a:ext cx="914400" cy="274320"/>
          </a:xfrm>
          <a:prstGeom prst="rect">
            <a:avLst/>
          </a:prstGeom>
          <a:noFill/>
          <a:ln/>
        </p:spPr>
        <p:txBody>
          <a:bodyPr wrap="square" lIns="0" tIns="0" rIns="0" bIns="0" rtlCol="0" anchor="ctr"/>
          <a:lstStyle/>
          <a:p>
            <a:pPr marL="0" indent="0">
              <a:buNone/>
            </a:pPr>
            <a:r>
              <a:rPr lang="en-US" sz="1200">
                <a:solidFill>
                  <a:srgbClr val="6B7280"/>
                </a:solidFill>
                <a:latin typeface="Calibri" pitchFamily="34" charset="0"/>
                <a:ea typeface="Calibri" pitchFamily="34" charset="-122"/>
                <a:cs typeface="Calibri" pitchFamily="34" charset="-120"/>
              </a:rPr>
              <a:t>2003</a:t>
            </a:r>
            <a:endParaRPr lang="en-US" sz="1200"/>
          </a:p>
        </p:txBody>
      </p:sp>
      <p:sp>
        <p:nvSpPr>
          <p:cNvPr id="4" name="Text 2"/>
          <p:cNvSpPr txBox="1"/>
          <p:nvPr/>
        </p:nvSpPr>
        <p:spPr>
          <a:xfrm>
            <a:off x="5669280" y="1645920"/>
            <a:ext cx="1097280" cy="274320"/>
          </a:xfrm>
          <a:prstGeom prst="rect">
            <a:avLst/>
          </a:prstGeom>
          <a:noFill/>
          <a:ln/>
        </p:spPr>
        <p:txBody>
          <a:bodyPr wrap="square" lIns="0" tIns="0" rIns="0" bIns="0" rtlCol="0" anchor="ctr"/>
          <a:lstStyle/>
          <a:p>
            <a:pPr marL="0" indent="0">
              <a:buNone/>
            </a:pPr>
            <a:r>
              <a:rPr lang="en-US" sz="1200">
                <a:solidFill>
                  <a:srgbClr val="6B7280"/>
                </a:solidFill>
                <a:latin typeface="Calibri" pitchFamily="34" charset="0"/>
                <a:ea typeface="Calibri" pitchFamily="34" charset="-122"/>
                <a:cs typeface="Calibri" pitchFamily="34" charset="-120"/>
              </a:rPr>
              <a:t>2016</a:t>
            </a:r>
            <a:endParaRPr lang="en-US" sz="1200"/>
          </a:p>
        </p:txBody>
      </p:sp>
      <p:sp>
        <p:nvSpPr>
          <p:cNvPr id="5" name="Text 3"/>
          <p:cNvSpPr txBox="1"/>
          <p:nvPr/>
        </p:nvSpPr>
        <p:spPr>
          <a:xfrm>
            <a:off x="7680960" y="1645920"/>
            <a:ext cx="914400" cy="274320"/>
          </a:xfrm>
          <a:prstGeom prst="rect">
            <a:avLst/>
          </a:prstGeom>
          <a:noFill/>
          <a:ln/>
        </p:spPr>
        <p:txBody>
          <a:bodyPr wrap="square" lIns="0" tIns="0" rIns="0" bIns="0" rtlCol="0" anchor="ctr"/>
          <a:lstStyle/>
          <a:p>
            <a:pPr marL="0" indent="0" algn="r">
              <a:buNone/>
            </a:pPr>
            <a:r>
              <a:rPr lang="en-US" sz="1200">
                <a:solidFill>
                  <a:srgbClr val="6B7280"/>
                </a:solidFill>
                <a:latin typeface="Calibri" pitchFamily="34" charset="0"/>
                <a:ea typeface="Calibri" pitchFamily="34" charset="-122"/>
                <a:cs typeface="Calibri" pitchFamily="34" charset="-120"/>
              </a:rPr>
              <a:t>2018</a:t>
            </a:r>
            <a:endParaRPr lang="en-US" sz="1200"/>
          </a:p>
        </p:txBody>
      </p:sp>
      <p:sp>
        <p:nvSpPr>
          <p:cNvPr id="6" name="Shape 4"/>
          <p:cNvSpPr/>
          <p:nvPr/>
        </p:nvSpPr>
        <p:spPr>
          <a:xfrm>
            <a:off x="548640" y="2011680"/>
            <a:ext cx="5120640" cy="640080"/>
          </a:xfrm>
          <a:prstGeom prst="rect">
            <a:avLst/>
          </a:prstGeom>
          <a:solidFill>
            <a:srgbClr val="2A9D8F"/>
          </a:solidFill>
          <a:ln w="12700">
            <a:solidFill>
              <a:srgbClr val="2A9D8F"/>
            </a:solidFill>
            <a:prstDash val="solid"/>
          </a:ln>
        </p:spPr>
        <p:txBody>
          <a:bodyPr/>
          <a:lstStyle/>
          <a:p>
            <a:endParaRPr lang="en-US"/>
          </a:p>
        </p:txBody>
      </p:sp>
      <p:sp>
        <p:nvSpPr>
          <p:cNvPr id="7" name="Shape 5"/>
          <p:cNvSpPr/>
          <p:nvPr/>
        </p:nvSpPr>
        <p:spPr>
          <a:xfrm>
            <a:off x="5669280" y="2011680"/>
            <a:ext cx="1097280" cy="640080"/>
          </a:xfrm>
          <a:prstGeom prst="rect">
            <a:avLst/>
          </a:prstGeom>
          <a:solidFill>
            <a:srgbClr val="9FD6CF"/>
          </a:solidFill>
          <a:ln w="12700">
            <a:solidFill>
              <a:srgbClr val="9FD6CF"/>
            </a:solidFill>
            <a:prstDash val="solid"/>
          </a:ln>
        </p:spPr>
        <p:txBody>
          <a:bodyPr/>
          <a:lstStyle/>
          <a:p>
            <a:endParaRPr lang="en-US"/>
          </a:p>
        </p:txBody>
      </p:sp>
      <p:sp>
        <p:nvSpPr>
          <p:cNvPr id="8" name="Shape 6"/>
          <p:cNvSpPr/>
          <p:nvPr/>
        </p:nvSpPr>
        <p:spPr>
          <a:xfrm>
            <a:off x="6766560" y="2011680"/>
            <a:ext cx="1828800" cy="640080"/>
          </a:xfrm>
          <a:prstGeom prst="rect">
            <a:avLst/>
          </a:prstGeom>
          <a:solidFill>
            <a:srgbClr val="E4572E"/>
          </a:solidFill>
          <a:ln w="12700">
            <a:solidFill>
              <a:srgbClr val="E4572E"/>
            </a:solidFill>
            <a:prstDash val="solid"/>
          </a:ln>
        </p:spPr>
        <p:txBody>
          <a:bodyPr/>
          <a:lstStyle/>
          <a:p>
            <a:endParaRPr lang="en-US"/>
          </a:p>
        </p:txBody>
      </p:sp>
      <p:sp>
        <p:nvSpPr>
          <p:cNvPr id="9" name="Text 7"/>
          <p:cNvSpPr txBox="1"/>
          <p:nvPr/>
        </p:nvSpPr>
        <p:spPr>
          <a:xfrm>
            <a:off x="731520" y="2011680"/>
            <a:ext cx="2743200" cy="640080"/>
          </a:xfrm>
          <a:prstGeom prst="rect">
            <a:avLst/>
          </a:prstGeom>
          <a:noFill/>
          <a:ln/>
        </p:spPr>
        <p:txBody>
          <a:bodyPr wrap="square" lIns="0" tIns="0" rIns="0" bIns="0" rtlCol="0" anchor="ctr"/>
          <a:lstStyle/>
          <a:p>
            <a:pPr marL="0" indent="0">
              <a:buNone/>
            </a:pPr>
            <a:r>
              <a:rPr lang="en-US" sz="1800" b="1">
                <a:solidFill>
                  <a:srgbClr val="FFFFFF"/>
                </a:solidFill>
                <a:latin typeface="Calibri" pitchFamily="34" charset="0"/>
                <a:ea typeface="Calibri" pitchFamily="34" charset="-122"/>
                <a:cs typeface="Calibri" pitchFamily="34" charset="-120"/>
              </a:rPr>
              <a:t>Learn</a:t>
            </a:r>
            <a:endParaRPr lang="en-US" sz="1800"/>
          </a:p>
        </p:txBody>
      </p:sp>
      <p:sp>
        <p:nvSpPr>
          <p:cNvPr id="10" name="Text 8"/>
          <p:cNvSpPr txBox="1"/>
          <p:nvPr/>
        </p:nvSpPr>
        <p:spPr>
          <a:xfrm>
            <a:off x="5669280" y="2011680"/>
            <a:ext cx="1097280" cy="640080"/>
          </a:xfrm>
          <a:prstGeom prst="rect">
            <a:avLst/>
          </a:prstGeom>
          <a:noFill/>
          <a:ln/>
        </p:spPr>
        <p:txBody>
          <a:bodyPr wrap="square" lIns="0" tIns="0" rIns="0" bIns="0" rtlCol="0" anchor="ctr"/>
          <a:lstStyle/>
          <a:p>
            <a:pPr marL="0" indent="0" algn="ctr">
              <a:buNone/>
            </a:pPr>
            <a:r>
              <a:rPr lang="en-US" sz="1600" b="1">
                <a:solidFill>
                  <a:srgbClr val="1B2A41"/>
                </a:solidFill>
                <a:latin typeface="Calibri" pitchFamily="34" charset="0"/>
                <a:ea typeface="Calibri" pitchFamily="34" charset="-122"/>
                <a:cs typeface="Calibri" pitchFamily="34" charset="-120"/>
              </a:rPr>
              <a:t>Tune</a:t>
            </a:r>
            <a:endParaRPr lang="en-US" sz="1600"/>
          </a:p>
        </p:txBody>
      </p:sp>
      <p:pic>
        <p:nvPicPr>
          <p:cNvPr id="11" name="Image 0" descr="preencoded.png"/>
          <p:cNvPicPr>
            <a:picLocks noChangeAspect="1"/>
          </p:cNvPicPr>
          <p:nvPr/>
        </p:nvPicPr>
        <p:blipFill>
          <a:blip r:embed="rId3"/>
          <a:stretch>
            <a:fillRect/>
          </a:stretch>
        </p:blipFill>
        <p:spPr>
          <a:xfrm>
            <a:off x="6949440" y="2176272"/>
            <a:ext cx="310896" cy="310896"/>
          </a:xfrm>
          <a:prstGeom prst="rect">
            <a:avLst/>
          </a:prstGeom>
        </p:spPr>
      </p:pic>
      <p:sp>
        <p:nvSpPr>
          <p:cNvPr id="12" name="Text 9"/>
          <p:cNvSpPr txBox="1"/>
          <p:nvPr/>
        </p:nvSpPr>
        <p:spPr>
          <a:xfrm>
            <a:off x="7360920" y="2011680"/>
            <a:ext cx="1097280" cy="640080"/>
          </a:xfrm>
          <a:prstGeom prst="rect">
            <a:avLst/>
          </a:prstGeom>
          <a:noFill/>
          <a:ln/>
        </p:spPr>
        <p:txBody>
          <a:bodyPr wrap="square" lIns="0" tIns="0" rIns="0" bIns="0" rtlCol="0" anchor="ctr"/>
          <a:lstStyle/>
          <a:p>
            <a:pPr marL="0" indent="0">
              <a:buNone/>
            </a:pPr>
            <a:r>
              <a:rPr lang="en-US" sz="1800" b="1">
                <a:solidFill>
                  <a:srgbClr val="FFFFFF"/>
                </a:solidFill>
                <a:latin typeface="Calibri" pitchFamily="34" charset="0"/>
                <a:ea typeface="Calibri" pitchFamily="34" charset="-122"/>
                <a:cs typeface="Calibri" pitchFamily="34" charset="-120"/>
              </a:rPr>
              <a:t>Test</a:t>
            </a:r>
            <a:endParaRPr lang="en-US" sz="1800"/>
          </a:p>
        </p:txBody>
      </p:sp>
      <p:sp>
        <p:nvSpPr>
          <p:cNvPr id="13" name="Text 10"/>
          <p:cNvSpPr txBox="1"/>
          <p:nvPr/>
        </p:nvSpPr>
        <p:spPr>
          <a:xfrm>
            <a:off x="548640" y="2788920"/>
            <a:ext cx="4937760" cy="365760"/>
          </a:xfrm>
          <a:prstGeom prst="rect">
            <a:avLst/>
          </a:prstGeom>
          <a:noFill/>
          <a:ln/>
        </p:spPr>
        <p:txBody>
          <a:bodyPr wrap="square" lIns="0" tIns="0" rIns="0" bIns="0" rtlCol="0" anchor="ctr"/>
          <a:lstStyle/>
          <a:p>
            <a:pPr marL="0" indent="0">
              <a:buNone/>
            </a:pPr>
            <a:r>
              <a:rPr lang="en-US" sz="1300">
                <a:solidFill>
                  <a:srgbClr val="6B7280"/>
                </a:solidFill>
                <a:latin typeface="Calibri" pitchFamily="34" charset="0"/>
                <a:ea typeface="Calibri" pitchFamily="34" charset="-122"/>
                <a:cs typeface="Calibri" pitchFamily="34" charset="-120"/>
              </a:rPr>
              <a:t>Patterns from older donors</a:t>
            </a:r>
            <a:endParaRPr lang="en-US" sz="1300"/>
          </a:p>
        </p:txBody>
      </p:sp>
      <p:sp>
        <p:nvSpPr>
          <p:cNvPr id="14" name="Text 11"/>
          <p:cNvSpPr txBox="1"/>
          <p:nvPr/>
        </p:nvSpPr>
        <p:spPr>
          <a:xfrm>
            <a:off x="5486400" y="2788920"/>
            <a:ext cx="1463040" cy="365760"/>
          </a:xfrm>
          <a:prstGeom prst="rect">
            <a:avLst/>
          </a:prstGeom>
          <a:noFill/>
          <a:ln/>
        </p:spPr>
        <p:txBody>
          <a:bodyPr wrap="square" lIns="0" tIns="0" rIns="0" bIns="0" rtlCol="0" anchor="ctr"/>
          <a:lstStyle/>
          <a:p>
            <a:pPr marL="0" indent="0" algn="ctr">
              <a:buNone/>
            </a:pPr>
            <a:r>
              <a:rPr lang="en-US" sz="1300">
                <a:solidFill>
                  <a:srgbClr val="6B7280"/>
                </a:solidFill>
                <a:latin typeface="Calibri" pitchFamily="34" charset="0"/>
                <a:ea typeface="Calibri" pitchFamily="34" charset="-122"/>
                <a:cs typeface="Calibri" pitchFamily="34" charset="-120"/>
              </a:rPr>
              <a:t>Practice test</a:t>
            </a:r>
            <a:endParaRPr lang="en-US" sz="1300"/>
          </a:p>
        </p:txBody>
      </p:sp>
      <p:sp>
        <p:nvSpPr>
          <p:cNvPr id="15" name="Text 12"/>
          <p:cNvSpPr txBox="1"/>
          <p:nvPr/>
        </p:nvSpPr>
        <p:spPr>
          <a:xfrm>
            <a:off x="6766560" y="2788920"/>
            <a:ext cx="1828800" cy="548640"/>
          </a:xfrm>
          <a:prstGeom prst="rect">
            <a:avLst/>
          </a:prstGeom>
          <a:noFill/>
          <a:ln/>
        </p:spPr>
        <p:txBody>
          <a:bodyPr wrap="square" lIns="0" tIns="0" rIns="0" bIns="0" rtlCol="0" anchor="t"/>
          <a:lstStyle/>
          <a:p>
            <a:pPr marL="0" indent="0" algn="ctr">
              <a:buNone/>
            </a:pPr>
            <a:r>
              <a:rPr lang="en-US" sz="1300" b="1">
                <a:solidFill>
                  <a:srgbClr val="E4572E"/>
                </a:solidFill>
                <a:latin typeface="Calibri" pitchFamily="34" charset="0"/>
                <a:ea typeface="Calibri" pitchFamily="34" charset="-122"/>
                <a:cs typeface="Calibri" pitchFamily="34" charset="-120"/>
              </a:rPr>
              <a:t>815K donors, opened once</a:t>
            </a:r>
            <a:endParaRPr lang="en-US" sz="1300"/>
          </a:p>
        </p:txBody>
      </p:sp>
      <p:sp>
        <p:nvSpPr>
          <p:cNvPr id="16" name="Shape 13"/>
          <p:cNvSpPr/>
          <p:nvPr/>
        </p:nvSpPr>
        <p:spPr>
          <a:xfrm>
            <a:off x="548640" y="3840480"/>
            <a:ext cx="502920" cy="502920"/>
          </a:xfrm>
          <a:prstGeom prst="ellipse">
            <a:avLst/>
          </a:prstGeom>
          <a:solidFill>
            <a:srgbClr val="1B2A41"/>
          </a:solidFill>
          <a:ln w="12700">
            <a:solidFill>
              <a:srgbClr val="1B2A41"/>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674370" y="3966210"/>
            <a:ext cx="251460" cy="251460"/>
          </a:xfrm>
          <a:prstGeom prst="rect">
            <a:avLst/>
          </a:prstGeom>
        </p:spPr>
      </p:pic>
      <p:sp>
        <p:nvSpPr>
          <p:cNvPr id="18" name="Text 14"/>
          <p:cNvSpPr txBox="1"/>
          <p:nvPr/>
        </p:nvSpPr>
        <p:spPr>
          <a:xfrm>
            <a:off x="1234440" y="3840480"/>
            <a:ext cx="7315200" cy="502920"/>
          </a:xfrm>
          <a:prstGeom prst="rect">
            <a:avLst/>
          </a:prstGeom>
          <a:noFill/>
          <a:ln/>
        </p:spPr>
        <p:txBody>
          <a:bodyPr wrap="square" lIns="0" tIns="0" rIns="0" bIns="0" rtlCol="0" anchor="ctr"/>
          <a:lstStyle/>
          <a:p>
            <a:pPr marL="0" indent="0">
              <a:buNone/>
            </a:pPr>
            <a:r>
              <a:rPr lang="en-US" sz="1600">
                <a:solidFill>
                  <a:srgbClr val="1B2A41"/>
                </a:solidFill>
                <a:latin typeface="Calibri" pitchFamily="34" charset="0"/>
                <a:ea typeface="Calibri" pitchFamily="34" charset="-122"/>
                <a:cs typeface="Calibri" pitchFamily="34" charset="-120"/>
              </a:rPr>
              <a:t>A random split would let the model peek at the future.</a:t>
            </a:r>
            <a:endParaRPr lang="en-US" sz="1600"/>
          </a:p>
        </p:txBody>
      </p:sp>
    </p:spTree>
    <p:extLst>
      <p:ext uri="{BB962C8B-B14F-4D97-AF65-F5344CB8AC3E}">
        <p14:creationId xmlns:p14="http://schemas.microsoft.com/office/powerpoint/2010/main" val="32840328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marL="0" indent="0">
              <a:buNone/>
            </a:pPr>
            <a:r>
              <a:rPr lang="en-US" sz="3000" b="1">
                <a:solidFill>
                  <a:srgbClr val="1B2A41"/>
                </a:solidFill>
                <a:latin typeface="Cambria" pitchFamily="34" charset="0"/>
                <a:ea typeface="Cambria" pitchFamily="34" charset="-122"/>
                <a:cs typeface="Cambria" pitchFamily="34" charset="-120"/>
              </a:rPr>
              <a:t>100 new donors. Who should be contacted?</a:t>
            </a:r>
            <a:endParaRPr lang="en-US" sz="3000"/>
          </a:p>
        </p:txBody>
      </p:sp>
      <p:sp>
        <p:nvSpPr>
          <p:cNvPr id="3" name="Shape 1"/>
          <p:cNvSpPr/>
          <p:nvPr/>
        </p:nvSpPr>
        <p:spPr>
          <a:xfrm>
            <a:off x="731520" y="1234440"/>
            <a:ext cx="219456" cy="219456"/>
          </a:xfrm>
          <a:prstGeom prst="ellipse">
            <a:avLst/>
          </a:prstGeom>
          <a:solidFill>
            <a:srgbClr val="C9CED6"/>
          </a:solidFill>
          <a:ln w="12700">
            <a:solidFill>
              <a:srgbClr val="C9CED6"/>
            </a:solidFill>
            <a:prstDash val="solid"/>
          </a:ln>
        </p:spPr>
        <p:txBody>
          <a:bodyPr/>
          <a:lstStyle/>
          <a:p>
            <a:endParaRPr lang="en-US"/>
          </a:p>
        </p:txBody>
      </p:sp>
      <p:sp>
        <p:nvSpPr>
          <p:cNvPr id="4" name="Shape 2"/>
          <p:cNvSpPr/>
          <p:nvPr/>
        </p:nvSpPr>
        <p:spPr>
          <a:xfrm>
            <a:off x="1060704" y="1234440"/>
            <a:ext cx="219456" cy="219456"/>
          </a:xfrm>
          <a:prstGeom prst="ellipse">
            <a:avLst/>
          </a:prstGeom>
          <a:solidFill>
            <a:srgbClr val="C9CED6"/>
          </a:solidFill>
          <a:ln w="12700">
            <a:solidFill>
              <a:srgbClr val="C9CED6"/>
            </a:solidFill>
            <a:prstDash val="solid"/>
          </a:ln>
        </p:spPr>
        <p:txBody>
          <a:bodyPr/>
          <a:lstStyle/>
          <a:p>
            <a:endParaRPr lang="en-US"/>
          </a:p>
        </p:txBody>
      </p:sp>
      <p:sp>
        <p:nvSpPr>
          <p:cNvPr id="5" name="Shape 3"/>
          <p:cNvSpPr/>
          <p:nvPr/>
        </p:nvSpPr>
        <p:spPr>
          <a:xfrm>
            <a:off x="1389888" y="1234440"/>
            <a:ext cx="219456" cy="219456"/>
          </a:xfrm>
          <a:prstGeom prst="ellipse">
            <a:avLst/>
          </a:prstGeom>
          <a:solidFill>
            <a:srgbClr val="C9CED6"/>
          </a:solidFill>
          <a:ln w="12700">
            <a:solidFill>
              <a:srgbClr val="C9CED6"/>
            </a:solidFill>
            <a:prstDash val="solid"/>
          </a:ln>
        </p:spPr>
        <p:txBody>
          <a:bodyPr/>
          <a:lstStyle/>
          <a:p>
            <a:endParaRPr lang="en-US"/>
          </a:p>
        </p:txBody>
      </p:sp>
      <p:sp>
        <p:nvSpPr>
          <p:cNvPr id="6" name="Shape 4"/>
          <p:cNvSpPr/>
          <p:nvPr/>
        </p:nvSpPr>
        <p:spPr>
          <a:xfrm>
            <a:off x="1719072" y="1234440"/>
            <a:ext cx="219456" cy="219456"/>
          </a:xfrm>
          <a:prstGeom prst="ellipse">
            <a:avLst/>
          </a:prstGeom>
          <a:solidFill>
            <a:srgbClr val="E4572E"/>
          </a:solidFill>
          <a:ln w="12700">
            <a:solidFill>
              <a:srgbClr val="E4572E"/>
            </a:solidFill>
            <a:prstDash val="solid"/>
          </a:ln>
        </p:spPr>
        <p:txBody>
          <a:bodyPr/>
          <a:lstStyle/>
          <a:p>
            <a:endParaRPr lang="en-US"/>
          </a:p>
        </p:txBody>
      </p:sp>
      <p:sp>
        <p:nvSpPr>
          <p:cNvPr id="7" name="Shape 5"/>
          <p:cNvSpPr/>
          <p:nvPr/>
        </p:nvSpPr>
        <p:spPr>
          <a:xfrm>
            <a:off x="2048256" y="1234440"/>
            <a:ext cx="219456" cy="219456"/>
          </a:xfrm>
          <a:prstGeom prst="ellipse">
            <a:avLst/>
          </a:prstGeom>
          <a:solidFill>
            <a:srgbClr val="C9CED6"/>
          </a:solidFill>
          <a:ln w="12700">
            <a:solidFill>
              <a:srgbClr val="C9CED6"/>
            </a:solidFill>
            <a:prstDash val="solid"/>
          </a:ln>
        </p:spPr>
        <p:txBody>
          <a:bodyPr/>
          <a:lstStyle/>
          <a:p>
            <a:endParaRPr lang="en-US"/>
          </a:p>
        </p:txBody>
      </p:sp>
      <p:sp>
        <p:nvSpPr>
          <p:cNvPr id="8" name="Shape 6"/>
          <p:cNvSpPr/>
          <p:nvPr/>
        </p:nvSpPr>
        <p:spPr>
          <a:xfrm>
            <a:off x="2377440" y="1234440"/>
            <a:ext cx="219456" cy="219456"/>
          </a:xfrm>
          <a:prstGeom prst="ellipse">
            <a:avLst/>
          </a:prstGeom>
          <a:solidFill>
            <a:srgbClr val="C9CED6"/>
          </a:solidFill>
          <a:ln w="12700">
            <a:solidFill>
              <a:srgbClr val="C9CED6"/>
            </a:solidFill>
            <a:prstDash val="solid"/>
          </a:ln>
        </p:spPr>
        <p:txBody>
          <a:bodyPr/>
          <a:lstStyle/>
          <a:p>
            <a:endParaRPr lang="en-US"/>
          </a:p>
        </p:txBody>
      </p:sp>
      <p:sp>
        <p:nvSpPr>
          <p:cNvPr id="9" name="Shape 7"/>
          <p:cNvSpPr/>
          <p:nvPr/>
        </p:nvSpPr>
        <p:spPr>
          <a:xfrm>
            <a:off x="2706624" y="1234440"/>
            <a:ext cx="219456" cy="219456"/>
          </a:xfrm>
          <a:prstGeom prst="ellipse">
            <a:avLst/>
          </a:prstGeom>
          <a:solidFill>
            <a:srgbClr val="C9CED6"/>
          </a:solidFill>
          <a:ln w="12700">
            <a:solidFill>
              <a:srgbClr val="C9CED6"/>
            </a:solidFill>
            <a:prstDash val="solid"/>
          </a:ln>
        </p:spPr>
        <p:txBody>
          <a:bodyPr/>
          <a:lstStyle/>
          <a:p>
            <a:endParaRPr lang="en-US"/>
          </a:p>
        </p:txBody>
      </p:sp>
      <p:sp>
        <p:nvSpPr>
          <p:cNvPr id="10" name="Shape 8"/>
          <p:cNvSpPr/>
          <p:nvPr/>
        </p:nvSpPr>
        <p:spPr>
          <a:xfrm>
            <a:off x="3035808" y="1234440"/>
            <a:ext cx="219456" cy="219456"/>
          </a:xfrm>
          <a:prstGeom prst="ellipse">
            <a:avLst/>
          </a:prstGeom>
          <a:solidFill>
            <a:srgbClr val="C9CED6"/>
          </a:solidFill>
          <a:ln w="12700">
            <a:solidFill>
              <a:srgbClr val="C9CED6"/>
            </a:solidFill>
            <a:prstDash val="solid"/>
          </a:ln>
        </p:spPr>
        <p:txBody>
          <a:bodyPr/>
          <a:lstStyle/>
          <a:p>
            <a:endParaRPr lang="en-US"/>
          </a:p>
        </p:txBody>
      </p:sp>
      <p:sp>
        <p:nvSpPr>
          <p:cNvPr id="11" name="Shape 9"/>
          <p:cNvSpPr/>
          <p:nvPr/>
        </p:nvSpPr>
        <p:spPr>
          <a:xfrm>
            <a:off x="3364992" y="1234440"/>
            <a:ext cx="219456" cy="219456"/>
          </a:xfrm>
          <a:prstGeom prst="ellipse">
            <a:avLst/>
          </a:prstGeom>
          <a:solidFill>
            <a:srgbClr val="C9CED6"/>
          </a:solidFill>
          <a:ln w="12700">
            <a:solidFill>
              <a:srgbClr val="C9CED6"/>
            </a:solidFill>
            <a:prstDash val="solid"/>
          </a:ln>
        </p:spPr>
        <p:txBody>
          <a:bodyPr/>
          <a:lstStyle/>
          <a:p>
            <a:endParaRPr lang="en-US"/>
          </a:p>
        </p:txBody>
      </p:sp>
      <p:sp>
        <p:nvSpPr>
          <p:cNvPr id="12" name="Shape 10"/>
          <p:cNvSpPr/>
          <p:nvPr/>
        </p:nvSpPr>
        <p:spPr>
          <a:xfrm>
            <a:off x="3694176" y="1234440"/>
            <a:ext cx="219456" cy="219456"/>
          </a:xfrm>
          <a:prstGeom prst="ellipse">
            <a:avLst/>
          </a:prstGeom>
          <a:solidFill>
            <a:srgbClr val="E4572E"/>
          </a:solidFill>
          <a:ln w="12700">
            <a:solidFill>
              <a:srgbClr val="C9CED6"/>
            </a:solidFill>
            <a:prstDash val="solid"/>
          </a:ln>
        </p:spPr>
        <p:txBody>
          <a:bodyPr/>
          <a:lstStyle/>
          <a:p>
            <a:endParaRPr lang="en-US"/>
          </a:p>
        </p:txBody>
      </p:sp>
      <p:sp>
        <p:nvSpPr>
          <p:cNvPr id="13" name="Shape 11"/>
          <p:cNvSpPr/>
          <p:nvPr/>
        </p:nvSpPr>
        <p:spPr>
          <a:xfrm>
            <a:off x="731520" y="1563624"/>
            <a:ext cx="219456" cy="219456"/>
          </a:xfrm>
          <a:prstGeom prst="ellipse">
            <a:avLst/>
          </a:prstGeom>
          <a:solidFill>
            <a:srgbClr val="C9CED6"/>
          </a:solidFill>
          <a:ln w="12700">
            <a:solidFill>
              <a:srgbClr val="C9CED6"/>
            </a:solidFill>
            <a:prstDash val="solid"/>
          </a:ln>
        </p:spPr>
        <p:txBody>
          <a:bodyPr/>
          <a:lstStyle/>
          <a:p>
            <a:endParaRPr lang="en-US"/>
          </a:p>
        </p:txBody>
      </p:sp>
      <p:sp>
        <p:nvSpPr>
          <p:cNvPr id="14" name="Shape 12"/>
          <p:cNvSpPr/>
          <p:nvPr/>
        </p:nvSpPr>
        <p:spPr>
          <a:xfrm>
            <a:off x="1060704" y="1563624"/>
            <a:ext cx="219456" cy="219456"/>
          </a:xfrm>
          <a:prstGeom prst="ellipse">
            <a:avLst/>
          </a:prstGeom>
          <a:solidFill>
            <a:srgbClr val="C9CED6"/>
          </a:solidFill>
          <a:ln w="12700">
            <a:solidFill>
              <a:srgbClr val="C9CED6"/>
            </a:solidFill>
            <a:prstDash val="solid"/>
          </a:ln>
        </p:spPr>
        <p:txBody>
          <a:bodyPr/>
          <a:lstStyle/>
          <a:p>
            <a:endParaRPr lang="en-US"/>
          </a:p>
        </p:txBody>
      </p:sp>
      <p:sp>
        <p:nvSpPr>
          <p:cNvPr id="15" name="Shape 13"/>
          <p:cNvSpPr/>
          <p:nvPr/>
        </p:nvSpPr>
        <p:spPr>
          <a:xfrm>
            <a:off x="1389888" y="1563624"/>
            <a:ext cx="219456" cy="219456"/>
          </a:xfrm>
          <a:prstGeom prst="ellipse">
            <a:avLst/>
          </a:prstGeom>
          <a:solidFill>
            <a:srgbClr val="C9CED6"/>
          </a:solidFill>
          <a:ln w="12700">
            <a:solidFill>
              <a:srgbClr val="C9CED6"/>
            </a:solidFill>
            <a:prstDash val="solid"/>
          </a:ln>
        </p:spPr>
        <p:txBody>
          <a:bodyPr/>
          <a:lstStyle/>
          <a:p>
            <a:endParaRPr lang="en-US"/>
          </a:p>
        </p:txBody>
      </p:sp>
      <p:sp>
        <p:nvSpPr>
          <p:cNvPr id="16" name="Shape 14"/>
          <p:cNvSpPr/>
          <p:nvPr/>
        </p:nvSpPr>
        <p:spPr>
          <a:xfrm>
            <a:off x="1719072" y="1563624"/>
            <a:ext cx="219456" cy="219456"/>
          </a:xfrm>
          <a:prstGeom prst="ellipse">
            <a:avLst/>
          </a:prstGeom>
          <a:solidFill>
            <a:srgbClr val="C9CED6"/>
          </a:solidFill>
          <a:ln w="12700">
            <a:solidFill>
              <a:srgbClr val="C9CED6"/>
            </a:solidFill>
            <a:prstDash val="solid"/>
          </a:ln>
        </p:spPr>
        <p:txBody>
          <a:bodyPr/>
          <a:lstStyle/>
          <a:p>
            <a:endParaRPr lang="en-US"/>
          </a:p>
        </p:txBody>
      </p:sp>
      <p:sp>
        <p:nvSpPr>
          <p:cNvPr id="17" name="Shape 15"/>
          <p:cNvSpPr/>
          <p:nvPr/>
        </p:nvSpPr>
        <p:spPr>
          <a:xfrm>
            <a:off x="2048256" y="1563624"/>
            <a:ext cx="219456" cy="219456"/>
          </a:xfrm>
          <a:prstGeom prst="ellipse">
            <a:avLst/>
          </a:prstGeom>
          <a:solidFill>
            <a:srgbClr val="C9CED6"/>
          </a:solidFill>
          <a:ln w="12700">
            <a:solidFill>
              <a:srgbClr val="C9CED6"/>
            </a:solidFill>
            <a:prstDash val="solid"/>
          </a:ln>
        </p:spPr>
        <p:txBody>
          <a:bodyPr/>
          <a:lstStyle/>
          <a:p>
            <a:endParaRPr lang="en-US"/>
          </a:p>
        </p:txBody>
      </p:sp>
      <p:sp>
        <p:nvSpPr>
          <p:cNvPr id="18" name="Shape 16"/>
          <p:cNvSpPr/>
          <p:nvPr/>
        </p:nvSpPr>
        <p:spPr>
          <a:xfrm>
            <a:off x="2377440" y="1563624"/>
            <a:ext cx="219456" cy="219456"/>
          </a:xfrm>
          <a:prstGeom prst="ellipse">
            <a:avLst/>
          </a:prstGeom>
          <a:solidFill>
            <a:srgbClr val="C9CED6"/>
          </a:solidFill>
          <a:ln w="12700">
            <a:solidFill>
              <a:srgbClr val="C9CED6"/>
            </a:solidFill>
            <a:prstDash val="solid"/>
          </a:ln>
        </p:spPr>
        <p:txBody>
          <a:bodyPr/>
          <a:lstStyle/>
          <a:p>
            <a:endParaRPr lang="en-US"/>
          </a:p>
        </p:txBody>
      </p:sp>
      <p:sp>
        <p:nvSpPr>
          <p:cNvPr id="19" name="Shape 17"/>
          <p:cNvSpPr/>
          <p:nvPr/>
        </p:nvSpPr>
        <p:spPr>
          <a:xfrm>
            <a:off x="2706624" y="1563624"/>
            <a:ext cx="219456" cy="219456"/>
          </a:xfrm>
          <a:prstGeom prst="ellipse">
            <a:avLst/>
          </a:prstGeom>
          <a:solidFill>
            <a:srgbClr val="C9CED6"/>
          </a:solidFill>
          <a:ln w="12700">
            <a:solidFill>
              <a:srgbClr val="C9CED6"/>
            </a:solidFill>
            <a:prstDash val="solid"/>
          </a:ln>
        </p:spPr>
        <p:txBody>
          <a:bodyPr/>
          <a:lstStyle/>
          <a:p>
            <a:endParaRPr lang="en-US"/>
          </a:p>
        </p:txBody>
      </p:sp>
      <p:sp>
        <p:nvSpPr>
          <p:cNvPr id="20" name="Shape 18"/>
          <p:cNvSpPr/>
          <p:nvPr/>
        </p:nvSpPr>
        <p:spPr>
          <a:xfrm>
            <a:off x="3035808" y="1563624"/>
            <a:ext cx="219456" cy="219456"/>
          </a:xfrm>
          <a:prstGeom prst="ellipse">
            <a:avLst/>
          </a:prstGeom>
          <a:solidFill>
            <a:srgbClr val="E4572E"/>
          </a:solidFill>
          <a:ln w="12700">
            <a:solidFill>
              <a:srgbClr val="E4572E"/>
            </a:solidFill>
            <a:prstDash val="solid"/>
          </a:ln>
        </p:spPr>
        <p:txBody>
          <a:bodyPr/>
          <a:lstStyle/>
          <a:p>
            <a:endParaRPr lang="en-US"/>
          </a:p>
        </p:txBody>
      </p:sp>
      <p:sp>
        <p:nvSpPr>
          <p:cNvPr id="21" name="Shape 19"/>
          <p:cNvSpPr/>
          <p:nvPr/>
        </p:nvSpPr>
        <p:spPr>
          <a:xfrm>
            <a:off x="3364992" y="1563624"/>
            <a:ext cx="219456" cy="219456"/>
          </a:xfrm>
          <a:prstGeom prst="ellipse">
            <a:avLst/>
          </a:prstGeom>
          <a:solidFill>
            <a:srgbClr val="C9CED6"/>
          </a:solidFill>
          <a:ln w="12700">
            <a:solidFill>
              <a:srgbClr val="C9CED6"/>
            </a:solidFill>
            <a:prstDash val="solid"/>
          </a:ln>
        </p:spPr>
        <p:txBody>
          <a:bodyPr/>
          <a:lstStyle/>
          <a:p>
            <a:endParaRPr lang="en-US"/>
          </a:p>
        </p:txBody>
      </p:sp>
      <p:sp>
        <p:nvSpPr>
          <p:cNvPr id="22" name="Shape 20"/>
          <p:cNvSpPr/>
          <p:nvPr/>
        </p:nvSpPr>
        <p:spPr>
          <a:xfrm>
            <a:off x="3694176" y="1563624"/>
            <a:ext cx="219456" cy="219456"/>
          </a:xfrm>
          <a:prstGeom prst="ellipse">
            <a:avLst/>
          </a:prstGeom>
          <a:solidFill>
            <a:srgbClr val="C9CED6"/>
          </a:solidFill>
          <a:ln w="12700">
            <a:solidFill>
              <a:srgbClr val="C9CED6"/>
            </a:solidFill>
            <a:prstDash val="solid"/>
          </a:ln>
        </p:spPr>
        <p:txBody>
          <a:bodyPr/>
          <a:lstStyle/>
          <a:p>
            <a:endParaRPr lang="en-US"/>
          </a:p>
        </p:txBody>
      </p:sp>
      <p:sp>
        <p:nvSpPr>
          <p:cNvPr id="23" name="Shape 21"/>
          <p:cNvSpPr/>
          <p:nvPr/>
        </p:nvSpPr>
        <p:spPr>
          <a:xfrm>
            <a:off x="731520" y="1892808"/>
            <a:ext cx="219456" cy="219456"/>
          </a:xfrm>
          <a:prstGeom prst="ellipse">
            <a:avLst/>
          </a:prstGeom>
          <a:solidFill>
            <a:srgbClr val="C9CED6"/>
          </a:solidFill>
          <a:ln w="12700">
            <a:solidFill>
              <a:srgbClr val="C9CED6"/>
            </a:solidFill>
            <a:prstDash val="solid"/>
          </a:ln>
        </p:spPr>
        <p:txBody>
          <a:bodyPr/>
          <a:lstStyle/>
          <a:p>
            <a:endParaRPr lang="en-US"/>
          </a:p>
        </p:txBody>
      </p:sp>
      <p:sp>
        <p:nvSpPr>
          <p:cNvPr id="24" name="Shape 22"/>
          <p:cNvSpPr/>
          <p:nvPr/>
        </p:nvSpPr>
        <p:spPr>
          <a:xfrm>
            <a:off x="1060704" y="1892808"/>
            <a:ext cx="219456" cy="219456"/>
          </a:xfrm>
          <a:prstGeom prst="ellipse">
            <a:avLst/>
          </a:prstGeom>
          <a:solidFill>
            <a:srgbClr val="C9CED6"/>
          </a:solidFill>
          <a:ln w="12700">
            <a:solidFill>
              <a:srgbClr val="C9CED6"/>
            </a:solidFill>
            <a:prstDash val="solid"/>
          </a:ln>
        </p:spPr>
        <p:txBody>
          <a:bodyPr/>
          <a:lstStyle/>
          <a:p>
            <a:endParaRPr lang="en-US"/>
          </a:p>
        </p:txBody>
      </p:sp>
      <p:sp>
        <p:nvSpPr>
          <p:cNvPr id="25" name="Shape 23"/>
          <p:cNvSpPr/>
          <p:nvPr/>
        </p:nvSpPr>
        <p:spPr>
          <a:xfrm>
            <a:off x="1389888" y="1892808"/>
            <a:ext cx="219456" cy="219456"/>
          </a:xfrm>
          <a:prstGeom prst="ellipse">
            <a:avLst/>
          </a:prstGeom>
          <a:solidFill>
            <a:srgbClr val="E4572E"/>
          </a:solidFill>
          <a:ln w="12700">
            <a:solidFill>
              <a:srgbClr val="E4572E"/>
            </a:solidFill>
            <a:prstDash val="solid"/>
          </a:ln>
        </p:spPr>
        <p:txBody>
          <a:bodyPr/>
          <a:lstStyle/>
          <a:p>
            <a:endParaRPr lang="en-US"/>
          </a:p>
        </p:txBody>
      </p:sp>
      <p:sp>
        <p:nvSpPr>
          <p:cNvPr id="26" name="Shape 24"/>
          <p:cNvSpPr/>
          <p:nvPr/>
        </p:nvSpPr>
        <p:spPr>
          <a:xfrm>
            <a:off x="1719072" y="1892808"/>
            <a:ext cx="219456" cy="219456"/>
          </a:xfrm>
          <a:prstGeom prst="ellipse">
            <a:avLst/>
          </a:prstGeom>
          <a:solidFill>
            <a:srgbClr val="C9CED6"/>
          </a:solidFill>
          <a:ln w="12700">
            <a:solidFill>
              <a:srgbClr val="C9CED6"/>
            </a:solidFill>
            <a:prstDash val="solid"/>
          </a:ln>
        </p:spPr>
        <p:txBody>
          <a:bodyPr/>
          <a:lstStyle/>
          <a:p>
            <a:endParaRPr lang="en-US"/>
          </a:p>
        </p:txBody>
      </p:sp>
      <p:sp>
        <p:nvSpPr>
          <p:cNvPr id="27" name="Shape 25"/>
          <p:cNvSpPr/>
          <p:nvPr/>
        </p:nvSpPr>
        <p:spPr>
          <a:xfrm>
            <a:off x="2048256" y="1892808"/>
            <a:ext cx="219456" cy="219456"/>
          </a:xfrm>
          <a:prstGeom prst="ellipse">
            <a:avLst/>
          </a:prstGeom>
          <a:solidFill>
            <a:srgbClr val="C9CED6"/>
          </a:solidFill>
          <a:ln w="12700">
            <a:solidFill>
              <a:srgbClr val="C9CED6"/>
            </a:solidFill>
            <a:prstDash val="solid"/>
          </a:ln>
        </p:spPr>
        <p:txBody>
          <a:bodyPr/>
          <a:lstStyle/>
          <a:p>
            <a:endParaRPr lang="en-US"/>
          </a:p>
        </p:txBody>
      </p:sp>
      <p:sp>
        <p:nvSpPr>
          <p:cNvPr id="28" name="Shape 26"/>
          <p:cNvSpPr/>
          <p:nvPr/>
        </p:nvSpPr>
        <p:spPr>
          <a:xfrm>
            <a:off x="2377440" y="1892808"/>
            <a:ext cx="219456" cy="219456"/>
          </a:xfrm>
          <a:prstGeom prst="ellipse">
            <a:avLst/>
          </a:prstGeom>
          <a:solidFill>
            <a:srgbClr val="C9CED6"/>
          </a:solidFill>
          <a:ln w="12700">
            <a:solidFill>
              <a:srgbClr val="C9CED6"/>
            </a:solidFill>
            <a:prstDash val="solid"/>
          </a:ln>
        </p:spPr>
        <p:txBody>
          <a:bodyPr/>
          <a:lstStyle/>
          <a:p>
            <a:endParaRPr lang="en-US"/>
          </a:p>
        </p:txBody>
      </p:sp>
      <p:sp>
        <p:nvSpPr>
          <p:cNvPr id="29" name="Shape 27"/>
          <p:cNvSpPr/>
          <p:nvPr/>
        </p:nvSpPr>
        <p:spPr>
          <a:xfrm>
            <a:off x="2706624" y="1892808"/>
            <a:ext cx="219456" cy="219456"/>
          </a:xfrm>
          <a:prstGeom prst="ellipse">
            <a:avLst/>
          </a:prstGeom>
          <a:solidFill>
            <a:srgbClr val="C9CED6"/>
          </a:solidFill>
          <a:ln w="12700">
            <a:solidFill>
              <a:srgbClr val="C9CED6"/>
            </a:solidFill>
            <a:prstDash val="solid"/>
          </a:ln>
        </p:spPr>
        <p:txBody>
          <a:bodyPr/>
          <a:lstStyle/>
          <a:p>
            <a:endParaRPr lang="en-US"/>
          </a:p>
        </p:txBody>
      </p:sp>
      <p:sp>
        <p:nvSpPr>
          <p:cNvPr id="30" name="Shape 28"/>
          <p:cNvSpPr/>
          <p:nvPr/>
        </p:nvSpPr>
        <p:spPr>
          <a:xfrm>
            <a:off x="3035808" y="1892808"/>
            <a:ext cx="219456" cy="219456"/>
          </a:xfrm>
          <a:prstGeom prst="ellipse">
            <a:avLst/>
          </a:prstGeom>
          <a:solidFill>
            <a:srgbClr val="C9CED6"/>
          </a:solidFill>
          <a:ln w="12700">
            <a:solidFill>
              <a:srgbClr val="C9CED6"/>
            </a:solidFill>
            <a:prstDash val="solid"/>
          </a:ln>
        </p:spPr>
        <p:txBody>
          <a:bodyPr/>
          <a:lstStyle/>
          <a:p>
            <a:endParaRPr lang="en-US"/>
          </a:p>
        </p:txBody>
      </p:sp>
      <p:sp>
        <p:nvSpPr>
          <p:cNvPr id="31" name="Shape 29"/>
          <p:cNvSpPr/>
          <p:nvPr/>
        </p:nvSpPr>
        <p:spPr>
          <a:xfrm>
            <a:off x="3364992" y="1892808"/>
            <a:ext cx="219456" cy="219456"/>
          </a:xfrm>
          <a:prstGeom prst="ellipse">
            <a:avLst/>
          </a:prstGeom>
          <a:solidFill>
            <a:srgbClr val="C9CED6"/>
          </a:solidFill>
          <a:ln w="12700">
            <a:solidFill>
              <a:srgbClr val="C9CED6"/>
            </a:solidFill>
            <a:prstDash val="solid"/>
          </a:ln>
        </p:spPr>
        <p:txBody>
          <a:bodyPr/>
          <a:lstStyle/>
          <a:p>
            <a:endParaRPr lang="en-US"/>
          </a:p>
        </p:txBody>
      </p:sp>
      <p:sp>
        <p:nvSpPr>
          <p:cNvPr id="32" name="Shape 30"/>
          <p:cNvSpPr/>
          <p:nvPr/>
        </p:nvSpPr>
        <p:spPr>
          <a:xfrm>
            <a:off x="3694176" y="1892808"/>
            <a:ext cx="219456" cy="219456"/>
          </a:xfrm>
          <a:prstGeom prst="ellipse">
            <a:avLst/>
          </a:prstGeom>
          <a:solidFill>
            <a:srgbClr val="C9CED6"/>
          </a:solidFill>
          <a:ln w="12700">
            <a:solidFill>
              <a:srgbClr val="C9CED6"/>
            </a:solidFill>
            <a:prstDash val="solid"/>
          </a:ln>
        </p:spPr>
        <p:txBody>
          <a:bodyPr/>
          <a:lstStyle/>
          <a:p>
            <a:endParaRPr lang="en-US"/>
          </a:p>
        </p:txBody>
      </p:sp>
      <p:sp>
        <p:nvSpPr>
          <p:cNvPr id="33" name="Shape 31"/>
          <p:cNvSpPr/>
          <p:nvPr/>
        </p:nvSpPr>
        <p:spPr>
          <a:xfrm>
            <a:off x="731520" y="2221992"/>
            <a:ext cx="219456" cy="219456"/>
          </a:xfrm>
          <a:prstGeom prst="ellipse">
            <a:avLst/>
          </a:prstGeom>
          <a:solidFill>
            <a:srgbClr val="C9CED6"/>
          </a:solidFill>
          <a:ln w="12700">
            <a:solidFill>
              <a:srgbClr val="C9CED6"/>
            </a:solidFill>
            <a:prstDash val="solid"/>
          </a:ln>
        </p:spPr>
        <p:txBody>
          <a:bodyPr/>
          <a:lstStyle/>
          <a:p>
            <a:endParaRPr lang="en-US"/>
          </a:p>
        </p:txBody>
      </p:sp>
      <p:sp>
        <p:nvSpPr>
          <p:cNvPr id="34" name="Shape 32"/>
          <p:cNvSpPr/>
          <p:nvPr/>
        </p:nvSpPr>
        <p:spPr>
          <a:xfrm>
            <a:off x="1060704" y="2221992"/>
            <a:ext cx="219456" cy="219456"/>
          </a:xfrm>
          <a:prstGeom prst="ellipse">
            <a:avLst/>
          </a:prstGeom>
          <a:solidFill>
            <a:srgbClr val="C9CED6"/>
          </a:solidFill>
          <a:ln w="12700">
            <a:solidFill>
              <a:srgbClr val="C9CED6"/>
            </a:solidFill>
            <a:prstDash val="solid"/>
          </a:ln>
        </p:spPr>
        <p:txBody>
          <a:bodyPr/>
          <a:lstStyle/>
          <a:p>
            <a:endParaRPr lang="en-US"/>
          </a:p>
        </p:txBody>
      </p:sp>
      <p:sp>
        <p:nvSpPr>
          <p:cNvPr id="35" name="Shape 33"/>
          <p:cNvSpPr/>
          <p:nvPr/>
        </p:nvSpPr>
        <p:spPr>
          <a:xfrm>
            <a:off x="1389888" y="2221992"/>
            <a:ext cx="219456" cy="219456"/>
          </a:xfrm>
          <a:prstGeom prst="ellipse">
            <a:avLst/>
          </a:prstGeom>
          <a:solidFill>
            <a:srgbClr val="C9CED6"/>
          </a:solidFill>
          <a:ln w="12700">
            <a:solidFill>
              <a:srgbClr val="C9CED6"/>
            </a:solidFill>
            <a:prstDash val="solid"/>
          </a:ln>
        </p:spPr>
        <p:txBody>
          <a:bodyPr/>
          <a:lstStyle/>
          <a:p>
            <a:endParaRPr lang="en-US"/>
          </a:p>
        </p:txBody>
      </p:sp>
      <p:sp>
        <p:nvSpPr>
          <p:cNvPr id="36" name="Shape 34"/>
          <p:cNvSpPr/>
          <p:nvPr/>
        </p:nvSpPr>
        <p:spPr>
          <a:xfrm>
            <a:off x="1719072" y="2221992"/>
            <a:ext cx="219456" cy="219456"/>
          </a:xfrm>
          <a:prstGeom prst="ellipse">
            <a:avLst/>
          </a:prstGeom>
          <a:solidFill>
            <a:srgbClr val="C9CED6"/>
          </a:solidFill>
          <a:ln w="12700">
            <a:solidFill>
              <a:srgbClr val="C9CED6"/>
            </a:solidFill>
            <a:prstDash val="solid"/>
          </a:ln>
        </p:spPr>
        <p:txBody>
          <a:bodyPr/>
          <a:lstStyle/>
          <a:p>
            <a:endParaRPr lang="en-US"/>
          </a:p>
        </p:txBody>
      </p:sp>
      <p:sp>
        <p:nvSpPr>
          <p:cNvPr id="37" name="Shape 35"/>
          <p:cNvSpPr/>
          <p:nvPr/>
        </p:nvSpPr>
        <p:spPr>
          <a:xfrm>
            <a:off x="2048256" y="2221992"/>
            <a:ext cx="219456" cy="219456"/>
          </a:xfrm>
          <a:prstGeom prst="ellipse">
            <a:avLst/>
          </a:prstGeom>
          <a:solidFill>
            <a:srgbClr val="C9CED6"/>
          </a:solidFill>
          <a:ln w="12700">
            <a:solidFill>
              <a:srgbClr val="C9CED6"/>
            </a:solidFill>
            <a:prstDash val="solid"/>
          </a:ln>
        </p:spPr>
        <p:txBody>
          <a:bodyPr/>
          <a:lstStyle/>
          <a:p>
            <a:endParaRPr lang="en-US"/>
          </a:p>
        </p:txBody>
      </p:sp>
      <p:sp>
        <p:nvSpPr>
          <p:cNvPr id="38" name="Shape 36"/>
          <p:cNvSpPr/>
          <p:nvPr/>
        </p:nvSpPr>
        <p:spPr>
          <a:xfrm>
            <a:off x="2377440" y="2221992"/>
            <a:ext cx="219456" cy="219456"/>
          </a:xfrm>
          <a:prstGeom prst="ellipse">
            <a:avLst/>
          </a:prstGeom>
          <a:solidFill>
            <a:srgbClr val="C9CED6"/>
          </a:solidFill>
          <a:ln w="12700">
            <a:solidFill>
              <a:srgbClr val="C9CED6"/>
            </a:solidFill>
            <a:prstDash val="solid"/>
          </a:ln>
        </p:spPr>
        <p:txBody>
          <a:bodyPr/>
          <a:lstStyle/>
          <a:p>
            <a:endParaRPr lang="en-US"/>
          </a:p>
        </p:txBody>
      </p:sp>
      <p:sp>
        <p:nvSpPr>
          <p:cNvPr id="39" name="Shape 37"/>
          <p:cNvSpPr/>
          <p:nvPr/>
        </p:nvSpPr>
        <p:spPr>
          <a:xfrm>
            <a:off x="2706624" y="2221992"/>
            <a:ext cx="219456" cy="219456"/>
          </a:xfrm>
          <a:prstGeom prst="ellipse">
            <a:avLst/>
          </a:prstGeom>
          <a:solidFill>
            <a:srgbClr val="C9CED6"/>
          </a:solidFill>
          <a:ln w="12700">
            <a:solidFill>
              <a:srgbClr val="C9CED6"/>
            </a:solidFill>
            <a:prstDash val="solid"/>
          </a:ln>
        </p:spPr>
        <p:txBody>
          <a:bodyPr/>
          <a:lstStyle/>
          <a:p>
            <a:endParaRPr lang="en-US"/>
          </a:p>
        </p:txBody>
      </p:sp>
      <p:sp>
        <p:nvSpPr>
          <p:cNvPr id="40" name="Shape 38"/>
          <p:cNvSpPr/>
          <p:nvPr/>
        </p:nvSpPr>
        <p:spPr>
          <a:xfrm>
            <a:off x="3035808" y="2221992"/>
            <a:ext cx="219456" cy="219456"/>
          </a:xfrm>
          <a:prstGeom prst="ellipse">
            <a:avLst/>
          </a:prstGeom>
          <a:solidFill>
            <a:srgbClr val="C9CED6"/>
          </a:solidFill>
          <a:ln w="12700">
            <a:solidFill>
              <a:srgbClr val="C9CED6"/>
            </a:solidFill>
            <a:prstDash val="solid"/>
          </a:ln>
        </p:spPr>
        <p:txBody>
          <a:bodyPr/>
          <a:lstStyle/>
          <a:p>
            <a:endParaRPr lang="en-US"/>
          </a:p>
        </p:txBody>
      </p:sp>
      <p:sp>
        <p:nvSpPr>
          <p:cNvPr id="41" name="Shape 39"/>
          <p:cNvSpPr/>
          <p:nvPr/>
        </p:nvSpPr>
        <p:spPr>
          <a:xfrm>
            <a:off x="3364992" y="2221992"/>
            <a:ext cx="219456" cy="219456"/>
          </a:xfrm>
          <a:prstGeom prst="ellipse">
            <a:avLst/>
          </a:prstGeom>
          <a:solidFill>
            <a:srgbClr val="E4572E"/>
          </a:solidFill>
          <a:ln w="12700">
            <a:solidFill>
              <a:srgbClr val="E4572E"/>
            </a:solidFill>
            <a:prstDash val="solid"/>
          </a:ln>
        </p:spPr>
        <p:txBody>
          <a:bodyPr/>
          <a:lstStyle/>
          <a:p>
            <a:endParaRPr lang="en-US"/>
          </a:p>
        </p:txBody>
      </p:sp>
      <p:sp>
        <p:nvSpPr>
          <p:cNvPr id="42" name="Shape 40"/>
          <p:cNvSpPr/>
          <p:nvPr/>
        </p:nvSpPr>
        <p:spPr>
          <a:xfrm>
            <a:off x="3694176" y="2221992"/>
            <a:ext cx="219456" cy="219456"/>
          </a:xfrm>
          <a:prstGeom prst="ellipse">
            <a:avLst/>
          </a:prstGeom>
          <a:solidFill>
            <a:srgbClr val="C9CED6"/>
          </a:solidFill>
          <a:ln w="12700">
            <a:solidFill>
              <a:srgbClr val="C9CED6"/>
            </a:solidFill>
            <a:prstDash val="solid"/>
          </a:ln>
        </p:spPr>
        <p:txBody>
          <a:bodyPr/>
          <a:lstStyle/>
          <a:p>
            <a:endParaRPr lang="en-US"/>
          </a:p>
        </p:txBody>
      </p:sp>
      <p:sp>
        <p:nvSpPr>
          <p:cNvPr id="43" name="Shape 41"/>
          <p:cNvSpPr/>
          <p:nvPr/>
        </p:nvSpPr>
        <p:spPr>
          <a:xfrm>
            <a:off x="731520" y="2551176"/>
            <a:ext cx="219456" cy="219456"/>
          </a:xfrm>
          <a:prstGeom prst="ellipse">
            <a:avLst/>
          </a:prstGeom>
          <a:solidFill>
            <a:srgbClr val="C9CED6"/>
          </a:solidFill>
          <a:ln w="12700">
            <a:solidFill>
              <a:srgbClr val="C9CED6"/>
            </a:solidFill>
            <a:prstDash val="solid"/>
          </a:ln>
        </p:spPr>
        <p:txBody>
          <a:bodyPr/>
          <a:lstStyle/>
          <a:p>
            <a:endParaRPr lang="en-US"/>
          </a:p>
        </p:txBody>
      </p:sp>
      <p:sp>
        <p:nvSpPr>
          <p:cNvPr id="44" name="Shape 42"/>
          <p:cNvSpPr/>
          <p:nvPr/>
        </p:nvSpPr>
        <p:spPr>
          <a:xfrm>
            <a:off x="1060704" y="2551176"/>
            <a:ext cx="219456" cy="219456"/>
          </a:xfrm>
          <a:prstGeom prst="ellipse">
            <a:avLst/>
          </a:prstGeom>
          <a:solidFill>
            <a:srgbClr val="E4572E"/>
          </a:solidFill>
          <a:ln w="12700">
            <a:solidFill>
              <a:srgbClr val="E4572E"/>
            </a:solidFill>
            <a:prstDash val="solid"/>
          </a:ln>
        </p:spPr>
        <p:txBody>
          <a:bodyPr/>
          <a:lstStyle/>
          <a:p>
            <a:endParaRPr lang="en-US"/>
          </a:p>
        </p:txBody>
      </p:sp>
      <p:sp>
        <p:nvSpPr>
          <p:cNvPr id="45" name="Shape 43"/>
          <p:cNvSpPr/>
          <p:nvPr/>
        </p:nvSpPr>
        <p:spPr>
          <a:xfrm>
            <a:off x="1389888" y="2551176"/>
            <a:ext cx="219456" cy="219456"/>
          </a:xfrm>
          <a:prstGeom prst="ellipse">
            <a:avLst/>
          </a:prstGeom>
          <a:solidFill>
            <a:srgbClr val="C9CED6"/>
          </a:solidFill>
          <a:ln w="12700">
            <a:solidFill>
              <a:srgbClr val="C9CED6"/>
            </a:solidFill>
            <a:prstDash val="solid"/>
          </a:ln>
        </p:spPr>
        <p:txBody>
          <a:bodyPr/>
          <a:lstStyle/>
          <a:p>
            <a:endParaRPr lang="en-US"/>
          </a:p>
        </p:txBody>
      </p:sp>
      <p:sp>
        <p:nvSpPr>
          <p:cNvPr id="46" name="Shape 44"/>
          <p:cNvSpPr/>
          <p:nvPr/>
        </p:nvSpPr>
        <p:spPr>
          <a:xfrm>
            <a:off x="1719072" y="2551176"/>
            <a:ext cx="219456" cy="219456"/>
          </a:xfrm>
          <a:prstGeom prst="ellipse">
            <a:avLst/>
          </a:prstGeom>
          <a:solidFill>
            <a:srgbClr val="C9CED6"/>
          </a:solidFill>
          <a:ln w="12700">
            <a:solidFill>
              <a:srgbClr val="C9CED6"/>
            </a:solidFill>
            <a:prstDash val="solid"/>
          </a:ln>
        </p:spPr>
        <p:txBody>
          <a:bodyPr/>
          <a:lstStyle/>
          <a:p>
            <a:endParaRPr lang="en-US"/>
          </a:p>
        </p:txBody>
      </p:sp>
      <p:sp>
        <p:nvSpPr>
          <p:cNvPr id="47" name="Shape 45"/>
          <p:cNvSpPr/>
          <p:nvPr/>
        </p:nvSpPr>
        <p:spPr>
          <a:xfrm>
            <a:off x="2048256" y="2551176"/>
            <a:ext cx="219456" cy="219456"/>
          </a:xfrm>
          <a:prstGeom prst="ellipse">
            <a:avLst/>
          </a:prstGeom>
          <a:solidFill>
            <a:srgbClr val="C9CED6"/>
          </a:solidFill>
          <a:ln w="12700">
            <a:solidFill>
              <a:srgbClr val="C9CED6"/>
            </a:solidFill>
            <a:prstDash val="solid"/>
          </a:ln>
        </p:spPr>
        <p:txBody>
          <a:bodyPr/>
          <a:lstStyle/>
          <a:p>
            <a:endParaRPr lang="en-US"/>
          </a:p>
        </p:txBody>
      </p:sp>
      <p:sp>
        <p:nvSpPr>
          <p:cNvPr id="48" name="Shape 46"/>
          <p:cNvSpPr/>
          <p:nvPr/>
        </p:nvSpPr>
        <p:spPr>
          <a:xfrm>
            <a:off x="2377440" y="2551176"/>
            <a:ext cx="219456" cy="219456"/>
          </a:xfrm>
          <a:prstGeom prst="ellipse">
            <a:avLst/>
          </a:prstGeom>
          <a:solidFill>
            <a:srgbClr val="C9CED6"/>
          </a:solidFill>
          <a:ln w="12700">
            <a:solidFill>
              <a:srgbClr val="C9CED6"/>
            </a:solidFill>
            <a:prstDash val="solid"/>
          </a:ln>
        </p:spPr>
        <p:txBody>
          <a:bodyPr/>
          <a:lstStyle/>
          <a:p>
            <a:endParaRPr lang="en-US"/>
          </a:p>
        </p:txBody>
      </p:sp>
      <p:sp>
        <p:nvSpPr>
          <p:cNvPr id="49" name="Shape 47"/>
          <p:cNvSpPr/>
          <p:nvPr/>
        </p:nvSpPr>
        <p:spPr>
          <a:xfrm>
            <a:off x="2706624" y="2551176"/>
            <a:ext cx="219456" cy="219456"/>
          </a:xfrm>
          <a:prstGeom prst="ellipse">
            <a:avLst/>
          </a:prstGeom>
          <a:solidFill>
            <a:srgbClr val="C9CED6"/>
          </a:solidFill>
          <a:ln w="12700">
            <a:solidFill>
              <a:srgbClr val="C9CED6"/>
            </a:solidFill>
            <a:prstDash val="solid"/>
          </a:ln>
        </p:spPr>
        <p:txBody>
          <a:bodyPr/>
          <a:lstStyle/>
          <a:p>
            <a:endParaRPr lang="en-US"/>
          </a:p>
        </p:txBody>
      </p:sp>
      <p:sp>
        <p:nvSpPr>
          <p:cNvPr id="50" name="Shape 48"/>
          <p:cNvSpPr/>
          <p:nvPr/>
        </p:nvSpPr>
        <p:spPr>
          <a:xfrm>
            <a:off x="3035808" y="2551176"/>
            <a:ext cx="219456" cy="219456"/>
          </a:xfrm>
          <a:prstGeom prst="ellipse">
            <a:avLst/>
          </a:prstGeom>
          <a:solidFill>
            <a:srgbClr val="E4572E"/>
          </a:solidFill>
          <a:ln w="12700">
            <a:solidFill>
              <a:srgbClr val="C9CED6"/>
            </a:solidFill>
            <a:prstDash val="solid"/>
          </a:ln>
        </p:spPr>
        <p:txBody>
          <a:bodyPr/>
          <a:lstStyle/>
          <a:p>
            <a:endParaRPr lang="en-US"/>
          </a:p>
        </p:txBody>
      </p:sp>
      <p:sp>
        <p:nvSpPr>
          <p:cNvPr id="51" name="Shape 49"/>
          <p:cNvSpPr/>
          <p:nvPr/>
        </p:nvSpPr>
        <p:spPr>
          <a:xfrm>
            <a:off x="3364992" y="2551176"/>
            <a:ext cx="219456" cy="219456"/>
          </a:xfrm>
          <a:prstGeom prst="ellipse">
            <a:avLst/>
          </a:prstGeom>
          <a:solidFill>
            <a:srgbClr val="C9CED6"/>
          </a:solidFill>
          <a:ln w="12700">
            <a:solidFill>
              <a:srgbClr val="C9CED6"/>
            </a:solidFill>
            <a:prstDash val="solid"/>
          </a:ln>
        </p:spPr>
        <p:txBody>
          <a:bodyPr/>
          <a:lstStyle/>
          <a:p>
            <a:endParaRPr lang="en-US"/>
          </a:p>
        </p:txBody>
      </p:sp>
      <p:sp>
        <p:nvSpPr>
          <p:cNvPr id="52" name="Shape 50"/>
          <p:cNvSpPr/>
          <p:nvPr/>
        </p:nvSpPr>
        <p:spPr>
          <a:xfrm>
            <a:off x="3694176" y="2551176"/>
            <a:ext cx="219456" cy="219456"/>
          </a:xfrm>
          <a:prstGeom prst="ellipse">
            <a:avLst/>
          </a:prstGeom>
          <a:solidFill>
            <a:srgbClr val="C9CED6"/>
          </a:solidFill>
          <a:ln w="12700">
            <a:solidFill>
              <a:srgbClr val="C9CED6"/>
            </a:solidFill>
            <a:prstDash val="solid"/>
          </a:ln>
        </p:spPr>
        <p:txBody>
          <a:bodyPr/>
          <a:lstStyle/>
          <a:p>
            <a:endParaRPr lang="en-US"/>
          </a:p>
        </p:txBody>
      </p:sp>
      <p:sp>
        <p:nvSpPr>
          <p:cNvPr id="53" name="Shape 51"/>
          <p:cNvSpPr/>
          <p:nvPr/>
        </p:nvSpPr>
        <p:spPr>
          <a:xfrm>
            <a:off x="731520" y="2880360"/>
            <a:ext cx="219456" cy="219456"/>
          </a:xfrm>
          <a:prstGeom prst="ellipse">
            <a:avLst/>
          </a:prstGeom>
          <a:solidFill>
            <a:srgbClr val="C9CED6"/>
          </a:solidFill>
          <a:ln w="12700">
            <a:solidFill>
              <a:srgbClr val="C9CED6"/>
            </a:solidFill>
            <a:prstDash val="solid"/>
          </a:ln>
        </p:spPr>
        <p:txBody>
          <a:bodyPr/>
          <a:lstStyle/>
          <a:p>
            <a:endParaRPr lang="en-US"/>
          </a:p>
        </p:txBody>
      </p:sp>
      <p:sp>
        <p:nvSpPr>
          <p:cNvPr id="54" name="Shape 52"/>
          <p:cNvSpPr/>
          <p:nvPr/>
        </p:nvSpPr>
        <p:spPr>
          <a:xfrm>
            <a:off x="1060704" y="2880360"/>
            <a:ext cx="219456" cy="219456"/>
          </a:xfrm>
          <a:prstGeom prst="ellipse">
            <a:avLst/>
          </a:prstGeom>
          <a:solidFill>
            <a:srgbClr val="C9CED6"/>
          </a:solidFill>
          <a:ln w="12700">
            <a:solidFill>
              <a:srgbClr val="C9CED6"/>
            </a:solidFill>
            <a:prstDash val="solid"/>
          </a:ln>
        </p:spPr>
        <p:txBody>
          <a:bodyPr/>
          <a:lstStyle/>
          <a:p>
            <a:endParaRPr lang="en-US"/>
          </a:p>
        </p:txBody>
      </p:sp>
      <p:sp>
        <p:nvSpPr>
          <p:cNvPr id="55" name="Shape 53"/>
          <p:cNvSpPr/>
          <p:nvPr/>
        </p:nvSpPr>
        <p:spPr>
          <a:xfrm>
            <a:off x="1389888" y="2880360"/>
            <a:ext cx="219456" cy="219456"/>
          </a:xfrm>
          <a:prstGeom prst="ellipse">
            <a:avLst/>
          </a:prstGeom>
          <a:solidFill>
            <a:srgbClr val="C9CED6"/>
          </a:solidFill>
          <a:ln w="12700">
            <a:solidFill>
              <a:srgbClr val="C9CED6"/>
            </a:solidFill>
            <a:prstDash val="solid"/>
          </a:ln>
        </p:spPr>
        <p:txBody>
          <a:bodyPr/>
          <a:lstStyle/>
          <a:p>
            <a:endParaRPr lang="en-US"/>
          </a:p>
        </p:txBody>
      </p:sp>
      <p:sp>
        <p:nvSpPr>
          <p:cNvPr id="56" name="Shape 54"/>
          <p:cNvSpPr/>
          <p:nvPr/>
        </p:nvSpPr>
        <p:spPr>
          <a:xfrm>
            <a:off x="1719072" y="2880360"/>
            <a:ext cx="219456" cy="219456"/>
          </a:xfrm>
          <a:prstGeom prst="ellipse">
            <a:avLst/>
          </a:prstGeom>
          <a:solidFill>
            <a:srgbClr val="C9CED6"/>
          </a:solidFill>
          <a:ln w="12700">
            <a:solidFill>
              <a:srgbClr val="C9CED6"/>
            </a:solidFill>
            <a:prstDash val="solid"/>
          </a:ln>
        </p:spPr>
        <p:txBody>
          <a:bodyPr/>
          <a:lstStyle/>
          <a:p>
            <a:endParaRPr lang="en-US"/>
          </a:p>
        </p:txBody>
      </p:sp>
      <p:sp>
        <p:nvSpPr>
          <p:cNvPr id="57" name="Shape 55"/>
          <p:cNvSpPr/>
          <p:nvPr/>
        </p:nvSpPr>
        <p:spPr>
          <a:xfrm>
            <a:off x="2048256" y="2880360"/>
            <a:ext cx="219456" cy="219456"/>
          </a:xfrm>
          <a:prstGeom prst="ellipse">
            <a:avLst/>
          </a:prstGeom>
          <a:solidFill>
            <a:srgbClr val="C9CED6"/>
          </a:solidFill>
          <a:ln w="12700">
            <a:solidFill>
              <a:srgbClr val="C9CED6"/>
            </a:solidFill>
            <a:prstDash val="solid"/>
          </a:ln>
        </p:spPr>
        <p:txBody>
          <a:bodyPr/>
          <a:lstStyle/>
          <a:p>
            <a:endParaRPr lang="en-US"/>
          </a:p>
        </p:txBody>
      </p:sp>
      <p:sp>
        <p:nvSpPr>
          <p:cNvPr id="58" name="Shape 56"/>
          <p:cNvSpPr/>
          <p:nvPr/>
        </p:nvSpPr>
        <p:spPr>
          <a:xfrm>
            <a:off x="2377440" y="2880360"/>
            <a:ext cx="219456" cy="219456"/>
          </a:xfrm>
          <a:prstGeom prst="ellipse">
            <a:avLst/>
          </a:prstGeom>
          <a:solidFill>
            <a:srgbClr val="C9CED6"/>
          </a:solidFill>
          <a:ln w="12700">
            <a:solidFill>
              <a:srgbClr val="C9CED6"/>
            </a:solidFill>
            <a:prstDash val="solid"/>
          </a:ln>
        </p:spPr>
        <p:txBody>
          <a:bodyPr/>
          <a:lstStyle/>
          <a:p>
            <a:endParaRPr lang="en-US"/>
          </a:p>
        </p:txBody>
      </p:sp>
      <p:sp>
        <p:nvSpPr>
          <p:cNvPr id="59" name="Shape 57"/>
          <p:cNvSpPr/>
          <p:nvPr/>
        </p:nvSpPr>
        <p:spPr>
          <a:xfrm>
            <a:off x="2706624" y="2880360"/>
            <a:ext cx="219456" cy="219456"/>
          </a:xfrm>
          <a:prstGeom prst="ellipse">
            <a:avLst/>
          </a:prstGeom>
          <a:solidFill>
            <a:srgbClr val="E4572E"/>
          </a:solidFill>
          <a:ln w="12700">
            <a:solidFill>
              <a:srgbClr val="E4572E"/>
            </a:solidFill>
            <a:prstDash val="solid"/>
          </a:ln>
        </p:spPr>
        <p:txBody>
          <a:bodyPr/>
          <a:lstStyle/>
          <a:p>
            <a:endParaRPr lang="en-US"/>
          </a:p>
        </p:txBody>
      </p:sp>
      <p:sp>
        <p:nvSpPr>
          <p:cNvPr id="60" name="Shape 58"/>
          <p:cNvSpPr/>
          <p:nvPr/>
        </p:nvSpPr>
        <p:spPr>
          <a:xfrm>
            <a:off x="3035808" y="2880360"/>
            <a:ext cx="219456" cy="219456"/>
          </a:xfrm>
          <a:prstGeom prst="ellipse">
            <a:avLst/>
          </a:prstGeom>
          <a:solidFill>
            <a:srgbClr val="C9CED6"/>
          </a:solidFill>
          <a:ln w="12700">
            <a:solidFill>
              <a:srgbClr val="C9CED6"/>
            </a:solidFill>
            <a:prstDash val="solid"/>
          </a:ln>
        </p:spPr>
        <p:txBody>
          <a:bodyPr/>
          <a:lstStyle/>
          <a:p>
            <a:endParaRPr lang="en-US"/>
          </a:p>
        </p:txBody>
      </p:sp>
      <p:sp>
        <p:nvSpPr>
          <p:cNvPr id="61" name="Shape 59"/>
          <p:cNvSpPr/>
          <p:nvPr/>
        </p:nvSpPr>
        <p:spPr>
          <a:xfrm>
            <a:off x="3364992" y="2880360"/>
            <a:ext cx="219456" cy="219456"/>
          </a:xfrm>
          <a:prstGeom prst="ellipse">
            <a:avLst/>
          </a:prstGeom>
          <a:solidFill>
            <a:srgbClr val="C9CED6"/>
          </a:solidFill>
          <a:ln w="12700">
            <a:solidFill>
              <a:srgbClr val="C9CED6"/>
            </a:solidFill>
            <a:prstDash val="solid"/>
          </a:ln>
        </p:spPr>
        <p:txBody>
          <a:bodyPr/>
          <a:lstStyle/>
          <a:p>
            <a:endParaRPr lang="en-US"/>
          </a:p>
        </p:txBody>
      </p:sp>
      <p:sp>
        <p:nvSpPr>
          <p:cNvPr id="62" name="Shape 60"/>
          <p:cNvSpPr/>
          <p:nvPr/>
        </p:nvSpPr>
        <p:spPr>
          <a:xfrm>
            <a:off x="3694176" y="2880360"/>
            <a:ext cx="219456" cy="219456"/>
          </a:xfrm>
          <a:prstGeom prst="ellipse">
            <a:avLst/>
          </a:prstGeom>
          <a:solidFill>
            <a:srgbClr val="C9CED6"/>
          </a:solidFill>
          <a:ln w="12700">
            <a:solidFill>
              <a:srgbClr val="C9CED6"/>
            </a:solidFill>
            <a:prstDash val="solid"/>
          </a:ln>
        </p:spPr>
        <p:txBody>
          <a:bodyPr/>
          <a:lstStyle/>
          <a:p>
            <a:endParaRPr lang="en-US"/>
          </a:p>
        </p:txBody>
      </p:sp>
      <p:sp>
        <p:nvSpPr>
          <p:cNvPr id="63" name="Shape 61"/>
          <p:cNvSpPr/>
          <p:nvPr/>
        </p:nvSpPr>
        <p:spPr>
          <a:xfrm>
            <a:off x="731520" y="3209544"/>
            <a:ext cx="219456" cy="219456"/>
          </a:xfrm>
          <a:prstGeom prst="ellipse">
            <a:avLst/>
          </a:prstGeom>
          <a:solidFill>
            <a:srgbClr val="C9CED6"/>
          </a:solidFill>
          <a:ln w="12700">
            <a:solidFill>
              <a:srgbClr val="C9CED6"/>
            </a:solidFill>
            <a:prstDash val="solid"/>
          </a:ln>
        </p:spPr>
        <p:txBody>
          <a:bodyPr/>
          <a:lstStyle/>
          <a:p>
            <a:endParaRPr lang="en-US"/>
          </a:p>
        </p:txBody>
      </p:sp>
      <p:sp>
        <p:nvSpPr>
          <p:cNvPr id="64" name="Shape 62"/>
          <p:cNvSpPr/>
          <p:nvPr/>
        </p:nvSpPr>
        <p:spPr>
          <a:xfrm>
            <a:off x="1060704" y="3209544"/>
            <a:ext cx="219456" cy="219456"/>
          </a:xfrm>
          <a:prstGeom prst="ellipse">
            <a:avLst/>
          </a:prstGeom>
          <a:solidFill>
            <a:srgbClr val="C9CED6"/>
          </a:solidFill>
          <a:ln w="12700">
            <a:solidFill>
              <a:srgbClr val="C9CED6"/>
            </a:solidFill>
            <a:prstDash val="solid"/>
          </a:ln>
        </p:spPr>
        <p:txBody>
          <a:bodyPr/>
          <a:lstStyle/>
          <a:p>
            <a:endParaRPr lang="en-US"/>
          </a:p>
        </p:txBody>
      </p:sp>
      <p:sp>
        <p:nvSpPr>
          <p:cNvPr id="65" name="Shape 63"/>
          <p:cNvSpPr/>
          <p:nvPr/>
        </p:nvSpPr>
        <p:spPr>
          <a:xfrm>
            <a:off x="1389888" y="3209544"/>
            <a:ext cx="219456" cy="219456"/>
          </a:xfrm>
          <a:prstGeom prst="ellipse">
            <a:avLst/>
          </a:prstGeom>
          <a:solidFill>
            <a:srgbClr val="C9CED6"/>
          </a:solidFill>
          <a:ln w="12700">
            <a:solidFill>
              <a:srgbClr val="C9CED6"/>
            </a:solidFill>
            <a:prstDash val="solid"/>
          </a:ln>
        </p:spPr>
        <p:txBody>
          <a:bodyPr/>
          <a:lstStyle/>
          <a:p>
            <a:endParaRPr lang="en-US"/>
          </a:p>
        </p:txBody>
      </p:sp>
      <p:sp>
        <p:nvSpPr>
          <p:cNvPr id="66" name="Shape 64"/>
          <p:cNvSpPr/>
          <p:nvPr/>
        </p:nvSpPr>
        <p:spPr>
          <a:xfrm>
            <a:off x="1719072" y="3209544"/>
            <a:ext cx="219456" cy="219456"/>
          </a:xfrm>
          <a:prstGeom prst="ellipse">
            <a:avLst/>
          </a:prstGeom>
          <a:solidFill>
            <a:srgbClr val="C9CED6"/>
          </a:solidFill>
          <a:ln w="12700">
            <a:solidFill>
              <a:srgbClr val="C9CED6"/>
            </a:solidFill>
            <a:prstDash val="solid"/>
          </a:ln>
        </p:spPr>
        <p:txBody>
          <a:bodyPr/>
          <a:lstStyle/>
          <a:p>
            <a:endParaRPr lang="en-US"/>
          </a:p>
        </p:txBody>
      </p:sp>
      <p:sp>
        <p:nvSpPr>
          <p:cNvPr id="67" name="Shape 65"/>
          <p:cNvSpPr/>
          <p:nvPr/>
        </p:nvSpPr>
        <p:spPr>
          <a:xfrm>
            <a:off x="2048256" y="3209544"/>
            <a:ext cx="219456" cy="219456"/>
          </a:xfrm>
          <a:prstGeom prst="ellipse">
            <a:avLst/>
          </a:prstGeom>
          <a:solidFill>
            <a:srgbClr val="E4572E"/>
          </a:solidFill>
          <a:ln w="12700">
            <a:solidFill>
              <a:srgbClr val="E4572E"/>
            </a:solidFill>
            <a:prstDash val="solid"/>
          </a:ln>
        </p:spPr>
        <p:txBody>
          <a:bodyPr/>
          <a:lstStyle/>
          <a:p>
            <a:endParaRPr lang="en-US"/>
          </a:p>
        </p:txBody>
      </p:sp>
      <p:sp>
        <p:nvSpPr>
          <p:cNvPr id="68" name="Shape 66"/>
          <p:cNvSpPr/>
          <p:nvPr/>
        </p:nvSpPr>
        <p:spPr>
          <a:xfrm>
            <a:off x="2377440" y="3209544"/>
            <a:ext cx="219456" cy="219456"/>
          </a:xfrm>
          <a:prstGeom prst="ellipse">
            <a:avLst/>
          </a:prstGeom>
          <a:solidFill>
            <a:srgbClr val="C9CED6"/>
          </a:solidFill>
          <a:ln w="12700">
            <a:solidFill>
              <a:srgbClr val="C9CED6"/>
            </a:solidFill>
            <a:prstDash val="solid"/>
          </a:ln>
        </p:spPr>
        <p:txBody>
          <a:bodyPr/>
          <a:lstStyle/>
          <a:p>
            <a:endParaRPr lang="en-US"/>
          </a:p>
        </p:txBody>
      </p:sp>
      <p:sp>
        <p:nvSpPr>
          <p:cNvPr id="69" name="Shape 67"/>
          <p:cNvSpPr/>
          <p:nvPr/>
        </p:nvSpPr>
        <p:spPr>
          <a:xfrm>
            <a:off x="2706624" y="3209544"/>
            <a:ext cx="219456" cy="219456"/>
          </a:xfrm>
          <a:prstGeom prst="ellipse">
            <a:avLst/>
          </a:prstGeom>
          <a:solidFill>
            <a:srgbClr val="C9CED6"/>
          </a:solidFill>
          <a:ln w="12700">
            <a:solidFill>
              <a:srgbClr val="C9CED6"/>
            </a:solidFill>
            <a:prstDash val="solid"/>
          </a:ln>
        </p:spPr>
        <p:txBody>
          <a:bodyPr/>
          <a:lstStyle/>
          <a:p>
            <a:endParaRPr lang="en-US"/>
          </a:p>
        </p:txBody>
      </p:sp>
      <p:sp>
        <p:nvSpPr>
          <p:cNvPr id="70" name="Shape 68"/>
          <p:cNvSpPr/>
          <p:nvPr/>
        </p:nvSpPr>
        <p:spPr>
          <a:xfrm>
            <a:off x="3035808" y="3209544"/>
            <a:ext cx="219456" cy="219456"/>
          </a:xfrm>
          <a:prstGeom prst="ellipse">
            <a:avLst/>
          </a:prstGeom>
          <a:solidFill>
            <a:srgbClr val="C9CED6"/>
          </a:solidFill>
          <a:ln w="12700">
            <a:solidFill>
              <a:srgbClr val="C9CED6"/>
            </a:solidFill>
            <a:prstDash val="solid"/>
          </a:ln>
        </p:spPr>
        <p:txBody>
          <a:bodyPr/>
          <a:lstStyle/>
          <a:p>
            <a:endParaRPr lang="en-US"/>
          </a:p>
        </p:txBody>
      </p:sp>
      <p:sp>
        <p:nvSpPr>
          <p:cNvPr id="71" name="Shape 69"/>
          <p:cNvSpPr/>
          <p:nvPr/>
        </p:nvSpPr>
        <p:spPr>
          <a:xfrm>
            <a:off x="3364992" y="3209544"/>
            <a:ext cx="219456" cy="219456"/>
          </a:xfrm>
          <a:prstGeom prst="ellipse">
            <a:avLst/>
          </a:prstGeom>
          <a:solidFill>
            <a:srgbClr val="C9CED6"/>
          </a:solidFill>
          <a:ln w="12700">
            <a:solidFill>
              <a:srgbClr val="C9CED6"/>
            </a:solidFill>
            <a:prstDash val="solid"/>
          </a:ln>
        </p:spPr>
        <p:txBody>
          <a:bodyPr/>
          <a:lstStyle/>
          <a:p>
            <a:endParaRPr lang="en-US"/>
          </a:p>
        </p:txBody>
      </p:sp>
      <p:sp>
        <p:nvSpPr>
          <p:cNvPr id="72" name="Shape 70"/>
          <p:cNvSpPr/>
          <p:nvPr/>
        </p:nvSpPr>
        <p:spPr>
          <a:xfrm>
            <a:off x="3694176" y="3209544"/>
            <a:ext cx="219456" cy="219456"/>
          </a:xfrm>
          <a:prstGeom prst="ellipse">
            <a:avLst/>
          </a:prstGeom>
          <a:solidFill>
            <a:srgbClr val="C9CED6"/>
          </a:solidFill>
          <a:ln w="12700">
            <a:solidFill>
              <a:srgbClr val="C9CED6"/>
            </a:solidFill>
            <a:prstDash val="solid"/>
          </a:ln>
        </p:spPr>
        <p:txBody>
          <a:bodyPr/>
          <a:lstStyle/>
          <a:p>
            <a:endParaRPr lang="en-US"/>
          </a:p>
        </p:txBody>
      </p:sp>
      <p:sp>
        <p:nvSpPr>
          <p:cNvPr id="73" name="Shape 71"/>
          <p:cNvSpPr/>
          <p:nvPr/>
        </p:nvSpPr>
        <p:spPr>
          <a:xfrm>
            <a:off x="731520" y="3538728"/>
            <a:ext cx="219456" cy="219456"/>
          </a:xfrm>
          <a:prstGeom prst="ellipse">
            <a:avLst/>
          </a:prstGeom>
          <a:solidFill>
            <a:srgbClr val="E4572E"/>
          </a:solidFill>
          <a:ln w="12700">
            <a:solidFill>
              <a:srgbClr val="C9CED6"/>
            </a:solidFill>
            <a:prstDash val="solid"/>
          </a:ln>
        </p:spPr>
        <p:txBody>
          <a:bodyPr/>
          <a:lstStyle/>
          <a:p>
            <a:endParaRPr lang="en-US"/>
          </a:p>
        </p:txBody>
      </p:sp>
      <p:sp>
        <p:nvSpPr>
          <p:cNvPr id="74" name="Shape 72"/>
          <p:cNvSpPr/>
          <p:nvPr/>
        </p:nvSpPr>
        <p:spPr>
          <a:xfrm>
            <a:off x="1060704" y="3538728"/>
            <a:ext cx="219456" cy="219456"/>
          </a:xfrm>
          <a:prstGeom prst="ellipse">
            <a:avLst/>
          </a:prstGeom>
          <a:solidFill>
            <a:srgbClr val="C9CED6"/>
          </a:solidFill>
          <a:ln w="12700">
            <a:solidFill>
              <a:srgbClr val="C9CED6"/>
            </a:solidFill>
            <a:prstDash val="solid"/>
          </a:ln>
        </p:spPr>
        <p:txBody>
          <a:bodyPr/>
          <a:lstStyle/>
          <a:p>
            <a:endParaRPr lang="en-US"/>
          </a:p>
        </p:txBody>
      </p:sp>
      <p:sp>
        <p:nvSpPr>
          <p:cNvPr id="75" name="Shape 73"/>
          <p:cNvSpPr/>
          <p:nvPr/>
        </p:nvSpPr>
        <p:spPr>
          <a:xfrm>
            <a:off x="1389888" y="3538728"/>
            <a:ext cx="219456" cy="219456"/>
          </a:xfrm>
          <a:prstGeom prst="ellipse">
            <a:avLst/>
          </a:prstGeom>
          <a:solidFill>
            <a:srgbClr val="C9CED6"/>
          </a:solidFill>
          <a:ln w="12700">
            <a:solidFill>
              <a:srgbClr val="C9CED6"/>
            </a:solidFill>
            <a:prstDash val="solid"/>
          </a:ln>
        </p:spPr>
        <p:txBody>
          <a:bodyPr/>
          <a:lstStyle/>
          <a:p>
            <a:endParaRPr lang="en-US"/>
          </a:p>
        </p:txBody>
      </p:sp>
      <p:sp>
        <p:nvSpPr>
          <p:cNvPr id="76" name="Shape 74"/>
          <p:cNvSpPr/>
          <p:nvPr/>
        </p:nvSpPr>
        <p:spPr>
          <a:xfrm>
            <a:off x="1719072" y="3538728"/>
            <a:ext cx="219456" cy="219456"/>
          </a:xfrm>
          <a:prstGeom prst="ellipse">
            <a:avLst/>
          </a:prstGeom>
          <a:solidFill>
            <a:srgbClr val="C9CED6"/>
          </a:solidFill>
          <a:ln w="12700">
            <a:solidFill>
              <a:srgbClr val="C9CED6"/>
            </a:solidFill>
            <a:prstDash val="solid"/>
          </a:ln>
        </p:spPr>
        <p:txBody>
          <a:bodyPr/>
          <a:lstStyle/>
          <a:p>
            <a:endParaRPr lang="en-US"/>
          </a:p>
        </p:txBody>
      </p:sp>
      <p:sp>
        <p:nvSpPr>
          <p:cNvPr id="77" name="Shape 75"/>
          <p:cNvSpPr/>
          <p:nvPr/>
        </p:nvSpPr>
        <p:spPr>
          <a:xfrm>
            <a:off x="2048256" y="3538728"/>
            <a:ext cx="219456" cy="219456"/>
          </a:xfrm>
          <a:prstGeom prst="ellipse">
            <a:avLst/>
          </a:prstGeom>
          <a:solidFill>
            <a:srgbClr val="C9CED6"/>
          </a:solidFill>
          <a:ln w="12700">
            <a:solidFill>
              <a:srgbClr val="C9CED6"/>
            </a:solidFill>
            <a:prstDash val="solid"/>
          </a:ln>
        </p:spPr>
        <p:txBody>
          <a:bodyPr/>
          <a:lstStyle/>
          <a:p>
            <a:endParaRPr lang="en-US"/>
          </a:p>
        </p:txBody>
      </p:sp>
      <p:sp>
        <p:nvSpPr>
          <p:cNvPr id="78" name="Shape 76"/>
          <p:cNvSpPr/>
          <p:nvPr/>
        </p:nvSpPr>
        <p:spPr>
          <a:xfrm>
            <a:off x="2377440" y="3538728"/>
            <a:ext cx="219456" cy="219456"/>
          </a:xfrm>
          <a:prstGeom prst="ellipse">
            <a:avLst/>
          </a:prstGeom>
          <a:solidFill>
            <a:srgbClr val="C9CED6"/>
          </a:solidFill>
          <a:ln w="12700">
            <a:solidFill>
              <a:srgbClr val="C9CED6"/>
            </a:solidFill>
            <a:prstDash val="solid"/>
          </a:ln>
        </p:spPr>
        <p:txBody>
          <a:bodyPr/>
          <a:lstStyle/>
          <a:p>
            <a:endParaRPr lang="en-US"/>
          </a:p>
        </p:txBody>
      </p:sp>
      <p:sp>
        <p:nvSpPr>
          <p:cNvPr id="79" name="Shape 77"/>
          <p:cNvSpPr/>
          <p:nvPr/>
        </p:nvSpPr>
        <p:spPr>
          <a:xfrm>
            <a:off x="2706624" y="3538728"/>
            <a:ext cx="219456" cy="219456"/>
          </a:xfrm>
          <a:prstGeom prst="ellipse">
            <a:avLst/>
          </a:prstGeom>
          <a:solidFill>
            <a:srgbClr val="C9CED6"/>
          </a:solidFill>
          <a:ln w="12700">
            <a:solidFill>
              <a:srgbClr val="C9CED6"/>
            </a:solidFill>
            <a:prstDash val="solid"/>
          </a:ln>
        </p:spPr>
        <p:txBody>
          <a:bodyPr/>
          <a:lstStyle/>
          <a:p>
            <a:endParaRPr lang="en-US"/>
          </a:p>
        </p:txBody>
      </p:sp>
      <p:sp>
        <p:nvSpPr>
          <p:cNvPr id="80" name="Shape 78"/>
          <p:cNvSpPr/>
          <p:nvPr/>
        </p:nvSpPr>
        <p:spPr>
          <a:xfrm>
            <a:off x="3035808" y="3538728"/>
            <a:ext cx="219456" cy="219456"/>
          </a:xfrm>
          <a:prstGeom prst="ellipse">
            <a:avLst/>
          </a:prstGeom>
          <a:solidFill>
            <a:srgbClr val="C9CED6"/>
          </a:solidFill>
          <a:ln w="12700">
            <a:solidFill>
              <a:srgbClr val="C9CED6"/>
            </a:solidFill>
            <a:prstDash val="solid"/>
          </a:ln>
        </p:spPr>
        <p:txBody>
          <a:bodyPr/>
          <a:lstStyle/>
          <a:p>
            <a:endParaRPr lang="en-US"/>
          </a:p>
        </p:txBody>
      </p:sp>
      <p:sp>
        <p:nvSpPr>
          <p:cNvPr id="81" name="Shape 79"/>
          <p:cNvSpPr/>
          <p:nvPr/>
        </p:nvSpPr>
        <p:spPr>
          <a:xfrm>
            <a:off x="3364992" y="3538728"/>
            <a:ext cx="219456" cy="219456"/>
          </a:xfrm>
          <a:prstGeom prst="ellipse">
            <a:avLst/>
          </a:prstGeom>
          <a:solidFill>
            <a:srgbClr val="C9CED6"/>
          </a:solidFill>
          <a:ln w="12700">
            <a:solidFill>
              <a:srgbClr val="C9CED6"/>
            </a:solidFill>
            <a:prstDash val="solid"/>
          </a:ln>
        </p:spPr>
        <p:txBody>
          <a:bodyPr/>
          <a:lstStyle/>
          <a:p>
            <a:endParaRPr lang="en-US"/>
          </a:p>
        </p:txBody>
      </p:sp>
      <p:sp>
        <p:nvSpPr>
          <p:cNvPr id="82" name="Shape 80"/>
          <p:cNvSpPr/>
          <p:nvPr/>
        </p:nvSpPr>
        <p:spPr>
          <a:xfrm>
            <a:off x="3694176" y="3538728"/>
            <a:ext cx="219456" cy="219456"/>
          </a:xfrm>
          <a:prstGeom prst="ellipse">
            <a:avLst/>
          </a:prstGeom>
          <a:solidFill>
            <a:srgbClr val="E4572E"/>
          </a:solidFill>
          <a:ln w="12700">
            <a:solidFill>
              <a:srgbClr val="E4572E"/>
            </a:solidFill>
            <a:prstDash val="solid"/>
          </a:ln>
        </p:spPr>
        <p:txBody>
          <a:bodyPr/>
          <a:lstStyle/>
          <a:p>
            <a:endParaRPr lang="en-US"/>
          </a:p>
        </p:txBody>
      </p:sp>
      <p:sp>
        <p:nvSpPr>
          <p:cNvPr id="83" name="Shape 81"/>
          <p:cNvSpPr/>
          <p:nvPr/>
        </p:nvSpPr>
        <p:spPr>
          <a:xfrm>
            <a:off x="731520" y="3867912"/>
            <a:ext cx="219456" cy="219456"/>
          </a:xfrm>
          <a:prstGeom prst="ellipse">
            <a:avLst/>
          </a:prstGeom>
          <a:solidFill>
            <a:srgbClr val="C9CED6"/>
          </a:solidFill>
          <a:ln w="12700">
            <a:solidFill>
              <a:srgbClr val="C9CED6"/>
            </a:solidFill>
            <a:prstDash val="solid"/>
          </a:ln>
        </p:spPr>
        <p:txBody>
          <a:bodyPr/>
          <a:lstStyle/>
          <a:p>
            <a:endParaRPr lang="en-US"/>
          </a:p>
        </p:txBody>
      </p:sp>
      <p:sp>
        <p:nvSpPr>
          <p:cNvPr id="84" name="Shape 82"/>
          <p:cNvSpPr/>
          <p:nvPr/>
        </p:nvSpPr>
        <p:spPr>
          <a:xfrm>
            <a:off x="1060704" y="3867912"/>
            <a:ext cx="219456" cy="219456"/>
          </a:xfrm>
          <a:prstGeom prst="ellipse">
            <a:avLst/>
          </a:prstGeom>
          <a:solidFill>
            <a:srgbClr val="C9CED6"/>
          </a:solidFill>
          <a:ln w="12700">
            <a:solidFill>
              <a:srgbClr val="C9CED6"/>
            </a:solidFill>
            <a:prstDash val="solid"/>
          </a:ln>
        </p:spPr>
        <p:txBody>
          <a:bodyPr/>
          <a:lstStyle/>
          <a:p>
            <a:endParaRPr lang="en-US"/>
          </a:p>
        </p:txBody>
      </p:sp>
      <p:sp>
        <p:nvSpPr>
          <p:cNvPr id="85" name="Shape 83"/>
          <p:cNvSpPr/>
          <p:nvPr/>
        </p:nvSpPr>
        <p:spPr>
          <a:xfrm>
            <a:off x="1389888" y="3867912"/>
            <a:ext cx="219456" cy="219456"/>
          </a:xfrm>
          <a:prstGeom prst="ellipse">
            <a:avLst/>
          </a:prstGeom>
          <a:solidFill>
            <a:srgbClr val="C9CED6"/>
          </a:solidFill>
          <a:ln w="12700">
            <a:solidFill>
              <a:srgbClr val="C9CED6"/>
            </a:solidFill>
            <a:prstDash val="solid"/>
          </a:ln>
        </p:spPr>
        <p:txBody>
          <a:bodyPr/>
          <a:lstStyle/>
          <a:p>
            <a:endParaRPr lang="en-US"/>
          </a:p>
        </p:txBody>
      </p:sp>
      <p:sp>
        <p:nvSpPr>
          <p:cNvPr id="86" name="Shape 84"/>
          <p:cNvSpPr/>
          <p:nvPr/>
        </p:nvSpPr>
        <p:spPr>
          <a:xfrm>
            <a:off x="1719072" y="3867912"/>
            <a:ext cx="219456" cy="219456"/>
          </a:xfrm>
          <a:prstGeom prst="ellipse">
            <a:avLst/>
          </a:prstGeom>
          <a:solidFill>
            <a:srgbClr val="C9CED6"/>
          </a:solidFill>
          <a:ln w="12700">
            <a:solidFill>
              <a:srgbClr val="C9CED6"/>
            </a:solidFill>
            <a:prstDash val="solid"/>
          </a:ln>
        </p:spPr>
        <p:txBody>
          <a:bodyPr/>
          <a:lstStyle/>
          <a:p>
            <a:endParaRPr lang="en-US"/>
          </a:p>
        </p:txBody>
      </p:sp>
      <p:sp>
        <p:nvSpPr>
          <p:cNvPr id="87" name="Shape 85"/>
          <p:cNvSpPr/>
          <p:nvPr/>
        </p:nvSpPr>
        <p:spPr>
          <a:xfrm>
            <a:off x="2048256" y="3867912"/>
            <a:ext cx="219456" cy="219456"/>
          </a:xfrm>
          <a:prstGeom prst="ellipse">
            <a:avLst/>
          </a:prstGeom>
          <a:solidFill>
            <a:srgbClr val="C9CED6"/>
          </a:solidFill>
          <a:ln w="12700">
            <a:solidFill>
              <a:srgbClr val="C9CED6"/>
            </a:solidFill>
            <a:prstDash val="solid"/>
          </a:ln>
        </p:spPr>
        <p:txBody>
          <a:bodyPr/>
          <a:lstStyle/>
          <a:p>
            <a:endParaRPr lang="en-US"/>
          </a:p>
        </p:txBody>
      </p:sp>
      <p:sp>
        <p:nvSpPr>
          <p:cNvPr id="88" name="Shape 86"/>
          <p:cNvSpPr/>
          <p:nvPr/>
        </p:nvSpPr>
        <p:spPr>
          <a:xfrm>
            <a:off x="2377440" y="3867912"/>
            <a:ext cx="219456" cy="219456"/>
          </a:xfrm>
          <a:prstGeom prst="ellipse">
            <a:avLst/>
          </a:prstGeom>
          <a:solidFill>
            <a:srgbClr val="E4572E"/>
          </a:solidFill>
          <a:ln w="12700">
            <a:solidFill>
              <a:srgbClr val="E4572E"/>
            </a:solidFill>
            <a:prstDash val="solid"/>
          </a:ln>
        </p:spPr>
        <p:txBody>
          <a:bodyPr/>
          <a:lstStyle/>
          <a:p>
            <a:endParaRPr lang="en-US"/>
          </a:p>
        </p:txBody>
      </p:sp>
      <p:sp>
        <p:nvSpPr>
          <p:cNvPr id="89" name="Shape 87"/>
          <p:cNvSpPr/>
          <p:nvPr/>
        </p:nvSpPr>
        <p:spPr>
          <a:xfrm>
            <a:off x="2706624" y="3867912"/>
            <a:ext cx="219456" cy="219456"/>
          </a:xfrm>
          <a:prstGeom prst="ellipse">
            <a:avLst/>
          </a:prstGeom>
          <a:solidFill>
            <a:srgbClr val="C9CED6"/>
          </a:solidFill>
          <a:ln w="12700">
            <a:solidFill>
              <a:srgbClr val="C9CED6"/>
            </a:solidFill>
            <a:prstDash val="solid"/>
          </a:ln>
        </p:spPr>
        <p:txBody>
          <a:bodyPr/>
          <a:lstStyle/>
          <a:p>
            <a:endParaRPr lang="en-US"/>
          </a:p>
        </p:txBody>
      </p:sp>
      <p:sp>
        <p:nvSpPr>
          <p:cNvPr id="90" name="Shape 88"/>
          <p:cNvSpPr/>
          <p:nvPr/>
        </p:nvSpPr>
        <p:spPr>
          <a:xfrm>
            <a:off x="3035808" y="3867912"/>
            <a:ext cx="219456" cy="219456"/>
          </a:xfrm>
          <a:prstGeom prst="ellipse">
            <a:avLst/>
          </a:prstGeom>
          <a:solidFill>
            <a:srgbClr val="C9CED6"/>
          </a:solidFill>
          <a:ln w="12700">
            <a:solidFill>
              <a:srgbClr val="C9CED6"/>
            </a:solidFill>
            <a:prstDash val="solid"/>
          </a:ln>
        </p:spPr>
        <p:txBody>
          <a:bodyPr/>
          <a:lstStyle/>
          <a:p>
            <a:endParaRPr lang="en-US"/>
          </a:p>
        </p:txBody>
      </p:sp>
      <p:sp>
        <p:nvSpPr>
          <p:cNvPr id="91" name="Shape 89"/>
          <p:cNvSpPr/>
          <p:nvPr/>
        </p:nvSpPr>
        <p:spPr>
          <a:xfrm>
            <a:off x="3364992" y="3867912"/>
            <a:ext cx="219456" cy="219456"/>
          </a:xfrm>
          <a:prstGeom prst="ellipse">
            <a:avLst/>
          </a:prstGeom>
          <a:solidFill>
            <a:srgbClr val="C9CED6"/>
          </a:solidFill>
          <a:ln w="12700">
            <a:solidFill>
              <a:srgbClr val="C9CED6"/>
            </a:solidFill>
            <a:prstDash val="solid"/>
          </a:ln>
        </p:spPr>
        <p:txBody>
          <a:bodyPr/>
          <a:lstStyle/>
          <a:p>
            <a:endParaRPr lang="en-US"/>
          </a:p>
        </p:txBody>
      </p:sp>
      <p:sp>
        <p:nvSpPr>
          <p:cNvPr id="92" name="Shape 90"/>
          <p:cNvSpPr/>
          <p:nvPr/>
        </p:nvSpPr>
        <p:spPr>
          <a:xfrm>
            <a:off x="3694176" y="3867912"/>
            <a:ext cx="219456" cy="219456"/>
          </a:xfrm>
          <a:prstGeom prst="ellipse">
            <a:avLst/>
          </a:prstGeom>
          <a:solidFill>
            <a:srgbClr val="C9CED6"/>
          </a:solidFill>
          <a:ln w="12700">
            <a:solidFill>
              <a:srgbClr val="C9CED6"/>
            </a:solidFill>
            <a:prstDash val="solid"/>
          </a:ln>
        </p:spPr>
        <p:txBody>
          <a:bodyPr/>
          <a:lstStyle/>
          <a:p>
            <a:endParaRPr lang="en-US"/>
          </a:p>
        </p:txBody>
      </p:sp>
      <p:sp>
        <p:nvSpPr>
          <p:cNvPr id="93" name="Shape 91"/>
          <p:cNvSpPr/>
          <p:nvPr/>
        </p:nvSpPr>
        <p:spPr>
          <a:xfrm>
            <a:off x="731520" y="4197096"/>
            <a:ext cx="219456" cy="219456"/>
          </a:xfrm>
          <a:prstGeom prst="ellipse">
            <a:avLst/>
          </a:prstGeom>
          <a:solidFill>
            <a:srgbClr val="C9CED6"/>
          </a:solidFill>
          <a:ln w="12700">
            <a:solidFill>
              <a:srgbClr val="C9CED6"/>
            </a:solidFill>
            <a:prstDash val="solid"/>
          </a:ln>
        </p:spPr>
        <p:txBody>
          <a:bodyPr/>
          <a:lstStyle/>
          <a:p>
            <a:endParaRPr lang="en-US"/>
          </a:p>
        </p:txBody>
      </p:sp>
      <p:sp>
        <p:nvSpPr>
          <p:cNvPr id="94" name="Shape 92"/>
          <p:cNvSpPr/>
          <p:nvPr/>
        </p:nvSpPr>
        <p:spPr>
          <a:xfrm>
            <a:off x="1060704" y="4197096"/>
            <a:ext cx="219456" cy="219456"/>
          </a:xfrm>
          <a:prstGeom prst="ellipse">
            <a:avLst/>
          </a:prstGeom>
          <a:solidFill>
            <a:srgbClr val="C9CED6"/>
          </a:solidFill>
          <a:ln w="12700">
            <a:solidFill>
              <a:srgbClr val="C9CED6"/>
            </a:solidFill>
            <a:prstDash val="solid"/>
          </a:ln>
        </p:spPr>
        <p:txBody>
          <a:bodyPr/>
          <a:lstStyle/>
          <a:p>
            <a:endParaRPr lang="en-US"/>
          </a:p>
        </p:txBody>
      </p:sp>
      <p:sp>
        <p:nvSpPr>
          <p:cNvPr id="95" name="Shape 93"/>
          <p:cNvSpPr/>
          <p:nvPr/>
        </p:nvSpPr>
        <p:spPr>
          <a:xfrm>
            <a:off x="1389888" y="4197096"/>
            <a:ext cx="219456" cy="219456"/>
          </a:xfrm>
          <a:prstGeom prst="ellipse">
            <a:avLst/>
          </a:prstGeom>
          <a:solidFill>
            <a:srgbClr val="E4572E"/>
          </a:solidFill>
          <a:ln w="12700">
            <a:solidFill>
              <a:srgbClr val="E4572E"/>
            </a:solidFill>
            <a:prstDash val="solid"/>
          </a:ln>
        </p:spPr>
        <p:txBody>
          <a:bodyPr/>
          <a:lstStyle/>
          <a:p>
            <a:endParaRPr lang="en-US"/>
          </a:p>
        </p:txBody>
      </p:sp>
      <p:sp>
        <p:nvSpPr>
          <p:cNvPr id="96" name="Shape 94"/>
          <p:cNvSpPr/>
          <p:nvPr/>
        </p:nvSpPr>
        <p:spPr>
          <a:xfrm>
            <a:off x="1719072" y="4197096"/>
            <a:ext cx="219456" cy="219456"/>
          </a:xfrm>
          <a:prstGeom prst="ellipse">
            <a:avLst/>
          </a:prstGeom>
          <a:solidFill>
            <a:srgbClr val="C9CED6"/>
          </a:solidFill>
          <a:ln w="12700">
            <a:solidFill>
              <a:srgbClr val="C9CED6"/>
            </a:solidFill>
            <a:prstDash val="solid"/>
          </a:ln>
        </p:spPr>
        <p:txBody>
          <a:bodyPr/>
          <a:lstStyle/>
          <a:p>
            <a:endParaRPr lang="en-US"/>
          </a:p>
        </p:txBody>
      </p:sp>
      <p:sp>
        <p:nvSpPr>
          <p:cNvPr id="97" name="Shape 95"/>
          <p:cNvSpPr/>
          <p:nvPr/>
        </p:nvSpPr>
        <p:spPr>
          <a:xfrm>
            <a:off x="2048256" y="4197096"/>
            <a:ext cx="219456" cy="219456"/>
          </a:xfrm>
          <a:prstGeom prst="ellipse">
            <a:avLst/>
          </a:prstGeom>
          <a:solidFill>
            <a:srgbClr val="C9CED6"/>
          </a:solidFill>
          <a:ln w="12700">
            <a:solidFill>
              <a:srgbClr val="C9CED6"/>
            </a:solidFill>
            <a:prstDash val="solid"/>
          </a:ln>
        </p:spPr>
        <p:txBody>
          <a:bodyPr/>
          <a:lstStyle/>
          <a:p>
            <a:endParaRPr lang="en-US"/>
          </a:p>
        </p:txBody>
      </p:sp>
      <p:sp>
        <p:nvSpPr>
          <p:cNvPr id="98" name="Shape 96"/>
          <p:cNvSpPr/>
          <p:nvPr/>
        </p:nvSpPr>
        <p:spPr>
          <a:xfrm>
            <a:off x="2377440" y="4197096"/>
            <a:ext cx="219456" cy="219456"/>
          </a:xfrm>
          <a:prstGeom prst="ellipse">
            <a:avLst/>
          </a:prstGeom>
          <a:solidFill>
            <a:srgbClr val="C9CED6"/>
          </a:solidFill>
          <a:ln w="12700">
            <a:solidFill>
              <a:srgbClr val="C9CED6"/>
            </a:solidFill>
            <a:prstDash val="solid"/>
          </a:ln>
        </p:spPr>
        <p:txBody>
          <a:bodyPr/>
          <a:lstStyle/>
          <a:p>
            <a:endParaRPr lang="en-US"/>
          </a:p>
        </p:txBody>
      </p:sp>
      <p:sp>
        <p:nvSpPr>
          <p:cNvPr id="99" name="Shape 97"/>
          <p:cNvSpPr/>
          <p:nvPr/>
        </p:nvSpPr>
        <p:spPr>
          <a:xfrm>
            <a:off x="2706624" y="4197096"/>
            <a:ext cx="219456" cy="219456"/>
          </a:xfrm>
          <a:prstGeom prst="ellipse">
            <a:avLst/>
          </a:prstGeom>
          <a:solidFill>
            <a:srgbClr val="C9CED6"/>
          </a:solidFill>
          <a:ln w="12700">
            <a:solidFill>
              <a:srgbClr val="C9CED6"/>
            </a:solidFill>
            <a:prstDash val="solid"/>
          </a:ln>
        </p:spPr>
        <p:txBody>
          <a:bodyPr/>
          <a:lstStyle/>
          <a:p>
            <a:endParaRPr lang="en-US"/>
          </a:p>
        </p:txBody>
      </p:sp>
      <p:sp>
        <p:nvSpPr>
          <p:cNvPr id="100" name="Shape 98"/>
          <p:cNvSpPr/>
          <p:nvPr/>
        </p:nvSpPr>
        <p:spPr>
          <a:xfrm>
            <a:off x="3035808" y="4197096"/>
            <a:ext cx="219456" cy="219456"/>
          </a:xfrm>
          <a:prstGeom prst="ellipse">
            <a:avLst/>
          </a:prstGeom>
          <a:solidFill>
            <a:srgbClr val="C9CED6"/>
          </a:solidFill>
          <a:ln w="12700">
            <a:solidFill>
              <a:srgbClr val="C9CED6"/>
            </a:solidFill>
            <a:prstDash val="solid"/>
          </a:ln>
        </p:spPr>
        <p:txBody>
          <a:bodyPr/>
          <a:lstStyle/>
          <a:p>
            <a:endParaRPr lang="en-US"/>
          </a:p>
        </p:txBody>
      </p:sp>
      <p:sp>
        <p:nvSpPr>
          <p:cNvPr id="101" name="Shape 99"/>
          <p:cNvSpPr/>
          <p:nvPr/>
        </p:nvSpPr>
        <p:spPr>
          <a:xfrm>
            <a:off x="3364992" y="4197096"/>
            <a:ext cx="219456" cy="219456"/>
          </a:xfrm>
          <a:prstGeom prst="ellipse">
            <a:avLst/>
          </a:prstGeom>
          <a:solidFill>
            <a:srgbClr val="C9CED6"/>
          </a:solidFill>
          <a:ln w="12700">
            <a:solidFill>
              <a:srgbClr val="C9CED6"/>
            </a:solidFill>
            <a:prstDash val="solid"/>
          </a:ln>
        </p:spPr>
        <p:txBody>
          <a:bodyPr/>
          <a:lstStyle/>
          <a:p>
            <a:endParaRPr lang="en-US"/>
          </a:p>
        </p:txBody>
      </p:sp>
      <p:sp>
        <p:nvSpPr>
          <p:cNvPr id="102" name="Shape 100"/>
          <p:cNvSpPr/>
          <p:nvPr/>
        </p:nvSpPr>
        <p:spPr>
          <a:xfrm>
            <a:off x="3694176" y="4197096"/>
            <a:ext cx="219456" cy="219456"/>
          </a:xfrm>
          <a:prstGeom prst="ellipse">
            <a:avLst/>
          </a:prstGeom>
          <a:solidFill>
            <a:srgbClr val="C9CED6"/>
          </a:solidFill>
          <a:ln w="12700">
            <a:solidFill>
              <a:srgbClr val="C9CED6"/>
            </a:solidFill>
            <a:prstDash val="solid"/>
          </a:ln>
        </p:spPr>
        <p:txBody>
          <a:bodyPr/>
          <a:lstStyle/>
          <a:p>
            <a:endParaRPr lang="en-US"/>
          </a:p>
        </p:txBody>
      </p:sp>
      <p:grpSp>
        <p:nvGrpSpPr>
          <p:cNvPr id="113" name="Group 112">
            <a:extLst>
              <a:ext uri="{FF2B5EF4-FFF2-40B4-BE49-F238E27FC236}">
                <a16:creationId xmlns:a16="http://schemas.microsoft.com/office/drawing/2014/main" id="{29A50BB4-A74F-01E2-8813-705DEABF0210}"/>
              </a:ext>
            </a:extLst>
          </p:cNvPr>
          <p:cNvGrpSpPr/>
          <p:nvPr/>
        </p:nvGrpSpPr>
        <p:grpSpPr>
          <a:xfrm>
            <a:off x="4572000" y="2483725"/>
            <a:ext cx="4023360" cy="777240"/>
            <a:chOff x="4572000" y="2458744"/>
            <a:chExt cx="4023360" cy="777240"/>
          </a:xfrm>
        </p:grpSpPr>
        <p:sp>
          <p:nvSpPr>
            <p:cNvPr id="103" name="Text 101"/>
            <p:cNvSpPr txBox="1"/>
            <p:nvPr/>
          </p:nvSpPr>
          <p:spPr>
            <a:xfrm>
              <a:off x="4572000" y="2458744"/>
              <a:ext cx="4023360" cy="274320"/>
            </a:xfrm>
            <a:prstGeom prst="rect">
              <a:avLst/>
            </a:prstGeom>
            <a:noFill/>
            <a:ln/>
          </p:spPr>
          <p:txBody>
            <a:bodyPr wrap="square" lIns="0" tIns="0" rIns="0" bIns="0" rtlCol="0" anchor="ctr"/>
            <a:lstStyle/>
            <a:p>
              <a:pPr marL="0" indent="0">
                <a:buNone/>
              </a:pPr>
              <a:r>
                <a:rPr lang="en-US" sz="1200" b="1" kern="0" spc="300">
                  <a:solidFill>
                    <a:srgbClr val="E4572E"/>
                  </a:solidFill>
                  <a:latin typeface="Calibri" pitchFamily="34" charset="0"/>
                  <a:ea typeface="Calibri" pitchFamily="34" charset="-122"/>
                  <a:cs typeface="Calibri" pitchFamily="34" charset="-120"/>
                </a:rPr>
                <a:t>TODAY</a:t>
              </a:r>
              <a:endParaRPr lang="en-US" sz="1200"/>
            </a:p>
          </p:txBody>
        </p:sp>
        <p:sp>
          <p:nvSpPr>
            <p:cNvPr id="104" name="Text 102"/>
            <p:cNvSpPr txBox="1"/>
            <p:nvPr/>
          </p:nvSpPr>
          <p:spPr>
            <a:xfrm>
              <a:off x="4572000" y="2778784"/>
              <a:ext cx="4023360" cy="457200"/>
            </a:xfrm>
            <a:prstGeom prst="rect">
              <a:avLst/>
            </a:prstGeom>
            <a:noFill/>
            <a:ln/>
          </p:spPr>
          <p:txBody>
            <a:bodyPr wrap="square" lIns="0" tIns="0" rIns="0" bIns="0" rtlCol="0" anchor="ctr"/>
            <a:lstStyle/>
            <a:p>
              <a:pPr marL="0" indent="0">
                <a:buNone/>
              </a:pPr>
              <a:r>
                <a:rPr lang="en-US" sz="2000">
                  <a:solidFill>
                    <a:srgbClr val="1B2A41"/>
                  </a:solidFill>
                  <a:latin typeface="Calibri" pitchFamily="34" charset="0"/>
                  <a:ea typeface="Calibri" pitchFamily="34" charset="-122"/>
                  <a:cs typeface="Calibri" pitchFamily="34" charset="-120"/>
                </a:rPr>
                <a:t>Nonprofit outreach rep picks the biggest first gifts.</a:t>
              </a:r>
              <a:endParaRPr lang="en-US" sz="2000"/>
            </a:p>
          </p:txBody>
        </p:sp>
      </p:grpSp>
      <p:grpSp>
        <p:nvGrpSpPr>
          <p:cNvPr id="115" name="Group 114">
            <a:extLst>
              <a:ext uri="{FF2B5EF4-FFF2-40B4-BE49-F238E27FC236}">
                <a16:creationId xmlns:a16="http://schemas.microsoft.com/office/drawing/2014/main" id="{766AF99E-AA4B-531E-BA25-E16A0D003D93}"/>
              </a:ext>
            </a:extLst>
          </p:cNvPr>
          <p:cNvGrpSpPr/>
          <p:nvPr/>
        </p:nvGrpSpPr>
        <p:grpSpPr>
          <a:xfrm>
            <a:off x="4572000" y="3737582"/>
            <a:ext cx="4023360" cy="777240"/>
            <a:chOff x="4572000" y="3737582"/>
            <a:chExt cx="4023360" cy="777240"/>
          </a:xfrm>
        </p:grpSpPr>
        <p:sp>
          <p:nvSpPr>
            <p:cNvPr id="105" name="Text 103"/>
            <p:cNvSpPr txBox="1"/>
            <p:nvPr/>
          </p:nvSpPr>
          <p:spPr>
            <a:xfrm>
              <a:off x="4572000" y="3737582"/>
              <a:ext cx="4023360" cy="274320"/>
            </a:xfrm>
            <a:prstGeom prst="rect">
              <a:avLst/>
            </a:prstGeom>
            <a:noFill/>
            <a:ln/>
          </p:spPr>
          <p:txBody>
            <a:bodyPr wrap="square" lIns="0" tIns="0" rIns="0" bIns="0" rtlCol="0" anchor="ctr"/>
            <a:lstStyle/>
            <a:p>
              <a:pPr marL="0" indent="0">
                <a:buNone/>
              </a:pPr>
              <a:r>
                <a:rPr lang="en-US" sz="1200" b="1" kern="0" spc="300">
                  <a:solidFill>
                    <a:srgbClr val="E4572E"/>
                  </a:solidFill>
                  <a:latin typeface="Calibri" pitchFamily="34" charset="0"/>
                  <a:ea typeface="Calibri" pitchFamily="34" charset="-122"/>
                  <a:cs typeface="Calibri" pitchFamily="34" charset="-120"/>
                </a:rPr>
                <a:t>OUR QUESTION</a:t>
              </a:r>
              <a:endParaRPr lang="en-US" sz="1200"/>
            </a:p>
          </p:txBody>
        </p:sp>
        <p:sp>
          <p:nvSpPr>
            <p:cNvPr id="106" name="Text 104"/>
            <p:cNvSpPr txBox="1"/>
            <p:nvPr/>
          </p:nvSpPr>
          <p:spPr>
            <a:xfrm>
              <a:off x="4572000" y="4057622"/>
              <a:ext cx="4023360" cy="457200"/>
            </a:xfrm>
            <a:prstGeom prst="rect">
              <a:avLst/>
            </a:prstGeom>
            <a:noFill/>
            <a:ln/>
          </p:spPr>
          <p:txBody>
            <a:bodyPr wrap="square" lIns="0" tIns="0" rIns="0" bIns="0" rtlCol="0" anchor="ctr"/>
            <a:lstStyle/>
            <a:p>
              <a:pPr marL="0" indent="0">
                <a:buNone/>
              </a:pPr>
              <a:r>
                <a:rPr lang="en-US" sz="2000" b="1">
                  <a:solidFill>
                    <a:srgbClr val="1B2A41"/>
                  </a:solidFill>
                  <a:latin typeface="Calibri" pitchFamily="34" charset="0"/>
                  <a:ea typeface="Calibri" pitchFamily="34" charset="-122"/>
                  <a:cs typeface="Calibri" pitchFamily="34" charset="-120"/>
                </a:rPr>
                <a:t>Can data predict who gives again?</a:t>
              </a:r>
              <a:endParaRPr lang="en-US" sz="2000"/>
            </a:p>
          </p:txBody>
        </p:sp>
      </p:grpSp>
      <p:sp>
        <p:nvSpPr>
          <p:cNvPr id="107" name="Shape 105"/>
          <p:cNvSpPr/>
          <p:nvPr/>
        </p:nvSpPr>
        <p:spPr>
          <a:xfrm>
            <a:off x="731520" y="4732020"/>
            <a:ext cx="182880" cy="182880"/>
          </a:xfrm>
          <a:prstGeom prst="ellipse">
            <a:avLst/>
          </a:prstGeom>
          <a:solidFill>
            <a:srgbClr val="E4572E"/>
          </a:solidFill>
          <a:ln w="12700">
            <a:solidFill>
              <a:srgbClr val="E4572E"/>
            </a:solidFill>
            <a:prstDash val="solid"/>
          </a:ln>
        </p:spPr>
        <p:txBody>
          <a:bodyPr/>
          <a:lstStyle/>
          <a:p>
            <a:endParaRPr lang="en-US"/>
          </a:p>
        </p:txBody>
      </p:sp>
      <p:sp>
        <p:nvSpPr>
          <p:cNvPr id="108" name="Text 106"/>
          <p:cNvSpPr txBox="1"/>
          <p:nvPr/>
        </p:nvSpPr>
        <p:spPr>
          <a:xfrm>
            <a:off x="1005840" y="4686300"/>
            <a:ext cx="2743200" cy="274320"/>
          </a:xfrm>
          <a:prstGeom prst="rect">
            <a:avLst/>
          </a:prstGeom>
          <a:noFill/>
          <a:ln/>
        </p:spPr>
        <p:txBody>
          <a:bodyPr wrap="square" lIns="0" tIns="0" rIns="0" bIns="0" rtlCol="0" anchor="ctr"/>
          <a:lstStyle/>
          <a:p>
            <a:pPr marL="0" indent="0">
              <a:buNone/>
            </a:pPr>
            <a:r>
              <a:rPr lang="en-US" sz="1200">
                <a:solidFill>
                  <a:srgbClr val="6B7280"/>
                </a:solidFill>
                <a:latin typeface="Calibri" pitchFamily="34" charset="0"/>
                <a:ea typeface="Calibri" pitchFamily="34" charset="-122"/>
                <a:cs typeface="Calibri" pitchFamily="34" charset="-120"/>
              </a:rPr>
              <a:t>gives again within a year</a:t>
            </a:r>
            <a:endParaRPr lang="en-US" sz="1200"/>
          </a:p>
        </p:txBody>
      </p:sp>
      <p:grpSp>
        <p:nvGrpSpPr>
          <p:cNvPr id="114" name="Group 113">
            <a:extLst>
              <a:ext uri="{FF2B5EF4-FFF2-40B4-BE49-F238E27FC236}">
                <a16:creationId xmlns:a16="http://schemas.microsoft.com/office/drawing/2014/main" id="{3EC1BA53-E0A7-0182-6302-8580FB6A40AE}"/>
              </a:ext>
            </a:extLst>
          </p:cNvPr>
          <p:cNvGrpSpPr/>
          <p:nvPr/>
        </p:nvGrpSpPr>
        <p:grpSpPr>
          <a:xfrm>
            <a:off x="4572000" y="1229868"/>
            <a:ext cx="4023360" cy="777240"/>
            <a:chOff x="4572000" y="1229868"/>
            <a:chExt cx="4023360" cy="777240"/>
          </a:xfrm>
        </p:grpSpPr>
        <p:sp>
          <p:nvSpPr>
            <p:cNvPr id="109" name="Text 101">
              <a:extLst>
                <a:ext uri="{FF2B5EF4-FFF2-40B4-BE49-F238E27FC236}">
                  <a16:creationId xmlns:a16="http://schemas.microsoft.com/office/drawing/2014/main" id="{55F51F2E-692F-105D-84F7-DE941528C2EE}"/>
                </a:ext>
              </a:extLst>
            </p:cNvPr>
            <p:cNvSpPr txBox="1"/>
            <p:nvPr/>
          </p:nvSpPr>
          <p:spPr>
            <a:xfrm>
              <a:off x="4572000" y="1229868"/>
              <a:ext cx="4023360" cy="274320"/>
            </a:xfrm>
            <a:prstGeom prst="rect">
              <a:avLst/>
            </a:prstGeom>
            <a:noFill/>
            <a:ln/>
          </p:spPr>
          <p:txBody>
            <a:bodyPr wrap="square" lIns="0" tIns="0" rIns="0" bIns="0" rtlCol="0" anchor="ctr"/>
            <a:lstStyle/>
            <a:p>
              <a:pPr marL="0" indent="0">
                <a:buNone/>
              </a:pPr>
              <a:r>
                <a:rPr lang="en-US" sz="1200" b="1" kern="0" spc="300">
                  <a:solidFill>
                    <a:srgbClr val="E4572E"/>
                  </a:solidFill>
                  <a:latin typeface="Calibri" pitchFamily="34" charset="0"/>
                  <a:ea typeface="Calibri" pitchFamily="34" charset="-122"/>
                  <a:cs typeface="Calibri" pitchFamily="34" charset="-120"/>
                </a:rPr>
                <a:t>LIMITED TIME FOR OUTREACH</a:t>
              </a:r>
              <a:endParaRPr lang="en-US" sz="1200"/>
            </a:p>
          </p:txBody>
        </p:sp>
        <p:sp>
          <p:nvSpPr>
            <p:cNvPr id="110" name="Text 102">
              <a:extLst>
                <a:ext uri="{FF2B5EF4-FFF2-40B4-BE49-F238E27FC236}">
                  <a16:creationId xmlns:a16="http://schemas.microsoft.com/office/drawing/2014/main" id="{629BB606-EEA7-991E-9952-9F1DCC07FA16}"/>
                </a:ext>
              </a:extLst>
            </p:cNvPr>
            <p:cNvSpPr txBox="1"/>
            <p:nvPr/>
          </p:nvSpPr>
          <p:spPr>
            <a:xfrm>
              <a:off x="4572000" y="1549908"/>
              <a:ext cx="4023360" cy="457200"/>
            </a:xfrm>
            <a:prstGeom prst="rect">
              <a:avLst/>
            </a:prstGeom>
            <a:noFill/>
            <a:ln/>
          </p:spPr>
          <p:txBody>
            <a:bodyPr wrap="square" lIns="0" tIns="0" rIns="0" bIns="0" rtlCol="0" anchor="ctr"/>
            <a:lstStyle/>
            <a:p>
              <a:pPr marL="0" indent="0">
                <a:buNone/>
              </a:pPr>
              <a:r>
                <a:rPr lang="en-US" sz="2000">
                  <a:solidFill>
                    <a:srgbClr val="1B2A41"/>
                  </a:solidFill>
                  <a:latin typeface="Calibri" pitchFamily="34" charset="0"/>
                  <a:ea typeface="Calibri" pitchFamily="34" charset="-122"/>
                  <a:cs typeface="Calibri" pitchFamily="34" charset="-120"/>
                </a:rPr>
                <a:t>10 available outreach slots </a:t>
              </a:r>
              <a:endParaRPr lang="en-US" sz="2000"/>
            </a:p>
          </p:txBody>
        </p:sp>
      </p:grpSp>
      <p:sp>
        <p:nvSpPr>
          <p:cNvPr id="111" name="TextBox 110">
            <a:extLst>
              <a:ext uri="{FF2B5EF4-FFF2-40B4-BE49-F238E27FC236}">
                <a16:creationId xmlns:a16="http://schemas.microsoft.com/office/drawing/2014/main" id="{8E9D187A-030B-8B50-E4B3-B177ACF320BC}"/>
              </a:ext>
            </a:extLst>
          </p:cNvPr>
          <p:cNvSpPr txBox="1"/>
          <p:nvPr/>
        </p:nvSpPr>
        <p:spPr>
          <a:xfrm>
            <a:off x="6400800" y="0"/>
            <a:ext cx="2743200" cy="1094704"/>
          </a:xfrm>
          <a:prstGeom prst="rect">
            <a:avLst/>
          </a:prstGeom>
          <a:solidFill>
            <a:schemeClr val="accent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a:ea typeface="Calibri"/>
                <a:cs typeface="Calibri"/>
              </a:rPr>
              <a:t>Thadeus: I think we should mention why we even need to pick people? -&gt; added the first bullet vs the previous slide</a:t>
            </a:r>
          </a:p>
        </p:txBody>
      </p:sp>
    </p:spTree>
    <p:extLst>
      <p:ext uri="{BB962C8B-B14F-4D97-AF65-F5344CB8AC3E}">
        <p14:creationId xmlns:p14="http://schemas.microsoft.com/office/powerpoint/2010/main" val="31560197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F57E7D0-357E-4846-BDDF-70C53EFF2669}"/>
              </a:ext>
            </a:extLst>
          </p:cNvPr>
          <p:cNvSpPr>
            <a:spLocks noGrp="1"/>
          </p:cNvSpPr>
          <p:nvPr/>
        </p:nvSpPr>
        <p:spPr>
          <a:xfrm>
            <a:off x="548640" y="320040"/>
            <a:ext cx="8046720" cy="640080"/>
          </a:xfrm>
          <a:prstGeom prst="rect">
            <a:avLst/>
          </a:prstGeom>
          <a:noFill/>
        </p:spPr>
        <p:txBody>
          <a:bodyPr wrap="square" lIns="0" tIns="0" rIns="0" bIns="0" anchor="ctr"/>
          <a:lstStyle/>
          <a:p>
            <a:pPr marL="0" indent="0">
              <a:buNone/>
            </a:pPr>
            <a:r>
              <a:rPr sz="3000" b="1">
                <a:solidFill>
                  <a:srgbClr val="1B2A41"/>
                </a:solidFill>
                <a:latin typeface="Cambria"/>
                <a:ea typeface="Cambria"/>
                <a:cs typeface="Cambria"/>
              </a:rPr>
              <a:t>What we did</a:t>
            </a:r>
            <a:endParaRPr sz="3000"/>
          </a:p>
        </p:txBody>
      </p:sp>
      <p:sp>
        <p:nvSpPr>
          <p:cNvPr id="3" name="Shape 1">
            <a:extLst>
              <a:ext uri="{FF2B5EF4-FFF2-40B4-BE49-F238E27FC236}">
                <a16:creationId xmlns:a16="http://schemas.microsoft.com/office/drawing/2014/main" id="{6968DB7F-A9B7-4C02-AFB5-C1C49FB2F81D}"/>
              </a:ext>
            </a:extLst>
          </p:cNvPr>
          <p:cNvSpPr>
            <a:spLocks noGrp="1"/>
          </p:cNvSpPr>
          <p:nvPr/>
        </p:nvSpPr>
        <p:spPr>
          <a:xfrm>
            <a:off x="1097280" y="1623060"/>
            <a:ext cx="7040880" cy="0"/>
          </a:xfrm>
          <a:prstGeom prst="line">
            <a:avLst/>
          </a:prstGeom>
          <a:noFill/>
          <a:ln w="25400">
            <a:solidFill>
              <a:srgbClr val="C9CED6"/>
            </a:solidFill>
            <a:prstDash val="solid"/>
          </a:ln>
        </p:spPr>
        <p:txBody>
          <a:bodyPr/>
          <a:lstStyle/>
          <a:p>
            <a:endParaRPr/>
          </a:p>
        </p:txBody>
      </p:sp>
      <p:sp>
        <p:nvSpPr>
          <p:cNvPr id="4" name="Shape 2">
            <a:extLst>
              <a:ext uri="{FF2B5EF4-FFF2-40B4-BE49-F238E27FC236}">
                <a16:creationId xmlns:a16="http://schemas.microsoft.com/office/drawing/2014/main" id="{DA649B9D-F33A-4A27-A916-98612CA796A1}"/>
              </a:ext>
            </a:extLst>
          </p:cNvPr>
          <p:cNvSpPr>
            <a:spLocks noGrp="1"/>
          </p:cNvSpPr>
          <p:nvPr/>
        </p:nvSpPr>
        <p:spPr>
          <a:xfrm>
            <a:off x="685800" y="1234440"/>
            <a:ext cx="777240" cy="777240"/>
          </a:xfrm>
          <a:prstGeom prst="ellipse">
            <a:avLst/>
          </a:prstGeom>
          <a:solidFill>
            <a:srgbClr val="1B2A41"/>
          </a:solidFill>
          <a:ln w="12700">
            <a:solidFill>
              <a:srgbClr val="1B2A41"/>
            </a:solidFill>
            <a:prstDash val="solid"/>
          </a:ln>
        </p:spPr>
        <p:txBody>
          <a:bodyPr/>
          <a:lstStyle/>
          <a:p>
            <a:endParaRPr/>
          </a:p>
        </p:txBody>
      </p:sp>
      <p:pic>
        <p:nvPicPr>
          <p:cNvPr id="40" name="Image 0"/>
          <p:cNvPicPr>
            <a:picLocks noChangeAspect="1"/>
          </p:cNvPicPr>
          <p:nvPr/>
        </p:nvPicPr>
        <p:blipFill>
          <a:blip r:embed="rId3"/>
          <a:stretch>
            <a:fillRect/>
          </a:stretch>
        </p:blipFill>
        <p:spPr>
          <a:xfrm>
            <a:off x="880110" y="1428750"/>
            <a:ext cx="388620" cy="388620"/>
          </a:xfrm>
          <a:prstGeom prst="rect">
            <a:avLst/>
          </a:prstGeom>
        </p:spPr>
      </p:pic>
      <p:sp>
        <p:nvSpPr>
          <p:cNvPr id="6" name="Text 3">
            <a:extLst>
              <a:ext uri="{FF2B5EF4-FFF2-40B4-BE49-F238E27FC236}">
                <a16:creationId xmlns:a16="http://schemas.microsoft.com/office/drawing/2014/main" id="{3E022687-FB61-4D4B-82C4-B512011A3B38}"/>
              </a:ext>
            </a:extLst>
          </p:cNvPr>
          <p:cNvSpPr>
            <a:spLocks noGrp="1"/>
          </p:cNvSpPr>
          <p:nvPr/>
        </p:nvSpPr>
        <p:spPr>
          <a:xfrm>
            <a:off x="416052" y="2216875"/>
            <a:ext cx="1316736" cy="320040"/>
          </a:xfrm>
          <a:prstGeom prst="rect">
            <a:avLst/>
          </a:prstGeom>
          <a:noFill/>
        </p:spPr>
        <p:txBody>
          <a:bodyPr wrap="square" lIns="0" tIns="0" rIns="0" bIns="0" anchor="ctr"/>
          <a:lstStyle/>
          <a:p>
            <a:pPr marL="0" indent="0" algn="ctr">
              <a:buNone/>
            </a:pPr>
            <a:r>
              <a:rPr sz="1600" b="1">
                <a:solidFill>
                  <a:srgbClr val="1B2A41"/>
                </a:solidFill>
                <a:latin typeface="Calibri"/>
                <a:ea typeface="Calibri"/>
                <a:cs typeface="Calibri"/>
              </a:rPr>
              <a:t>1 · Select</a:t>
            </a:r>
            <a:endParaRPr sz="1600"/>
          </a:p>
        </p:txBody>
      </p:sp>
      <p:sp>
        <p:nvSpPr>
          <p:cNvPr id="7" name="Text 4">
            <a:extLst>
              <a:ext uri="{FF2B5EF4-FFF2-40B4-BE49-F238E27FC236}">
                <a16:creationId xmlns:a16="http://schemas.microsoft.com/office/drawing/2014/main" id="{F24D84BB-7A04-4F96-9904-92C413DC0F9C}"/>
              </a:ext>
            </a:extLst>
          </p:cNvPr>
          <p:cNvSpPr>
            <a:spLocks noGrp="1"/>
          </p:cNvSpPr>
          <p:nvPr/>
        </p:nvSpPr>
        <p:spPr>
          <a:xfrm>
            <a:off x="416052" y="2742112"/>
            <a:ext cx="1316736" cy="731520"/>
          </a:xfrm>
          <a:prstGeom prst="rect">
            <a:avLst/>
          </a:prstGeom>
          <a:noFill/>
        </p:spPr>
        <p:txBody>
          <a:bodyPr wrap="square" lIns="0" tIns="0" rIns="0" bIns="0" anchor="t"/>
          <a:lstStyle/>
          <a:p>
            <a:pPr marL="0" indent="0" algn="ctr">
              <a:buNone/>
            </a:pPr>
            <a:r>
              <a:rPr sz="1400">
                <a:solidFill>
                  <a:srgbClr val="6B7280"/>
                </a:solidFill>
                <a:latin typeface="Calibri"/>
                <a:ea typeface="Calibri"/>
                <a:cs typeface="Calibri"/>
              </a:rPr>
              <a:t>Citizen donors only</a:t>
            </a:r>
            <a:endParaRPr sz="1400"/>
          </a:p>
        </p:txBody>
      </p:sp>
      <p:sp>
        <p:nvSpPr>
          <p:cNvPr id="8" name="Shape 5">
            <a:extLst>
              <a:ext uri="{FF2B5EF4-FFF2-40B4-BE49-F238E27FC236}">
                <a16:creationId xmlns:a16="http://schemas.microsoft.com/office/drawing/2014/main" id="{41DCB6D6-CE82-4D40-BD07-2FCCEE0F6B1E}"/>
              </a:ext>
            </a:extLst>
          </p:cNvPr>
          <p:cNvSpPr>
            <a:spLocks noGrp="1"/>
          </p:cNvSpPr>
          <p:nvPr/>
        </p:nvSpPr>
        <p:spPr>
          <a:xfrm>
            <a:off x="2103120" y="1234440"/>
            <a:ext cx="777240" cy="777240"/>
          </a:xfrm>
          <a:prstGeom prst="ellipse">
            <a:avLst/>
          </a:prstGeom>
          <a:solidFill>
            <a:srgbClr val="1B2A41"/>
          </a:solidFill>
          <a:ln w="12700">
            <a:solidFill>
              <a:srgbClr val="1B2A41"/>
            </a:solidFill>
            <a:prstDash val="solid"/>
          </a:ln>
        </p:spPr>
        <p:txBody>
          <a:bodyPr/>
          <a:lstStyle/>
          <a:p>
            <a:endParaRPr/>
          </a:p>
        </p:txBody>
      </p:sp>
      <p:pic>
        <p:nvPicPr>
          <p:cNvPr id="44" name="Image 1"/>
          <p:cNvPicPr>
            <a:picLocks noChangeAspect="1"/>
          </p:cNvPicPr>
          <p:nvPr/>
        </p:nvPicPr>
        <p:blipFill>
          <a:blip r:embed="rId4"/>
          <a:stretch>
            <a:fillRect/>
          </a:stretch>
        </p:blipFill>
        <p:spPr>
          <a:xfrm>
            <a:off x="2297430" y="1428750"/>
            <a:ext cx="388620" cy="388620"/>
          </a:xfrm>
          <a:prstGeom prst="rect">
            <a:avLst/>
          </a:prstGeom>
        </p:spPr>
      </p:pic>
      <p:sp>
        <p:nvSpPr>
          <p:cNvPr id="10" name="Text 6">
            <a:extLst>
              <a:ext uri="{FF2B5EF4-FFF2-40B4-BE49-F238E27FC236}">
                <a16:creationId xmlns:a16="http://schemas.microsoft.com/office/drawing/2014/main" id="{46D52BE2-9C10-4FB9-8405-DF1BEF18F589}"/>
              </a:ext>
            </a:extLst>
          </p:cNvPr>
          <p:cNvSpPr>
            <a:spLocks noGrp="1"/>
          </p:cNvSpPr>
          <p:nvPr/>
        </p:nvSpPr>
        <p:spPr>
          <a:xfrm>
            <a:off x="1833372" y="2216875"/>
            <a:ext cx="1316736" cy="320040"/>
          </a:xfrm>
          <a:prstGeom prst="rect">
            <a:avLst/>
          </a:prstGeom>
          <a:noFill/>
        </p:spPr>
        <p:txBody>
          <a:bodyPr wrap="square" lIns="0" tIns="0" rIns="0" bIns="0" anchor="ctr"/>
          <a:lstStyle/>
          <a:p>
            <a:pPr marL="0" indent="0" algn="ctr">
              <a:buNone/>
            </a:pPr>
            <a:r>
              <a:rPr sz="1600" b="1">
                <a:solidFill>
                  <a:srgbClr val="1B2A41"/>
                </a:solidFill>
                <a:latin typeface="Calibri"/>
                <a:ea typeface="Calibri"/>
                <a:cs typeface="Calibri"/>
              </a:rPr>
              <a:t>2 · Label</a:t>
            </a:r>
            <a:endParaRPr sz="1600"/>
          </a:p>
        </p:txBody>
      </p:sp>
      <p:sp>
        <p:nvSpPr>
          <p:cNvPr id="11" name="Text 7">
            <a:extLst>
              <a:ext uri="{FF2B5EF4-FFF2-40B4-BE49-F238E27FC236}">
                <a16:creationId xmlns:a16="http://schemas.microsoft.com/office/drawing/2014/main" id="{83756DAB-3A2A-4C92-9220-5703125B0973}"/>
              </a:ext>
            </a:extLst>
          </p:cNvPr>
          <p:cNvSpPr>
            <a:spLocks noGrp="1"/>
          </p:cNvSpPr>
          <p:nvPr/>
        </p:nvSpPr>
        <p:spPr>
          <a:xfrm>
            <a:off x="1833372" y="2742112"/>
            <a:ext cx="1316736" cy="731520"/>
          </a:xfrm>
          <a:prstGeom prst="rect">
            <a:avLst/>
          </a:prstGeom>
          <a:noFill/>
        </p:spPr>
        <p:txBody>
          <a:bodyPr wrap="square" lIns="0" tIns="0" rIns="0" bIns="0" anchor="t"/>
          <a:lstStyle/>
          <a:p>
            <a:pPr marL="0" indent="0" algn="ctr">
              <a:buNone/>
            </a:pPr>
            <a:r>
              <a:rPr sz="1400">
                <a:solidFill>
                  <a:srgbClr val="6B7280"/>
                </a:solidFill>
                <a:latin typeface="Calibri"/>
                <a:ea typeface="Calibri"/>
                <a:cs typeface="Calibri"/>
              </a:rPr>
              <a:t>Giving in the next 12 months</a:t>
            </a:r>
            <a:endParaRPr sz="1400"/>
          </a:p>
        </p:txBody>
      </p:sp>
      <p:sp>
        <p:nvSpPr>
          <p:cNvPr id="12" name="Shape 8">
            <a:extLst>
              <a:ext uri="{FF2B5EF4-FFF2-40B4-BE49-F238E27FC236}">
                <a16:creationId xmlns:a16="http://schemas.microsoft.com/office/drawing/2014/main" id="{7143C08C-1210-49F9-9549-980453123EA7}"/>
              </a:ext>
            </a:extLst>
          </p:cNvPr>
          <p:cNvSpPr>
            <a:spLocks noGrp="1"/>
          </p:cNvSpPr>
          <p:nvPr/>
        </p:nvSpPr>
        <p:spPr>
          <a:xfrm>
            <a:off x="3520440" y="1234440"/>
            <a:ext cx="777240" cy="777240"/>
          </a:xfrm>
          <a:prstGeom prst="ellipse">
            <a:avLst/>
          </a:prstGeom>
          <a:solidFill>
            <a:srgbClr val="1B2A41"/>
          </a:solidFill>
          <a:ln w="12700">
            <a:solidFill>
              <a:srgbClr val="1B2A41"/>
            </a:solidFill>
            <a:prstDash val="solid"/>
          </a:ln>
        </p:spPr>
        <p:txBody>
          <a:bodyPr/>
          <a:lstStyle/>
          <a:p>
            <a:endParaRPr/>
          </a:p>
        </p:txBody>
      </p:sp>
      <p:pic>
        <p:nvPicPr>
          <p:cNvPr id="48" name="Image 2"/>
          <p:cNvPicPr>
            <a:picLocks noChangeAspect="1"/>
          </p:cNvPicPr>
          <p:nvPr/>
        </p:nvPicPr>
        <p:blipFill>
          <a:blip r:embed="rId5"/>
          <a:stretch>
            <a:fillRect/>
          </a:stretch>
        </p:blipFill>
        <p:spPr>
          <a:xfrm>
            <a:off x="3714750" y="1428750"/>
            <a:ext cx="388620" cy="388620"/>
          </a:xfrm>
          <a:prstGeom prst="rect">
            <a:avLst/>
          </a:prstGeom>
        </p:spPr>
      </p:pic>
      <p:sp>
        <p:nvSpPr>
          <p:cNvPr id="14" name="Text 9">
            <a:extLst>
              <a:ext uri="{FF2B5EF4-FFF2-40B4-BE49-F238E27FC236}">
                <a16:creationId xmlns:a16="http://schemas.microsoft.com/office/drawing/2014/main" id="{D42D5E55-A33A-454B-977A-B5AB7C6D3F86}"/>
              </a:ext>
            </a:extLst>
          </p:cNvPr>
          <p:cNvSpPr>
            <a:spLocks noGrp="1"/>
          </p:cNvSpPr>
          <p:nvPr/>
        </p:nvSpPr>
        <p:spPr>
          <a:xfrm>
            <a:off x="3250692" y="2216875"/>
            <a:ext cx="1316736" cy="320040"/>
          </a:xfrm>
          <a:prstGeom prst="rect">
            <a:avLst/>
          </a:prstGeom>
          <a:noFill/>
        </p:spPr>
        <p:txBody>
          <a:bodyPr wrap="square" lIns="0" tIns="0" rIns="0" bIns="0" anchor="ctr"/>
          <a:lstStyle/>
          <a:p>
            <a:pPr marL="0" indent="0" algn="ctr">
              <a:buNone/>
            </a:pPr>
            <a:r>
              <a:rPr sz="1600" b="1">
                <a:solidFill>
                  <a:srgbClr val="1B2A41"/>
                </a:solidFill>
                <a:latin typeface="Calibri"/>
                <a:ea typeface="Calibri"/>
                <a:cs typeface="Calibri"/>
              </a:rPr>
              <a:t>3 · Train</a:t>
            </a:r>
            <a:endParaRPr sz="1600"/>
          </a:p>
        </p:txBody>
      </p:sp>
      <p:sp>
        <p:nvSpPr>
          <p:cNvPr id="15" name="Text 10">
            <a:extLst>
              <a:ext uri="{FF2B5EF4-FFF2-40B4-BE49-F238E27FC236}">
                <a16:creationId xmlns:a16="http://schemas.microsoft.com/office/drawing/2014/main" id="{0F974E3F-3F21-4DC7-88E5-C17494DE9FD5}"/>
              </a:ext>
            </a:extLst>
          </p:cNvPr>
          <p:cNvSpPr>
            <a:spLocks noGrp="1"/>
          </p:cNvSpPr>
          <p:nvPr/>
        </p:nvSpPr>
        <p:spPr>
          <a:xfrm>
            <a:off x="3250692" y="2742112"/>
            <a:ext cx="1316736" cy="731520"/>
          </a:xfrm>
          <a:prstGeom prst="rect">
            <a:avLst/>
          </a:prstGeom>
          <a:noFill/>
        </p:spPr>
        <p:txBody>
          <a:bodyPr wrap="square" lIns="0" tIns="0" rIns="0" bIns="0" anchor="t"/>
          <a:lstStyle/>
          <a:p>
            <a:pPr marL="0" indent="0" algn="ctr">
              <a:buNone/>
            </a:pPr>
            <a:r>
              <a:rPr sz="1400">
                <a:solidFill>
                  <a:srgbClr val="6B7280"/>
                </a:solidFill>
                <a:latin typeface="Calibri"/>
                <a:ea typeface="Calibri"/>
                <a:cs typeface="Calibri"/>
              </a:rPr>
              <a:t>2003–2015
1,766,703 donors</a:t>
            </a:r>
            <a:endParaRPr sz="1400"/>
          </a:p>
        </p:txBody>
      </p:sp>
      <p:sp>
        <p:nvSpPr>
          <p:cNvPr id="16" name="Shape 11">
            <a:extLst>
              <a:ext uri="{FF2B5EF4-FFF2-40B4-BE49-F238E27FC236}">
                <a16:creationId xmlns:a16="http://schemas.microsoft.com/office/drawing/2014/main" id="{015EFB7E-54F9-4ECD-8B72-0B2657FDF45B}"/>
              </a:ext>
            </a:extLst>
          </p:cNvPr>
          <p:cNvSpPr>
            <a:spLocks noGrp="1"/>
          </p:cNvSpPr>
          <p:nvPr/>
        </p:nvSpPr>
        <p:spPr>
          <a:xfrm>
            <a:off x="4937760" y="1234440"/>
            <a:ext cx="777240" cy="777240"/>
          </a:xfrm>
          <a:prstGeom prst="ellipse">
            <a:avLst/>
          </a:prstGeom>
          <a:solidFill>
            <a:srgbClr val="1B2A41"/>
          </a:solidFill>
          <a:ln w="12700">
            <a:solidFill>
              <a:srgbClr val="1B2A41"/>
            </a:solidFill>
            <a:prstDash val="solid"/>
          </a:ln>
        </p:spPr>
        <p:txBody>
          <a:bodyPr/>
          <a:lstStyle/>
          <a:p>
            <a:endParaRPr/>
          </a:p>
        </p:txBody>
      </p:sp>
      <p:pic>
        <p:nvPicPr>
          <p:cNvPr id="52" name="Image 3"/>
          <p:cNvPicPr>
            <a:picLocks noChangeAspect="1"/>
          </p:cNvPicPr>
          <p:nvPr/>
        </p:nvPicPr>
        <p:blipFill>
          <a:blip r:embed="rId6"/>
          <a:stretch>
            <a:fillRect/>
          </a:stretch>
        </p:blipFill>
        <p:spPr>
          <a:xfrm>
            <a:off x="5132070" y="1428750"/>
            <a:ext cx="388620" cy="388620"/>
          </a:xfrm>
          <a:prstGeom prst="rect">
            <a:avLst/>
          </a:prstGeom>
        </p:spPr>
      </p:pic>
      <p:sp>
        <p:nvSpPr>
          <p:cNvPr id="18" name="Text 12">
            <a:extLst>
              <a:ext uri="{FF2B5EF4-FFF2-40B4-BE49-F238E27FC236}">
                <a16:creationId xmlns:a16="http://schemas.microsoft.com/office/drawing/2014/main" id="{13C1CFCA-42FD-4B01-BAF9-81FD6CF09817}"/>
              </a:ext>
            </a:extLst>
          </p:cNvPr>
          <p:cNvSpPr>
            <a:spLocks noGrp="1"/>
          </p:cNvSpPr>
          <p:nvPr/>
        </p:nvSpPr>
        <p:spPr>
          <a:xfrm>
            <a:off x="4668012" y="2216875"/>
            <a:ext cx="1316736" cy="320040"/>
          </a:xfrm>
          <a:prstGeom prst="rect">
            <a:avLst/>
          </a:prstGeom>
          <a:noFill/>
        </p:spPr>
        <p:txBody>
          <a:bodyPr wrap="square" lIns="0" tIns="0" rIns="0" bIns="0" anchor="ctr"/>
          <a:lstStyle/>
          <a:p>
            <a:pPr marL="0" indent="0" algn="ctr">
              <a:buNone/>
            </a:pPr>
            <a:r>
              <a:rPr sz="1600" b="1">
                <a:solidFill>
                  <a:srgbClr val="1B2A41"/>
                </a:solidFill>
                <a:latin typeface="Calibri"/>
                <a:ea typeface="Calibri"/>
                <a:cs typeface="Calibri"/>
              </a:rPr>
              <a:t>4 · Tune</a:t>
            </a:r>
            <a:endParaRPr sz="1600"/>
          </a:p>
        </p:txBody>
      </p:sp>
      <p:sp>
        <p:nvSpPr>
          <p:cNvPr id="19" name="Text 13">
            <a:extLst>
              <a:ext uri="{FF2B5EF4-FFF2-40B4-BE49-F238E27FC236}">
                <a16:creationId xmlns:a16="http://schemas.microsoft.com/office/drawing/2014/main" id="{82365322-B56C-4A56-9969-3102DB26CE14}"/>
              </a:ext>
            </a:extLst>
          </p:cNvPr>
          <p:cNvSpPr>
            <a:spLocks noGrp="1"/>
          </p:cNvSpPr>
          <p:nvPr/>
        </p:nvSpPr>
        <p:spPr>
          <a:xfrm>
            <a:off x="4668012" y="2742112"/>
            <a:ext cx="1316736" cy="731520"/>
          </a:xfrm>
          <a:prstGeom prst="rect">
            <a:avLst/>
          </a:prstGeom>
          <a:noFill/>
        </p:spPr>
        <p:txBody>
          <a:bodyPr wrap="square" lIns="0" tIns="0" rIns="0" bIns="0" anchor="t"/>
          <a:lstStyle/>
          <a:p>
            <a:pPr marL="0" indent="0" algn="ctr">
              <a:buNone/>
            </a:pPr>
            <a:r>
              <a:rPr sz="1400">
                <a:solidFill>
                  <a:srgbClr val="6B7280"/>
                </a:solidFill>
                <a:latin typeface="Calibri"/>
                <a:ea typeface="Calibri"/>
                <a:cs typeface="Calibri"/>
              </a:rPr>
              <a:t>2016
390,081 donors</a:t>
            </a:r>
            <a:endParaRPr sz="1400"/>
          </a:p>
        </p:txBody>
      </p:sp>
      <p:sp>
        <p:nvSpPr>
          <p:cNvPr id="20" name="Shape 14">
            <a:extLst>
              <a:ext uri="{FF2B5EF4-FFF2-40B4-BE49-F238E27FC236}">
                <a16:creationId xmlns:a16="http://schemas.microsoft.com/office/drawing/2014/main" id="{3D212CC8-3446-41EE-8A4B-AA386EB1220C}"/>
              </a:ext>
            </a:extLst>
          </p:cNvPr>
          <p:cNvSpPr>
            <a:spLocks noGrp="1"/>
          </p:cNvSpPr>
          <p:nvPr/>
        </p:nvSpPr>
        <p:spPr>
          <a:xfrm>
            <a:off x="6355080" y="1234440"/>
            <a:ext cx="777240" cy="777240"/>
          </a:xfrm>
          <a:prstGeom prst="ellipse">
            <a:avLst/>
          </a:prstGeom>
          <a:solidFill>
            <a:srgbClr val="E4572E"/>
          </a:solidFill>
          <a:ln w="12700">
            <a:solidFill>
              <a:srgbClr val="E4572E"/>
            </a:solidFill>
            <a:prstDash val="solid"/>
          </a:ln>
        </p:spPr>
        <p:txBody>
          <a:bodyPr/>
          <a:lstStyle/>
          <a:p>
            <a:endParaRPr/>
          </a:p>
        </p:txBody>
      </p:sp>
      <p:pic>
        <p:nvPicPr>
          <p:cNvPr id="56" name="Image 4"/>
          <p:cNvPicPr>
            <a:picLocks noChangeAspect="1"/>
          </p:cNvPicPr>
          <p:nvPr/>
        </p:nvPicPr>
        <p:blipFill>
          <a:blip r:embed="rId7"/>
          <a:stretch>
            <a:fillRect/>
          </a:stretch>
        </p:blipFill>
        <p:spPr>
          <a:xfrm>
            <a:off x="6549390" y="1428750"/>
            <a:ext cx="388620" cy="388620"/>
          </a:xfrm>
          <a:prstGeom prst="rect">
            <a:avLst/>
          </a:prstGeom>
        </p:spPr>
      </p:pic>
      <p:sp>
        <p:nvSpPr>
          <p:cNvPr id="22" name="Text 15">
            <a:extLst>
              <a:ext uri="{FF2B5EF4-FFF2-40B4-BE49-F238E27FC236}">
                <a16:creationId xmlns:a16="http://schemas.microsoft.com/office/drawing/2014/main" id="{B0189177-675F-4662-A166-EDCCC1CCC1E8}"/>
              </a:ext>
            </a:extLst>
          </p:cNvPr>
          <p:cNvSpPr>
            <a:spLocks noGrp="1"/>
          </p:cNvSpPr>
          <p:nvPr/>
        </p:nvSpPr>
        <p:spPr>
          <a:xfrm>
            <a:off x="6085332" y="2216875"/>
            <a:ext cx="1316736" cy="320040"/>
          </a:xfrm>
          <a:prstGeom prst="rect">
            <a:avLst/>
          </a:prstGeom>
          <a:noFill/>
        </p:spPr>
        <p:txBody>
          <a:bodyPr wrap="square" lIns="0" tIns="0" rIns="0" bIns="0" anchor="ctr"/>
          <a:lstStyle/>
          <a:p>
            <a:pPr marL="0" indent="0" algn="ctr">
              <a:buNone/>
            </a:pPr>
            <a:r>
              <a:rPr sz="1600" b="1">
                <a:solidFill>
                  <a:srgbClr val="1B2A41"/>
                </a:solidFill>
                <a:latin typeface="Calibri"/>
                <a:ea typeface="Calibri"/>
                <a:cs typeface="Calibri"/>
              </a:rPr>
              <a:t>5 · Refit</a:t>
            </a:r>
            <a:endParaRPr sz="1600"/>
          </a:p>
        </p:txBody>
      </p:sp>
      <p:sp>
        <p:nvSpPr>
          <p:cNvPr id="23" name="Text 16">
            <a:extLst>
              <a:ext uri="{FF2B5EF4-FFF2-40B4-BE49-F238E27FC236}">
                <a16:creationId xmlns:a16="http://schemas.microsoft.com/office/drawing/2014/main" id="{71F63A01-ED0C-4A76-953E-00D3727C1BB4}"/>
              </a:ext>
            </a:extLst>
          </p:cNvPr>
          <p:cNvSpPr>
            <a:spLocks noGrp="1"/>
          </p:cNvSpPr>
          <p:nvPr/>
        </p:nvSpPr>
        <p:spPr>
          <a:xfrm>
            <a:off x="6085332" y="2742112"/>
            <a:ext cx="1316736" cy="731520"/>
          </a:xfrm>
          <a:prstGeom prst="rect">
            <a:avLst/>
          </a:prstGeom>
          <a:noFill/>
        </p:spPr>
        <p:txBody>
          <a:bodyPr wrap="square" lIns="0" tIns="0" rIns="0" bIns="0" anchor="t"/>
          <a:lstStyle/>
          <a:p>
            <a:pPr marL="0" indent="0" algn="ctr">
              <a:buNone/>
            </a:pPr>
            <a:r>
              <a:rPr sz="1400">
                <a:solidFill>
                  <a:srgbClr val="6B7280"/>
                </a:solidFill>
                <a:latin typeface="Calibri"/>
                <a:ea typeface="Calibri"/>
                <a:cs typeface="Calibri"/>
              </a:rPr>
              <a:t>2003–2016
2,156,784 donors</a:t>
            </a:r>
            <a:endParaRPr sz="1400"/>
          </a:p>
        </p:txBody>
      </p:sp>
      <p:sp>
        <p:nvSpPr>
          <p:cNvPr id="24" name="Shape 17">
            <a:extLst>
              <a:ext uri="{FF2B5EF4-FFF2-40B4-BE49-F238E27FC236}">
                <a16:creationId xmlns:a16="http://schemas.microsoft.com/office/drawing/2014/main" id="{67DEC0FD-EFAD-4E2C-AB92-78869B809A55}"/>
              </a:ext>
            </a:extLst>
          </p:cNvPr>
          <p:cNvSpPr>
            <a:spLocks noGrp="1"/>
          </p:cNvSpPr>
          <p:nvPr/>
        </p:nvSpPr>
        <p:spPr>
          <a:xfrm>
            <a:off x="7772400" y="1234440"/>
            <a:ext cx="777240" cy="777240"/>
          </a:xfrm>
          <a:prstGeom prst="ellipse">
            <a:avLst/>
          </a:prstGeom>
          <a:solidFill>
            <a:srgbClr val="1B2A41"/>
          </a:solidFill>
          <a:ln w="12700">
            <a:solidFill>
              <a:srgbClr val="1B2A41"/>
            </a:solidFill>
            <a:prstDash val="solid"/>
          </a:ln>
        </p:spPr>
        <p:txBody>
          <a:bodyPr/>
          <a:lstStyle/>
          <a:p>
            <a:endParaRPr/>
          </a:p>
        </p:txBody>
      </p:sp>
      <p:sp>
        <p:nvSpPr>
          <p:cNvPr id="26" name="Text 18">
            <a:extLst>
              <a:ext uri="{FF2B5EF4-FFF2-40B4-BE49-F238E27FC236}">
                <a16:creationId xmlns:a16="http://schemas.microsoft.com/office/drawing/2014/main" id="{37F6FDA1-B45E-484D-8D8E-564C31982E02}"/>
              </a:ext>
            </a:extLst>
          </p:cNvPr>
          <p:cNvSpPr>
            <a:spLocks noGrp="1"/>
          </p:cNvSpPr>
          <p:nvPr/>
        </p:nvSpPr>
        <p:spPr>
          <a:xfrm>
            <a:off x="7502652" y="2216875"/>
            <a:ext cx="1316736" cy="320040"/>
          </a:xfrm>
          <a:prstGeom prst="rect">
            <a:avLst/>
          </a:prstGeom>
          <a:noFill/>
        </p:spPr>
        <p:txBody>
          <a:bodyPr wrap="square" lIns="0" tIns="0" rIns="0" bIns="0" anchor="ctr"/>
          <a:lstStyle/>
          <a:p>
            <a:pPr marL="0" indent="0" algn="ctr">
              <a:buNone/>
            </a:pPr>
            <a:r>
              <a:rPr sz="1600" b="1">
                <a:solidFill>
                  <a:srgbClr val="1B2A41"/>
                </a:solidFill>
                <a:latin typeface="Calibri"/>
                <a:ea typeface="Calibri"/>
                <a:cs typeface="Calibri"/>
              </a:rPr>
              <a:t>6 · Test</a:t>
            </a:r>
            <a:endParaRPr sz="1600"/>
          </a:p>
        </p:txBody>
      </p:sp>
      <p:sp>
        <p:nvSpPr>
          <p:cNvPr id="27" name="Text 19">
            <a:extLst>
              <a:ext uri="{FF2B5EF4-FFF2-40B4-BE49-F238E27FC236}">
                <a16:creationId xmlns:a16="http://schemas.microsoft.com/office/drawing/2014/main" id="{01727EA8-3F11-4BC7-8D98-6ADD81943611}"/>
              </a:ext>
            </a:extLst>
          </p:cNvPr>
          <p:cNvSpPr>
            <a:spLocks noGrp="1"/>
          </p:cNvSpPr>
          <p:nvPr/>
        </p:nvSpPr>
        <p:spPr>
          <a:xfrm>
            <a:off x="7502652" y="2742112"/>
            <a:ext cx="1316736" cy="731520"/>
          </a:xfrm>
          <a:prstGeom prst="rect">
            <a:avLst/>
          </a:prstGeom>
          <a:noFill/>
        </p:spPr>
        <p:txBody>
          <a:bodyPr wrap="square" lIns="0" tIns="0" rIns="0" bIns="0" anchor="t"/>
          <a:lstStyle/>
          <a:p>
            <a:pPr marL="0" indent="0" algn="ctr">
              <a:buNone/>
            </a:pPr>
            <a:r>
              <a:rPr sz="1400">
                <a:solidFill>
                  <a:srgbClr val="6B7280"/>
                </a:solidFill>
                <a:latin typeface="Calibri"/>
                <a:ea typeface="Calibri"/>
                <a:cs typeface="Calibri"/>
              </a:rPr>
              <a:t>2017–2018
814,971 donors</a:t>
            </a:r>
            <a:endParaRPr sz="1400"/>
          </a:p>
        </p:txBody>
      </p:sp>
      <p:sp>
        <p:nvSpPr>
          <p:cNvPr id="28" name="Shape 20">
            <a:extLst>
              <a:ext uri="{FF2B5EF4-FFF2-40B4-BE49-F238E27FC236}">
                <a16:creationId xmlns:a16="http://schemas.microsoft.com/office/drawing/2014/main" id="{72585DF2-84B5-43CA-8E79-146137E7C03E}"/>
              </a:ext>
            </a:extLst>
          </p:cNvPr>
          <p:cNvSpPr>
            <a:spLocks noGrp="1"/>
          </p:cNvSpPr>
          <p:nvPr/>
        </p:nvSpPr>
        <p:spPr>
          <a:xfrm>
            <a:off x="548640" y="3611880"/>
            <a:ext cx="8046720" cy="868680"/>
          </a:xfrm>
          <a:prstGeom prst="roundRect">
            <a:avLst>
              <a:gd name="adj" fmla="val 8421"/>
            </a:avLst>
          </a:prstGeom>
          <a:solidFill>
            <a:srgbClr val="F1F3F5"/>
          </a:solidFill>
          <a:ln w="12700">
            <a:solidFill>
              <a:srgbClr val="F1F3F5"/>
            </a:solidFill>
            <a:prstDash val="solid"/>
          </a:ln>
        </p:spPr>
        <p:txBody>
          <a:bodyPr/>
          <a:lstStyle/>
          <a:p>
            <a:endParaRPr/>
          </a:p>
        </p:txBody>
      </p:sp>
      <p:sp>
        <p:nvSpPr>
          <p:cNvPr id="29" name="Text 21">
            <a:extLst>
              <a:ext uri="{FF2B5EF4-FFF2-40B4-BE49-F238E27FC236}">
                <a16:creationId xmlns:a16="http://schemas.microsoft.com/office/drawing/2014/main" id="{2E849189-EA23-498E-84E7-E3813F6DB067}"/>
              </a:ext>
            </a:extLst>
          </p:cNvPr>
          <p:cNvSpPr>
            <a:spLocks noGrp="1"/>
          </p:cNvSpPr>
          <p:nvPr/>
        </p:nvSpPr>
        <p:spPr>
          <a:xfrm>
            <a:off x="822960" y="3611880"/>
            <a:ext cx="3840480" cy="868680"/>
          </a:xfrm>
          <a:prstGeom prst="rect">
            <a:avLst/>
          </a:prstGeom>
          <a:noFill/>
        </p:spPr>
        <p:txBody>
          <a:bodyPr wrap="square" lIns="0" tIns="0" rIns="0" bIns="0" anchor="ctr"/>
          <a:lstStyle/>
          <a:p>
            <a:pPr marL="0" indent="0">
              <a:buNone/>
            </a:pPr>
            <a:r>
              <a:rPr sz="2600" b="1">
                <a:solidFill>
                  <a:srgbClr val="E4572E"/>
                </a:solidFill>
                <a:latin typeface="Cambria"/>
                <a:ea typeface="Cambria"/>
                <a:cs typeface="Cambria"/>
              </a:rPr>
              <a:t>2.97M </a:t>
            </a:r>
            <a:r>
              <a:rPr sz="1400">
                <a:solidFill>
                  <a:srgbClr val="1B2A41"/>
                </a:solidFill>
                <a:latin typeface="Calibri"/>
                <a:ea typeface="Calibri"/>
                <a:cs typeface="Calibri"/>
              </a:rPr>
              <a:t>eligible citizen donors</a:t>
            </a:r>
            <a:endParaRPr sz="2600"/>
          </a:p>
        </p:txBody>
      </p:sp>
      <p:sp>
        <p:nvSpPr>
          <p:cNvPr id="30" name="Text 22">
            <a:extLst>
              <a:ext uri="{FF2B5EF4-FFF2-40B4-BE49-F238E27FC236}">
                <a16:creationId xmlns:a16="http://schemas.microsoft.com/office/drawing/2014/main" id="{AEA84A63-1043-46F0-9D9C-DFF1B36C4A07}"/>
              </a:ext>
            </a:extLst>
          </p:cNvPr>
          <p:cNvSpPr>
            <a:spLocks noGrp="1"/>
          </p:cNvSpPr>
          <p:nvPr/>
        </p:nvSpPr>
        <p:spPr>
          <a:xfrm>
            <a:off x="4663440" y="3611880"/>
            <a:ext cx="3840480" cy="868680"/>
          </a:xfrm>
          <a:prstGeom prst="rect">
            <a:avLst/>
          </a:prstGeom>
          <a:noFill/>
        </p:spPr>
        <p:txBody>
          <a:bodyPr wrap="square" lIns="0" tIns="0" rIns="0" bIns="0" anchor="ctr"/>
          <a:lstStyle/>
          <a:p>
            <a:pPr marL="0" indent="0">
              <a:buNone/>
            </a:pPr>
            <a:r>
              <a:rPr sz="2600" b="1">
                <a:solidFill>
                  <a:srgbClr val="E4572E"/>
                </a:solidFill>
                <a:latin typeface="Cambria"/>
                <a:ea typeface="Cambria"/>
                <a:cs typeface="Cambria"/>
              </a:rPr>
              <a:t>12 months </a:t>
            </a:r>
            <a:r>
              <a:rPr sz="1400">
                <a:solidFill>
                  <a:srgbClr val="1B2A41"/>
                </a:solidFill>
                <a:latin typeface="Calibri"/>
                <a:ea typeface="Calibri"/>
                <a:cs typeface="Calibri"/>
              </a:rPr>
              <a:t>of full follow-up</a:t>
            </a:r>
            <a:endParaRPr sz="2600"/>
          </a:p>
        </p:txBody>
      </p:sp>
      <p:pic>
        <p:nvPicPr>
          <p:cNvPr id="65" name="Picture 30"/>
          <p:cNvPicPr>
            <a:picLocks noChangeAspect="1"/>
          </p:cNvPicPr>
          <p:nvPr/>
        </p:nvPicPr>
        <p:blipFill>
          <a:blip r:embed="rId8"/>
          <a:stretch>
            <a:fillRect/>
          </a:stretch>
        </p:blipFill>
        <p:spPr>
          <a:xfrm>
            <a:off x="7966710" y="1428750"/>
            <a:ext cx="388620" cy="388620"/>
          </a:xfrm>
          <a:prstGeom prst="rect">
            <a:avLst/>
          </a:prstGeom>
        </p:spPr>
      </p:pic>
      <p:sp>
        <p:nvSpPr>
          <p:cNvPr id="5" name="TextBox 4">
            <a:extLst>
              <a:ext uri="{FF2B5EF4-FFF2-40B4-BE49-F238E27FC236}">
                <a16:creationId xmlns:a16="http://schemas.microsoft.com/office/drawing/2014/main" id="{1D9B8942-CF0A-8C22-598B-9554A1CB56EE}"/>
              </a:ext>
            </a:extLst>
          </p:cNvPr>
          <p:cNvSpPr txBox="1"/>
          <p:nvPr/>
        </p:nvSpPr>
        <p:spPr>
          <a:xfrm>
            <a:off x="6400800" y="0"/>
            <a:ext cx="2743200" cy="1094704"/>
          </a:xfrm>
          <a:prstGeom prst="rect">
            <a:avLst/>
          </a:prstGeom>
          <a:solidFill>
            <a:schemeClr val="accent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a:ea typeface="Calibri"/>
                <a:cs typeface="Calibri"/>
              </a:rPr>
              <a:t>Thadeus: Alternative to previous slide to not preempt following slides &amp; mention focus on citizen donor only</a:t>
            </a:r>
          </a:p>
        </p:txBody>
      </p:sp>
    </p:spTree>
    <p:extLst>
      <p:ext uri="{BB962C8B-B14F-4D97-AF65-F5344CB8AC3E}">
        <p14:creationId xmlns:p14="http://schemas.microsoft.com/office/powerpoint/2010/main" val="14723670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E0EA912-B25A-7D8C-A398-DDD100AC8CD7}"/>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8D87BCE0-9515-0266-02DD-71CDF5E1EE80}"/>
              </a:ext>
            </a:extLst>
          </p:cNvPr>
          <p:cNvSpPr>
            <a:spLocks noGrp="1"/>
          </p:cNvSpPr>
          <p:nvPr/>
        </p:nvSpPr>
        <p:spPr>
          <a:xfrm>
            <a:off x="548640" y="304800"/>
            <a:ext cx="8039100" cy="609600"/>
          </a:xfrm>
          <a:prstGeom prst="rect">
            <a:avLst/>
          </a:prstGeom>
          <a:noFill/>
          <a:ln w="0">
            <a:noFill/>
          </a:ln>
        </p:spPr>
        <p:txBody>
          <a:bodyPr anchor="ctr">
            <a:noAutofit/>
          </a:bodyPr>
          <a:lstStyle/>
          <a:p>
            <a:pPr>
              <a:defRPr sz="3000" b="1">
                <a:solidFill>
                  <a:srgbClr val="1B2A41"/>
                </a:solidFill>
                <a:latin typeface="Cambria"/>
                <a:ea typeface="Cambria"/>
                <a:cs typeface="Cambria"/>
              </a:defRPr>
            </a:pPr>
            <a:r>
              <a:rPr sz="3000" b="1">
                <a:solidFill>
                  <a:srgbClr val="1B2A41"/>
                </a:solidFill>
                <a:latin typeface="Cambria"/>
                <a:ea typeface="Cambria"/>
                <a:cs typeface="Cambria"/>
              </a:rPr>
              <a:t>One donor, multiple donations</a:t>
            </a:r>
          </a:p>
        </p:txBody>
      </p:sp>
      <p:sp>
        <p:nvSpPr>
          <p:cNvPr id="2" name="Rectangle 1">
            <a:extLst>
              <a:ext uri="{FF2B5EF4-FFF2-40B4-BE49-F238E27FC236}">
                <a16:creationId xmlns:a16="http://schemas.microsoft.com/office/drawing/2014/main" id="{4E8267FC-3755-EF94-CA61-5570F6E3ECE3}"/>
              </a:ext>
            </a:extLst>
          </p:cNvPr>
          <p:cNvSpPr>
            <a:spLocks noGrp="1"/>
          </p:cNvSpPr>
          <p:nvPr/>
        </p:nvSpPr>
        <p:spPr>
          <a:xfrm>
            <a:off x="552450" y="1192091"/>
            <a:ext cx="8039100" cy="323850"/>
          </a:xfrm>
          <a:prstGeom prst="rect">
            <a:avLst/>
          </a:prstGeom>
          <a:noFill/>
          <a:ln w="0">
            <a:noFill/>
          </a:ln>
        </p:spPr>
        <p:txBody>
          <a:bodyPr anchor="ctr">
            <a:noAutofit/>
          </a:bodyPr>
          <a:lstStyle/>
          <a:p>
            <a:pPr>
              <a:defRPr sz="1725" b="0">
                <a:solidFill>
                  <a:srgbClr val="6B7280"/>
                </a:solidFill>
                <a:latin typeface="Calibri"/>
                <a:ea typeface="Calibri"/>
                <a:cs typeface="Calibri"/>
              </a:defRPr>
            </a:pPr>
            <a:r>
              <a:rPr sz="1725" b="0">
                <a:solidFill>
                  <a:srgbClr val="6B7280"/>
                </a:solidFill>
                <a:latin typeface="Calibri"/>
                <a:ea typeface="Calibri"/>
                <a:cs typeface="Calibri"/>
              </a:rPr>
              <a:t>Illustrative donor A first appears in January 2016</a:t>
            </a:r>
          </a:p>
        </p:txBody>
      </p:sp>
      <p:graphicFrame>
        <p:nvGraphicFramePr>
          <p:cNvPr id="13" name="Table 12">
            <a:extLst>
              <a:ext uri="{FF2B5EF4-FFF2-40B4-BE49-F238E27FC236}">
                <a16:creationId xmlns:a16="http://schemas.microsoft.com/office/drawing/2014/main" id="{F7069F2F-22A3-A6E2-1EFF-6922FEAE9CFB}"/>
              </a:ext>
            </a:extLst>
          </p:cNvPr>
          <p:cNvGraphicFramePr/>
          <p:nvPr/>
        </p:nvGraphicFramePr>
        <p:xfrm>
          <a:off x="552450" y="1725491"/>
          <a:ext cx="4895850" cy="2571750"/>
        </p:xfrm>
        <a:graphic>
          <a:graphicData uri="http://schemas.openxmlformats.org/drawingml/2006/table">
            <a:tbl>
              <a:tblPr/>
              <a:tblGrid>
                <a:gridCol w="1476375">
                  <a:extLst>
                    <a:ext uri="{9D8B030D-6E8A-4147-A177-3AD203B41FA5}">
                      <a16:colId xmlns:a16="http://schemas.microsoft.com/office/drawing/2014/main" val="20000"/>
                    </a:ext>
                  </a:extLst>
                </a:gridCol>
                <a:gridCol w="800100">
                  <a:extLst>
                    <a:ext uri="{9D8B030D-6E8A-4147-A177-3AD203B41FA5}">
                      <a16:colId xmlns:a16="http://schemas.microsoft.com/office/drawing/2014/main" val="20001"/>
                    </a:ext>
                  </a:extLst>
                </a:gridCol>
                <a:gridCol w="2619375">
                  <a:extLst>
                    <a:ext uri="{9D8B030D-6E8A-4147-A177-3AD203B41FA5}">
                      <a16:colId xmlns:a16="http://schemas.microsoft.com/office/drawing/2014/main" val="20002"/>
                    </a:ext>
                  </a:extLst>
                </a:gridCol>
              </a:tblGrid>
              <a:tr h="428625">
                <a:tc>
                  <a:txBody>
                    <a:bodyPr/>
                    <a:lstStyle/>
                    <a:p>
                      <a:r>
                        <a:rPr sz="1275" b="1">
                          <a:solidFill>
                            <a:srgbClr val="6B7280"/>
                          </a:solidFill>
                          <a:latin typeface="Calibri"/>
                          <a:ea typeface="Calibri"/>
                          <a:cs typeface="Calibri"/>
                        </a:rPr>
                        <a:t>Donation date</a:t>
                      </a:r>
                    </a:p>
                  </a:txBody>
                  <a:tcPr>
                    <a:solidFill>
                      <a:srgbClr val="FFFFFF"/>
                    </a:solidFill>
                  </a:tcPr>
                </a:tc>
                <a:tc>
                  <a:txBody>
                    <a:bodyPr/>
                    <a:lstStyle/>
                    <a:p>
                      <a:r>
                        <a:rPr sz="1275" b="1">
                          <a:solidFill>
                            <a:srgbClr val="6B7280"/>
                          </a:solidFill>
                          <a:latin typeface="Calibri"/>
                          <a:ea typeface="Calibri"/>
                          <a:cs typeface="Calibri"/>
                        </a:rPr>
                        <a:t>Gift</a:t>
                      </a:r>
                    </a:p>
                  </a:txBody>
                  <a:tcPr>
                    <a:solidFill>
                      <a:srgbClr val="FFFFFF"/>
                    </a:solidFill>
                  </a:tcPr>
                </a:tc>
                <a:tc>
                  <a:txBody>
                    <a:bodyPr/>
                    <a:lstStyle/>
                    <a:p>
                      <a:r>
                        <a:rPr sz="1275" b="1">
                          <a:solidFill>
                            <a:srgbClr val="6B7280"/>
                          </a:solidFill>
                          <a:latin typeface="Calibri"/>
                          <a:ea typeface="Calibri"/>
                          <a:cs typeface="Calibri"/>
                        </a:rPr>
                        <a:t>How we use it</a:t>
                      </a:r>
                    </a:p>
                  </a:txBody>
                  <a:tcPr>
                    <a:solidFill>
                      <a:srgbClr val="FFFFFF"/>
                    </a:solidFill>
                  </a:tcPr>
                </a:tc>
                <a:extLst>
                  <a:ext uri="{0D108BD9-81ED-4DB2-BD59-A6C34878D82A}">
                    <a16:rowId xmlns:a16="http://schemas.microsoft.com/office/drawing/2014/main" val="10000"/>
                  </a:ext>
                </a:extLst>
              </a:tr>
              <a:tr h="428625">
                <a:tc>
                  <a:txBody>
                    <a:bodyPr/>
                    <a:lstStyle/>
                    <a:p>
                      <a:r>
                        <a:rPr sz="1350" b="0">
                          <a:solidFill>
                            <a:srgbClr val="1B2A41"/>
                          </a:solidFill>
                          <a:latin typeface="Calibri"/>
                          <a:ea typeface="Calibri"/>
                          <a:cs typeface="Calibri"/>
                        </a:rPr>
                        <a:t>Jan 10, 2016</a:t>
                      </a:r>
                    </a:p>
                  </a:txBody>
                  <a:tcPr>
                    <a:solidFill>
                      <a:srgbClr val="E5F3F0"/>
                    </a:solidFill>
                  </a:tcPr>
                </a:tc>
                <a:tc>
                  <a:txBody>
                    <a:bodyPr/>
                    <a:lstStyle/>
                    <a:p>
                      <a:r>
                        <a:rPr sz="1350" b="0">
                          <a:solidFill>
                            <a:srgbClr val="1B2A41"/>
                          </a:solidFill>
                          <a:latin typeface="Calibri"/>
                          <a:ea typeface="Calibri"/>
                          <a:cs typeface="Calibri"/>
                        </a:rPr>
                        <a:t>$30</a:t>
                      </a:r>
                    </a:p>
                  </a:txBody>
                  <a:tcPr>
                    <a:solidFill>
                      <a:srgbClr val="E5F3F0"/>
                    </a:solidFill>
                  </a:tcPr>
                </a:tc>
                <a:tc>
                  <a:txBody>
                    <a:bodyPr/>
                    <a:lstStyle/>
                    <a:p>
                      <a:r>
                        <a:rPr sz="1350" b="0">
                          <a:solidFill>
                            <a:srgbClr val="1B2A41"/>
                          </a:solidFill>
                          <a:latin typeface="Calibri"/>
                          <a:ea typeface="Calibri"/>
                          <a:cs typeface="Calibri"/>
                        </a:rPr>
                        <a:t>First-month input</a:t>
                      </a:r>
                    </a:p>
                  </a:txBody>
                  <a:tcPr>
                    <a:solidFill>
                      <a:srgbClr val="E5F3F0"/>
                    </a:solidFill>
                  </a:tcPr>
                </a:tc>
                <a:extLst>
                  <a:ext uri="{0D108BD9-81ED-4DB2-BD59-A6C34878D82A}">
                    <a16:rowId xmlns:a16="http://schemas.microsoft.com/office/drawing/2014/main" val="10001"/>
                  </a:ext>
                </a:extLst>
              </a:tr>
              <a:tr h="428625">
                <a:tc>
                  <a:txBody>
                    <a:bodyPr/>
                    <a:lstStyle/>
                    <a:p>
                      <a:r>
                        <a:rPr sz="1350" b="0">
                          <a:solidFill>
                            <a:srgbClr val="1B2A41"/>
                          </a:solidFill>
                          <a:latin typeface="Calibri"/>
                          <a:ea typeface="Calibri"/>
                          <a:cs typeface="Calibri"/>
                        </a:rPr>
                        <a:t>Jan 24, 2016</a:t>
                      </a:r>
                    </a:p>
                  </a:txBody>
                  <a:tcPr>
                    <a:solidFill>
                      <a:srgbClr val="E5F3F0"/>
                    </a:solidFill>
                  </a:tcPr>
                </a:tc>
                <a:tc>
                  <a:txBody>
                    <a:bodyPr/>
                    <a:lstStyle/>
                    <a:p>
                      <a:r>
                        <a:rPr sz="1350" b="0">
                          <a:solidFill>
                            <a:srgbClr val="1B2A41"/>
                          </a:solidFill>
                          <a:latin typeface="Calibri"/>
                          <a:ea typeface="Calibri"/>
                          <a:cs typeface="Calibri"/>
                        </a:rPr>
                        <a:t>$20</a:t>
                      </a:r>
                    </a:p>
                  </a:txBody>
                  <a:tcPr>
                    <a:solidFill>
                      <a:srgbClr val="E5F3F0"/>
                    </a:solidFill>
                  </a:tcPr>
                </a:tc>
                <a:tc>
                  <a:txBody>
                    <a:bodyPr/>
                    <a:lstStyle/>
                    <a:p>
                      <a:r>
                        <a:rPr sz="1350" b="0">
                          <a:solidFill>
                            <a:srgbClr val="1B2A41"/>
                          </a:solidFill>
                          <a:latin typeface="Calibri"/>
                          <a:ea typeface="Calibri"/>
                          <a:cs typeface="Calibri"/>
                        </a:rPr>
                        <a:t>First-month input</a:t>
                      </a:r>
                    </a:p>
                  </a:txBody>
                  <a:tcPr>
                    <a:solidFill>
                      <a:srgbClr val="E5F3F0"/>
                    </a:solidFill>
                  </a:tcPr>
                </a:tc>
                <a:extLst>
                  <a:ext uri="{0D108BD9-81ED-4DB2-BD59-A6C34878D82A}">
                    <a16:rowId xmlns:a16="http://schemas.microsoft.com/office/drawing/2014/main" val="10002"/>
                  </a:ext>
                </a:extLst>
              </a:tr>
              <a:tr h="428625">
                <a:tc>
                  <a:txBody>
                    <a:bodyPr/>
                    <a:lstStyle/>
                    <a:p>
                      <a:r>
                        <a:rPr sz="1350" b="0">
                          <a:solidFill>
                            <a:srgbClr val="1B2A41"/>
                          </a:solidFill>
                          <a:latin typeface="Calibri"/>
                          <a:ea typeface="Calibri"/>
                          <a:cs typeface="Calibri"/>
                        </a:rPr>
                        <a:t>Mar 12, 2016</a:t>
                      </a:r>
                    </a:p>
                  </a:txBody>
                  <a:tcPr>
                    <a:solidFill>
                      <a:srgbClr val="FCECE6"/>
                    </a:solidFill>
                  </a:tcPr>
                </a:tc>
                <a:tc>
                  <a:txBody>
                    <a:bodyPr/>
                    <a:lstStyle/>
                    <a:p>
                      <a:r>
                        <a:rPr sz="1350" b="0">
                          <a:solidFill>
                            <a:srgbClr val="1B2A41"/>
                          </a:solidFill>
                          <a:latin typeface="Calibri"/>
                          <a:ea typeface="Calibri"/>
                          <a:cs typeface="Calibri"/>
                        </a:rPr>
                        <a:t>$40</a:t>
                      </a:r>
                    </a:p>
                  </a:txBody>
                  <a:tcPr>
                    <a:solidFill>
                      <a:srgbClr val="FCECE6"/>
                    </a:solidFill>
                  </a:tcPr>
                </a:tc>
                <a:tc>
                  <a:txBody>
                    <a:bodyPr/>
                    <a:lstStyle/>
                    <a:p>
                      <a:r>
                        <a:rPr sz="1350" b="0">
                          <a:solidFill>
                            <a:srgbClr val="1B2A41"/>
                          </a:solidFill>
                          <a:latin typeface="Calibri"/>
                          <a:ea typeface="Calibri"/>
                          <a:cs typeface="Calibri"/>
                        </a:rPr>
                        <a:t>Next 12 months</a:t>
                      </a:r>
                    </a:p>
                  </a:txBody>
                  <a:tcPr>
                    <a:solidFill>
                      <a:srgbClr val="FCECE6"/>
                    </a:solidFill>
                  </a:tcPr>
                </a:tc>
                <a:extLst>
                  <a:ext uri="{0D108BD9-81ED-4DB2-BD59-A6C34878D82A}">
                    <a16:rowId xmlns:a16="http://schemas.microsoft.com/office/drawing/2014/main" val="10003"/>
                  </a:ext>
                </a:extLst>
              </a:tr>
              <a:tr h="428625">
                <a:tc>
                  <a:txBody>
                    <a:bodyPr/>
                    <a:lstStyle/>
                    <a:p>
                      <a:r>
                        <a:rPr sz="1350" b="0">
                          <a:solidFill>
                            <a:srgbClr val="1B2A41"/>
                          </a:solidFill>
                          <a:latin typeface="Calibri"/>
                          <a:ea typeface="Calibri"/>
                          <a:cs typeface="Calibri"/>
                        </a:rPr>
                        <a:t>Dec 2, 2016</a:t>
                      </a:r>
                    </a:p>
                  </a:txBody>
                  <a:tcPr>
                    <a:solidFill>
                      <a:srgbClr val="FCECE6"/>
                    </a:solidFill>
                  </a:tcPr>
                </a:tc>
                <a:tc>
                  <a:txBody>
                    <a:bodyPr/>
                    <a:lstStyle/>
                    <a:p>
                      <a:r>
                        <a:rPr sz="1350" b="0">
                          <a:solidFill>
                            <a:srgbClr val="1B2A41"/>
                          </a:solidFill>
                          <a:latin typeface="Calibri"/>
                          <a:ea typeface="Calibri"/>
                          <a:cs typeface="Calibri"/>
                        </a:rPr>
                        <a:t>$60</a:t>
                      </a:r>
                    </a:p>
                  </a:txBody>
                  <a:tcPr>
                    <a:solidFill>
                      <a:srgbClr val="FCECE6"/>
                    </a:solidFill>
                  </a:tcPr>
                </a:tc>
                <a:tc>
                  <a:txBody>
                    <a:bodyPr/>
                    <a:lstStyle/>
                    <a:p>
                      <a:r>
                        <a:rPr sz="1350" b="0">
                          <a:solidFill>
                            <a:srgbClr val="1B2A41"/>
                          </a:solidFill>
                          <a:latin typeface="Calibri"/>
                          <a:ea typeface="Calibri"/>
                          <a:cs typeface="Calibri"/>
                        </a:rPr>
                        <a:t>Next 12 months</a:t>
                      </a:r>
                    </a:p>
                  </a:txBody>
                  <a:tcPr>
                    <a:solidFill>
                      <a:srgbClr val="FCECE6"/>
                    </a:solidFill>
                  </a:tcPr>
                </a:tc>
                <a:extLst>
                  <a:ext uri="{0D108BD9-81ED-4DB2-BD59-A6C34878D82A}">
                    <a16:rowId xmlns:a16="http://schemas.microsoft.com/office/drawing/2014/main" val="10004"/>
                  </a:ext>
                </a:extLst>
              </a:tr>
              <a:tr h="428625">
                <a:tc>
                  <a:txBody>
                    <a:bodyPr/>
                    <a:lstStyle/>
                    <a:p>
                      <a:r>
                        <a:rPr sz="1350" b="0">
                          <a:solidFill>
                            <a:srgbClr val="1B2A41"/>
                          </a:solidFill>
                          <a:latin typeface="Calibri"/>
                          <a:ea typeface="Calibri"/>
                          <a:cs typeface="Calibri"/>
                        </a:rPr>
                        <a:t>Feb 3, 2017</a:t>
                      </a:r>
                    </a:p>
                  </a:txBody>
                  <a:tcPr>
                    <a:solidFill>
                      <a:srgbClr val="F1F3F5"/>
                    </a:solidFill>
                  </a:tcPr>
                </a:tc>
                <a:tc>
                  <a:txBody>
                    <a:bodyPr/>
                    <a:lstStyle/>
                    <a:p>
                      <a:r>
                        <a:rPr sz="1350" b="0">
                          <a:solidFill>
                            <a:srgbClr val="1B2A41"/>
                          </a:solidFill>
                          <a:latin typeface="Calibri"/>
                          <a:ea typeface="Calibri"/>
                          <a:cs typeface="Calibri"/>
                        </a:rPr>
                        <a:t>$80</a:t>
                      </a:r>
                    </a:p>
                  </a:txBody>
                  <a:tcPr>
                    <a:solidFill>
                      <a:srgbClr val="F1F3F5"/>
                    </a:solidFill>
                  </a:tcPr>
                </a:tc>
                <a:tc>
                  <a:txBody>
                    <a:bodyPr/>
                    <a:lstStyle/>
                    <a:p>
                      <a:r>
                        <a:rPr sz="1350" b="0">
                          <a:solidFill>
                            <a:srgbClr val="1B2A41"/>
                          </a:solidFill>
                          <a:latin typeface="Calibri"/>
                          <a:ea typeface="Calibri"/>
                          <a:cs typeface="Calibri"/>
                        </a:rPr>
                        <a:t>Outside outcome window</a:t>
                      </a:r>
                    </a:p>
                  </a:txBody>
                  <a:tcPr>
                    <a:solidFill>
                      <a:srgbClr val="F1F3F5"/>
                    </a:solidFill>
                  </a:tcPr>
                </a:tc>
                <a:extLst>
                  <a:ext uri="{0D108BD9-81ED-4DB2-BD59-A6C34878D82A}">
                    <a16:rowId xmlns:a16="http://schemas.microsoft.com/office/drawing/2014/main" val="10005"/>
                  </a:ext>
                </a:extLst>
              </a:tr>
            </a:tbl>
          </a:graphicData>
        </a:graphic>
      </p:graphicFrame>
      <p:sp>
        <p:nvSpPr>
          <p:cNvPr id="4" name="Rectangle 3">
            <a:extLst>
              <a:ext uri="{FF2B5EF4-FFF2-40B4-BE49-F238E27FC236}">
                <a16:creationId xmlns:a16="http://schemas.microsoft.com/office/drawing/2014/main" id="{A374A27D-8A03-437F-EEB7-994D0AC29E03}"/>
              </a:ext>
            </a:extLst>
          </p:cNvPr>
          <p:cNvSpPr>
            <a:spLocks noGrp="1"/>
          </p:cNvSpPr>
          <p:nvPr/>
        </p:nvSpPr>
        <p:spPr>
          <a:xfrm>
            <a:off x="5905500" y="1782641"/>
            <a:ext cx="2686050" cy="247650"/>
          </a:xfrm>
          <a:prstGeom prst="rect">
            <a:avLst/>
          </a:prstGeom>
          <a:noFill/>
          <a:ln w="0">
            <a:noFill/>
          </a:ln>
        </p:spPr>
        <p:txBody>
          <a:bodyPr anchor="ctr">
            <a:noAutofit/>
          </a:bodyPr>
          <a:lstStyle/>
          <a:p>
            <a:pPr>
              <a:defRPr sz="1350" b="1">
                <a:solidFill>
                  <a:srgbClr val="2A9D8F"/>
                </a:solidFill>
                <a:latin typeface="Calibri"/>
                <a:ea typeface="Calibri"/>
                <a:cs typeface="Calibri"/>
              </a:defRPr>
            </a:pPr>
            <a:r>
              <a:rPr sz="1350" b="1">
                <a:solidFill>
                  <a:srgbClr val="2A9D8F"/>
                </a:solidFill>
                <a:latin typeface="Calibri"/>
                <a:ea typeface="Calibri"/>
                <a:cs typeface="Calibri"/>
              </a:rPr>
              <a:t>INPUTS</a:t>
            </a:r>
          </a:p>
        </p:txBody>
      </p:sp>
      <p:sp>
        <p:nvSpPr>
          <p:cNvPr id="5" name="Rectangle 4">
            <a:extLst>
              <a:ext uri="{FF2B5EF4-FFF2-40B4-BE49-F238E27FC236}">
                <a16:creationId xmlns:a16="http://schemas.microsoft.com/office/drawing/2014/main" id="{95A2307A-2FD6-48CA-2094-D9CB943FC67D}"/>
              </a:ext>
            </a:extLst>
          </p:cNvPr>
          <p:cNvSpPr>
            <a:spLocks noGrp="1"/>
          </p:cNvSpPr>
          <p:nvPr/>
        </p:nvSpPr>
        <p:spPr>
          <a:xfrm>
            <a:off x="5905500" y="2154116"/>
            <a:ext cx="2686050" cy="685800"/>
          </a:xfrm>
          <a:prstGeom prst="rect">
            <a:avLst/>
          </a:prstGeom>
          <a:noFill/>
          <a:ln w="0">
            <a:noFill/>
          </a:ln>
        </p:spPr>
        <p:txBody>
          <a:bodyPr anchor="ctr">
            <a:noAutofit/>
          </a:bodyPr>
          <a:lstStyle/>
          <a:p>
            <a:pPr>
              <a:defRPr sz="1800" b="1">
                <a:solidFill>
                  <a:srgbClr val="1B2A41"/>
                </a:solidFill>
                <a:latin typeface="Calibri"/>
                <a:ea typeface="Calibri"/>
                <a:cs typeface="Calibri"/>
              </a:defRPr>
            </a:pPr>
            <a:r>
              <a:rPr sz="1800" b="1">
                <a:solidFill>
                  <a:srgbClr val="1B2A41"/>
                </a:solidFill>
                <a:latin typeface="Calibri"/>
                <a:ea typeface="Calibri"/>
                <a:cs typeface="Calibri"/>
              </a:rPr>
              <a:t>$30 + $20 = $50</a:t>
            </a:r>
          </a:p>
          <a:p>
            <a:pPr>
              <a:defRPr sz="1800" b="1">
                <a:solidFill>
                  <a:srgbClr val="1B2A41"/>
                </a:solidFill>
                <a:latin typeface="Calibri"/>
                <a:ea typeface="Calibri"/>
                <a:cs typeface="Calibri"/>
              </a:defRPr>
            </a:pPr>
            <a:r>
              <a:rPr sz="1800" b="1">
                <a:solidFill>
                  <a:srgbClr val="1B2A41"/>
                </a:solidFill>
                <a:latin typeface="Calibri"/>
                <a:ea typeface="Calibri"/>
                <a:cs typeface="Calibri"/>
              </a:rPr>
              <a:t>Gift count: 2</a:t>
            </a:r>
          </a:p>
        </p:txBody>
      </p:sp>
      <p:sp>
        <p:nvSpPr>
          <p:cNvPr id="6" name="Rectangle 5">
            <a:extLst>
              <a:ext uri="{FF2B5EF4-FFF2-40B4-BE49-F238E27FC236}">
                <a16:creationId xmlns:a16="http://schemas.microsoft.com/office/drawing/2014/main" id="{9A32E09C-FCD1-04A5-C4DF-734AEE924A83}"/>
              </a:ext>
            </a:extLst>
          </p:cNvPr>
          <p:cNvSpPr>
            <a:spLocks noGrp="1"/>
          </p:cNvSpPr>
          <p:nvPr/>
        </p:nvSpPr>
        <p:spPr>
          <a:xfrm>
            <a:off x="5905500" y="3049466"/>
            <a:ext cx="2686050" cy="247650"/>
          </a:xfrm>
          <a:prstGeom prst="rect">
            <a:avLst/>
          </a:prstGeom>
          <a:noFill/>
          <a:ln w="0">
            <a:noFill/>
          </a:ln>
        </p:spPr>
        <p:txBody>
          <a:bodyPr anchor="ctr">
            <a:noAutofit/>
          </a:bodyPr>
          <a:lstStyle/>
          <a:p>
            <a:pPr>
              <a:defRPr sz="1350" b="1">
                <a:solidFill>
                  <a:srgbClr val="E4572E"/>
                </a:solidFill>
                <a:latin typeface="Calibri"/>
                <a:ea typeface="Calibri"/>
                <a:cs typeface="Calibri"/>
              </a:defRPr>
            </a:pPr>
            <a:r>
              <a:rPr sz="1350" b="1">
                <a:solidFill>
                  <a:srgbClr val="E4572E"/>
                </a:solidFill>
                <a:latin typeface="Calibri"/>
                <a:ea typeface="Calibri"/>
                <a:cs typeface="Calibri"/>
              </a:rPr>
              <a:t>OUTCOMES</a:t>
            </a:r>
          </a:p>
        </p:txBody>
      </p:sp>
      <p:sp>
        <p:nvSpPr>
          <p:cNvPr id="7" name="Rectangle 6">
            <a:extLst>
              <a:ext uri="{FF2B5EF4-FFF2-40B4-BE49-F238E27FC236}">
                <a16:creationId xmlns:a16="http://schemas.microsoft.com/office/drawing/2014/main" id="{D48E01F8-C38E-D778-3472-27A033F557DB}"/>
              </a:ext>
            </a:extLst>
          </p:cNvPr>
          <p:cNvSpPr>
            <a:spLocks noGrp="1"/>
          </p:cNvSpPr>
          <p:nvPr/>
        </p:nvSpPr>
        <p:spPr>
          <a:xfrm>
            <a:off x="5905500" y="3420941"/>
            <a:ext cx="2686050" cy="723900"/>
          </a:xfrm>
          <a:prstGeom prst="rect">
            <a:avLst/>
          </a:prstGeom>
          <a:noFill/>
          <a:ln w="0">
            <a:noFill/>
          </a:ln>
        </p:spPr>
        <p:txBody>
          <a:bodyPr anchor="ctr">
            <a:noAutofit/>
          </a:bodyPr>
          <a:lstStyle/>
          <a:p>
            <a:pPr>
              <a:defRPr sz="1800" b="1">
                <a:solidFill>
                  <a:srgbClr val="1B2A41"/>
                </a:solidFill>
                <a:latin typeface="Calibri"/>
                <a:ea typeface="Calibri"/>
                <a:cs typeface="Calibri"/>
              </a:defRPr>
            </a:pPr>
            <a:r>
              <a:rPr sz="1800" b="1">
                <a:solidFill>
                  <a:srgbClr val="1B2A41"/>
                </a:solidFill>
                <a:latin typeface="Calibri"/>
                <a:ea typeface="Calibri"/>
                <a:cs typeface="Calibri"/>
              </a:rPr>
              <a:t>Gave again: Yes</a:t>
            </a:r>
          </a:p>
          <a:p>
            <a:pPr>
              <a:defRPr sz="1800" b="1">
                <a:solidFill>
                  <a:srgbClr val="1B2A41"/>
                </a:solidFill>
                <a:latin typeface="Calibri"/>
                <a:ea typeface="Calibri"/>
                <a:cs typeface="Calibri"/>
              </a:defRPr>
            </a:pPr>
            <a:r>
              <a:rPr sz="1800" b="1">
                <a:solidFill>
                  <a:srgbClr val="1B2A41"/>
                </a:solidFill>
                <a:latin typeface="Calibri"/>
                <a:ea typeface="Calibri"/>
                <a:cs typeface="Calibri"/>
              </a:rPr>
              <a:t>Future giving: $100</a:t>
            </a:r>
          </a:p>
        </p:txBody>
      </p:sp>
      <p:sp>
        <p:nvSpPr>
          <p:cNvPr id="3" name="TextBox 2">
            <a:extLst>
              <a:ext uri="{FF2B5EF4-FFF2-40B4-BE49-F238E27FC236}">
                <a16:creationId xmlns:a16="http://schemas.microsoft.com/office/drawing/2014/main" id="{EA46E359-F112-2946-BDE6-03D37B624383}"/>
              </a:ext>
            </a:extLst>
          </p:cNvPr>
          <p:cNvSpPr txBox="1"/>
          <p:nvPr/>
        </p:nvSpPr>
        <p:spPr>
          <a:xfrm>
            <a:off x="6400800" y="0"/>
            <a:ext cx="2743200" cy="1094704"/>
          </a:xfrm>
          <a:prstGeom prst="rect">
            <a:avLst/>
          </a:prstGeom>
          <a:solidFill>
            <a:schemeClr val="accent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a:ea typeface="Calibri"/>
                <a:cs typeface="Calibri"/>
              </a:rPr>
              <a:t>Thadeus: Idea to illustrate following one donor; maybe appendix</a:t>
            </a:r>
          </a:p>
        </p:txBody>
      </p:sp>
    </p:spTree>
    <p:extLst>
      <p:ext uri="{BB962C8B-B14F-4D97-AF65-F5344CB8AC3E}">
        <p14:creationId xmlns:p14="http://schemas.microsoft.com/office/powerpoint/2010/main" val="28926006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20040"/>
            <a:ext cx="8046720" cy="640080"/>
          </a:xfrm>
          <a:prstGeom prst="rect">
            <a:avLst/>
          </a:prstGeom>
          <a:noFill/>
        </p:spPr>
        <p:txBody>
          <a:bodyPr wrap="square" lIns="0" tIns="0" rIns="0" bIns="0" anchor="t">
            <a:spAutoFit/>
          </a:bodyPr>
          <a:lstStyle/>
          <a:p>
            <a:pPr algn="l"/>
            <a:r>
              <a:rPr sz="3000" b="1" i="0">
                <a:solidFill>
                  <a:srgbClr val="1B2A41"/>
                </a:solidFill>
                <a:latin typeface="Cambria"/>
              </a:rPr>
              <a:t>Who did the model add?</a:t>
            </a:r>
          </a:p>
        </p:txBody>
      </p:sp>
      <p:sp>
        <p:nvSpPr>
          <p:cNvPr id="3" name="TextBox 2"/>
          <p:cNvSpPr txBox="1"/>
          <p:nvPr/>
        </p:nvSpPr>
        <p:spPr>
          <a:xfrm>
            <a:off x="640080" y="1097280"/>
            <a:ext cx="2103120" cy="320040"/>
          </a:xfrm>
          <a:prstGeom prst="rect">
            <a:avLst/>
          </a:prstGeom>
          <a:noFill/>
        </p:spPr>
        <p:txBody>
          <a:bodyPr wrap="square" lIns="0" tIns="0" rIns="0" bIns="0" anchor="t">
            <a:spAutoFit/>
          </a:bodyPr>
          <a:lstStyle/>
          <a:p>
            <a:pPr algn="l"/>
            <a:r>
              <a:rPr sz="1400" b="1" i="0">
                <a:solidFill>
                  <a:srgbClr val="1B2A41"/>
                </a:solidFill>
                <a:latin typeface="Calibri"/>
              </a:rPr>
              <a:t>Biggest-gift list</a:t>
            </a:r>
          </a:p>
        </p:txBody>
      </p:sp>
      <p:sp>
        <p:nvSpPr>
          <p:cNvPr id="4" name="Oval 3"/>
          <p:cNvSpPr/>
          <p:nvPr/>
        </p:nvSpPr>
        <p:spPr>
          <a:xfrm>
            <a:off x="640080" y="15087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45819" y="15087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51560" y="15087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257300" y="15087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463040" y="15087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668780" y="15087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874519" y="15087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080260" y="15087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2286000" y="15087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2491739" y="15087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40080" y="17145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45819" y="17145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51560" y="17145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257300" y="17145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463040" y="17145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668780" y="17145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874519" y="17145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2080260" y="17145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2286000" y="17145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2491739" y="17145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640080" y="192024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45819" y="192024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051560" y="192024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257300" y="192024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463040" y="192024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668780" y="192024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1874519" y="192024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2080260" y="192024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2286000" y="192024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2491739" y="192024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640080" y="21259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845819" y="21259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051560" y="21259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257300" y="21259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463040" y="21259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668780" y="21259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874519" y="21259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2080260" y="21259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2286000" y="21259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2491739" y="21259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640080" y="23317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845819" y="23317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051560" y="23317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1257300" y="23317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463040" y="23317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1668780" y="23317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874519" y="23317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2080260" y="23317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2286000" y="23317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2491739" y="23317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640080" y="25374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845819" y="25374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1051560" y="25374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1257300" y="25374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1463040" y="25374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1668780" y="25374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1874519" y="25374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2080260" y="25374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2286000" y="25374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2491739" y="25374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640080" y="27432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845819" y="27432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1051560" y="27432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1257300" y="27432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1463040" y="27432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1668780" y="27432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1874519" y="27432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2080260" y="27432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2286000" y="27432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2491739" y="27432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640080" y="2948939"/>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845819" y="2948939"/>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1051560" y="2948939"/>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1257300" y="2948939"/>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1463040" y="2948939"/>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1668780" y="2948939"/>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1874519" y="2948939"/>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2080260" y="2948939"/>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2286000" y="2948939"/>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val 82"/>
          <p:cNvSpPr/>
          <p:nvPr/>
        </p:nvSpPr>
        <p:spPr>
          <a:xfrm>
            <a:off x="2491739" y="2948939"/>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640080" y="31546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845819" y="31546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p:cNvSpPr/>
          <p:nvPr/>
        </p:nvSpPr>
        <p:spPr>
          <a:xfrm>
            <a:off x="1051560" y="31546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val 86"/>
          <p:cNvSpPr/>
          <p:nvPr/>
        </p:nvSpPr>
        <p:spPr>
          <a:xfrm>
            <a:off x="1257300" y="31546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1463040" y="31546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1668780" y="31546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1874519" y="31546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val 90"/>
          <p:cNvSpPr/>
          <p:nvPr/>
        </p:nvSpPr>
        <p:spPr>
          <a:xfrm>
            <a:off x="2080260" y="31546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2286000" y="31546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p:cNvSpPr/>
          <p:nvPr/>
        </p:nvSpPr>
        <p:spPr>
          <a:xfrm>
            <a:off x="2491739" y="31546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val 93"/>
          <p:cNvSpPr/>
          <p:nvPr/>
        </p:nvSpPr>
        <p:spPr>
          <a:xfrm>
            <a:off x="640080" y="33604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val 94"/>
          <p:cNvSpPr/>
          <p:nvPr/>
        </p:nvSpPr>
        <p:spPr>
          <a:xfrm>
            <a:off x="845819" y="33604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val 95"/>
          <p:cNvSpPr/>
          <p:nvPr/>
        </p:nvSpPr>
        <p:spPr>
          <a:xfrm>
            <a:off x="1051560" y="33604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val 96"/>
          <p:cNvSpPr/>
          <p:nvPr/>
        </p:nvSpPr>
        <p:spPr>
          <a:xfrm>
            <a:off x="1257300" y="33604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val 97"/>
          <p:cNvSpPr/>
          <p:nvPr/>
        </p:nvSpPr>
        <p:spPr>
          <a:xfrm>
            <a:off x="1463040" y="33604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val 98"/>
          <p:cNvSpPr/>
          <p:nvPr/>
        </p:nvSpPr>
        <p:spPr>
          <a:xfrm>
            <a:off x="1668780" y="33604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1874519" y="33604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val 100"/>
          <p:cNvSpPr/>
          <p:nvPr/>
        </p:nvSpPr>
        <p:spPr>
          <a:xfrm>
            <a:off x="2080260" y="33604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val 101"/>
          <p:cNvSpPr/>
          <p:nvPr/>
        </p:nvSpPr>
        <p:spPr>
          <a:xfrm>
            <a:off x="2286000" y="33604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2491739" y="33604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640080" y="3611880"/>
            <a:ext cx="2103120" cy="320040"/>
          </a:xfrm>
          <a:prstGeom prst="rect">
            <a:avLst/>
          </a:prstGeom>
          <a:noFill/>
        </p:spPr>
        <p:txBody>
          <a:bodyPr wrap="square" lIns="0" tIns="0" rIns="0" bIns="0" anchor="t">
            <a:spAutoFit/>
          </a:bodyPr>
          <a:lstStyle/>
          <a:p>
            <a:pPr algn="l"/>
            <a:r>
              <a:rPr sz="1300" b="1" i="0">
                <a:solidFill>
                  <a:srgbClr val="1B2A41"/>
                </a:solidFill>
                <a:latin typeface="Calibri"/>
              </a:rPr>
              <a:t>0 of 100</a:t>
            </a:r>
            <a:r>
              <a:rPr sz="1300" b="0" i="0">
                <a:solidFill>
                  <a:srgbClr val="1B2A41"/>
                </a:solidFill>
                <a:latin typeface="Calibri"/>
              </a:rPr>
              <a:t> gave under $50</a:t>
            </a:r>
          </a:p>
        </p:txBody>
      </p:sp>
      <p:sp>
        <p:nvSpPr>
          <p:cNvPr id="105" name="TextBox 104"/>
          <p:cNvSpPr txBox="1"/>
          <p:nvPr/>
        </p:nvSpPr>
        <p:spPr>
          <a:xfrm>
            <a:off x="3154680" y="1097280"/>
            <a:ext cx="2103120" cy="320040"/>
          </a:xfrm>
          <a:prstGeom prst="rect">
            <a:avLst/>
          </a:prstGeom>
          <a:noFill/>
        </p:spPr>
        <p:txBody>
          <a:bodyPr wrap="square" lIns="0" tIns="0" rIns="0" bIns="0" anchor="t">
            <a:spAutoFit/>
          </a:bodyPr>
          <a:lstStyle/>
          <a:p>
            <a:pPr algn="l"/>
            <a:r>
              <a:rPr sz="1400" b="1" i="0">
                <a:solidFill>
                  <a:srgbClr val="E4572E"/>
                </a:solidFill>
                <a:latin typeface="Calibri"/>
              </a:rPr>
              <a:t>Our model's list</a:t>
            </a:r>
          </a:p>
        </p:txBody>
      </p:sp>
      <p:sp>
        <p:nvSpPr>
          <p:cNvPr id="106" name="Oval 105"/>
          <p:cNvSpPr/>
          <p:nvPr/>
        </p:nvSpPr>
        <p:spPr>
          <a:xfrm>
            <a:off x="3154680" y="1508760"/>
            <a:ext cx="146304" cy="14630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val 106"/>
          <p:cNvSpPr/>
          <p:nvPr/>
        </p:nvSpPr>
        <p:spPr>
          <a:xfrm>
            <a:off x="3360420" y="1508760"/>
            <a:ext cx="146304" cy="14630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val 107"/>
          <p:cNvSpPr/>
          <p:nvPr/>
        </p:nvSpPr>
        <p:spPr>
          <a:xfrm>
            <a:off x="3566160" y="1508760"/>
            <a:ext cx="146304" cy="14630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val 108"/>
          <p:cNvSpPr/>
          <p:nvPr/>
        </p:nvSpPr>
        <p:spPr>
          <a:xfrm>
            <a:off x="3771900" y="1508760"/>
            <a:ext cx="146304" cy="14630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val 109"/>
          <p:cNvSpPr/>
          <p:nvPr/>
        </p:nvSpPr>
        <p:spPr>
          <a:xfrm>
            <a:off x="3977640" y="1508760"/>
            <a:ext cx="146304" cy="14630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val 110"/>
          <p:cNvSpPr/>
          <p:nvPr/>
        </p:nvSpPr>
        <p:spPr>
          <a:xfrm>
            <a:off x="4183380" y="1508760"/>
            <a:ext cx="146304" cy="14630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val 111"/>
          <p:cNvSpPr/>
          <p:nvPr/>
        </p:nvSpPr>
        <p:spPr>
          <a:xfrm>
            <a:off x="4389120" y="1508760"/>
            <a:ext cx="146304" cy="14630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val 112"/>
          <p:cNvSpPr/>
          <p:nvPr/>
        </p:nvSpPr>
        <p:spPr>
          <a:xfrm>
            <a:off x="4594860" y="1508760"/>
            <a:ext cx="146304" cy="14630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val 113"/>
          <p:cNvSpPr/>
          <p:nvPr/>
        </p:nvSpPr>
        <p:spPr>
          <a:xfrm>
            <a:off x="4800600" y="1508760"/>
            <a:ext cx="146304" cy="14630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val 114"/>
          <p:cNvSpPr/>
          <p:nvPr/>
        </p:nvSpPr>
        <p:spPr>
          <a:xfrm>
            <a:off x="5006340" y="1508760"/>
            <a:ext cx="146304" cy="14630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val 115"/>
          <p:cNvSpPr/>
          <p:nvPr/>
        </p:nvSpPr>
        <p:spPr>
          <a:xfrm>
            <a:off x="3154680" y="1714500"/>
            <a:ext cx="146304" cy="14630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val 116"/>
          <p:cNvSpPr/>
          <p:nvPr/>
        </p:nvSpPr>
        <p:spPr>
          <a:xfrm>
            <a:off x="3360420" y="1714500"/>
            <a:ext cx="146304" cy="14630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val 117"/>
          <p:cNvSpPr/>
          <p:nvPr/>
        </p:nvSpPr>
        <p:spPr>
          <a:xfrm>
            <a:off x="3566160" y="1714500"/>
            <a:ext cx="146304" cy="14630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val 118"/>
          <p:cNvSpPr/>
          <p:nvPr/>
        </p:nvSpPr>
        <p:spPr>
          <a:xfrm>
            <a:off x="3771900" y="1714500"/>
            <a:ext cx="146304" cy="14630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val 119"/>
          <p:cNvSpPr/>
          <p:nvPr/>
        </p:nvSpPr>
        <p:spPr>
          <a:xfrm>
            <a:off x="3977640" y="17145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val 120"/>
          <p:cNvSpPr/>
          <p:nvPr/>
        </p:nvSpPr>
        <p:spPr>
          <a:xfrm>
            <a:off x="4183380" y="17145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val 121"/>
          <p:cNvSpPr/>
          <p:nvPr/>
        </p:nvSpPr>
        <p:spPr>
          <a:xfrm>
            <a:off x="4389120" y="17145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val 122"/>
          <p:cNvSpPr/>
          <p:nvPr/>
        </p:nvSpPr>
        <p:spPr>
          <a:xfrm>
            <a:off x="4594860" y="17145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val 123"/>
          <p:cNvSpPr/>
          <p:nvPr/>
        </p:nvSpPr>
        <p:spPr>
          <a:xfrm>
            <a:off x="4800600" y="17145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val 124"/>
          <p:cNvSpPr/>
          <p:nvPr/>
        </p:nvSpPr>
        <p:spPr>
          <a:xfrm>
            <a:off x="5006340" y="17145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val 125"/>
          <p:cNvSpPr/>
          <p:nvPr/>
        </p:nvSpPr>
        <p:spPr>
          <a:xfrm>
            <a:off x="3154680" y="192024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val 126"/>
          <p:cNvSpPr/>
          <p:nvPr/>
        </p:nvSpPr>
        <p:spPr>
          <a:xfrm>
            <a:off x="3360420" y="192024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val 127"/>
          <p:cNvSpPr/>
          <p:nvPr/>
        </p:nvSpPr>
        <p:spPr>
          <a:xfrm>
            <a:off x="3566160" y="192024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val 128"/>
          <p:cNvSpPr/>
          <p:nvPr/>
        </p:nvSpPr>
        <p:spPr>
          <a:xfrm>
            <a:off x="3771900" y="192024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val 129"/>
          <p:cNvSpPr/>
          <p:nvPr/>
        </p:nvSpPr>
        <p:spPr>
          <a:xfrm>
            <a:off x="3977640" y="192024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val 130"/>
          <p:cNvSpPr/>
          <p:nvPr/>
        </p:nvSpPr>
        <p:spPr>
          <a:xfrm>
            <a:off x="4183380" y="192024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val 131"/>
          <p:cNvSpPr/>
          <p:nvPr/>
        </p:nvSpPr>
        <p:spPr>
          <a:xfrm>
            <a:off x="4389120" y="192024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val 132"/>
          <p:cNvSpPr/>
          <p:nvPr/>
        </p:nvSpPr>
        <p:spPr>
          <a:xfrm>
            <a:off x="4594860" y="192024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val 133"/>
          <p:cNvSpPr/>
          <p:nvPr/>
        </p:nvSpPr>
        <p:spPr>
          <a:xfrm>
            <a:off x="4800600" y="192024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val 134"/>
          <p:cNvSpPr/>
          <p:nvPr/>
        </p:nvSpPr>
        <p:spPr>
          <a:xfrm>
            <a:off x="5006340" y="192024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p:cNvSpPr/>
          <p:nvPr/>
        </p:nvSpPr>
        <p:spPr>
          <a:xfrm>
            <a:off x="3154680" y="21259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p:cNvSpPr/>
          <p:nvPr/>
        </p:nvSpPr>
        <p:spPr>
          <a:xfrm>
            <a:off x="3360420" y="21259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p:cNvSpPr/>
          <p:nvPr/>
        </p:nvSpPr>
        <p:spPr>
          <a:xfrm>
            <a:off x="3566160" y="21259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p:cNvSpPr/>
          <p:nvPr/>
        </p:nvSpPr>
        <p:spPr>
          <a:xfrm>
            <a:off x="3771900" y="21259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val 139"/>
          <p:cNvSpPr/>
          <p:nvPr/>
        </p:nvSpPr>
        <p:spPr>
          <a:xfrm>
            <a:off x="3977640" y="21259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val 140"/>
          <p:cNvSpPr/>
          <p:nvPr/>
        </p:nvSpPr>
        <p:spPr>
          <a:xfrm>
            <a:off x="4183380" y="21259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val 141"/>
          <p:cNvSpPr/>
          <p:nvPr/>
        </p:nvSpPr>
        <p:spPr>
          <a:xfrm>
            <a:off x="4389120" y="21259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val 142"/>
          <p:cNvSpPr/>
          <p:nvPr/>
        </p:nvSpPr>
        <p:spPr>
          <a:xfrm>
            <a:off x="4594860" y="21259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val 143"/>
          <p:cNvSpPr/>
          <p:nvPr/>
        </p:nvSpPr>
        <p:spPr>
          <a:xfrm>
            <a:off x="4800600" y="21259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p:cNvSpPr/>
          <p:nvPr/>
        </p:nvSpPr>
        <p:spPr>
          <a:xfrm>
            <a:off x="5006340" y="21259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val 145"/>
          <p:cNvSpPr/>
          <p:nvPr/>
        </p:nvSpPr>
        <p:spPr>
          <a:xfrm>
            <a:off x="3154680" y="23317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val 146"/>
          <p:cNvSpPr/>
          <p:nvPr/>
        </p:nvSpPr>
        <p:spPr>
          <a:xfrm>
            <a:off x="3360420" y="23317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val 147"/>
          <p:cNvSpPr/>
          <p:nvPr/>
        </p:nvSpPr>
        <p:spPr>
          <a:xfrm>
            <a:off x="3566160" y="23317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val 148"/>
          <p:cNvSpPr/>
          <p:nvPr/>
        </p:nvSpPr>
        <p:spPr>
          <a:xfrm>
            <a:off x="3771900" y="23317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Oval 149"/>
          <p:cNvSpPr/>
          <p:nvPr/>
        </p:nvSpPr>
        <p:spPr>
          <a:xfrm>
            <a:off x="3977640" y="23317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Oval 150"/>
          <p:cNvSpPr/>
          <p:nvPr/>
        </p:nvSpPr>
        <p:spPr>
          <a:xfrm>
            <a:off x="4183380" y="23317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Oval 151"/>
          <p:cNvSpPr/>
          <p:nvPr/>
        </p:nvSpPr>
        <p:spPr>
          <a:xfrm>
            <a:off x="4389120" y="23317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val 152"/>
          <p:cNvSpPr/>
          <p:nvPr/>
        </p:nvSpPr>
        <p:spPr>
          <a:xfrm>
            <a:off x="4594860" y="23317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Oval 153"/>
          <p:cNvSpPr/>
          <p:nvPr/>
        </p:nvSpPr>
        <p:spPr>
          <a:xfrm>
            <a:off x="4800600" y="23317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Oval 154"/>
          <p:cNvSpPr/>
          <p:nvPr/>
        </p:nvSpPr>
        <p:spPr>
          <a:xfrm>
            <a:off x="5006340" y="23317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Oval 155"/>
          <p:cNvSpPr/>
          <p:nvPr/>
        </p:nvSpPr>
        <p:spPr>
          <a:xfrm>
            <a:off x="3154680" y="25374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Oval 156"/>
          <p:cNvSpPr/>
          <p:nvPr/>
        </p:nvSpPr>
        <p:spPr>
          <a:xfrm>
            <a:off x="3360420" y="25374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val 157"/>
          <p:cNvSpPr/>
          <p:nvPr/>
        </p:nvSpPr>
        <p:spPr>
          <a:xfrm>
            <a:off x="3566160" y="25374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Oval 158"/>
          <p:cNvSpPr/>
          <p:nvPr/>
        </p:nvSpPr>
        <p:spPr>
          <a:xfrm>
            <a:off x="3771900" y="25374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Oval 159"/>
          <p:cNvSpPr/>
          <p:nvPr/>
        </p:nvSpPr>
        <p:spPr>
          <a:xfrm>
            <a:off x="3977640" y="25374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val 160"/>
          <p:cNvSpPr/>
          <p:nvPr/>
        </p:nvSpPr>
        <p:spPr>
          <a:xfrm>
            <a:off x="4183380" y="25374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Oval 161"/>
          <p:cNvSpPr/>
          <p:nvPr/>
        </p:nvSpPr>
        <p:spPr>
          <a:xfrm>
            <a:off x="4389120" y="25374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Oval 162"/>
          <p:cNvSpPr/>
          <p:nvPr/>
        </p:nvSpPr>
        <p:spPr>
          <a:xfrm>
            <a:off x="4594860" y="25374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Oval 163"/>
          <p:cNvSpPr/>
          <p:nvPr/>
        </p:nvSpPr>
        <p:spPr>
          <a:xfrm>
            <a:off x="4800600" y="25374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Oval 164"/>
          <p:cNvSpPr/>
          <p:nvPr/>
        </p:nvSpPr>
        <p:spPr>
          <a:xfrm>
            <a:off x="5006340" y="253746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Oval 165"/>
          <p:cNvSpPr/>
          <p:nvPr/>
        </p:nvSpPr>
        <p:spPr>
          <a:xfrm>
            <a:off x="3154680" y="27432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Oval 166"/>
          <p:cNvSpPr/>
          <p:nvPr/>
        </p:nvSpPr>
        <p:spPr>
          <a:xfrm>
            <a:off x="3360420" y="27432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Oval 167"/>
          <p:cNvSpPr/>
          <p:nvPr/>
        </p:nvSpPr>
        <p:spPr>
          <a:xfrm>
            <a:off x="3566160" y="27432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Oval 168"/>
          <p:cNvSpPr/>
          <p:nvPr/>
        </p:nvSpPr>
        <p:spPr>
          <a:xfrm>
            <a:off x="3771900" y="27432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Oval 169"/>
          <p:cNvSpPr/>
          <p:nvPr/>
        </p:nvSpPr>
        <p:spPr>
          <a:xfrm>
            <a:off x="3977640" y="27432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Oval 170"/>
          <p:cNvSpPr/>
          <p:nvPr/>
        </p:nvSpPr>
        <p:spPr>
          <a:xfrm>
            <a:off x="4183380" y="27432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Oval 171"/>
          <p:cNvSpPr/>
          <p:nvPr/>
        </p:nvSpPr>
        <p:spPr>
          <a:xfrm>
            <a:off x="4389120" y="27432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Oval 172"/>
          <p:cNvSpPr/>
          <p:nvPr/>
        </p:nvSpPr>
        <p:spPr>
          <a:xfrm>
            <a:off x="4594860" y="27432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Oval 173"/>
          <p:cNvSpPr/>
          <p:nvPr/>
        </p:nvSpPr>
        <p:spPr>
          <a:xfrm>
            <a:off x="4800600" y="27432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Oval 174"/>
          <p:cNvSpPr/>
          <p:nvPr/>
        </p:nvSpPr>
        <p:spPr>
          <a:xfrm>
            <a:off x="5006340" y="274320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Oval 175"/>
          <p:cNvSpPr/>
          <p:nvPr/>
        </p:nvSpPr>
        <p:spPr>
          <a:xfrm>
            <a:off x="3154680" y="2948939"/>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Oval 176"/>
          <p:cNvSpPr/>
          <p:nvPr/>
        </p:nvSpPr>
        <p:spPr>
          <a:xfrm>
            <a:off x="3360420" y="2948939"/>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Oval 177"/>
          <p:cNvSpPr/>
          <p:nvPr/>
        </p:nvSpPr>
        <p:spPr>
          <a:xfrm>
            <a:off x="3566160" y="2948939"/>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Oval 178"/>
          <p:cNvSpPr/>
          <p:nvPr/>
        </p:nvSpPr>
        <p:spPr>
          <a:xfrm>
            <a:off x="3771900" y="2948939"/>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Oval 179"/>
          <p:cNvSpPr/>
          <p:nvPr/>
        </p:nvSpPr>
        <p:spPr>
          <a:xfrm>
            <a:off x="3977640" y="2948939"/>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Oval 180"/>
          <p:cNvSpPr/>
          <p:nvPr/>
        </p:nvSpPr>
        <p:spPr>
          <a:xfrm>
            <a:off x="4183380" y="2948939"/>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Oval 181"/>
          <p:cNvSpPr/>
          <p:nvPr/>
        </p:nvSpPr>
        <p:spPr>
          <a:xfrm>
            <a:off x="4389120" y="2948939"/>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Oval 182"/>
          <p:cNvSpPr/>
          <p:nvPr/>
        </p:nvSpPr>
        <p:spPr>
          <a:xfrm>
            <a:off x="4594860" y="2948939"/>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Oval 183"/>
          <p:cNvSpPr/>
          <p:nvPr/>
        </p:nvSpPr>
        <p:spPr>
          <a:xfrm>
            <a:off x="4800600" y="2948939"/>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Oval 184"/>
          <p:cNvSpPr/>
          <p:nvPr/>
        </p:nvSpPr>
        <p:spPr>
          <a:xfrm>
            <a:off x="5006340" y="2948939"/>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Oval 185"/>
          <p:cNvSpPr/>
          <p:nvPr/>
        </p:nvSpPr>
        <p:spPr>
          <a:xfrm>
            <a:off x="3154680" y="31546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Oval 186"/>
          <p:cNvSpPr/>
          <p:nvPr/>
        </p:nvSpPr>
        <p:spPr>
          <a:xfrm>
            <a:off x="3360420" y="31546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Oval 187"/>
          <p:cNvSpPr/>
          <p:nvPr/>
        </p:nvSpPr>
        <p:spPr>
          <a:xfrm>
            <a:off x="3566160" y="31546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Oval 188"/>
          <p:cNvSpPr/>
          <p:nvPr/>
        </p:nvSpPr>
        <p:spPr>
          <a:xfrm>
            <a:off x="3771900" y="31546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Oval 189"/>
          <p:cNvSpPr/>
          <p:nvPr/>
        </p:nvSpPr>
        <p:spPr>
          <a:xfrm>
            <a:off x="3977640" y="31546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Oval 190"/>
          <p:cNvSpPr/>
          <p:nvPr/>
        </p:nvSpPr>
        <p:spPr>
          <a:xfrm>
            <a:off x="4183380" y="31546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Oval 191"/>
          <p:cNvSpPr/>
          <p:nvPr/>
        </p:nvSpPr>
        <p:spPr>
          <a:xfrm>
            <a:off x="4389120" y="31546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Oval 192"/>
          <p:cNvSpPr/>
          <p:nvPr/>
        </p:nvSpPr>
        <p:spPr>
          <a:xfrm>
            <a:off x="4594860" y="31546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Oval 193"/>
          <p:cNvSpPr/>
          <p:nvPr/>
        </p:nvSpPr>
        <p:spPr>
          <a:xfrm>
            <a:off x="4800600" y="31546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Oval 194"/>
          <p:cNvSpPr/>
          <p:nvPr/>
        </p:nvSpPr>
        <p:spPr>
          <a:xfrm>
            <a:off x="5006340" y="315468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Oval 195"/>
          <p:cNvSpPr/>
          <p:nvPr/>
        </p:nvSpPr>
        <p:spPr>
          <a:xfrm>
            <a:off x="3154680" y="33604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Oval 196"/>
          <p:cNvSpPr/>
          <p:nvPr/>
        </p:nvSpPr>
        <p:spPr>
          <a:xfrm>
            <a:off x="3360420" y="33604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Oval 197"/>
          <p:cNvSpPr/>
          <p:nvPr/>
        </p:nvSpPr>
        <p:spPr>
          <a:xfrm>
            <a:off x="3566160" y="33604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Oval 198"/>
          <p:cNvSpPr/>
          <p:nvPr/>
        </p:nvSpPr>
        <p:spPr>
          <a:xfrm>
            <a:off x="3771900" y="33604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Oval 199"/>
          <p:cNvSpPr/>
          <p:nvPr/>
        </p:nvSpPr>
        <p:spPr>
          <a:xfrm>
            <a:off x="3977640" y="33604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Oval 200"/>
          <p:cNvSpPr/>
          <p:nvPr/>
        </p:nvSpPr>
        <p:spPr>
          <a:xfrm>
            <a:off x="4183380" y="33604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Oval 201"/>
          <p:cNvSpPr/>
          <p:nvPr/>
        </p:nvSpPr>
        <p:spPr>
          <a:xfrm>
            <a:off x="4389120" y="33604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Oval 202"/>
          <p:cNvSpPr/>
          <p:nvPr/>
        </p:nvSpPr>
        <p:spPr>
          <a:xfrm>
            <a:off x="4594860" y="33604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Oval 203"/>
          <p:cNvSpPr/>
          <p:nvPr/>
        </p:nvSpPr>
        <p:spPr>
          <a:xfrm>
            <a:off x="4800600" y="33604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Oval 204"/>
          <p:cNvSpPr/>
          <p:nvPr/>
        </p:nvSpPr>
        <p:spPr>
          <a:xfrm>
            <a:off x="5006340" y="3360420"/>
            <a:ext cx="146304" cy="146304"/>
          </a:xfrm>
          <a:prstGeom prst="ellipse">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TextBox 205"/>
          <p:cNvSpPr txBox="1"/>
          <p:nvPr/>
        </p:nvSpPr>
        <p:spPr>
          <a:xfrm>
            <a:off x="3154680" y="3611880"/>
            <a:ext cx="2103120" cy="320040"/>
          </a:xfrm>
          <a:prstGeom prst="rect">
            <a:avLst/>
          </a:prstGeom>
          <a:noFill/>
        </p:spPr>
        <p:txBody>
          <a:bodyPr wrap="square" lIns="0" tIns="0" rIns="0" bIns="0" anchor="t">
            <a:spAutoFit/>
          </a:bodyPr>
          <a:lstStyle/>
          <a:p>
            <a:pPr algn="l"/>
            <a:r>
              <a:rPr sz="1300" b="1" i="0">
                <a:solidFill>
                  <a:srgbClr val="1B2A41"/>
                </a:solidFill>
                <a:latin typeface="Calibri"/>
              </a:rPr>
              <a:t>14 of 100</a:t>
            </a:r>
            <a:r>
              <a:rPr sz="1300" b="0" i="0">
                <a:solidFill>
                  <a:srgbClr val="1B2A41"/>
                </a:solidFill>
                <a:latin typeface="Calibri"/>
              </a:rPr>
              <a:t> gave under $50</a:t>
            </a:r>
          </a:p>
        </p:txBody>
      </p:sp>
      <p:sp>
        <p:nvSpPr>
          <p:cNvPr id="207" name="Oval 206"/>
          <p:cNvSpPr/>
          <p:nvPr/>
        </p:nvSpPr>
        <p:spPr>
          <a:xfrm>
            <a:off x="640080" y="4133087"/>
            <a:ext cx="128016" cy="128016"/>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TextBox 207"/>
          <p:cNvSpPr txBox="1"/>
          <p:nvPr/>
        </p:nvSpPr>
        <p:spPr>
          <a:xfrm>
            <a:off x="841248" y="4069080"/>
            <a:ext cx="3200400" cy="274320"/>
          </a:xfrm>
          <a:prstGeom prst="rect">
            <a:avLst/>
          </a:prstGeom>
          <a:noFill/>
        </p:spPr>
        <p:txBody>
          <a:bodyPr wrap="square" lIns="0" tIns="0" rIns="0" bIns="0" anchor="t">
            <a:spAutoFit/>
          </a:bodyPr>
          <a:lstStyle/>
          <a:p>
            <a:pPr algn="l"/>
            <a:r>
              <a:rPr sz="1100" b="0" i="0">
                <a:solidFill>
                  <a:srgbClr val="6B7280"/>
                </a:solidFill>
                <a:latin typeface="Calibri"/>
              </a:rPr>
              <a:t>first gift under $50</a:t>
            </a:r>
          </a:p>
        </p:txBody>
      </p:sp>
      <p:sp>
        <p:nvSpPr>
          <p:cNvPr id="209" name="TextBox 208"/>
          <p:cNvSpPr txBox="1"/>
          <p:nvPr/>
        </p:nvSpPr>
        <p:spPr>
          <a:xfrm>
            <a:off x="5577840" y="1097280"/>
            <a:ext cx="3017520" cy="731520"/>
          </a:xfrm>
          <a:prstGeom prst="rect">
            <a:avLst/>
          </a:prstGeom>
          <a:noFill/>
        </p:spPr>
        <p:txBody>
          <a:bodyPr wrap="square" lIns="0" tIns="0" rIns="0" bIns="0" anchor="t">
            <a:spAutoFit/>
          </a:bodyPr>
          <a:lstStyle/>
          <a:p>
            <a:pPr algn="l"/>
            <a:r>
              <a:rPr sz="4400" b="1" i="0">
                <a:solidFill>
                  <a:srgbClr val="E4572E"/>
                </a:solidFill>
                <a:latin typeface="Cambria"/>
              </a:rPr>
              <a:t>22%</a:t>
            </a:r>
          </a:p>
        </p:txBody>
      </p:sp>
      <p:sp>
        <p:nvSpPr>
          <p:cNvPr id="210" name="TextBox 209"/>
          <p:cNvSpPr txBox="1"/>
          <p:nvPr/>
        </p:nvSpPr>
        <p:spPr>
          <a:xfrm>
            <a:off x="5577840" y="1828800"/>
            <a:ext cx="3017520" cy="548640"/>
          </a:xfrm>
          <a:prstGeom prst="rect">
            <a:avLst/>
          </a:prstGeom>
          <a:noFill/>
        </p:spPr>
        <p:txBody>
          <a:bodyPr wrap="square" lIns="0" tIns="0" rIns="0" bIns="0" anchor="t">
            <a:spAutoFit/>
          </a:bodyPr>
          <a:lstStyle/>
          <a:p>
            <a:pPr algn="l"/>
            <a:r>
              <a:rPr sz="1300" b="0" i="0">
                <a:solidFill>
                  <a:srgbClr val="1B2A41"/>
                </a:solidFill>
                <a:latin typeface="Calibri"/>
              </a:rPr>
              <a:t>of these small donors gave again (average donor: 13%)</a:t>
            </a:r>
          </a:p>
        </p:txBody>
      </p:sp>
      <p:sp>
        <p:nvSpPr>
          <p:cNvPr id="211" name="Rounded Rectangle 210"/>
          <p:cNvSpPr/>
          <p:nvPr/>
        </p:nvSpPr>
        <p:spPr>
          <a:xfrm>
            <a:off x="5577840" y="2606040"/>
            <a:ext cx="3017520" cy="1920240"/>
          </a:xfrm>
          <a:prstGeom prst="roundRect">
            <a:avLst>
              <a:gd name="adj" fmla="val 3809"/>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Rectangle 211"/>
          <p:cNvSpPr/>
          <p:nvPr/>
        </p:nvSpPr>
        <p:spPr>
          <a:xfrm>
            <a:off x="5760720" y="2788920"/>
            <a:ext cx="1371600" cy="329184"/>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TextBox 212"/>
          <p:cNvSpPr txBox="1"/>
          <p:nvPr/>
        </p:nvSpPr>
        <p:spPr>
          <a:xfrm>
            <a:off x="5760720" y="2788920"/>
            <a:ext cx="1371600" cy="329184"/>
          </a:xfrm>
          <a:prstGeom prst="rect">
            <a:avLst/>
          </a:prstGeom>
          <a:noFill/>
        </p:spPr>
        <p:txBody>
          <a:bodyPr wrap="square" lIns="0" tIns="0" rIns="0" bIns="0" anchor="ctr">
            <a:spAutoFit/>
          </a:bodyPr>
          <a:lstStyle/>
          <a:p>
            <a:pPr algn="ctr"/>
            <a:r>
              <a:rPr sz="1050" b="1" i="0">
                <a:solidFill>
                  <a:srgbClr val="FFFFFF"/>
                </a:solidFill>
                <a:latin typeface="Calibri"/>
              </a:rPr>
              <a:t>PLACEHOLDER</a:t>
            </a:r>
          </a:p>
        </p:txBody>
      </p:sp>
      <p:sp>
        <p:nvSpPr>
          <p:cNvPr id="214" name="TextBox 213"/>
          <p:cNvSpPr txBox="1"/>
          <p:nvPr/>
        </p:nvSpPr>
        <p:spPr>
          <a:xfrm>
            <a:off x="5760720" y="3246120"/>
            <a:ext cx="2697480" cy="274320"/>
          </a:xfrm>
          <a:prstGeom prst="rect">
            <a:avLst/>
          </a:prstGeom>
          <a:noFill/>
        </p:spPr>
        <p:txBody>
          <a:bodyPr wrap="square" lIns="0" tIns="0" rIns="0" bIns="0" anchor="t">
            <a:spAutoFit/>
          </a:bodyPr>
          <a:lstStyle/>
          <a:p>
            <a:pPr algn="l"/>
            <a:r>
              <a:rPr sz="1300" b="1" i="0">
                <a:solidFill>
                  <a:srgbClr val="1B2A41"/>
                </a:solidFill>
                <a:latin typeface="Calibri"/>
              </a:rPr>
              <a:t>What do they have in common?</a:t>
            </a:r>
          </a:p>
        </p:txBody>
      </p:sp>
      <p:sp>
        <p:nvSpPr>
          <p:cNvPr id="215" name="TextBox 214"/>
          <p:cNvSpPr txBox="1"/>
          <p:nvPr/>
        </p:nvSpPr>
        <p:spPr>
          <a:xfrm>
            <a:off x="5760720" y="3566160"/>
            <a:ext cx="2697480" cy="868680"/>
          </a:xfrm>
          <a:prstGeom prst="rect">
            <a:avLst/>
          </a:prstGeom>
          <a:noFill/>
        </p:spPr>
        <p:txBody>
          <a:bodyPr wrap="square" lIns="0" tIns="0" rIns="0" bIns="0" anchor="t">
            <a:spAutoFit/>
          </a:bodyPr>
          <a:lstStyle/>
          <a:p>
            <a:pPr algn="l"/>
            <a:r>
              <a:rPr sz="1200" b="0" i="0">
                <a:solidFill>
                  <a:srgbClr val="6B7280"/>
                </a:solidFill>
                <a:latin typeface="Calibri"/>
              </a:rPr>
              <a:t>Guess: gave to several classrooms at once, didn't use a gift card, certain states or subjects.</a:t>
            </a:r>
          </a:p>
        </p:txBody>
      </p:sp>
      <p:sp>
        <p:nvSpPr>
          <p:cNvPr id="216" name="TextBox 215">
            <a:extLst>
              <a:ext uri="{FF2B5EF4-FFF2-40B4-BE49-F238E27FC236}">
                <a16:creationId xmlns:a16="http://schemas.microsoft.com/office/drawing/2014/main" id="{8D6E9767-528F-BE56-1B86-6807FE30D068}"/>
              </a:ext>
            </a:extLst>
          </p:cNvPr>
          <p:cNvSpPr txBox="1"/>
          <p:nvPr/>
        </p:nvSpPr>
        <p:spPr>
          <a:xfrm>
            <a:off x="6356207" y="-4338"/>
            <a:ext cx="2790071" cy="1009412"/>
          </a:xfrm>
          <a:prstGeom prst="rect">
            <a:avLst/>
          </a:prstGeom>
          <a:solidFill>
            <a:schemeClr val="accent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a:ea typeface="Calibri"/>
                <a:cs typeface="Calibri"/>
              </a:rPr>
              <a:t>Make sure headline model and numbers align</a:t>
            </a:r>
          </a:p>
        </p:txBody>
      </p:sp>
    </p:spTree>
    <p:extLst>
      <p:ext uri="{BB962C8B-B14F-4D97-AF65-F5344CB8AC3E}">
        <p14:creationId xmlns:p14="http://schemas.microsoft.com/office/powerpoint/2010/main" val="18273509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name="Slide 9">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marL="0" indent="0">
              <a:buNone/>
            </a:pPr>
            <a:r>
              <a:rPr lang="en-US" sz="3000" b="1">
                <a:solidFill>
                  <a:srgbClr val="1B2A41"/>
                </a:solidFill>
                <a:latin typeface="Cambria" pitchFamily="34" charset="0"/>
                <a:ea typeface="Cambria" pitchFamily="34" charset="-122"/>
                <a:cs typeface="Cambria" pitchFamily="34" charset="-120"/>
              </a:rPr>
              <a:t>A small, real edge</a:t>
            </a:r>
            <a:endParaRPr lang="en-US" sz="3000"/>
          </a:p>
        </p:txBody>
      </p:sp>
      <p:graphicFrame>
        <p:nvGraphicFramePr>
          <p:cNvPr id="3" name="Chart 0"/>
          <p:cNvGraphicFramePr/>
          <p:nvPr/>
        </p:nvGraphicFramePr>
        <p:xfrm>
          <a:off x="365760" y="960120"/>
          <a:ext cx="539496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6126480" y="1005840"/>
            <a:ext cx="2560320" cy="914400"/>
          </a:xfrm>
          <a:prstGeom prst="rect">
            <a:avLst/>
          </a:prstGeom>
          <a:noFill/>
          <a:ln/>
        </p:spPr>
        <p:txBody>
          <a:bodyPr wrap="square" lIns="0" tIns="0" rIns="0" bIns="0" rtlCol="0" anchor="ctr"/>
          <a:lstStyle/>
          <a:p>
            <a:pPr marL="0" indent="0">
              <a:buNone/>
            </a:pPr>
            <a:r>
              <a:rPr lang="en-US" sz="6000" b="1">
                <a:solidFill>
                  <a:srgbClr val="E4572E"/>
                </a:solidFill>
                <a:latin typeface="Cambria" pitchFamily="34" charset="0"/>
                <a:ea typeface="Cambria" pitchFamily="34" charset="-122"/>
                <a:cs typeface="Cambria" pitchFamily="34" charset="-120"/>
              </a:rPr>
              <a:t>58%</a:t>
            </a:r>
            <a:endParaRPr lang="en-US" sz="6000"/>
          </a:p>
        </p:txBody>
      </p:sp>
      <p:sp>
        <p:nvSpPr>
          <p:cNvPr id="5" name="Text 2"/>
          <p:cNvSpPr txBox="1"/>
          <p:nvPr/>
        </p:nvSpPr>
        <p:spPr>
          <a:xfrm>
            <a:off x="6126480" y="1920240"/>
            <a:ext cx="2468880" cy="640080"/>
          </a:xfrm>
          <a:prstGeom prst="rect">
            <a:avLst/>
          </a:prstGeom>
          <a:noFill/>
          <a:ln/>
        </p:spPr>
        <p:txBody>
          <a:bodyPr wrap="square" lIns="0" tIns="0" rIns="0" bIns="0" rtlCol="0" anchor="ctr"/>
          <a:lstStyle/>
          <a:p>
            <a:pPr marL="0" indent="0">
              <a:buNone/>
            </a:pPr>
            <a:r>
              <a:rPr lang="en-US" sz="1400">
                <a:solidFill>
                  <a:srgbClr val="1B2A41"/>
                </a:solidFill>
                <a:latin typeface="Calibri" pitchFamily="34" charset="0"/>
                <a:ea typeface="Calibri" pitchFamily="34" charset="-122"/>
                <a:cs typeface="Calibri" pitchFamily="34" charset="-120"/>
              </a:rPr>
              <a:t>of next year's repeat dollars, from 10% of donors</a:t>
            </a:r>
            <a:endParaRPr lang="en-US" sz="1400"/>
          </a:p>
        </p:txBody>
      </p:sp>
      <p:sp>
        <p:nvSpPr>
          <p:cNvPr id="6" name="Text 3"/>
          <p:cNvSpPr txBox="1"/>
          <p:nvPr/>
        </p:nvSpPr>
        <p:spPr>
          <a:xfrm>
            <a:off x="6126480" y="2880360"/>
            <a:ext cx="2560320" cy="548640"/>
          </a:xfrm>
          <a:prstGeom prst="rect">
            <a:avLst/>
          </a:prstGeom>
          <a:noFill/>
          <a:ln/>
        </p:spPr>
        <p:txBody>
          <a:bodyPr wrap="square" lIns="0" tIns="0" rIns="0" bIns="0" rtlCol="0" anchor="ctr"/>
          <a:lstStyle/>
          <a:p>
            <a:pPr marL="0" indent="0">
              <a:buNone/>
            </a:pPr>
            <a:r>
              <a:rPr lang="en-US" sz="3200" b="1">
                <a:solidFill>
                  <a:srgbClr val="1B2A41"/>
                </a:solidFill>
                <a:latin typeface="Cambria" pitchFamily="34" charset="0"/>
                <a:ea typeface="Cambria" pitchFamily="34" charset="-122"/>
                <a:cs typeface="Cambria" pitchFamily="34" charset="-120"/>
              </a:rPr>
              <a:t>+$3.80</a:t>
            </a:r>
            <a:endParaRPr lang="en-US" sz="3200"/>
          </a:p>
        </p:txBody>
      </p:sp>
      <p:sp>
        <p:nvSpPr>
          <p:cNvPr id="7" name="Text 4"/>
          <p:cNvSpPr txBox="1"/>
          <p:nvPr/>
        </p:nvSpPr>
        <p:spPr>
          <a:xfrm>
            <a:off x="6126480" y="3429000"/>
            <a:ext cx="2468880" cy="320040"/>
          </a:xfrm>
          <a:prstGeom prst="rect">
            <a:avLst/>
          </a:prstGeom>
          <a:noFill/>
          <a:ln/>
        </p:spPr>
        <p:txBody>
          <a:bodyPr wrap="square" lIns="0" tIns="0" rIns="0" bIns="0" rtlCol="0" anchor="ctr"/>
          <a:lstStyle/>
          <a:p>
            <a:pPr marL="0" indent="0">
              <a:buNone/>
            </a:pPr>
            <a:r>
              <a:rPr lang="en-US" sz="1300">
                <a:solidFill>
                  <a:srgbClr val="6B7280"/>
                </a:solidFill>
                <a:latin typeface="Calibri" pitchFamily="34" charset="0"/>
                <a:ea typeface="Calibri" pitchFamily="34" charset="-122"/>
                <a:cs typeface="Calibri" pitchFamily="34" charset="-120"/>
              </a:rPr>
              <a:t>per donor vs. biggest gift first</a:t>
            </a:r>
            <a:endParaRPr lang="en-US" sz="1300"/>
          </a:p>
        </p:txBody>
      </p:sp>
      <p:sp>
        <p:nvSpPr>
          <p:cNvPr id="8" name="Text 5"/>
          <p:cNvSpPr txBox="1"/>
          <p:nvPr/>
        </p:nvSpPr>
        <p:spPr>
          <a:xfrm>
            <a:off x="6126480" y="3840480"/>
            <a:ext cx="2468880" cy="320040"/>
          </a:xfrm>
          <a:prstGeom prst="rect">
            <a:avLst/>
          </a:prstGeom>
          <a:noFill/>
          <a:ln/>
        </p:spPr>
        <p:txBody>
          <a:bodyPr wrap="square" lIns="0" tIns="0" rIns="0" bIns="0" rtlCol="0" anchor="ctr"/>
          <a:lstStyle/>
          <a:p>
            <a:pPr marL="0" indent="0">
              <a:buNone/>
            </a:pPr>
            <a:r>
              <a:rPr lang="en-US" sz="1400" b="1" i="1">
                <a:solidFill>
                  <a:srgbClr val="2A9D8F"/>
                </a:solidFill>
                <a:latin typeface="Calibri" pitchFamily="34" charset="0"/>
                <a:ea typeface="Calibri" pitchFamily="34" charset="-122"/>
                <a:cs typeface="Calibri" pitchFamily="34" charset="-120"/>
              </a:rPr>
              <a:t>Real, but small.</a:t>
            </a:r>
            <a:endParaRPr lang="en-US" sz="1400"/>
          </a:p>
        </p:txBody>
      </p:sp>
      <p:sp>
        <p:nvSpPr>
          <p:cNvPr id="9" name="TextBox 8">
            <a:extLst>
              <a:ext uri="{FF2B5EF4-FFF2-40B4-BE49-F238E27FC236}">
                <a16:creationId xmlns:a16="http://schemas.microsoft.com/office/drawing/2014/main" id="{E37EA9B8-09CD-F58C-5D91-5B0E64452A38}"/>
              </a:ext>
            </a:extLst>
          </p:cNvPr>
          <p:cNvSpPr txBox="1"/>
          <p:nvPr/>
        </p:nvSpPr>
        <p:spPr>
          <a:xfrm>
            <a:off x="6880302" y="-4338"/>
            <a:ext cx="2265976" cy="773772"/>
          </a:xfrm>
          <a:prstGeom prst="rect">
            <a:avLst/>
          </a:prstGeom>
          <a:solidFill>
            <a:schemeClr val="accent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a:ea typeface="Calibri"/>
                <a:cs typeface="Calibri"/>
              </a:rPr>
              <a:t>Add probability only model</a:t>
            </a:r>
          </a:p>
        </p:txBody>
      </p:sp>
    </p:spTree>
    <p:extLst>
      <p:ext uri="{BB962C8B-B14F-4D97-AF65-F5344CB8AC3E}">
        <p14:creationId xmlns:p14="http://schemas.microsoft.com/office/powerpoint/2010/main" val="42700832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20040"/>
            <a:ext cx="8046720" cy="640080"/>
          </a:xfrm>
          <a:prstGeom prst="rect">
            <a:avLst/>
          </a:prstGeom>
          <a:noFill/>
        </p:spPr>
        <p:txBody>
          <a:bodyPr wrap="square" lIns="0" tIns="0" rIns="0" bIns="0" anchor="t">
            <a:spAutoFit/>
          </a:bodyPr>
          <a:lstStyle/>
          <a:p>
            <a:pPr algn="l"/>
            <a:r>
              <a:rPr sz="3000" b="1" i="0">
                <a:solidFill>
                  <a:srgbClr val="1B2A41"/>
                </a:solidFill>
                <a:latin typeface="Cambria"/>
              </a:rPr>
              <a:t>What we don't know yet</a:t>
            </a:r>
          </a:p>
        </p:txBody>
      </p:sp>
      <p:sp>
        <p:nvSpPr>
          <p:cNvPr id="3" name="Rounded Rectangle 2"/>
          <p:cNvSpPr/>
          <p:nvPr/>
        </p:nvSpPr>
        <p:spPr>
          <a:xfrm>
            <a:off x="548640" y="1051560"/>
            <a:ext cx="3886200" cy="1600200"/>
          </a:xfrm>
          <a:prstGeom prst="roundRect">
            <a:avLst>
              <a:gd name="adj" fmla="val 4571"/>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77240" y="1280160"/>
            <a:ext cx="502920" cy="5029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aQuestion_FFFFFF.png"/>
          <p:cNvPicPr>
            <a:picLocks noChangeAspect="1"/>
          </p:cNvPicPr>
          <p:nvPr/>
        </p:nvPicPr>
        <p:blipFill>
          <a:blip r:embed="rId3"/>
          <a:stretch>
            <a:fillRect/>
          </a:stretch>
        </p:blipFill>
        <p:spPr>
          <a:xfrm>
            <a:off x="902970" y="1405889"/>
            <a:ext cx="251460" cy="251460"/>
          </a:xfrm>
          <a:prstGeom prst="rect">
            <a:avLst/>
          </a:prstGeom>
        </p:spPr>
      </p:pic>
      <p:sp>
        <p:nvSpPr>
          <p:cNvPr id="6" name="TextBox 5"/>
          <p:cNvSpPr txBox="1"/>
          <p:nvPr/>
        </p:nvSpPr>
        <p:spPr>
          <a:xfrm>
            <a:off x="1417319" y="1280160"/>
            <a:ext cx="2834640" cy="502920"/>
          </a:xfrm>
          <a:prstGeom prst="rect">
            <a:avLst/>
          </a:prstGeom>
          <a:noFill/>
        </p:spPr>
        <p:txBody>
          <a:bodyPr wrap="square" lIns="0" tIns="0" rIns="0" bIns="0" anchor="ctr">
            <a:spAutoFit/>
          </a:bodyPr>
          <a:lstStyle/>
          <a:p>
            <a:pPr algn="l"/>
            <a:r>
              <a:rPr sz="1500" b="1" i="0">
                <a:solidFill>
                  <a:srgbClr val="1B2A41"/>
                </a:solidFill>
                <a:latin typeface="Calibri"/>
              </a:rPr>
              <a:t>Does outreach cause the gift?</a:t>
            </a:r>
          </a:p>
        </p:txBody>
      </p:sp>
      <p:sp>
        <p:nvSpPr>
          <p:cNvPr id="7" name="TextBox 6"/>
          <p:cNvSpPr txBox="1"/>
          <p:nvPr/>
        </p:nvSpPr>
        <p:spPr>
          <a:xfrm>
            <a:off x="777240" y="1920239"/>
            <a:ext cx="3474720" cy="640080"/>
          </a:xfrm>
          <a:prstGeom prst="rect">
            <a:avLst/>
          </a:prstGeom>
          <a:noFill/>
        </p:spPr>
        <p:txBody>
          <a:bodyPr wrap="square" lIns="0" tIns="0" rIns="0" bIns="0" anchor="t">
            <a:spAutoFit/>
          </a:bodyPr>
          <a:lstStyle/>
          <a:p>
            <a:pPr algn="l"/>
            <a:r>
              <a:rPr sz="1300" b="0" i="0">
                <a:solidFill>
                  <a:srgbClr val="6B7280"/>
                </a:solidFill>
                <a:latin typeface="Calibri"/>
              </a:rPr>
              <a:t>Nobody was randomly contacted, so we can't find the persuadables.</a:t>
            </a:r>
          </a:p>
        </p:txBody>
      </p:sp>
      <p:sp>
        <p:nvSpPr>
          <p:cNvPr id="8" name="Rounded Rectangle 7"/>
          <p:cNvSpPr/>
          <p:nvPr/>
        </p:nvSpPr>
        <p:spPr>
          <a:xfrm>
            <a:off x="4709159" y="1051560"/>
            <a:ext cx="3886200" cy="1600200"/>
          </a:xfrm>
          <a:prstGeom prst="roundRect">
            <a:avLst>
              <a:gd name="adj" fmla="val 4571"/>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937759" y="1280160"/>
            <a:ext cx="502920" cy="50292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p:cNvPicPr>
            <a:picLocks noChangeAspect="1"/>
          </p:cNvPicPr>
          <p:nvPr/>
        </p:nvPicPr>
        <p:blipFill>
          <a:blip r:embed="rId4"/>
          <a:stretch>
            <a:fillRect/>
          </a:stretch>
        </p:blipFill>
        <p:spPr>
          <a:xfrm>
            <a:off x="5063490" y="1405889"/>
            <a:ext cx="251460" cy="251460"/>
          </a:xfrm>
          <a:prstGeom prst="rect">
            <a:avLst/>
          </a:prstGeom>
        </p:spPr>
      </p:pic>
      <p:sp>
        <p:nvSpPr>
          <p:cNvPr id="11" name="TextBox 10"/>
          <p:cNvSpPr txBox="1"/>
          <p:nvPr/>
        </p:nvSpPr>
        <p:spPr>
          <a:xfrm>
            <a:off x="5577840" y="1280160"/>
            <a:ext cx="2834640" cy="502920"/>
          </a:xfrm>
          <a:prstGeom prst="rect">
            <a:avLst/>
          </a:prstGeom>
          <a:noFill/>
        </p:spPr>
        <p:txBody>
          <a:bodyPr wrap="square" lIns="0" tIns="0" rIns="0" bIns="0" anchor="ctr">
            <a:spAutoFit/>
          </a:bodyPr>
          <a:lstStyle/>
          <a:p>
            <a:pPr algn="l"/>
            <a:r>
              <a:rPr sz="1500" b="1" i="0">
                <a:solidFill>
                  <a:srgbClr val="1B2A41"/>
                </a:solidFill>
                <a:latin typeface="Calibri"/>
              </a:rPr>
              <a:t>Who was already followed up with?</a:t>
            </a:r>
          </a:p>
        </p:txBody>
      </p:sp>
      <p:sp>
        <p:nvSpPr>
          <p:cNvPr id="12" name="TextBox 11"/>
          <p:cNvSpPr txBox="1"/>
          <p:nvPr/>
        </p:nvSpPr>
        <p:spPr>
          <a:xfrm>
            <a:off x="4937759" y="1920239"/>
            <a:ext cx="3474720" cy="640080"/>
          </a:xfrm>
          <a:prstGeom prst="rect">
            <a:avLst/>
          </a:prstGeom>
          <a:noFill/>
        </p:spPr>
        <p:txBody>
          <a:bodyPr wrap="square" lIns="0" tIns="0" rIns="0" bIns="0" anchor="t">
            <a:spAutoFit/>
          </a:bodyPr>
          <a:lstStyle/>
          <a:p>
            <a:pPr algn="l"/>
            <a:r>
              <a:rPr sz="1300" b="0" i="0">
                <a:solidFill>
                  <a:srgbClr val="6B7280"/>
                </a:solidFill>
                <a:latin typeface="Calibri"/>
              </a:rPr>
              <a:t>Calls and emails aren't recorded. Some repeat gifts may be from follow-up we can't see.</a:t>
            </a:r>
          </a:p>
        </p:txBody>
      </p:sp>
      <p:sp>
        <p:nvSpPr>
          <p:cNvPr id="13" name="Rounded Rectangle 12"/>
          <p:cNvSpPr/>
          <p:nvPr/>
        </p:nvSpPr>
        <p:spPr>
          <a:xfrm>
            <a:off x="548640" y="2834639"/>
            <a:ext cx="3886200" cy="1600200"/>
          </a:xfrm>
          <a:prstGeom prst="roundRect">
            <a:avLst>
              <a:gd name="adj" fmla="val 4571"/>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77240" y="3063239"/>
            <a:ext cx="502920" cy="50292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aEnvelopeOpenText_FFFFFF.png"/>
          <p:cNvPicPr>
            <a:picLocks noChangeAspect="1"/>
          </p:cNvPicPr>
          <p:nvPr/>
        </p:nvPicPr>
        <p:blipFill>
          <a:blip r:embed="rId5"/>
          <a:stretch>
            <a:fillRect/>
          </a:stretch>
        </p:blipFill>
        <p:spPr>
          <a:xfrm>
            <a:off x="902970" y="3188970"/>
            <a:ext cx="251460" cy="251460"/>
          </a:xfrm>
          <a:prstGeom prst="rect">
            <a:avLst/>
          </a:prstGeom>
        </p:spPr>
      </p:pic>
      <p:sp>
        <p:nvSpPr>
          <p:cNvPr id="16" name="TextBox 15"/>
          <p:cNvSpPr txBox="1"/>
          <p:nvPr/>
        </p:nvSpPr>
        <p:spPr>
          <a:xfrm>
            <a:off x="1417319" y="3063239"/>
            <a:ext cx="2834640" cy="502920"/>
          </a:xfrm>
          <a:prstGeom prst="rect">
            <a:avLst/>
          </a:prstGeom>
          <a:noFill/>
        </p:spPr>
        <p:txBody>
          <a:bodyPr wrap="square" lIns="0" tIns="0" rIns="0" bIns="0" anchor="ctr">
            <a:spAutoFit/>
          </a:bodyPr>
          <a:lstStyle/>
          <a:p>
            <a:pPr algn="l"/>
            <a:r>
              <a:rPr sz="1500" b="1" i="0">
                <a:solidFill>
                  <a:srgbClr val="1B2A41"/>
                </a:solidFill>
                <a:latin typeface="Calibri"/>
              </a:rPr>
              <a:t>Does the thank-you packet work?</a:t>
            </a:r>
          </a:p>
        </p:txBody>
      </p:sp>
      <p:sp>
        <p:nvSpPr>
          <p:cNvPr id="17" name="TextBox 16"/>
          <p:cNvSpPr txBox="1"/>
          <p:nvPr/>
        </p:nvSpPr>
        <p:spPr>
          <a:xfrm>
            <a:off x="777240" y="3703320"/>
            <a:ext cx="3474720" cy="400110"/>
          </a:xfrm>
          <a:prstGeom prst="rect">
            <a:avLst/>
          </a:prstGeom>
          <a:noFill/>
        </p:spPr>
        <p:txBody>
          <a:bodyPr wrap="square" lIns="0" tIns="0" rIns="0" bIns="0" anchor="t">
            <a:spAutoFit/>
          </a:bodyPr>
          <a:lstStyle/>
          <a:p>
            <a:r>
              <a:rPr sz="1300" b="0" i="0">
                <a:solidFill>
                  <a:srgbClr val="6B7280"/>
                </a:solidFill>
                <a:latin typeface="Calibri"/>
              </a:rPr>
              <a:t>The one follow-up in our data, </a:t>
            </a:r>
            <a:r>
              <a:rPr lang="en-US" sz="1300">
                <a:solidFill>
                  <a:srgbClr val="6B7280"/>
                </a:solidFill>
                <a:latin typeface="Calibri"/>
              </a:rPr>
              <a:t>undated relative to the gifts</a:t>
            </a:r>
            <a:endParaRPr sz="1300" b="0" i="0">
              <a:solidFill>
                <a:srgbClr val="6B7280"/>
              </a:solidFill>
              <a:latin typeface="Calibri"/>
            </a:endParaRPr>
          </a:p>
        </p:txBody>
      </p:sp>
      <p:sp>
        <p:nvSpPr>
          <p:cNvPr id="18" name="Rounded Rectangle 17"/>
          <p:cNvSpPr/>
          <p:nvPr/>
        </p:nvSpPr>
        <p:spPr>
          <a:xfrm>
            <a:off x="4709159" y="2834639"/>
            <a:ext cx="3886200" cy="1600200"/>
          </a:xfrm>
          <a:prstGeom prst="roundRect">
            <a:avLst>
              <a:gd name="adj" fmla="val 4571"/>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4937759" y="3063239"/>
            <a:ext cx="502920" cy="50292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FaStore_FFFFFF.png"/>
          <p:cNvPicPr>
            <a:picLocks noChangeAspect="1"/>
          </p:cNvPicPr>
          <p:nvPr/>
        </p:nvPicPr>
        <p:blipFill>
          <a:blip r:embed="rId6"/>
          <a:stretch>
            <a:fillRect/>
          </a:stretch>
        </p:blipFill>
        <p:spPr>
          <a:xfrm>
            <a:off x="5063490" y="3188970"/>
            <a:ext cx="251460" cy="251460"/>
          </a:xfrm>
          <a:prstGeom prst="rect">
            <a:avLst/>
          </a:prstGeom>
        </p:spPr>
      </p:pic>
      <p:sp>
        <p:nvSpPr>
          <p:cNvPr id="21" name="TextBox 20"/>
          <p:cNvSpPr txBox="1"/>
          <p:nvPr/>
        </p:nvSpPr>
        <p:spPr>
          <a:xfrm>
            <a:off x="5577840" y="3063239"/>
            <a:ext cx="2834640" cy="502920"/>
          </a:xfrm>
          <a:prstGeom prst="rect">
            <a:avLst/>
          </a:prstGeom>
          <a:noFill/>
        </p:spPr>
        <p:txBody>
          <a:bodyPr wrap="square" lIns="0" tIns="0" rIns="0" bIns="0" anchor="ctr">
            <a:spAutoFit/>
          </a:bodyPr>
          <a:lstStyle/>
          <a:p>
            <a:pPr algn="l"/>
            <a:r>
              <a:rPr sz="1500" b="1" i="0">
                <a:solidFill>
                  <a:srgbClr val="1B2A41"/>
                </a:solidFill>
                <a:latin typeface="Calibri"/>
              </a:rPr>
              <a:t>Does this carry over to one nonprofit?</a:t>
            </a:r>
          </a:p>
        </p:txBody>
      </p:sp>
      <p:sp>
        <p:nvSpPr>
          <p:cNvPr id="22" name="TextBox 21"/>
          <p:cNvSpPr txBox="1"/>
          <p:nvPr/>
        </p:nvSpPr>
        <p:spPr>
          <a:xfrm>
            <a:off x="4937759" y="3703320"/>
            <a:ext cx="3474720" cy="640080"/>
          </a:xfrm>
          <a:prstGeom prst="rect">
            <a:avLst/>
          </a:prstGeom>
          <a:noFill/>
        </p:spPr>
        <p:txBody>
          <a:bodyPr wrap="square" lIns="0" tIns="0" rIns="0" bIns="0" anchor="t">
            <a:spAutoFit/>
          </a:bodyPr>
          <a:lstStyle/>
          <a:p>
            <a:pPr algn="l"/>
            <a:r>
              <a:rPr sz="1300" b="0" i="0">
                <a:solidFill>
                  <a:srgbClr val="6B7280"/>
                </a:solidFill>
                <a:latin typeface="Calibri"/>
              </a:rPr>
              <a:t>We count a gift to any classroom, not to the same organization.</a:t>
            </a:r>
          </a:p>
        </p:txBody>
      </p:sp>
      <p:sp>
        <p:nvSpPr>
          <p:cNvPr id="23" name="TextBox 22">
            <a:extLst>
              <a:ext uri="{FF2B5EF4-FFF2-40B4-BE49-F238E27FC236}">
                <a16:creationId xmlns:a16="http://schemas.microsoft.com/office/drawing/2014/main" id="{B59CAB8A-DBCC-AA64-97A4-6A557C84EBDD}"/>
              </a:ext>
            </a:extLst>
          </p:cNvPr>
          <p:cNvSpPr txBox="1"/>
          <p:nvPr/>
        </p:nvSpPr>
        <p:spPr>
          <a:xfrm>
            <a:off x="6880302" y="-4338"/>
            <a:ext cx="2265976" cy="773772"/>
          </a:xfrm>
          <a:prstGeom prst="rect">
            <a:avLst/>
          </a:prstGeom>
          <a:solidFill>
            <a:schemeClr val="accent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a:ea typeface="Calibri"/>
                <a:cs typeface="Calibri"/>
              </a:rPr>
              <a:t>Thadeus: Add thank you data</a:t>
            </a:r>
          </a:p>
        </p:txBody>
      </p:sp>
    </p:spTree>
    <p:extLst>
      <p:ext uri="{BB962C8B-B14F-4D97-AF65-F5344CB8AC3E}">
        <p14:creationId xmlns:p14="http://schemas.microsoft.com/office/powerpoint/2010/main" val="31814968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20040"/>
            <a:ext cx="5303520" cy="640080"/>
          </a:xfrm>
          <a:prstGeom prst="rect">
            <a:avLst/>
          </a:prstGeom>
          <a:noFill/>
        </p:spPr>
        <p:txBody>
          <a:bodyPr wrap="square" lIns="0" tIns="0" rIns="0" bIns="0" anchor="t">
            <a:spAutoFit/>
          </a:bodyPr>
          <a:lstStyle/>
          <a:p>
            <a:pPr algn="l"/>
            <a:r>
              <a:rPr sz="3000" b="1" i="0">
                <a:solidFill>
                  <a:srgbClr val="1B2A41"/>
                </a:solidFill>
                <a:latin typeface="Cambria"/>
              </a:rPr>
              <a:t>Which features mattered</a:t>
            </a:r>
          </a:p>
        </p:txBody>
      </p:sp>
      <p:sp>
        <p:nvSpPr>
          <p:cNvPr id="3" name="Rectangle 2"/>
          <p:cNvSpPr/>
          <p:nvPr/>
        </p:nvSpPr>
        <p:spPr>
          <a:xfrm>
            <a:off x="5806440" y="457200"/>
            <a:ext cx="2788920" cy="329184"/>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806440" y="457200"/>
            <a:ext cx="2788920" cy="329184"/>
          </a:xfrm>
          <a:prstGeom prst="rect">
            <a:avLst/>
          </a:prstGeom>
          <a:noFill/>
        </p:spPr>
        <p:txBody>
          <a:bodyPr wrap="square" lIns="0" tIns="0" rIns="0" bIns="0" anchor="ctr">
            <a:spAutoFit/>
          </a:bodyPr>
          <a:lstStyle/>
          <a:p>
            <a:pPr algn="ctr"/>
            <a:r>
              <a:rPr sz="1050" b="1" i="0">
                <a:solidFill>
                  <a:srgbClr val="FFFFFF"/>
                </a:solidFill>
                <a:latin typeface="Calibri"/>
              </a:rPr>
              <a:t>PLACEHOLDER · BEST GUESS</a:t>
            </a:r>
          </a:p>
        </p:txBody>
      </p:sp>
      <p:sp>
        <p:nvSpPr>
          <p:cNvPr id="5" name="Rounded Rectangle 4"/>
          <p:cNvSpPr/>
          <p:nvPr/>
        </p:nvSpPr>
        <p:spPr>
          <a:xfrm>
            <a:off x="548640" y="1188720"/>
            <a:ext cx="8046720" cy="530352"/>
          </a:xfrm>
          <a:prstGeom prst="roundRect">
            <a:avLst>
              <a:gd name="adj" fmla="val 13793"/>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188720"/>
            <a:ext cx="457200" cy="530352"/>
          </a:xfrm>
          <a:prstGeom prst="rect">
            <a:avLst/>
          </a:prstGeom>
          <a:noFill/>
        </p:spPr>
        <p:txBody>
          <a:bodyPr wrap="square" lIns="0" tIns="0" rIns="0" bIns="0" anchor="ctr">
            <a:spAutoFit/>
          </a:bodyPr>
          <a:lstStyle/>
          <a:p>
            <a:pPr algn="l"/>
            <a:r>
              <a:rPr sz="2200" b="1" i="0">
                <a:solidFill>
                  <a:srgbClr val="E4572E"/>
                </a:solidFill>
                <a:latin typeface="Cambria"/>
              </a:rPr>
              <a:t>1</a:t>
            </a:r>
          </a:p>
        </p:txBody>
      </p:sp>
      <p:sp>
        <p:nvSpPr>
          <p:cNvPr id="7" name="TextBox 6"/>
          <p:cNvSpPr txBox="1"/>
          <p:nvPr/>
        </p:nvSpPr>
        <p:spPr>
          <a:xfrm>
            <a:off x="1325880" y="1188720"/>
            <a:ext cx="4389120" cy="530352"/>
          </a:xfrm>
          <a:prstGeom prst="rect">
            <a:avLst/>
          </a:prstGeom>
          <a:noFill/>
        </p:spPr>
        <p:txBody>
          <a:bodyPr wrap="square" lIns="0" tIns="0" rIns="0" bIns="0" anchor="ctr">
            <a:spAutoFit/>
          </a:bodyPr>
          <a:lstStyle/>
          <a:p>
            <a:pPr algn="l"/>
            <a:r>
              <a:rPr sz="1500" b="1" i="0">
                <a:solidFill>
                  <a:srgbClr val="1B2A41"/>
                </a:solidFill>
                <a:latin typeface="Calibri"/>
              </a:rPr>
              <a:t>Gift amount</a:t>
            </a:r>
          </a:p>
        </p:txBody>
      </p:sp>
      <p:pic>
        <p:nvPicPr>
          <p:cNvPr id="8" name="Picture 7" descr="FaArrowUp_2A9D8F.png"/>
          <p:cNvPicPr>
            <a:picLocks noChangeAspect="1"/>
          </p:cNvPicPr>
          <p:nvPr/>
        </p:nvPicPr>
        <p:blipFill>
          <a:blip r:embed="rId3"/>
          <a:stretch>
            <a:fillRect/>
          </a:stretch>
        </p:blipFill>
        <p:spPr>
          <a:xfrm>
            <a:off x="5760720" y="1335024"/>
            <a:ext cx="237744" cy="237744"/>
          </a:xfrm>
          <a:prstGeom prst="rect">
            <a:avLst/>
          </a:prstGeom>
        </p:spPr>
      </p:pic>
      <p:sp>
        <p:nvSpPr>
          <p:cNvPr id="9" name="TextBox 8"/>
          <p:cNvSpPr txBox="1"/>
          <p:nvPr/>
        </p:nvSpPr>
        <p:spPr>
          <a:xfrm>
            <a:off x="6126480" y="1188720"/>
            <a:ext cx="2377440" cy="530352"/>
          </a:xfrm>
          <a:prstGeom prst="rect">
            <a:avLst/>
          </a:prstGeom>
          <a:noFill/>
        </p:spPr>
        <p:txBody>
          <a:bodyPr wrap="square" lIns="0" tIns="0" rIns="0" bIns="0" anchor="ctr">
            <a:spAutoFit/>
          </a:bodyPr>
          <a:lstStyle/>
          <a:p>
            <a:pPr algn="l"/>
            <a:r>
              <a:rPr sz="1300" b="0" i="0">
                <a:solidFill>
                  <a:srgbClr val="6B7280"/>
                </a:solidFill>
                <a:latin typeface="Calibri"/>
              </a:rPr>
              <a:t>Bigger gift, more likely</a:t>
            </a:r>
          </a:p>
        </p:txBody>
      </p:sp>
      <p:sp>
        <p:nvSpPr>
          <p:cNvPr id="10" name="Rounded Rectangle 9"/>
          <p:cNvSpPr/>
          <p:nvPr/>
        </p:nvSpPr>
        <p:spPr>
          <a:xfrm>
            <a:off x="548640" y="1847088"/>
            <a:ext cx="8046720" cy="530352"/>
          </a:xfrm>
          <a:prstGeom prst="roundRect">
            <a:avLst>
              <a:gd name="adj" fmla="val 13793"/>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1847088"/>
            <a:ext cx="457200" cy="530352"/>
          </a:xfrm>
          <a:prstGeom prst="rect">
            <a:avLst/>
          </a:prstGeom>
          <a:noFill/>
        </p:spPr>
        <p:txBody>
          <a:bodyPr wrap="square" lIns="0" tIns="0" rIns="0" bIns="0" anchor="ctr">
            <a:spAutoFit/>
          </a:bodyPr>
          <a:lstStyle/>
          <a:p>
            <a:pPr algn="l"/>
            <a:r>
              <a:rPr sz="2200" b="1" i="0">
                <a:solidFill>
                  <a:srgbClr val="E4572E"/>
                </a:solidFill>
                <a:latin typeface="Cambria"/>
              </a:rPr>
              <a:t>2</a:t>
            </a:r>
          </a:p>
        </p:txBody>
      </p:sp>
      <p:sp>
        <p:nvSpPr>
          <p:cNvPr id="12" name="TextBox 11"/>
          <p:cNvSpPr txBox="1"/>
          <p:nvPr/>
        </p:nvSpPr>
        <p:spPr>
          <a:xfrm>
            <a:off x="1325880" y="1847088"/>
            <a:ext cx="4389120" cy="530352"/>
          </a:xfrm>
          <a:prstGeom prst="rect">
            <a:avLst/>
          </a:prstGeom>
          <a:noFill/>
        </p:spPr>
        <p:txBody>
          <a:bodyPr wrap="square" lIns="0" tIns="0" rIns="0" bIns="0" anchor="ctr">
            <a:spAutoFit/>
          </a:bodyPr>
          <a:lstStyle/>
          <a:p>
            <a:pPr algn="l"/>
            <a:r>
              <a:rPr sz="1500" b="1" i="0">
                <a:solidFill>
                  <a:srgbClr val="1B2A41"/>
                </a:solidFill>
                <a:latin typeface="Calibri"/>
              </a:rPr>
              <a:t>Paid with a gift card</a:t>
            </a:r>
          </a:p>
        </p:txBody>
      </p:sp>
      <p:pic>
        <p:nvPicPr>
          <p:cNvPr id="13" name="Picture 12" descr="FaArrowDown_E4572E.png"/>
          <p:cNvPicPr>
            <a:picLocks noChangeAspect="1"/>
          </p:cNvPicPr>
          <p:nvPr/>
        </p:nvPicPr>
        <p:blipFill>
          <a:blip r:embed="rId4"/>
          <a:stretch>
            <a:fillRect/>
          </a:stretch>
        </p:blipFill>
        <p:spPr>
          <a:xfrm>
            <a:off x="5760720" y="1993392"/>
            <a:ext cx="237744" cy="237744"/>
          </a:xfrm>
          <a:prstGeom prst="rect">
            <a:avLst/>
          </a:prstGeom>
        </p:spPr>
      </p:pic>
      <p:sp>
        <p:nvSpPr>
          <p:cNvPr id="14" name="TextBox 13"/>
          <p:cNvSpPr txBox="1"/>
          <p:nvPr/>
        </p:nvSpPr>
        <p:spPr>
          <a:xfrm>
            <a:off x="6126480" y="1847088"/>
            <a:ext cx="2377440" cy="530352"/>
          </a:xfrm>
          <a:prstGeom prst="rect">
            <a:avLst/>
          </a:prstGeom>
          <a:noFill/>
        </p:spPr>
        <p:txBody>
          <a:bodyPr wrap="square" lIns="0" tIns="0" rIns="0" bIns="0" anchor="ctr">
            <a:spAutoFit/>
          </a:bodyPr>
          <a:lstStyle/>
          <a:p>
            <a:pPr algn="l"/>
            <a:r>
              <a:rPr sz="1300" b="0" i="0">
                <a:solidFill>
                  <a:srgbClr val="6B7280"/>
                </a:solidFill>
                <a:latin typeface="Calibri"/>
              </a:rPr>
              <a:t>Less likely to return</a:t>
            </a:r>
          </a:p>
        </p:txBody>
      </p:sp>
      <p:sp>
        <p:nvSpPr>
          <p:cNvPr id="15" name="Rounded Rectangle 14"/>
          <p:cNvSpPr/>
          <p:nvPr/>
        </p:nvSpPr>
        <p:spPr>
          <a:xfrm>
            <a:off x="548640" y="2505456"/>
            <a:ext cx="8046720" cy="530352"/>
          </a:xfrm>
          <a:prstGeom prst="roundRect">
            <a:avLst>
              <a:gd name="adj" fmla="val 13793"/>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2505456"/>
            <a:ext cx="457200" cy="530352"/>
          </a:xfrm>
          <a:prstGeom prst="rect">
            <a:avLst/>
          </a:prstGeom>
          <a:noFill/>
        </p:spPr>
        <p:txBody>
          <a:bodyPr wrap="square" lIns="0" tIns="0" rIns="0" bIns="0" anchor="ctr">
            <a:spAutoFit/>
          </a:bodyPr>
          <a:lstStyle/>
          <a:p>
            <a:pPr algn="l"/>
            <a:r>
              <a:rPr sz="2200" b="1" i="0">
                <a:solidFill>
                  <a:srgbClr val="E4572E"/>
                </a:solidFill>
                <a:latin typeface="Cambria"/>
              </a:rPr>
              <a:t>3</a:t>
            </a:r>
          </a:p>
        </p:txBody>
      </p:sp>
      <p:sp>
        <p:nvSpPr>
          <p:cNvPr id="17" name="TextBox 16"/>
          <p:cNvSpPr txBox="1"/>
          <p:nvPr/>
        </p:nvSpPr>
        <p:spPr>
          <a:xfrm>
            <a:off x="1325880" y="2505456"/>
            <a:ext cx="4389120" cy="530352"/>
          </a:xfrm>
          <a:prstGeom prst="rect">
            <a:avLst/>
          </a:prstGeom>
          <a:noFill/>
        </p:spPr>
        <p:txBody>
          <a:bodyPr wrap="square" lIns="0" tIns="0" rIns="0" bIns="0" anchor="ctr">
            <a:spAutoFit/>
          </a:bodyPr>
          <a:lstStyle/>
          <a:p>
            <a:pPr algn="l"/>
            <a:r>
              <a:rPr sz="1500" b="1" i="0">
                <a:solidFill>
                  <a:srgbClr val="1B2A41"/>
                </a:solidFill>
                <a:latin typeface="Calibri"/>
              </a:rPr>
              <a:t>Year of first gift</a:t>
            </a:r>
          </a:p>
        </p:txBody>
      </p:sp>
      <p:pic>
        <p:nvPicPr>
          <p:cNvPr id="18" name="Picture 17" descr="FaArrowDown_E4572E.png"/>
          <p:cNvPicPr>
            <a:picLocks noChangeAspect="1"/>
          </p:cNvPicPr>
          <p:nvPr/>
        </p:nvPicPr>
        <p:blipFill>
          <a:blip r:embed="rId4"/>
          <a:stretch>
            <a:fillRect/>
          </a:stretch>
        </p:blipFill>
        <p:spPr>
          <a:xfrm>
            <a:off x="5760720" y="2651760"/>
            <a:ext cx="237744" cy="237744"/>
          </a:xfrm>
          <a:prstGeom prst="rect">
            <a:avLst/>
          </a:prstGeom>
        </p:spPr>
      </p:pic>
      <p:sp>
        <p:nvSpPr>
          <p:cNvPr id="19" name="TextBox 18"/>
          <p:cNvSpPr txBox="1"/>
          <p:nvPr/>
        </p:nvSpPr>
        <p:spPr>
          <a:xfrm>
            <a:off x="6126480" y="2505456"/>
            <a:ext cx="2377440" cy="530352"/>
          </a:xfrm>
          <a:prstGeom prst="rect">
            <a:avLst/>
          </a:prstGeom>
          <a:noFill/>
        </p:spPr>
        <p:txBody>
          <a:bodyPr wrap="square" lIns="0" tIns="0" rIns="0" bIns="0" anchor="ctr">
            <a:spAutoFit/>
          </a:bodyPr>
          <a:lstStyle/>
          <a:p>
            <a:pPr algn="l"/>
            <a:r>
              <a:rPr sz="1300" b="0" i="0">
                <a:solidFill>
                  <a:srgbClr val="6B7280"/>
                </a:solidFill>
                <a:latin typeface="Calibri"/>
              </a:rPr>
              <a:t>Newer donors, less likely</a:t>
            </a:r>
          </a:p>
        </p:txBody>
      </p:sp>
      <p:sp>
        <p:nvSpPr>
          <p:cNvPr id="20" name="Rounded Rectangle 19"/>
          <p:cNvSpPr/>
          <p:nvPr/>
        </p:nvSpPr>
        <p:spPr>
          <a:xfrm>
            <a:off x="548640" y="3163824"/>
            <a:ext cx="8046720" cy="530352"/>
          </a:xfrm>
          <a:prstGeom prst="roundRect">
            <a:avLst>
              <a:gd name="adj" fmla="val 13793"/>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7240" y="3163824"/>
            <a:ext cx="457200" cy="530352"/>
          </a:xfrm>
          <a:prstGeom prst="rect">
            <a:avLst/>
          </a:prstGeom>
          <a:noFill/>
        </p:spPr>
        <p:txBody>
          <a:bodyPr wrap="square" lIns="0" tIns="0" rIns="0" bIns="0" anchor="ctr">
            <a:spAutoFit/>
          </a:bodyPr>
          <a:lstStyle/>
          <a:p>
            <a:pPr algn="l"/>
            <a:r>
              <a:rPr sz="2200" b="1" i="0">
                <a:solidFill>
                  <a:srgbClr val="E4572E"/>
                </a:solidFill>
                <a:latin typeface="Cambria"/>
              </a:rPr>
              <a:t>4</a:t>
            </a:r>
          </a:p>
        </p:txBody>
      </p:sp>
      <p:sp>
        <p:nvSpPr>
          <p:cNvPr id="22" name="TextBox 21"/>
          <p:cNvSpPr txBox="1"/>
          <p:nvPr/>
        </p:nvSpPr>
        <p:spPr>
          <a:xfrm>
            <a:off x="1325880" y="3163824"/>
            <a:ext cx="4389120" cy="530352"/>
          </a:xfrm>
          <a:prstGeom prst="rect">
            <a:avLst/>
          </a:prstGeom>
          <a:noFill/>
        </p:spPr>
        <p:txBody>
          <a:bodyPr wrap="square" lIns="0" tIns="0" rIns="0" bIns="0" anchor="ctr">
            <a:spAutoFit/>
          </a:bodyPr>
          <a:lstStyle/>
          <a:p>
            <a:pPr algn="l"/>
            <a:r>
              <a:rPr sz="1500" b="1" i="0">
                <a:solidFill>
                  <a:srgbClr val="1B2A41"/>
                </a:solidFill>
                <a:latin typeface="Calibri"/>
              </a:rPr>
              <a:t>Classrooms funded that month</a:t>
            </a:r>
          </a:p>
        </p:txBody>
      </p:sp>
      <p:pic>
        <p:nvPicPr>
          <p:cNvPr id="23" name="Picture 22" descr="FaArrowUp_2A9D8F.png"/>
          <p:cNvPicPr>
            <a:picLocks noChangeAspect="1"/>
          </p:cNvPicPr>
          <p:nvPr/>
        </p:nvPicPr>
        <p:blipFill>
          <a:blip r:embed="rId3"/>
          <a:stretch>
            <a:fillRect/>
          </a:stretch>
        </p:blipFill>
        <p:spPr>
          <a:xfrm>
            <a:off x="5760720" y="3310128"/>
            <a:ext cx="237744" cy="237744"/>
          </a:xfrm>
          <a:prstGeom prst="rect">
            <a:avLst/>
          </a:prstGeom>
        </p:spPr>
      </p:pic>
      <p:sp>
        <p:nvSpPr>
          <p:cNvPr id="24" name="TextBox 23"/>
          <p:cNvSpPr txBox="1"/>
          <p:nvPr/>
        </p:nvSpPr>
        <p:spPr>
          <a:xfrm>
            <a:off x="6126480" y="3163824"/>
            <a:ext cx="2377440" cy="530352"/>
          </a:xfrm>
          <a:prstGeom prst="rect">
            <a:avLst/>
          </a:prstGeom>
          <a:noFill/>
        </p:spPr>
        <p:txBody>
          <a:bodyPr wrap="square" lIns="0" tIns="0" rIns="0" bIns="0" anchor="ctr">
            <a:spAutoFit/>
          </a:bodyPr>
          <a:lstStyle/>
          <a:p>
            <a:pPr algn="l"/>
            <a:r>
              <a:rPr sz="1300" b="0" i="0">
                <a:solidFill>
                  <a:srgbClr val="6B7280"/>
                </a:solidFill>
                <a:latin typeface="Calibri"/>
              </a:rPr>
              <a:t>More classrooms, more likely</a:t>
            </a:r>
          </a:p>
        </p:txBody>
      </p:sp>
      <p:sp>
        <p:nvSpPr>
          <p:cNvPr id="25" name="Rounded Rectangle 24"/>
          <p:cNvSpPr/>
          <p:nvPr/>
        </p:nvSpPr>
        <p:spPr>
          <a:xfrm>
            <a:off x="548640" y="3822191"/>
            <a:ext cx="8046720" cy="530352"/>
          </a:xfrm>
          <a:prstGeom prst="roundRect">
            <a:avLst>
              <a:gd name="adj" fmla="val 13793"/>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 y="3822191"/>
            <a:ext cx="457200" cy="530352"/>
          </a:xfrm>
          <a:prstGeom prst="rect">
            <a:avLst/>
          </a:prstGeom>
          <a:noFill/>
        </p:spPr>
        <p:txBody>
          <a:bodyPr wrap="square" lIns="0" tIns="0" rIns="0" bIns="0" anchor="ctr">
            <a:spAutoFit/>
          </a:bodyPr>
          <a:lstStyle/>
          <a:p>
            <a:pPr algn="l"/>
            <a:r>
              <a:rPr sz="2200" b="1" i="0">
                <a:solidFill>
                  <a:srgbClr val="E4572E"/>
                </a:solidFill>
                <a:latin typeface="Cambria"/>
              </a:rPr>
              <a:t>5</a:t>
            </a:r>
          </a:p>
        </p:txBody>
      </p:sp>
      <p:sp>
        <p:nvSpPr>
          <p:cNvPr id="27" name="TextBox 26"/>
          <p:cNvSpPr txBox="1"/>
          <p:nvPr/>
        </p:nvSpPr>
        <p:spPr>
          <a:xfrm>
            <a:off x="1325880" y="3822191"/>
            <a:ext cx="4389120" cy="530352"/>
          </a:xfrm>
          <a:prstGeom prst="rect">
            <a:avLst/>
          </a:prstGeom>
          <a:noFill/>
        </p:spPr>
        <p:txBody>
          <a:bodyPr wrap="square" lIns="0" tIns="0" rIns="0" bIns="0" anchor="ctr">
            <a:spAutoFit/>
          </a:bodyPr>
          <a:lstStyle/>
          <a:p>
            <a:pPr algn="l"/>
            <a:r>
              <a:rPr sz="1500" b="1" i="0">
                <a:solidFill>
                  <a:srgbClr val="1B2A41"/>
                </a:solidFill>
                <a:latin typeface="Calibri"/>
              </a:rPr>
              <a:t>State × subject × grade</a:t>
            </a:r>
          </a:p>
        </p:txBody>
      </p:sp>
      <p:pic>
        <p:nvPicPr>
          <p:cNvPr id="28" name="Picture 27" descr="FaRandom_6B7280.png"/>
          <p:cNvPicPr>
            <a:picLocks noChangeAspect="1"/>
          </p:cNvPicPr>
          <p:nvPr/>
        </p:nvPicPr>
        <p:blipFill>
          <a:blip r:embed="rId5"/>
          <a:stretch>
            <a:fillRect/>
          </a:stretch>
        </p:blipFill>
        <p:spPr>
          <a:xfrm>
            <a:off x="5760720" y="3968496"/>
            <a:ext cx="237744" cy="237744"/>
          </a:xfrm>
          <a:prstGeom prst="rect">
            <a:avLst/>
          </a:prstGeom>
        </p:spPr>
      </p:pic>
      <p:sp>
        <p:nvSpPr>
          <p:cNvPr id="29" name="TextBox 28"/>
          <p:cNvSpPr txBox="1"/>
          <p:nvPr/>
        </p:nvSpPr>
        <p:spPr>
          <a:xfrm>
            <a:off x="6126480" y="3822191"/>
            <a:ext cx="2377440" cy="530352"/>
          </a:xfrm>
          <a:prstGeom prst="rect">
            <a:avLst/>
          </a:prstGeom>
          <a:noFill/>
        </p:spPr>
        <p:txBody>
          <a:bodyPr wrap="square" lIns="0" tIns="0" rIns="0" bIns="0" anchor="ctr">
            <a:spAutoFit/>
          </a:bodyPr>
          <a:lstStyle/>
          <a:p>
            <a:pPr algn="l"/>
            <a:r>
              <a:rPr sz="1300" b="0" i="0">
                <a:solidFill>
                  <a:srgbClr val="6B7280"/>
                </a:solidFill>
                <a:latin typeface="Calibri"/>
              </a:rPr>
              <a:t>Depends on the mix</a:t>
            </a:r>
          </a:p>
        </p:txBody>
      </p:sp>
      <p:sp>
        <p:nvSpPr>
          <p:cNvPr id="30" name="TextBox 29"/>
          <p:cNvSpPr txBox="1"/>
          <p:nvPr/>
        </p:nvSpPr>
        <p:spPr>
          <a:xfrm>
            <a:off x="548640" y="4572000"/>
            <a:ext cx="8046720" cy="274320"/>
          </a:xfrm>
          <a:prstGeom prst="rect">
            <a:avLst/>
          </a:prstGeom>
          <a:noFill/>
        </p:spPr>
        <p:txBody>
          <a:bodyPr wrap="square" lIns="0" tIns="0" rIns="0" bIns="0" anchor="t">
            <a:spAutoFit/>
          </a:bodyPr>
          <a:lstStyle/>
          <a:p>
            <a:pPr algn="l"/>
            <a:r>
              <a:rPr sz="1000" b="0" i="1">
                <a:solidFill>
                  <a:srgbClr val="6B7280"/>
                </a:solidFill>
                <a:latin typeface="Calibri"/>
              </a:rPr>
              <a:t>Guess from the simpler model's weights and Reid's exploration. Replace with measured importance from the final model.</a:t>
            </a:r>
          </a:p>
        </p:txBody>
      </p:sp>
    </p:spTree>
    <p:extLst>
      <p:ext uri="{BB962C8B-B14F-4D97-AF65-F5344CB8AC3E}">
        <p14:creationId xmlns:p14="http://schemas.microsoft.com/office/powerpoint/2010/main" val="34152367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33</Slides>
  <Notes>31</Notes>
  <HiddenSlides>13</HiddenSlide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the Second Gift</dc:title>
  <dc:subject>PptxGenJS Presentation</dc:subject>
  <dc:creator>PptxGenJS</dc:creator>
  <cp:revision>4</cp:revision>
  <dcterms:created xsi:type="dcterms:W3CDTF">2026-09-24T15:12:15Z</dcterms:created>
  <dcterms:modified xsi:type="dcterms:W3CDTF">2026-09-29T15:00:15Z</dcterms:modified>
</cp:coreProperties>
</file>