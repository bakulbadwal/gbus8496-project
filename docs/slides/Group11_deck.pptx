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seconds. Title, five names, then the disclosure out loud — Albert asked for it explicitly. Saying it first makes it a strength: we picked a problem one of us has watched people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seconds. Land the number and the person, then stop. Chart data: evals/results/01_check_donor_id.txt.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55 seconds. One line per decision. The point is not the decisions themselves but that each is stated and reversible — the notebook reports the positive rate both ways for the same-month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seconds. Tell it as it happened. This is the slide the 'genuine insight' vote is won on. Chart data: evals/results/03_profile_cohorts.txt, holdout cohorts.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55 seconds. Owner fills in. Serves the 'genuine insight'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seconds. Headline metric is dollars per contact, not AUC — Albert said the ranking at capacity is the decision. Baseline rows are real (evals/results/04_score_citizen.txt); the model row is the owner's.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seconds. Answers Albert's 'how do you know it works' directly. The honest sentence about where it is weakest is the one the room respects.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seconds. Cost per contact from real practice — a number GoGood can defend. Production cost is effectively zero and should be said as such.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seconds. Three things, plainly. Serves the insight question and the honesty Albert grades under 'technical contribution'.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seconds. The exact words come from slides 6 and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GBUS 8496 · MACHINE LEARNING AND AI FOR BUSINESS · GROUP 11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715000" y="292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Malorie  ·  1 / 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515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D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the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91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Gift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0604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first-time donors will give again, and which ones a small nonprofit should spend staff time on.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2461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4A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Malorie Black · Reid Jacobson · Thadeus Knospe · Rodolfo Perez-Cortes Manrique · Bakul Badwal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794760"/>
            <a:ext cx="8138160" cy="868680"/>
          </a:xfrm>
          <a:prstGeom prst="roundRect">
            <a:avLst>
              <a:gd name="adj" fmla="val 6316"/>
            </a:avLst>
          </a:prstGeom>
          <a:solidFill>
            <a:srgbClr val="13253A"/>
          </a:solidFill>
          <a:ln w="12700">
            <a:solidFill>
              <a:srgbClr val="1325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90448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DISCLOSURE, SAID FIRST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11480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E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us founded GoGood Technologies, a donor-engagement platform whose customers are the stakeholder in this talk. That is why we chose the problem. Weigh what we say accordingly.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715000" y="292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Malorie  ·  2 / 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85800"/>
            <a:ext cx="3291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9A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71%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116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DonorsChoose donors gave once and never again.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974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million donors, seventeen years. The second gift is where retention is won or lost, and small organizations have the least capacity to work it.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611880"/>
            <a:ext cx="3383280" cy="1051560"/>
          </a:xfrm>
          <a:prstGeom prst="roundRect">
            <a:avLst>
              <a:gd name="adj" fmla="val 5217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703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STAKEHOLDER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91363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2E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development lead at a ~$500K nonprofit, no data staff. Each month she can personally follow up with a fraction of last month's new donors. She builds that list by hand, from recency and gift size.</a:t>
            </a:r>
            <a:endParaRPr lang="en-US" sz="1050" dirty="0"/>
          </a:p>
        </p:txBody>
      </p:sp>
      <p:pic>
        <p:nvPicPr>
          <p:cNvPr id="10" name="Image 0" descr="/Users/bakulbadwal/Documents/GitHub/gbus8496-project/docs/slides/assets/slide2_donations_per_donor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777240"/>
            <a:ext cx="448056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AND LABEL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715000" y="292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Bakul  ·  3 / 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 turn eleven million rows into one label. Each could have gone the other way.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916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11.4M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2585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DONATIONS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4688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3.28M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0358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LABELLED DONORS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2461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15.8%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8130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 WITHIN 12 MO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160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4A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ICPSR 37898, 2002–2019. Train through 2016, hold out 2017–18: a random split would let the model see the future.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063240" y="1691640"/>
            <a:ext cx="2697480" cy="1481328"/>
          </a:xfrm>
          <a:prstGeom prst="roundRect">
            <a:avLst>
              <a:gd name="adj" fmla="val 3704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27832" y="1819656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1847088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Same-month repeats don't count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227832" y="2258568"/>
            <a:ext cx="2368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checkout can fund several classrooms. Two gifts in month one are one event, not a return. She cannot steward back someone who never left.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0" y="1691640"/>
            <a:ext cx="2697480" cy="1481328"/>
          </a:xfrm>
          <a:prstGeom prst="roundRect">
            <a:avLst>
              <a:gd name="adj" fmla="val 3704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08192" y="1819656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1847088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whole months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108192" y="2258568"/>
            <a:ext cx="2368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M+1 to M+12. Dates are month-level, so no finer definition exists and none is claimed.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063240" y="3355848"/>
            <a:ext cx="2697480" cy="1481328"/>
          </a:xfrm>
          <a:prstGeom prst="roundRect">
            <a:avLst>
              <a:gd name="adj" fmla="val 3704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27832" y="348386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3566160" y="3511296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Unclosed windows: dropped, not zeroed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227832" y="3922776"/>
            <a:ext cx="2368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2019 donor has not had a year to come back. Labelling them 0 teaches the model that recent donors never return.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43600" y="3355848"/>
            <a:ext cx="2697480" cy="1481328"/>
          </a:xfrm>
          <a:prstGeom prst="roundRect">
            <a:avLst>
              <a:gd name="adj" fmla="val 3704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08192" y="348386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511296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 are not gifts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108192" y="3922776"/>
            <a:ext cx="2368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codebook lists a minimum amount of −$15. A reversal cannot open a cohort or count as a return. 151 rows, excluded.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FINDING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715000" y="292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Bakul  ·  4 / 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708 organizations hold 62% of every repeat dollar.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002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2E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first result found 80% of all repeat dollars at 10% capacity with the dumbest possible rule: rank by gift size. It looked like a triumph.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46888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measuring corporate matching programs. The largest made 66,348 donations in its twelve-month window. Any ranker wins the pooled contest by finding them — and she already knows who they are.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611880"/>
            <a:ext cx="3246120" cy="1051560"/>
          </a:xfrm>
          <a:prstGeom prst="roundRect">
            <a:avLst>
              <a:gd name="adj" fmla="val 5217"/>
            </a:avLst>
          </a:prstGeom>
          <a:solidFill>
            <a:srgbClr val="13253A"/>
          </a:solidFill>
          <a:ln w="12700">
            <a:solidFill>
              <a:srgbClr val="1325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703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DECISION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913632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2E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citizen donors only — 86% of people, the ones she actually calls. One line in config, reversible, both numbers kept.</a:t>
            </a:r>
            <a:endParaRPr lang="en-US" sz="1050" dirty="0"/>
          </a:p>
        </p:txBody>
      </p:sp>
      <p:pic>
        <p:nvPicPr>
          <p:cNvPr id="10" name="Image 0" descr="/Users/bakulbadwal/Documents/GitHub/gbus8496-project/docs/slides/assets/slide4_donor_type_shares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6552" y="1207008"/>
            <a:ext cx="4224528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715000" y="292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Reid  ·  5 / 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predicts a return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801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C9A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 size finds dollars; [feature] finds people. Here is what moved and what did not.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6596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to keep: one chart of importance or lift, one sentence per feature that mattered, one on what did not. Text is masked by ICPSR — no embeddings. Tie back to slide 4.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188720"/>
            <a:ext cx="4480560" cy="3520440"/>
          </a:xfrm>
          <a:prstGeom prst="roundRect">
            <a:avLst>
              <a:gd name="adj" fmla="val 1558"/>
            </a:avLst>
          </a:prstGeom>
          <a:solidFill>
            <a:srgbClr val="081321"/>
          </a:solidFill>
          <a:ln w="9525">
            <a:solidFill>
              <a:srgbClr val="C9A96A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4343400" y="1371600"/>
            <a:ext cx="41148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 HERE</a:t>
            </a:r>
            <a:endParaRPr lang="en-US" sz="8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B4A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or lift table — one chart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HEADLINE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715000" y="292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Rodolfo  ·  6 / 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her capacity, dollars identified per contact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618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4A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donors · top 10% of each month's new donors · 2017–18 holdout · value identified, never “caused”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81381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234440"/>
                <a:gridCol w="1234440"/>
                <a:gridCol w="1417320"/>
                <a:gridCol w="10515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C9A96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RANKING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5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C9A96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PRECISION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5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C9A96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RECALL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5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C9A96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VALUE FOUND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5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C9A96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$ / CONTACT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5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C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9A9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 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C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9A9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 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C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C9A9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 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C2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9A9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$[   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C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2ED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gift size — the honest 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2ED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First-month gift 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 everyone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D9D3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325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321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41148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B4A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baseline is fair: on a first-gift cohort, RFM collapses to gift size, and gift size is what she does by hand. If the model does not beat $116, say so and go to slide 9.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715000" y="292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Thadeus  ·  7 / 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know it works — and where it does not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C9A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calibrated here, it is not calibrated there, and it is weakest on exactly the donors she cares about most.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1031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curve on the holdout. Error analysis by cohort year — does 2018 behave like 2015? — and by first-gift size band, where most of her donors live.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188720"/>
            <a:ext cx="2148840" cy="3520440"/>
          </a:xfrm>
          <a:prstGeom prst="roundRect">
            <a:avLst>
              <a:gd name="adj" fmla="val 2553"/>
            </a:avLst>
          </a:prstGeom>
          <a:solidFill>
            <a:srgbClr val="081321"/>
          </a:solidFill>
          <a:ln w="9525">
            <a:solidFill>
              <a:srgbClr val="C9A96A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4343400" y="1371600"/>
            <a:ext cx="17830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 HERE</a:t>
            </a:r>
            <a:endParaRPr lang="en-US" sz="8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B4A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curve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92240" y="1188720"/>
            <a:ext cx="2148840" cy="3520440"/>
          </a:xfrm>
          <a:prstGeom prst="roundRect">
            <a:avLst>
              <a:gd name="adj" fmla="val 2553"/>
            </a:avLst>
          </a:prstGeom>
          <a:solidFill>
            <a:srgbClr val="081321"/>
          </a:solidFill>
          <a:ln w="9525">
            <a:solidFill>
              <a:srgbClr val="C9A96A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6675120" y="1371600"/>
            <a:ext cx="17830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 HERE</a:t>
            </a:r>
            <a:endParaRPr lang="en-US" sz="8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B4A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by cohort year / gift band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DECISION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715000" y="292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Malorie  ·  8 / 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she does on Monday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1790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[N] hrs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5798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MONTHLY CAPACITY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60320" y="137160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43200" y="151790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[N] calls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15798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[ ] MIN EACH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617720" y="137160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51790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$[  ]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15798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CONTACT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675120" y="137160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0" y="151790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215798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RUN, MONTHLY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288036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her hours, work this list and expect roughly $[Y] in subsequent giving that the old list would have missed. Amount model: cohort median to start (Albert: fine). This answers 'what would it cost at scale' in one line.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703320"/>
            <a:ext cx="8138160" cy="960120"/>
          </a:xfrm>
          <a:prstGeom prst="roundRect">
            <a:avLst>
              <a:gd name="adj" fmla="val 5714"/>
            </a:avLst>
          </a:prstGeom>
          <a:solidFill>
            <a:srgbClr val="081321"/>
          </a:solidFill>
          <a:ln w="9525">
            <a:solidFill>
              <a:srgbClr val="C9A96A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685800" y="38862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 HERE</a:t>
            </a:r>
            <a:endParaRPr lang="en-US" sz="8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B4A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 sentence a development lead repeats to her board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715000" y="292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Thadeus  ·  9 / 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21792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did not find, and what we are not claiming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2606040" cy="2926080"/>
          </a:xfrm>
          <a:prstGeom prst="roundRect">
            <a:avLst>
              <a:gd name="adj" fmla="val 2105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103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causal claim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260604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was randomly assigned to be contacted. We rank by predicted future value and say “identified”, never “caused”.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1371600"/>
            <a:ext cx="2606040" cy="2926080"/>
          </a:xfrm>
          <a:prstGeom prst="roundRect">
            <a:avLst>
              <a:gd name="adj" fmla="val 2105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4728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447288" y="2103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Thank-you packet: dropped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260604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codebook gives no timing. The flag may record something that happened after the second gift. Albert pre-approved dropping it.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89320" y="1371600"/>
            <a:ext cx="2606040" cy="2926080"/>
          </a:xfrm>
          <a:prstGeom prst="roundRect">
            <a:avLst>
              <a:gd name="adj" fmla="val 2105"/>
            </a:avLst>
          </a:prstGeom>
          <a:solidFill>
            <a:srgbClr val="0D1C2B"/>
          </a:solidFill>
          <a:ln w="12700">
            <a:solidFill>
              <a:srgbClr val="0D1C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9048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190488" y="2103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is a hypothesis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190488" y="260604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9D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DonorsChoose donors are marketplace donors; small-nonprofit donors are relational. Behavioural features likely transfer; platform-specific ones likely do not.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9A9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RECOMMENDATION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715000" y="292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Malorie  ·  10 / 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234440"/>
            <a:ext cx="7589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 this month's first-time donors by [model / gift size], call the top [N], and expect to reach [X] percent of next year's repeat giving with [Y] hours.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C9A9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sentence. Then stop.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519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8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github.com/bakulbadwal/gbus8496-project  ·  every number reproduces with  python evals/run_all.py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the Second Gift</dc:title>
  <dc:subject>PptxGenJS Presentation</dc:subject>
  <dc:creator>Group 11 — GBUS 8496</dc:creator>
  <cp:lastModifiedBy>Group 11 — GBUS 8496</cp:lastModifiedBy>
  <cp:revision>1</cp:revision>
  <dcterms:created xsi:type="dcterms:W3CDTF">2026-09-12T00:01:04Z</dcterms:created>
  <dcterms:modified xsi:type="dcterms:W3CDTF">2026-09-12T00:01:04Z</dcterms:modified>
</cp:coreProperties>
</file>