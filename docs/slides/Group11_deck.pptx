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95e431a50d479e" /><Relationship Type="http://schemas.openxmlformats.org/officeDocument/2006/relationships/extended-properties" Target="/docProps/app.xml" Id="Rb26a351469be43da" /><Relationship Type="http://schemas.openxmlformats.org/officeDocument/2006/relationships/officeDocument" Target="/ppt/presentation.xml" Id="R711ab746314d42df" /></Relationships>
</file>

<file path=ppt/presentation.xml><?xml version="1.0" encoding="utf-8"?>
<p:presentation xmlns:p="http://schemas.openxmlformats.org/presentationml/2006/main">
  <p:sldMasterIdLst>
    <p:sldMasterId xmlns:r="http://schemas.openxmlformats.org/officeDocument/2006/relationships" id="2147483648" r:id="Re68795dd228342a9"/>
  </p:sldMasterIdLst>
  <p:notesMasterIdLst>
    <p:notesMasterId xmlns:r="http://schemas.openxmlformats.org/officeDocument/2006/relationships" r:id="Rc98c8980597740ca"/>
  </p:notesMasterIdLst>
  <p:sldIdLst>
    <p:sldId xmlns:r="http://schemas.openxmlformats.org/officeDocument/2006/relationships" id="256" r:id="R54c9b94b096b4279"/>
    <p:sldId xmlns:r="http://schemas.openxmlformats.org/officeDocument/2006/relationships" id="257" r:id="R8ea4f007fe6a4106"/>
    <p:sldId xmlns:r="http://schemas.openxmlformats.org/officeDocument/2006/relationships" id="258" r:id="R0c22df83dde640fa"/>
    <p:sldId xmlns:r="http://schemas.openxmlformats.org/officeDocument/2006/relationships" id="259" r:id="Rb605cdaff26340d0"/>
    <p:sldId xmlns:r="http://schemas.openxmlformats.org/officeDocument/2006/relationships" id="260" r:id="R43194dfbcae9483e"/>
    <p:sldId xmlns:r="http://schemas.openxmlformats.org/officeDocument/2006/relationships" id="261" r:id="R1239424df2d54b95"/>
    <p:sldId xmlns:r="http://schemas.openxmlformats.org/officeDocument/2006/relationships" id="262" r:id="Rff1b613e46424320"/>
    <p:sldId xmlns:r="http://schemas.openxmlformats.org/officeDocument/2006/relationships" id="263" r:id="R902cb675eb594463"/>
    <p:sldId xmlns:r="http://schemas.openxmlformats.org/officeDocument/2006/relationships" id="264" r:id="Re6970d6c51a6403d"/>
    <p:sldId xmlns:r="http://schemas.openxmlformats.org/officeDocument/2006/relationships" id="265" r:id="R09f167ce29f646e9"/>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39554e040914a76" /><Relationship Type="http://schemas.openxmlformats.org/officeDocument/2006/relationships/slideMaster" Target="/ppt/slideMasters/slideMaster1.xml" Id="Re68795dd228342a9" /><Relationship Type="http://schemas.openxmlformats.org/officeDocument/2006/relationships/notesMaster" Target="/ppt/notesMasters/notesMaster1.xml" Id="Rc98c8980597740ca" /><Relationship Type="http://schemas.openxmlformats.org/officeDocument/2006/relationships/presProps" Target="/ppt/presProps.xml" Id="R84fbc4b49ac843f7" /><Relationship Type="http://schemas.openxmlformats.org/officeDocument/2006/relationships/viewProps" Target="/ppt/viewProps.xml" Id="R172ae3db9af3402b" /><Relationship Type="http://schemas.openxmlformats.org/officeDocument/2006/relationships/tableStyles" Target="/ppt/tableStyles.xml" Id="R825a8253ef87428a" /><Relationship Type="http://schemas.openxmlformats.org/officeDocument/2006/relationships/slide" Target="/ppt/slides/slide1.xml" Id="R54c9b94b096b4279" /><Relationship Type="http://schemas.openxmlformats.org/officeDocument/2006/relationships/slide" Target="/ppt/slides/slide2.xml" Id="R8ea4f007fe6a4106" /><Relationship Type="http://schemas.openxmlformats.org/officeDocument/2006/relationships/slide" Target="/ppt/slides/slide3.xml" Id="R0c22df83dde640fa" /><Relationship Type="http://schemas.openxmlformats.org/officeDocument/2006/relationships/slide" Target="/ppt/slides/slide4.xml" Id="Rb605cdaff26340d0" /><Relationship Type="http://schemas.openxmlformats.org/officeDocument/2006/relationships/slide" Target="/ppt/slides/slide5.xml" Id="R43194dfbcae9483e" /><Relationship Type="http://schemas.openxmlformats.org/officeDocument/2006/relationships/slide" Target="/ppt/slides/slide6.xml" Id="R1239424df2d54b95" /><Relationship Type="http://schemas.openxmlformats.org/officeDocument/2006/relationships/slide" Target="/ppt/slides/slide7.xml" Id="Rff1b613e46424320" /><Relationship Type="http://schemas.openxmlformats.org/officeDocument/2006/relationships/slide" Target="/ppt/slides/slide8.xml" Id="R902cb675eb594463" /><Relationship Type="http://schemas.openxmlformats.org/officeDocument/2006/relationships/slide" Target="/ppt/slides/slide9.xml" Id="Re6970d6c51a6403d" /><Relationship Type="http://schemas.openxmlformats.org/officeDocument/2006/relationships/slide" Target="/ppt/slides/slide10.xml" Id="R09f167ce29f646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974e45e07145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b92c417eb24979" /><Relationship Type="http://schemas.openxmlformats.org/officeDocument/2006/relationships/notesMaster" Target="/ppt/notesMasters/notesMaster1.xml" Id="R92d5b8f20be74e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b27ed907844591" /><Relationship Type="http://schemas.openxmlformats.org/officeDocument/2006/relationships/notesMaster" Target="/ppt/notesMasters/notesMaster1.xml" Id="Rfdd18c2d7ea049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15903498344178" /><Relationship Type="http://schemas.openxmlformats.org/officeDocument/2006/relationships/notesMaster" Target="/ppt/notesMasters/notesMaster1.xml" Id="R8bf4c08e275e40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d274cc85fe4bd0" /><Relationship Type="http://schemas.openxmlformats.org/officeDocument/2006/relationships/notesMaster" Target="/ppt/notesMasters/notesMaster1.xml" Id="R1eadab3ac98e44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b63386c52a4382" /><Relationship Type="http://schemas.openxmlformats.org/officeDocument/2006/relationships/notesMaster" Target="/ppt/notesMasters/notesMaster1.xml" Id="R8fe74488f05e4a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b84d215a864420" /><Relationship Type="http://schemas.openxmlformats.org/officeDocument/2006/relationships/notesMaster" Target="/ppt/notesMasters/notesMaster1.xml" Id="R1545b51dab9443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33c555912c4912" /><Relationship Type="http://schemas.openxmlformats.org/officeDocument/2006/relationships/notesMaster" Target="/ppt/notesMasters/notesMaster1.xml" Id="Rd6df3235059c4f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9f7809739d4714" /><Relationship Type="http://schemas.openxmlformats.org/officeDocument/2006/relationships/notesMaster" Target="/ppt/notesMasters/notesMaster1.xml" Id="R9e9d213c35da44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a952bb6ce84e98" /><Relationship Type="http://schemas.openxmlformats.org/officeDocument/2006/relationships/notesMaster" Target="/ppt/notesMasters/notesMaster1.xml" Id="Rf1d90d94d36945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2f85d4ef864606" /><Relationship Type="http://schemas.openxmlformats.org/officeDocument/2006/relationships/notesMaster" Target="/ppt/notesMasters/notesMaster1.xml" Id="R94a7636de8ad48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Title, five names, then the disclosure out loud — Albert asked for it explicitly. Saying it first makes it a strength: we picked a problem one of us has watched people have.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Land the number and the person, then stop. Chart data: evals/results/01_check_donor_id.txt.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One line per decision. The point is not the decisions themselves but that each is stated and reversible — the notebook reports the positive rate both ways for the same-month rule.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Tell it as it happened. This is the slide the 'genuine insight' vote is won on. Chart data: evals/results/03_profile_cohorts.txt, holdout cohorts.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Owner fills in. Serves the 'genuine insight' question.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Headline metric is dollars per contact, not AUC — Albert said the ranking at capacity is the decision. Every row is real: baselines in evals/results/04_score_citizen.txt, model in evals/results/10_model_holdout.txt (model frozen Sep 22; parser correction rerun Sep 27). Gradient-boosted classifier + log-amount regressor on donation-file and projects-join features. If asked: ranking by probability alone finds more returners (24.3% precision) but fewer dollars ($108).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We rebuilt the evaluation from the raw files and reproduced the headline. The left chart asks whether predicted return chances match reality. In the highest probability tenth, the model says 27.2 percent return and 24.5 percent do. The right chart follows the same dollar-ranked list as the headline: 23.7 percent return in 2017 and 21.1 percent in 2018, while the overall rate also falls. Dollars per selected donor fall from 139 to 103, but the model beats gift size in both years. Its limitation is coverage: donors giving under 50 dollars are half the population but just 0.51 percent of this list. The 14.1 percent figure belongs to the probability-only list, which finds more returners but fewer dollars. Source: evals/results/12_calibration_model.txt; notebook 04. First gift means total first-month giving. These are observations about frozen predictions, not new tuning.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 282 thousand dollar difference is giving identified in two historical lists of equal size, not incremental revenue caused by calls. The 25 dollar contact cost is a placeholder; Malorie supplies the real cost. The model was trained on log amounts, so its score is not a calibrated mean-dollar forecast. EV greater than cost is only illustrative. Source: evals/results/11_decision_model.txt. Compute uses no external model API; staff, setup and maintenance costs are not zero.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Three limits matter for the recommendation. First, we can identify future giving, but we cannot say a call created it. Donors might have given anyway. The reported value less contact cost is therefore not a profit estimate. Second, we excluded the thank-you-packet flag because its timing is unknown; it might contain information recorded after the outcome. Third, we tested historical DonorsChoose donors, not today's donors at Malorie's customers. Transfer needs a local test. Before scaling, measure real staff costs and randomly assign outreach in a pilot so we can estimate additional giving caused by contact. The log-amount score also needs mean-dollar calibration before treating it as an absolute cost threshold. Sources: docs/ALBERT-FEEDBACK.md; src/model.py; src/decision.py; evals/results/12_calibration_model.txt.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One sentence, then stop. 58% = value identified at 10% capacity, evals/results/10_model_holdout.txt.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18f23a03314c5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46e14a92f34c19" /><Relationship Type="http://schemas.openxmlformats.org/officeDocument/2006/relationships/slideLayout" Target="/ppt/slideLayouts/slideLayout1.xml" Id="R8837c047d24c4bfe"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37c047d24c4bf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054257389e40ce" /><Relationship Type="http://schemas.openxmlformats.org/officeDocument/2006/relationships/notesSlide" Target="/ppt/notesSlides/notesSlide1.xml" Id="Rbff4a145c59744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67da69b6e1449c" /><Relationship Type="http://schemas.openxmlformats.org/officeDocument/2006/relationships/image" Target="/ppt/media/image.png" Id="Rd391f381a33a498e" /><Relationship Type="http://schemas.openxmlformats.org/officeDocument/2006/relationships/notesSlide" Target="/ppt/notesSlides/notesSlide2.xml" Id="R74f0dfcaf8fa4d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d20e5e19f541e0" /><Relationship Type="http://schemas.openxmlformats.org/officeDocument/2006/relationships/notesSlide" Target="/ppt/notesSlides/notesSlide3.xml" Id="R198cabb0016347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27b08be53846d3" /><Relationship Type="http://schemas.openxmlformats.org/officeDocument/2006/relationships/image" Target="/ppt/media/image2.png" Id="Rc5d1c0974f6a48a4" /><Relationship Type="http://schemas.openxmlformats.org/officeDocument/2006/relationships/notesSlide" Target="/ppt/notesSlides/notesSlide4.xml" Id="R5ba20fd5c09848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a8d2c4fcd5442b" /><Relationship Type="http://schemas.openxmlformats.org/officeDocument/2006/relationships/notesSlide" Target="/ppt/notesSlides/notesSlide5.xml" Id="R7692f732d10c4f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7018e0536d45fd" /><Relationship Type="http://schemas.openxmlformats.org/officeDocument/2006/relationships/notesSlide" Target="/ppt/notesSlides/notesSlide6.xml" Id="R67027646171242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b10338ecd74ef1" /><Relationship Type="http://schemas.openxmlformats.org/officeDocument/2006/relationships/image" Target="/ppt/media/image3.png" Id="R8a0743cc5c6d423a" /><Relationship Type="http://schemas.openxmlformats.org/officeDocument/2006/relationships/notesSlide" Target="/ppt/notesSlides/notesSlide7.xml" Id="R6839fd9737a84b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a3857abe5b4790" /><Relationship Type="http://schemas.openxmlformats.org/officeDocument/2006/relationships/notesSlide" Target="/ppt/notesSlides/notesSlide8.xml" Id="R32d65a65f31544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0b22d03ff54daf" /><Relationship Type="http://schemas.openxmlformats.org/officeDocument/2006/relationships/notesSlide" Target="/ppt/notesSlides/notesSlide9.xml" Id="R344649813f6543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26bff6ceee34e33" /><Relationship Type="http://schemas.openxmlformats.org/officeDocument/2006/relationships/notesSlide" Target="/ppt/notesSlides/notesSlide10.xml" Id="R97d8e9bf50ca4a39" /></Relationships>
</file>

<file path=ppt/slides/slide1.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AA5176-20C6-4E3E-A0BD-F59AD919796C}"/>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GBUS 8496 · MACHINE LEARNING AND AI FOR BUSINESS · GROUP 11</a:t>
            </a:r>
            <a:endParaRPr sz="900"/>
          </a:p>
        </p:txBody>
      </p:sp>
      <p:sp>
        <p:nvSpPr>
          <p:cNvPr id="3" name="Text 1">
            <a:extLst xmlns:a="http://schemas.openxmlformats.org/drawingml/2006/main">
              <a:ext uri="{FF2B5EF4-FFF2-40B4-BE49-F238E27FC236}">
                <a16:creationId xmlns:a16="http://schemas.microsoft.com/office/drawing/2014/main" id="{CAC55CE5-9E09-4086-9E79-17A1B92FFB29}"/>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Malorie  ·  1 / 10</a:t>
            </a:r>
            <a:endParaRPr sz="900"/>
          </a:p>
        </p:txBody>
      </p:sp>
      <p:sp>
        <p:nvSpPr>
          <p:cNvPr id="4" name="Text 2">
            <a:extLst xmlns:a="http://schemas.openxmlformats.org/drawingml/2006/main">
              <a:ext uri="{FF2B5EF4-FFF2-40B4-BE49-F238E27FC236}">
                <a16:creationId xmlns:a16="http://schemas.microsoft.com/office/drawing/2014/main" id="{4972C575-9912-478F-8937-50669CB93A6B}"/>
              </a:ext>
            </a:extLst>
          </p:cNvPr>
          <p:cNvSpPr>
            <a:spLocks xmlns:a="http://schemas.openxmlformats.org/drawingml/2006/main" noGrp="1"/>
          </p:cNvSpPr>
          <p:nvPr/>
        </p:nvSpPr>
        <p:spPr>
          <a:xfrm xmlns:a="http://schemas.openxmlformats.org/drawingml/2006/main">
            <a:off x="502920" y="1051560"/>
            <a:ext cx="73152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a:solidFill>
                  <a:srgbClr val="F2EDE3"/>
                </a:solidFill>
                <a:latin typeface="Cambria"/>
                <a:ea typeface="Cambria"/>
                <a:cs typeface="Cambria"/>
              </a:rPr>
              <a:t>Predicting the</a:t>
            </a:r>
            <a:endParaRPr sz="4000"/>
          </a:p>
        </p:txBody>
      </p:sp>
      <p:sp>
        <p:nvSpPr>
          <p:cNvPr id="5" name="Text 3">
            <a:extLst xmlns:a="http://schemas.openxmlformats.org/drawingml/2006/main">
              <a:ext uri="{FF2B5EF4-FFF2-40B4-BE49-F238E27FC236}">
                <a16:creationId xmlns:a16="http://schemas.microsoft.com/office/drawing/2014/main" id="{7BC1E52F-9067-4BE5-B57A-B65D087C4F23}"/>
              </a:ext>
            </a:extLst>
          </p:cNvPr>
          <p:cNvSpPr>
            <a:spLocks xmlns:a="http://schemas.openxmlformats.org/drawingml/2006/main" noGrp="1"/>
          </p:cNvSpPr>
          <p:nvPr/>
        </p:nvSpPr>
        <p:spPr>
          <a:xfrm xmlns:a="http://schemas.openxmlformats.org/drawingml/2006/main">
            <a:off x="502920" y="1691640"/>
            <a:ext cx="7315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Cambria"/>
                <a:ea typeface="Cambria"/>
                <a:cs typeface="Cambria"/>
              </a:rPr>
              <a:t>Second Gift</a:t>
            </a:r>
            <a:endParaRPr sz="5400"/>
          </a:p>
        </p:txBody>
      </p:sp>
      <p:sp>
        <p:nvSpPr>
          <p:cNvPr id="6" name="Text 4">
            <a:extLst xmlns:a="http://schemas.openxmlformats.org/drawingml/2006/main">
              <a:ext uri="{FF2B5EF4-FFF2-40B4-BE49-F238E27FC236}">
                <a16:creationId xmlns:a16="http://schemas.microsoft.com/office/drawing/2014/main" id="{D2C72EF0-2525-4F6A-ADB9-FA3241135A4F}"/>
              </a:ext>
            </a:extLst>
          </p:cNvPr>
          <p:cNvSpPr>
            <a:spLocks xmlns:a="http://schemas.openxmlformats.org/drawingml/2006/main" noGrp="1"/>
          </p:cNvSpPr>
          <p:nvPr/>
        </p:nvSpPr>
        <p:spPr>
          <a:xfrm xmlns:a="http://schemas.openxmlformats.org/drawingml/2006/main">
            <a:off x="502920" y="2606040"/>
            <a:ext cx="5669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i="1">
                <a:solidFill>
                  <a:srgbClr val="D9D3C6"/>
                </a:solidFill>
                <a:latin typeface="Calibri"/>
                <a:ea typeface="Calibri"/>
                <a:cs typeface="Calibri"/>
              </a:rPr>
              <a:t>Which first-time donors will give again, and which ones a small nonprofit should spend staff time on.</a:t>
            </a:r>
            <a:endParaRPr sz="1500"/>
          </a:p>
        </p:txBody>
      </p:sp>
      <p:sp>
        <p:nvSpPr>
          <p:cNvPr id="7" name="Text 5">
            <a:extLst xmlns:a="http://schemas.openxmlformats.org/drawingml/2006/main">
              <a:ext uri="{FF2B5EF4-FFF2-40B4-BE49-F238E27FC236}">
                <a16:creationId xmlns:a16="http://schemas.microsoft.com/office/drawing/2014/main" id="{2E71466D-BF42-4CB0-A3E5-0307ACB0AAA1}"/>
              </a:ext>
            </a:extLst>
          </p:cNvPr>
          <p:cNvSpPr>
            <a:spLocks xmlns:a="http://schemas.openxmlformats.org/drawingml/2006/main" noGrp="1"/>
          </p:cNvSpPr>
          <p:nvPr/>
        </p:nvSpPr>
        <p:spPr>
          <a:xfrm xmlns:a="http://schemas.openxmlformats.org/drawingml/2006/main">
            <a:off x="502920" y="324612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00">
                <a:solidFill>
                  <a:srgbClr val="B4AE9F"/>
                </a:solidFill>
                <a:latin typeface="Calibri"/>
                <a:ea typeface="Calibri"/>
                <a:cs typeface="Calibri"/>
              </a:rPr>
              <a:t>Malorie Black · Reid Jacobson · Thadeus Knospe · Rodolfo Perez-Cortes Manrique · Bakul Badwal</a:t>
            </a:r>
            <a:endParaRPr sz="1100"/>
          </a:p>
        </p:txBody>
      </p:sp>
      <p:sp>
        <p:nvSpPr>
          <p:cNvPr id="8" name="Shape 6">
            <a:extLst xmlns:a="http://schemas.openxmlformats.org/drawingml/2006/main">
              <a:ext uri="{FF2B5EF4-FFF2-40B4-BE49-F238E27FC236}">
                <a16:creationId xmlns:a16="http://schemas.microsoft.com/office/drawing/2014/main" id="{D92B49F0-5577-4616-B8C2-E527079D8F96}"/>
              </a:ext>
            </a:extLst>
          </p:cNvPr>
          <p:cNvSpPr>
            <a:spLocks xmlns:a="http://schemas.openxmlformats.org/drawingml/2006/main" noGrp="1"/>
          </p:cNvSpPr>
          <p:nvPr/>
        </p:nvSpPr>
        <p:spPr>
          <a:xfrm xmlns:a="http://schemas.openxmlformats.org/drawingml/2006/main">
            <a:off x="502920" y="3794760"/>
            <a:ext cx="8138160" cy="868680"/>
          </a:xfrm>
          <a:prstGeom xmlns:a="http://schemas.openxmlformats.org/drawingml/2006/main" prst="roundRect">
            <a:avLst>
              <a:gd name="adj" fmla="val 6316"/>
            </a:avLst>
          </a:prstGeom>
          <a:solidFill xmlns:a="http://schemas.openxmlformats.org/drawingml/2006/main">
            <a:srgbClr val="13253A"/>
          </a:solidFill>
          <a:ln xmlns:a="http://schemas.openxmlformats.org/drawingml/2006/main" w="12700">
            <a:solidFill>
              <a:srgbClr val="13253A"/>
            </a:solidFill>
            <a:prstDash val="solid"/>
          </a:ln>
        </p:spPr>
      </p:sp>
      <p:sp>
        <p:nvSpPr>
          <p:cNvPr id="9" name="Text 7">
            <a:extLst xmlns:a="http://schemas.openxmlformats.org/drawingml/2006/main">
              <a:ext uri="{FF2B5EF4-FFF2-40B4-BE49-F238E27FC236}">
                <a16:creationId xmlns:a16="http://schemas.microsoft.com/office/drawing/2014/main" id="{0EAC2BAF-0A9D-4410-A259-4F40C478B2F4}"/>
              </a:ext>
            </a:extLst>
          </p:cNvPr>
          <p:cNvSpPr>
            <a:spLocks xmlns:a="http://schemas.openxmlformats.org/drawingml/2006/main" noGrp="1"/>
          </p:cNvSpPr>
          <p:nvPr/>
        </p:nvSpPr>
        <p:spPr>
          <a:xfrm xmlns:a="http://schemas.openxmlformats.org/drawingml/2006/main">
            <a:off x="731520" y="3904488"/>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200">
                <a:solidFill>
                  <a:srgbClr val="C9A96A"/>
                </a:solidFill>
                <a:latin typeface="Courier New"/>
                <a:ea typeface="Courier New"/>
                <a:cs typeface="Courier New"/>
              </a:rPr>
              <a:t>DISCLOSURE, SAID FIRST</a:t>
            </a:r>
            <a:endParaRPr sz="800"/>
          </a:p>
        </p:txBody>
      </p:sp>
      <p:sp>
        <p:nvSpPr>
          <p:cNvPr id="10" name="Text 8">
            <a:extLst xmlns:a="http://schemas.openxmlformats.org/drawingml/2006/main">
              <a:ext uri="{FF2B5EF4-FFF2-40B4-BE49-F238E27FC236}">
                <a16:creationId xmlns:a16="http://schemas.microsoft.com/office/drawing/2014/main" id="{4DBF880E-A8B2-47E1-A0A4-97FB4255E392}"/>
              </a:ext>
            </a:extLst>
          </p:cNvPr>
          <p:cNvSpPr>
            <a:spLocks xmlns:a="http://schemas.openxmlformats.org/drawingml/2006/main" noGrp="1"/>
          </p:cNvSpPr>
          <p:nvPr/>
        </p:nvSpPr>
        <p:spPr>
          <a:xfrm xmlns:a="http://schemas.openxmlformats.org/drawingml/2006/main">
            <a:off x="731520" y="4114800"/>
            <a:ext cx="76809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F2EDE3"/>
                </a:solidFill>
                <a:latin typeface="Calibri"/>
                <a:ea typeface="Calibri"/>
                <a:cs typeface="Calibri"/>
              </a:rPr>
              <a:t>One of us founded GoGood Technologies, a donor-engagement platform whose customers are the stakeholder in this talk. That is why we chose the problem. Weigh what we say accordingly.</a:t>
            </a:r>
            <a:endParaRPr sz="1200"/>
          </a:p>
        </p:txBody>
      </p:sp>
    </p:spTree>
    <p:extLst>
      <p:ext uri="{BB962C8B-B14F-4D97-AF65-F5344CB8AC3E}">
        <p14:creationId xmlns:p14="http://schemas.microsoft.com/office/powerpoint/2010/main" val="188604743"/>
      </p:ext>
    </p:extLst>
  </p:cSld>
</p:sld>
</file>

<file path=ppt/slides/slide2.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FA769F-BECB-481D-A894-671F7550FCC6}"/>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THE PROBLEM</a:t>
            </a:r>
            <a:endParaRPr sz="900"/>
          </a:p>
        </p:txBody>
      </p:sp>
      <p:sp>
        <p:nvSpPr>
          <p:cNvPr id="3" name="Text 1">
            <a:extLst xmlns:a="http://schemas.openxmlformats.org/drawingml/2006/main">
              <a:ext uri="{FF2B5EF4-FFF2-40B4-BE49-F238E27FC236}">
                <a16:creationId xmlns:a16="http://schemas.microsoft.com/office/drawing/2014/main" id="{BBFEA8D8-99D0-4ADD-B3CF-07D598CD5E24}"/>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Malorie  ·  2 / 10</a:t>
            </a:r>
            <a:endParaRPr sz="900"/>
          </a:p>
        </p:txBody>
      </p:sp>
      <p:sp>
        <p:nvSpPr>
          <p:cNvPr id="4" name="Text 2">
            <a:extLst xmlns:a="http://schemas.openxmlformats.org/drawingml/2006/main">
              <a:ext uri="{FF2B5EF4-FFF2-40B4-BE49-F238E27FC236}">
                <a16:creationId xmlns:a16="http://schemas.microsoft.com/office/drawing/2014/main" id="{02B6A632-EA9B-47D0-8E4C-105FC56318FF}"/>
              </a:ext>
            </a:extLst>
          </p:cNvPr>
          <p:cNvSpPr>
            <a:spLocks xmlns:a="http://schemas.openxmlformats.org/drawingml/2006/main" noGrp="1"/>
          </p:cNvSpPr>
          <p:nvPr/>
        </p:nvSpPr>
        <p:spPr>
          <a:xfrm xmlns:a="http://schemas.openxmlformats.org/drawingml/2006/main">
            <a:off x="502920" y="685800"/>
            <a:ext cx="329184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0" b="1">
                <a:solidFill>
                  <a:srgbClr val="C9A96A"/>
                </a:solidFill>
                <a:latin typeface="Cambria"/>
                <a:ea typeface="Cambria"/>
                <a:cs typeface="Cambria"/>
              </a:rPr>
              <a:t>71%</a:t>
            </a:r>
            <a:endParaRPr sz="9600"/>
          </a:p>
        </p:txBody>
      </p:sp>
      <p:sp>
        <p:nvSpPr>
          <p:cNvPr id="5" name="Text 3">
            <a:extLst xmlns:a="http://schemas.openxmlformats.org/drawingml/2006/main">
              <a:ext uri="{FF2B5EF4-FFF2-40B4-BE49-F238E27FC236}">
                <a16:creationId xmlns:a16="http://schemas.microsoft.com/office/drawing/2014/main" id="{CF332A93-5FC1-4F1A-A9E1-2822F882D2DA}"/>
              </a:ext>
            </a:extLst>
          </p:cNvPr>
          <p:cNvSpPr>
            <a:spLocks xmlns:a="http://schemas.openxmlformats.org/drawingml/2006/main" noGrp="1"/>
          </p:cNvSpPr>
          <p:nvPr/>
        </p:nvSpPr>
        <p:spPr>
          <a:xfrm xmlns:a="http://schemas.openxmlformats.org/drawingml/2006/main">
            <a:off x="502920" y="2011680"/>
            <a:ext cx="33832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800" b="1">
                <a:solidFill>
                  <a:srgbClr val="FFFFFF"/>
                </a:solidFill>
                <a:latin typeface="Calibri"/>
                <a:ea typeface="Calibri"/>
                <a:cs typeface="Calibri"/>
              </a:rPr>
              <a:t>of DonorsChoose donors gave once and never again.</a:t>
            </a:r>
            <a:endParaRPr sz="1800"/>
          </a:p>
        </p:txBody>
      </p:sp>
      <p:sp>
        <p:nvSpPr>
          <p:cNvPr id="6" name="Text 4">
            <a:extLst xmlns:a="http://schemas.openxmlformats.org/drawingml/2006/main">
              <a:ext uri="{FF2B5EF4-FFF2-40B4-BE49-F238E27FC236}">
                <a16:creationId xmlns:a16="http://schemas.microsoft.com/office/drawing/2014/main" id="{F6B59CCA-294A-4784-A02A-4A8125812D9B}"/>
              </a:ext>
            </a:extLst>
          </p:cNvPr>
          <p:cNvSpPr>
            <a:spLocks xmlns:a="http://schemas.openxmlformats.org/drawingml/2006/main" noGrp="1"/>
          </p:cNvSpPr>
          <p:nvPr/>
        </p:nvSpPr>
        <p:spPr>
          <a:xfrm xmlns:a="http://schemas.openxmlformats.org/drawingml/2006/main">
            <a:off x="502920" y="2697480"/>
            <a:ext cx="33832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D9D3C6"/>
                </a:solidFill>
                <a:latin typeface="Calibri"/>
                <a:ea typeface="Calibri"/>
                <a:cs typeface="Calibri"/>
              </a:rPr>
              <a:t>3.5 million donors, seventeen years. The second gift is where retention is won or lost, and small organizations have the least capacity to work it.</a:t>
            </a:r>
            <a:endParaRPr sz="1200"/>
          </a:p>
        </p:txBody>
      </p:sp>
      <p:sp>
        <p:nvSpPr>
          <p:cNvPr id="7" name="Shape 5">
            <a:extLst xmlns:a="http://schemas.openxmlformats.org/drawingml/2006/main">
              <a:ext uri="{FF2B5EF4-FFF2-40B4-BE49-F238E27FC236}">
                <a16:creationId xmlns:a16="http://schemas.microsoft.com/office/drawing/2014/main" id="{85E5B711-46B7-4CCB-BEA8-3794BFF3B59F}"/>
              </a:ext>
            </a:extLst>
          </p:cNvPr>
          <p:cNvSpPr>
            <a:spLocks xmlns:a="http://schemas.openxmlformats.org/drawingml/2006/main" noGrp="1"/>
          </p:cNvSpPr>
          <p:nvPr/>
        </p:nvSpPr>
        <p:spPr>
          <a:xfrm xmlns:a="http://schemas.openxmlformats.org/drawingml/2006/main">
            <a:off x="502920" y="3611880"/>
            <a:ext cx="3383280" cy="1051560"/>
          </a:xfrm>
          <a:prstGeom xmlns:a="http://schemas.openxmlformats.org/drawingml/2006/main" prst="roundRect">
            <a:avLst>
              <a:gd name="adj" fmla="val 5217"/>
            </a:avLst>
          </a:prstGeom>
          <a:solidFill xmlns:a="http://schemas.openxmlformats.org/drawingml/2006/main">
            <a:srgbClr val="0D1C2B"/>
          </a:solidFill>
          <a:ln xmlns:a="http://schemas.openxmlformats.org/drawingml/2006/main" w="12700">
            <a:solidFill>
              <a:srgbClr val="0D1C2B"/>
            </a:solidFill>
            <a:prstDash val="solid"/>
          </a:ln>
        </p:spPr>
      </p:sp>
      <p:sp>
        <p:nvSpPr>
          <p:cNvPr id="8" name="Text 6">
            <a:extLst xmlns:a="http://schemas.openxmlformats.org/drawingml/2006/main">
              <a:ext uri="{FF2B5EF4-FFF2-40B4-BE49-F238E27FC236}">
                <a16:creationId xmlns:a16="http://schemas.microsoft.com/office/drawing/2014/main" id="{7CABB894-634E-477C-B59E-AF394CE3079D}"/>
              </a:ext>
            </a:extLst>
          </p:cNvPr>
          <p:cNvSpPr>
            <a:spLocks xmlns:a="http://schemas.openxmlformats.org/drawingml/2006/main" noGrp="1"/>
          </p:cNvSpPr>
          <p:nvPr/>
        </p:nvSpPr>
        <p:spPr>
          <a:xfrm xmlns:a="http://schemas.openxmlformats.org/drawingml/2006/main">
            <a:off x="685800" y="370332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200">
                <a:solidFill>
                  <a:srgbClr val="C9A96A"/>
                </a:solidFill>
                <a:latin typeface="Courier New"/>
                <a:ea typeface="Courier New"/>
                <a:cs typeface="Courier New"/>
              </a:rPr>
              <a:t>OUR STAKEHOLDER</a:t>
            </a:r>
            <a:endParaRPr sz="800"/>
          </a:p>
        </p:txBody>
      </p:sp>
      <p:sp>
        <p:nvSpPr>
          <p:cNvPr id="9" name="Text 7">
            <a:extLst xmlns:a="http://schemas.openxmlformats.org/drawingml/2006/main">
              <a:ext uri="{FF2B5EF4-FFF2-40B4-BE49-F238E27FC236}">
                <a16:creationId xmlns:a16="http://schemas.microsoft.com/office/drawing/2014/main" id="{3E22584F-E93B-440E-9979-033C418C9293}"/>
              </a:ext>
            </a:extLst>
          </p:cNvPr>
          <p:cNvSpPr>
            <a:spLocks xmlns:a="http://schemas.openxmlformats.org/drawingml/2006/main" noGrp="1"/>
          </p:cNvSpPr>
          <p:nvPr/>
        </p:nvSpPr>
        <p:spPr>
          <a:xfrm xmlns:a="http://schemas.openxmlformats.org/drawingml/2006/main">
            <a:off x="685800" y="3913632"/>
            <a:ext cx="3017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50">
                <a:solidFill>
                  <a:srgbClr val="F2EDE3"/>
                </a:solidFill>
                <a:latin typeface="Calibri"/>
                <a:ea typeface="Calibri"/>
                <a:cs typeface="Calibri"/>
              </a:rPr>
              <a:t>A development lead at a ~$500K nonprofit, no data staff. Each month she can personally follow up with a fraction of last month's new donors. She builds that list by hand, from recency and gift size.</a:t>
            </a:r>
            <a:endParaRPr sz="105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d391f381a33a498e"/>
          <a:stretch xmlns:a="http://schemas.openxmlformats.org/drawingml/2006/main">
            <a:fillRect l="0" t="0" r="0" b="0"/>
          </a:stretch>
        </p:blipFill>
        <p:spPr>
          <a:xfrm xmlns:a="http://schemas.openxmlformats.org/drawingml/2006/main">
            <a:off x="4160520" y="777240"/>
            <a:ext cx="4480560" cy="3886200"/>
          </a:xfrm>
          <a:prstGeom xmlns:a="http://schemas.openxmlformats.org/drawingml/2006/main" prst="rect">
            <a:avLst/>
          </a:prstGeom>
        </p:spPr>
      </p:pic>
    </p:spTree>
    <p:extLst>
      <p:ext uri="{BB962C8B-B14F-4D97-AF65-F5344CB8AC3E}">
        <p14:creationId xmlns:p14="http://schemas.microsoft.com/office/powerpoint/2010/main" val="781116638"/>
      </p:ext>
    </p:extLst>
  </p:cSld>
</p:sld>
</file>

<file path=ppt/slides/slide3.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85AFFD-8349-49E8-956E-FA8B6CE5DF66}"/>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DATA AND LABEL</a:t>
            </a:r>
            <a:endParaRPr sz="900"/>
          </a:p>
        </p:txBody>
      </p:sp>
      <p:sp>
        <p:nvSpPr>
          <p:cNvPr id="3" name="Text 1">
            <a:extLst xmlns:a="http://schemas.openxmlformats.org/drawingml/2006/main">
              <a:ext uri="{FF2B5EF4-FFF2-40B4-BE49-F238E27FC236}">
                <a16:creationId xmlns:a16="http://schemas.microsoft.com/office/drawing/2014/main" id="{40AC9762-D156-42E5-BD81-0E0AC19DECC4}"/>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Bakul  ·  3 / 10</a:t>
            </a:r>
            <a:endParaRPr sz="900"/>
          </a:p>
        </p:txBody>
      </p:sp>
      <p:sp>
        <p:nvSpPr>
          <p:cNvPr id="4" name="Text 2">
            <a:extLst xmlns:a="http://schemas.openxmlformats.org/drawingml/2006/main">
              <a:ext uri="{FF2B5EF4-FFF2-40B4-BE49-F238E27FC236}">
                <a16:creationId xmlns:a16="http://schemas.microsoft.com/office/drawing/2014/main" id="{AF1BC207-83F3-4A59-B1E3-2B5996596811}"/>
              </a:ext>
            </a:extLst>
          </p:cNvPr>
          <p:cNvSpPr>
            <a:spLocks xmlns:a="http://schemas.openxmlformats.org/drawingml/2006/main" noGrp="1"/>
          </p:cNvSpPr>
          <p:nvPr/>
        </p:nvSpPr>
        <p:spPr>
          <a:xfrm xmlns:a="http://schemas.openxmlformats.org/drawingml/2006/main">
            <a:off x="502920" y="621792"/>
            <a:ext cx="81381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2400" b="1">
                <a:solidFill>
                  <a:srgbClr val="FFFFFF"/>
                </a:solidFill>
                <a:latin typeface="Cambria"/>
                <a:ea typeface="Cambria"/>
                <a:cs typeface="Cambria"/>
              </a:rPr>
              <a:t>Four decisions turn eleven million rows into one label. Each could have gone the other way.</a:t>
            </a:r>
            <a:endParaRPr sz="2400"/>
          </a:p>
        </p:txBody>
      </p:sp>
      <p:sp>
        <p:nvSpPr>
          <p:cNvPr id="5" name="Text 3">
            <a:extLst xmlns:a="http://schemas.openxmlformats.org/drawingml/2006/main">
              <a:ext uri="{FF2B5EF4-FFF2-40B4-BE49-F238E27FC236}">
                <a16:creationId xmlns:a16="http://schemas.microsoft.com/office/drawing/2014/main" id="{5EEAF454-21AD-47D3-B675-A7B468BD5AF3}"/>
              </a:ext>
            </a:extLst>
          </p:cNvPr>
          <p:cNvSpPr>
            <a:spLocks xmlns:a="http://schemas.openxmlformats.org/drawingml/2006/main" noGrp="1"/>
          </p:cNvSpPr>
          <p:nvPr/>
        </p:nvSpPr>
        <p:spPr>
          <a:xfrm xmlns:a="http://schemas.openxmlformats.org/drawingml/2006/main">
            <a:off x="502920" y="1691640"/>
            <a:ext cx="2286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11.4M</a:t>
            </a:r>
            <a:endParaRPr sz="3400"/>
          </a:p>
        </p:txBody>
      </p:sp>
      <p:sp>
        <p:nvSpPr>
          <p:cNvPr id="6" name="Text 4">
            <a:extLst xmlns:a="http://schemas.openxmlformats.org/drawingml/2006/main">
              <a:ext uri="{FF2B5EF4-FFF2-40B4-BE49-F238E27FC236}">
                <a16:creationId xmlns:a16="http://schemas.microsoft.com/office/drawing/2014/main" id="{43F55AD2-B22D-4AC1-B30A-E6391EABA8CF}"/>
              </a:ext>
            </a:extLst>
          </p:cNvPr>
          <p:cNvSpPr>
            <a:spLocks xmlns:a="http://schemas.openxmlformats.org/drawingml/2006/main" noGrp="1"/>
          </p:cNvSpPr>
          <p:nvPr/>
        </p:nvSpPr>
        <p:spPr>
          <a:xfrm xmlns:a="http://schemas.openxmlformats.org/drawingml/2006/main">
            <a:off x="502920" y="225856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150">
                <a:solidFill>
                  <a:srgbClr val="8A8474"/>
                </a:solidFill>
                <a:latin typeface="Courier New"/>
                <a:ea typeface="Courier New"/>
                <a:cs typeface="Courier New"/>
              </a:rPr>
              <a:t>DONATIONS</a:t>
            </a:r>
            <a:endParaRPr sz="800"/>
          </a:p>
        </p:txBody>
      </p:sp>
      <p:sp>
        <p:nvSpPr>
          <p:cNvPr id="7" name="Text 5">
            <a:extLst xmlns:a="http://schemas.openxmlformats.org/drawingml/2006/main">
              <a:ext uri="{FF2B5EF4-FFF2-40B4-BE49-F238E27FC236}">
                <a16:creationId xmlns:a16="http://schemas.microsoft.com/office/drawing/2014/main" id="{AC00A67D-7EAB-43DF-87C3-E6ED2BD8CF7D}"/>
              </a:ext>
            </a:extLst>
          </p:cNvPr>
          <p:cNvSpPr>
            <a:spLocks xmlns:a="http://schemas.openxmlformats.org/drawingml/2006/main" noGrp="1"/>
          </p:cNvSpPr>
          <p:nvPr/>
        </p:nvSpPr>
        <p:spPr>
          <a:xfrm xmlns:a="http://schemas.openxmlformats.org/drawingml/2006/main">
            <a:off x="502920" y="2468880"/>
            <a:ext cx="2286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3.28M</a:t>
            </a:r>
            <a:endParaRPr sz="3400"/>
          </a:p>
        </p:txBody>
      </p:sp>
      <p:sp>
        <p:nvSpPr>
          <p:cNvPr id="8" name="Text 6">
            <a:extLst xmlns:a="http://schemas.openxmlformats.org/drawingml/2006/main">
              <a:ext uri="{FF2B5EF4-FFF2-40B4-BE49-F238E27FC236}">
                <a16:creationId xmlns:a16="http://schemas.microsoft.com/office/drawing/2014/main" id="{0E5EB0B1-D533-441F-B5E8-FD1FCA41F8F7}"/>
              </a:ext>
            </a:extLst>
          </p:cNvPr>
          <p:cNvSpPr>
            <a:spLocks xmlns:a="http://schemas.openxmlformats.org/drawingml/2006/main" noGrp="1"/>
          </p:cNvSpPr>
          <p:nvPr/>
        </p:nvSpPr>
        <p:spPr>
          <a:xfrm xmlns:a="http://schemas.openxmlformats.org/drawingml/2006/main">
            <a:off x="502920" y="303580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150">
                <a:solidFill>
                  <a:srgbClr val="8A8474"/>
                </a:solidFill>
                <a:latin typeface="Courier New"/>
                <a:ea typeface="Courier New"/>
                <a:cs typeface="Courier New"/>
              </a:rPr>
              <a:t>LABELLED DONORS</a:t>
            </a:r>
            <a:endParaRPr sz="800"/>
          </a:p>
        </p:txBody>
      </p:sp>
      <p:sp>
        <p:nvSpPr>
          <p:cNvPr id="9" name="Text 7">
            <a:extLst xmlns:a="http://schemas.openxmlformats.org/drawingml/2006/main">
              <a:ext uri="{FF2B5EF4-FFF2-40B4-BE49-F238E27FC236}">
                <a16:creationId xmlns:a16="http://schemas.microsoft.com/office/drawing/2014/main" id="{E2545266-37DF-4B39-A743-76CA6BB95622}"/>
              </a:ext>
            </a:extLst>
          </p:cNvPr>
          <p:cNvSpPr>
            <a:spLocks xmlns:a="http://schemas.openxmlformats.org/drawingml/2006/main" noGrp="1"/>
          </p:cNvSpPr>
          <p:nvPr/>
        </p:nvSpPr>
        <p:spPr>
          <a:xfrm xmlns:a="http://schemas.openxmlformats.org/drawingml/2006/main">
            <a:off x="502920" y="3246120"/>
            <a:ext cx="2286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15.8%</a:t>
            </a:r>
            <a:endParaRPr sz="3400"/>
          </a:p>
        </p:txBody>
      </p:sp>
      <p:sp>
        <p:nvSpPr>
          <p:cNvPr id="10" name="Text 8">
            <a:extLst xmlns:a="http://schemas.openxmlformats.org/drawingml/2006/main">
              <a:ext uri="{FF2B5EF4-FFF2-40B4-BE49-F238E27FC236}">
                <a16:creationId xmlns:a16="http://schemas.microsoft.com/office/drawing/2014/main" id="{C6DF7A30-C3E0-47ED-AABC-5C46029A943A}"/>
              </a:ext>
            </a:extLst>
          </p:cNvPr>
          <p:cNvSpPr>
            <a:spLocks xmlns:a="http://schemas.openxmlformats.org/drawingml/2006/main" noGrp="1"/>
          </p:cNvSpPr>
          <p:nvPr/>
        </p:nvSpPr>
        <p:spPr>
          <a:xfrm xmlns:a="http://schemas.openxmlformats.org/drawingml/2006/main">
            <a:off x="502920" y="381304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150">
                <a:solidFill>
                  <a:srgbClr val="8A8474"/>
                </a:solidFill>
                <a:latin typeface="Courier New"/>
                <a:ea typeface="Courier New"/>
                <a:cs typeface="Courier New"/>
              </a:rPr>
              <a:t>REPEAT WITHIN 12 MO</a:t>
            </a:r>
            <a:endParaRPr sz="800"/>
          </a:p>
        </p:txBody>
      </p:sp>
      <p:sp>
        <p:nvSpPr>
          <p:cNvPr id="11" name="Text 9">
            <a:extLst xmlns:a="http://schemas.openxmlformats.org/drawingml/2006/main">
              <a:ext uri="{FF2B5EF4-FFF2-40B4-BE49-F238E27FC236}">
                <a16:creationId xmlns:a16="http://schemas.microsoft.com/office/drawing/2014/main" id="{CC14F582-CCD6-4B95-96C8-79CBE5E9D6D1}"/>
              </a:ext>
            </a:extLst>
          </p:cNvPr>
          <p:cNvSpPr>
            <a:spLocks xmlns:a="http://schemas.openxmlformats.org/drawingml/2006/main" noGrp="1"/>
          </p:cNvSpPr>
          <p:nvPr/>
        </p:nvSpPr>
        <p:spPr>
          <a:xfrm xmlns:a="http://schemas.openxmlformats.org/drawingml/2006/main">
            <a:off x="502920" y="4160520"/>
            <a:ext cx="22860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950">
                <a:solidFill>
                  <a:srgbClr val="B4AE9F"/>
                </a:solidFill>
                <a:latin typeface="Calibri"/>
                <a:ea typeface="Calibri"/>
                <a:cs typeface="Calibri"/>
              </a:rPr>
              <a:t>ICPSR 37898, 2002–2019. Train through 2016, hold out 2017–18: a random split would let the model see the future.</a:t>
            </a:r>
            <a:endParaRPr sz="950"/>
          </a:p>
        </p:txBody>
      </p:sp>
      <p:sp>
        <p:nvSpPr>
          <p:cNvPr id="12" name="Shape 10">
            <a:extLst xmlns:a="http://schemas.openxmlformats.org/drawingml/2006/main">
              <a:ext uri="{FF2B5EF4-FFF2-40B4-BE49-F238E27FC236}">
                <a16:creationId xmlns:a16="http://schemas.microsoft.com/office/drawing/2014/main" id="{B9D7BE8E-5795-418B-B34F-A8E469123061}"/>
              </a:ext>
            </a:extLst>
          </p:cNvPr>
          <p:cNvSpPr>
            <a:spLocks xmlns:a="http://schemas.openxmlformats.org/drawingml/2006/main" noGrp="1"/>
          </p:cNvSpPr>
          <p:nvPr/>
        </p:nvSpPr>
        <p:spPr>
          <a:xfrm xmlns:a="http://schemas.openxmlformats.org/drawingml/2006/main">
            <a:off x="3063240" y="1691640"/>
            <a:ext cx="2697480" cy="1481328"/>
          </a:xfrm>
          <a:prstGeom xmlns:a="http://schemas.openxmlformats.org/drawingml/2006/main" prst="roundRect">
            <a:avLst>
              <a:gd name="adj" fmla="val 3704"/>
            </a:avLst>
          </a:prstGeom>
          <a:solidFill xmlns:a="http://schemas.openxmlformats.org/drawingml/2006/main">
            <a:srgbClr val="0D1C2B"/>
          </a:solidFill>
          <a:ln xmlns:a="http://schemas.openxmlformats.org/drawingml/2006/main" w="12700">
            <a:solidFill>
              <a:srgbClr val="0D1C2B"/>
            </a:solidFill>
            <a:prstDash val="solid"/>
          </a:ln>
        </p:spPr>
      </p:sp>
      <p:sp>
        <p:nvSpPr>
          <p:cNvPr id="13" name="Text 11">
            <a:extLst xmlns:a="http://schemas.openxmlformats.org/drawingml/2006/main">
              <a:ext uri="{FF2B5EF4-FFF2-40B4-BE49-F238E27FC236}">
                <a16:creationId xmlns:a16="http://schemas.microsoft.com/office/drawing/2014/main" id="{FAFA69F1-DC39-48EC-9327-E830D77FF91E}"/>
              </a:ext>
            </a:extLst>
          </p:cNvPr>
          <p:cNvSpPr>
            <a:spLocks xmlns:a="http://schemas.openxmlformats.org/drawingml/2006/main" noGrp="1"/>
          </p:cNvSpPr>
          <p:nvPr/>
        </p:nvSpPr>
        <p:spPr>
          <a:xfrm xmlns:a="http://schemas.openxmlformats.org/drawingml/2006/main">
            <a:off x="3227832" y="1819656"/>
            <a:ext cx="365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C9A96A"/>
                </a:solidFill>
                <a:latin typeface="Cambria"/>
                <a:ea typeface="Cambria"/>
                <a:cs typeface="Cambria"/>
              </a:rPr>
              <a:t>1</a:t>
            </a:r>
            <a:endParaRPr sz="2000"/>
          </a:p>
        </p:txBody>
      </p:sp>
      <p:sp>
        <p:nvSpPr>
          <p:cNvPr id="14" name="Text 12">
            <a:extLst xmlns:a="http://schemas.openxmlformats.org/drawingml/2006/main">
              <a:ext uri="{FF2B5EF4-FFF2-40B4-BE49-F238E27FC236}">
                <a16:creationId xmlns:a16="http://schemas.microsoft.com/office/drawing/2014/main" id="{DA123298-CD01-44E2-97BF-88099CE22C74}"/>
              </a:ext>
            </a:extLst>
          </p:cNvPr>
          <p:cNvSpPr>
            <a:spLocks xmlns:a="http://schemas.openxmlformats.org/drawingml/2006/main" noGrp="1"/>
          </p:cNvSpPr>
          <p:nvPr/>
        </p:nvSpPr>
        <p:spPr>
          <a:xfrm xmlns:a="http://schemas.openxmlformats.org/drawingml/2006/main">
            <a:off x="3566160" y="1847088"/>
            <a:ext cx="2057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a:solidFill>
                  <a:srgbClr val="FFFFFF"/>
                </a:solidFill>
                <a:latin typeface="Calibri"/>
                <a:ea typeface="Calibri"/>
                <a:cs typeface="Calibri"/>
              </a:rPr>
              <a:t>Same-month repeats don't count</a:t>
            </a:r>
            <a:endParaRPr sz="1200"/>
          </a:p>
        </p:txBody>
      </p:sp>
      <p:sp>
        <p:nvSpPr>
          <p:cNvPr id="15" name="Text 13">
            <a:extLst xmlns:a="http://schemas.openxmlformats.org/drawingml/2006/main">
              <a:ext uri="{FF2B5EF4-FFF2-40B4-BE49-F238E27FC236}">
                <a16:creationId xmlns:a16="http://schemas.microsoft.com/office/drawing/2014/main" id="{F2BCB935-8591-4BB7-B6AC-DA8E5A0A9BC8}"/>
              </a:ext>
            </a:extLst>
          </p:cNvPr>
          <p:cNvSpPr>
            <a:spLocks xmlns:a="http://schemas.openxmlformats.org/drawingml/2006/main" noGrp="1"/>
          </p:cNvSpPr>
          <p:nvPr/>
        </p:nvSpPr>
        <p:spPr>
          <a:xfrm xmlns:a="http://schemas.openxmlformats.org/drawingml/2006/main">
            <a:off x="3227832" y="2258568"/>
            <a:ext cx="236829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00">
                <a:solidFill>
                  <a:srgbClr val="D9D3C6"/>
                </a:solidFill>
                <a:latin typeface="Calibri"/>
                <a:ea typeface="Calibri"/>
                <a:cs typeface="Calibri"/>
              </a:rPr>
              <a:t>One checkout can fund several classrooms. Two gifts in month one are one event, not a return. She cannot steward back someone who never left.</a:t>
            </a:r>
            <a:endParaRPr sz="1000"/>
          </a:p>
        </p:txBody>
      </p:sp>
      <p:sp>
        <p:nvSpPr>
          <p:cNvPr id="16" name="Shape 14">
            <a:extLst xmlns:a="http://schemas.openxmlformats.org/drawingml/2006/main">
              <a:ext uri="{FF2B5EF4-FFF2-40B4-BE49-F238E27FC236}">
                <a16:creationId xmlns:a16="http://schemas.microsoft.com/office/drawing/2014/main" id="{9ECC6DD8-4E1F-464E-BE80-0F83E29D92AF}"/>
              </a:ext>
            </a:extLst>
          </p:cNvPr>
          <p:cNvSpPr>
            <a:spLocks xmlns:a="http://schemas.openxmlformats.org/drawingml/2006/main" noGrp="1"/>
          </p:cNvSpPr>
          <p:nvPr/>
        </p:nvSpPr>
        <p:spPr>
          <a:xfrm xmlns:a="http://schemas.openxmlformats.org/drawingml/2006/main">
            <a:off x="5943600" y="1691640"/>
            <a:ext cx="2697480" cy="1481328"/>
          </a:xfrm>
          <a:prstGeom xmlns:a="http://schemas.openxmlformats.org/drawingml/2006/main" prst="roundRect">
            <a:avLst>
              <a:gd name="adj" fmla="val 3704"/>
            </a:avLst>
          </a:prstGeom>
          <a:solidFill xmlns:a="http://schemas.openxmlformats.org/drawingml/2006/main">
            <a:srgbClr val="0D1C2B"/>
          </a:solidFill>
          <a:ln xmlns:a="http://schemas.openxmlformats.org/drawingml/2006/main" w="12700">
            <a:solidFill>
              <a:srgbClr val="0D1C2B"/>
            </a:solidFill>
            <a:prstDash val="solid"/>
          </a:ln>
        </p:spPr>
      </p:sp>
      <p:sp>
        <p:nvSpPr>
          <p:cNvPr id="17" name="Text 15">
            <a:extLst xmlns:a="http://schemas.openxmlformats.org/drawingml/2006/main">
              <a:ext uri="{FF2B5EF4-FFF2-40B4-BE49-F238E27FC236}">
                <a16:creationId xmlns:a16="http://schemas.microsoft.com/office/drawing/2014/main" id="{3EB1BFC9-7028-4EFA-9341-24251DB4B910}"/>
              </a:ext>
            </a:extLst>
          </p:cNvPr>
          <p:cNvSpPr>
            <a:spLocks xmlns:a="http://schemas.openxmlformats.org/drawingml/2006/main" noGrp="1"/>
          </p:cNvSpPr>
          <p:nvPr/>
        </p:nvSpPr>
        <p:spPr>
          <a:xfrm xmlns:a="http://schemas.openxmlformats.org/drawingml/2006/main">
            <a:off x="6108192" y="1819656"/>
            <a:ext cx="365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C9A96A"/>
                </a:solidFill>
                <a:latin typeface="Cambria"/>
                <a:ea typeface="Cambria"/>
                <a:cs typeface="Cambria"/>
              </a:rPr>
              <a:t>2</a:t>
            </a:r>
            <a:endParaRPr sz="2000"/>
          </a:p>
        </p:txBody>
      </p:sp>
      <p:sp>
        <p:nvSpPr>
          <p:cNvPr id="18" name="Text 16">
            <a:extLst xmlns:a="http://schemas.openxmlformats.org/drawingml/2006/main">
              <a:ext uri="{FF2B5EF4-FFF2-40B4-BE49-F238E27FC236}">
                <a16:creationId xmlns:a16="http://schemas.microsoft.com/office/drawing/2014/main" id="{8C871D8C-7A8B-4D25-84F8-33F25BACB97A}"/>
              </a:ext>
            </a:extLst>
          </p:cNvPr>
          <p:cNvSpPr>
            <a:spLocks xmlns:a="http://schemas.openxmlformats.org/drawingml/2006/main" noGrp="1"/>
          </p:cNvSpPr>
          <p:nvPr/>
        </p:nvSpPr>
        <p:spPr>
          <a:xfrm xmlns:a="http://schemas.openxmlformats.org/drawingml/2006/main">
            <a:off x="6446520" y="1847088"/>
            <a:ext cx="2057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a:solidFill>
                  <a:srgbClr val="FFFFFF"/>
                </a:solidFill>
                <a:latin typeface="Calibri"/>
                <a:ea typeface="Calibri"/>
                <a:cs typeface="Calibri"/>
              </a:rPr>
              <a:t>Twelve whole months</a:t>
            </a:r>
            <a:endParaRPr sz="1200"/>
          </a:p>
        </p:txBody>
      </p:sp>
      <p:sp>
        <p:nvSpPr>
          <p:cNvPr id="19" name="Text 17">
            <a:extLst xmlns:a="http://schemas.openxmlformats.org/drawingml/2006/main">
              <a:ext uri="{FF2B5EF4-FFF2-40B4-BE49-F238E27FC236}">
                <a16:creationId xmlns:a16="http://schemas.microsoft.com/office/drawing/2014/main" id="{C8ADB129-C823-4700-94E1-FD65E613F169}"/>
              </a:ext>
            </a:extLst>
          </p:cNvPr>
          <p:cNvSpPr>
            <a:spLocks xmlns:a="http://schemas.openxmlformats.org/drawingml/2006/main" noGrp="1"/>
          </p:cNvSpPr>
          <p:nvPr/>
        </p:nvSpPr>
        <p:spPr>
          <a:xfrm xmlns:a="http://schemas.openxmlformats.org/drawingml/2006/main">
            <a:off x="6108192" y="2258568"/>
            <a:ext cx="236829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00">
                <a:solidFill>
                  <a:srgbClr val="D9D3C6"/>
                </a:solidFill>
                <a:latin typeface="Calibri"/>
                <a:ea typeface="Calibri"/>
                <a:cs typeface="Calibri"/>
              </a:rPr>
              <a:t>M+1 to M+12. Dates are month-level, so no finer definition exists and none is claimed.</a:t>
            </a:r>
            <a:endParaRPr sz="1000"/>
          </a:p>
        </p:txBody>
      </p:sp>
      <p:sp>
        <p:nvSpPr>
          <p:cNvPr id="20" name="Shape 18">
            <a:extLst xmlns:a="http://schemas.openxmlformats.org/drawingml/2006/main">
              <a:ext uri="{FF2B5EF4-FFF2-40B4-BE49-F238E27FC236}">
                <a16:creationId xmlns:a16="http://schemas.microsoft.com/office/drawing/2014/main" id="{2FFFBBB3-752B-499D-94B7-5E0D54F3A189}"/>
              </a:ext>
            </a:extLst>
          </p:cNvPr>
          <p:cNvSpPr>
            <a:spLocks xmlns:a="http://schemas.openxmlformats.org/drawingml/2006/main" noGrp="1"/>
          </p:cNvSpPr>
          <p:nvPr/>
        </p:nvSpPr>
        <p:spPr>
          <a:xfrm xmlns:a="http://schemas.openxmlformats.org/drawingml/2006/main">
            <a:off x="3063240" y="3355848"/>
            <a:ext cx="2697480" cy="1481328"/>
          </a:xfrm>
          <a:prstGeom xmlns:a="http://schemas.openxmlformats.org/drawingml/2006/main" prst="roundRect">
            <a:avLst>
              <a:gd name="adj" fmla="val 3704"/>
            </a:avLst>
          </a:prstGeom>
          <a:solidFill xmlns:a="http://schemas.openxmlformats.org/drawingml/2006/main">
            <a:srgbClr val="0D1C2B"/>
          </a:solidFill>
          <a:ln xmlns:a="http://schemas.openxmlformats.org/drawingml/2006/main" w="12700">
            <a:solidFill>
              <a:srgbClr val="0D1C2B"/>
            </a:solidFill>
            <a:prstDash val="solid"/>
          </a:ln>
        </p:spPr>
      </p:sp>
      <p:sp>
        <p:nvSpPr>
          <p:cNvPr id="21" name="Text 19">
            <a:extLst xmlns:a="http://schemas.openxmlformats.org/drawingml/2006/main">
              <a:ext uri="{FF2B5EF4-FFF2-40B4-BE49-F238E27FC236}">
                <a16:creationId xmlns:a16="http://schemas.microsoft.com/office/drawing/2014/main" id="{0534614E-C54B-4E3E-AE65-12A6C3DC170A}"/>
              </a:ext>
            </a:extLst>
          </p:cNvPr>
          <p:cNvSpPr>
            <a:spLocks xmlns:a="http://schemas.openxmlformats.org/drawingml/2006/main" noGrp="1"/>
          </p:cNvSpPr>
          <p:nvPr/>
        </p:nvSpPr>
        <p:spPr>
          <a:xfrm xmlns:a="http://schemas.openxmlformats.org/drawingml/2006/main">
            <a:off x="3227832" y="3483864"/>
            <a:ext cx="365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C9A96A"/>
                </a:solidFill>
                <a:latin typeface="Cambria"/>
                <a:ea typeface="Cambria"/>
                <a:cs typeface="Cambria"/>
              </a:rPr>
              <a:t>3</a:t>
            </a:r>
            <a:endParaRPr sz="2000"/>
          </a:p>
        </p:txBody>
      </p:sp>
      <p:sp>
        <p:nvSpPr>
          <p:cNvPr id="22" name="Text 20">
            <a:extLst xmlns:a="http://schemas.openxmlformats.org/drawingml/2006/main">
              <a:ext uri="{FF2B5EF4-FFF2-40B4-BE49-F238E27FC236}">
                <a16:creationId xmlns:a16="http://schemas.microsoft.com/office/drawing/2014/main" id="{A52836F8-A315-40CD-ADD7-A03D9FC8ACE8}"/>
              </a:ext>
            </a:extLst>
          </p:cNvPr>
          <p:cNvSpPr>
            <a:spLocks xmlns:a="http://schemas.openxmlformats.org/drawingml/2006/main" noGrp="1"/>
          </p:cNvSpPr>
          <p:nvPr/>
        </p:nvSpPr>
        <p:spPr>
          <a:xfrm xmlns:a="http://schemas.openxmlformats.org/drawingml/2006/main">
            <a:off x="3566160" y="3511296"/>
            <a:ext cx="2057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a:solidFill>
                  <a:srgbClr val="FFFFFF"/>
                </a:solidFill>
                <a:latin typeface="Calibri"/>
                <a:ea typeface="Calibri"/>
                <a:cs typeface="Calibri"/>
              </a:rPr>
              <a:t>Unclosed windows: dropped, not zeroed</a:t>
            </a:r>
            <a:endParaRPr sz="1200"/>
          </a:p>
        </p:txBody>
      </p:sp>
      <p:sp>
        <p:nvSpPr>
          <p:cNvPr id="23" name="Text 21">
            <a:extLst xmlns:a="http://schemas.openxmlformats.org/drawingml/2006/main">
              <a:ext uri="{FF2B5EF4-FFF2-40B4-BE49-F238E27FC236}">
                <a16:creationId xmlns:a16="http://schemas.microsoft.com/office/drawing/2014/main" id="{E81FB0F0-4428-4547-B1CD-94DE22CE4536}"/>
              </a:ext>
            </a:extLst>
          </p:cNvPr>
          <p:cNvSpPr>
            <a:spLocks xmlns:a="http://schemas.openxmlformats.org/drawingml/2006/main" noGrp="1"/>
          </p:cNvSpPr>
          <p:nvPr/>
        </p:nvSpPr>
        <p:spPr>
          <a:xfrm xmlns:a="http://schemas.openxmlformats.org/drawingml/2006/main">
            <a:off x="3227832" y="3922776"/>
            <a:ext cx="236829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00">
                <a:solidFill>
                  <a:srgbClr val="D9D3C6"/>
                </a:solidFill>
                <a:latin typeface="Calibri"/>
                <a:ea typeface="Calibri"/>
                <a:cs typeface="Calibri"/>
              </a:rPr>
              <a:t>A 2019 donor has not had a year to come back. Labelling them 0 teaches the model that recent donors never return.</a:t>
            </a:r>
            <a:endParaRPr sz="1000"/>
          </a:p>
        </p:txBody>
      </p:sp>
      <p:sp>
        <p:nvSpPr>
          <p:cNvPr id="24" name="Shape 22">
            <a:extLst xmlns:a="http://schemas.openxmlformats.org/drawingml/2006/main">
              <a:ext uri="{FF2B5EF4-FFF2-40B4-BE49-F238E27FC236}">
                <a16:creationId xmlns:a16="http://schemas.microsoft.com/office/drawing/2014/main" id="{F124AD28-2542-41DD-9972-8B8AD5008589}"/>
              </a:ext>
            </a:extLst>
          </p:cNvPr>
          <p:cNvSpPr>
            <a:spLocks xmlns:a="http://schemas.openxmlformats.org/drawingml/2006/main" noGrp="1"/>
          </p:cNvSpPr>
          <p:nvPr/>
        </p:nvSpPr>
        <p:spPr>
          <a:xfrm xmlns:a="http://schemas.openxmlformats.org/drawingml/2006/main">
            <a:off x="5943600" y="3355848"/>
            <a:ext cx="2697480" cy="1481328"/>
          </a:xfrm>
          <a:prstGeom xmlns:a="http://schemas.openxmlformats.org/drawingml/2006/main" prst="roundRect">
            <a:avLst>
              <a:gd name="adj" fmla="val 3704"/>
            </a:avLst>
          </a:prstGeom>
          <a:solidFill xmlns:a="http://schemas.openxmlformats.org/drawingml/2006/main">
            <a:srgbClr val="0D1C2B"/>
          </a:solidFill>
          <a:ln xmlns:a="http://schemas.openxmlformats.org/drawingml/2006/main" w="12700">
            <a:solidFill>
              <a:srgbClr val="0D1C2B"/>
            </a:solidFill>
            <a:prstDash val="solid"/>
          </a:ln>
        </p:spPr>
      </p:sp>
      <p:sp>
        <p:nvSpPr>
          <p:cNvPr id="25" name="Text 23">
            <a:extLst xmlns:a="http://schemas.openxmlformats.org/drawingml/2006/main">
              <a:ext uri="{FF2B5EF4-FFF2-40B4-BE49-F238E27FC236}">
                <a16:creationId xmlns:a16="http://schemas.microsoft.com/office/drawing/2014/main" id="{8C91CF64-4CC7-40C9-89C5-4BB03A4CA5CD}"/>
              </a:ext>
            </a:extLst>
          </p:cNvPr>
          <p:cNvSpPr>
            <a:spLocks xmlns:a="http://schemas.openxmlformats.org/drawingml/2006/main" noGrp="1"/>
          </p:cNvSpPr>
          <p:nvPr/>
        </p:nvSpPr>
        <p:spPr>
          <a:xfrm xmlns:a="http://schemas.openxmlformats.org/drawingml/2006/main">
            <a:off x="6108192" y="3483864"/>
            <a:ext cx="365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C9A96A"/>
                </a:solidFill>
                <a:latin typeface="Cambria"/>
                <a:ea typeface="Cambria"/>
                <a:cs typeface="Cambria"/>
              </a:rPr>
              <a:t>4</a:t>
            </a:r>
            <a:endParaRPr sz="2000"/>
          </a:p>
        </p:txBody>
      </p:sp>
      <p:sp>
        <p:nvSpPr>
          <p:cNvPr id="26" name="Text 24">
            <a:extLst xmlns:a="http://schemas.openxmlformats.org/drawingml/2006/main">
              <a:ext uri="{FF2B5EF4-FFF2-40B4-BE49-F238E27FC236}">
                <a16:creationId xmlns:a16="http://schemas.microsoft.com/office/drawing/2014/main" id="{5BE7C609-997B-4C28-A83A-691BBABFD8D5}"/>
              </a:ext>
            </a:extLst>
          </p:cNvPr>
          <p:cNvSpPr>
            <a:spLocks xmlns:a="http://schemas.openxmlformats.org/drawingml/2006/main" noGrp="1"/>
          </p:cNvSpPr>
          <p:nvPr/>
        </p:nvSpPr>
        <p:spPr>
          <a:xfrm xmlns:a="http://schemas.openxmlformats.org/drawingml/2006/main">
            <a:off x="6446520" y="3511296"/>
            <a:ext cx="2057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a:solidFill>
                  <a:srgbClr val="FFFFFF"/>
                </a:solidFill>
                <a:latin typeface="Calibri"/>
                <a:ea typeface="Calibri"/>
                <a:cs typeface="Calibri"/>
              </a:rPr>
              <a:t>Refunds are not gifts</a:t>
            </a:r>
            <a:endParaRPr sz="1200"/>
          </a:p>
        </p:txBody>
      </p:sp>
      <p:sp>
        <p:nvSpPr>
          <p:cNvPr id="27" name="Text 25">
            <a:extLst xmlns:a="http://schemas.openxmlformats.org/drawingml/2006/main">
              <a:ext uri="{FF2B5EF4-FFF2-40B4-BE49-F238E27FC236}">
                <a16:creationId xmlns:a16="http://schemas.microsoft.com/office/drawing/2014/main" id="{B367B038-FC6E-490D-9294-6D035A7AD989}"/>
              </a:ext>
            </a:extLst>
          </p:cNvPr>
          <p:cNvSpPr>
            <a:spLocks xmlns:a="http://schemas.openxmlformats.org/drawingml/2006/main" noGrp="1"/>
          </p:cNvSpPr>
          <p:nvPr/>
        </p:nvSpPr>
        <p:spPr>
          <a:xfrm xmlns:a="http://schemas.openxmlformats.org/drawingml/2006/main">
            <a:off x="6108192" y="3922776"/>
            <a:ext cx="236829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00">
                <a:solidFill>
                  <a:srgbClr val="D9D3C6"/>
                </a:solidFill>
                <a:latin typeface="Calibri"/>
                <a:ea typeface="Calibri"/>
                <a:cs typeface="Calibri"/>
              </a:rPr>
              <a:t>The codebook lists a minimum amount of −$15. A reversal cannot open a cohort or count as a return. 151 rows, excluded.</a:t>
            </a:r>
            <a:endParaRPr sz="1000"/>
          </a:p>
        </p:txBody>
      </p:sp>
    </p:spTree>
    <p:extLst>
      <p:ext uri="{BB962C8B-B14F-4D97-AF65-F5344CB8AC3E}">
        <p14:creationId xmlns:p14="http://schemas.microsoft.com/office/powerpoint/2010/main" val="1377331438"/>
      </p:ext>
    </p:extLst>
  </p:cSld>
</p:sld>
</file>

<file path=ppt/slides/slide4.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B75A87-A0AB-46FC-B0D0-F5629EE00032}"/>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THE FINDING</a:t>
            </a:r>
            <a:endParaRPr sz="900"/>
          </a:p>
        </p:txBody>
      </p:sp>
      <p:sp>
        <p:nvSpPr>
          <p:cNvPr id="3" name="Text 1">
            <a:extLst xmlns:a="http://schemas.openxmlformats.org/drawingml/2006/main">
              <a:ext uri="{FF2B5EF4-FFF2-40B4-BE49-F238E27FC236}">
                <a16:creationId xmlns:a16="http://schemas.microsoft.com/office/drawing/2014/main" id="{7B538791-44F9-4BD6-9041-EE9B83BBF539}"/>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Bakul  ·  4 / 10</a:t>
            </a:r>
            <a:endParaRPr sz="900"/>
          </a:p>
        </p:txBody>
      </p:sp>
      <p:sp>
        <p:nvSpPr>
          <p:cNvPr id="4" name="Text 2">
            <a:extLst xmlns:a="http://schemas.openxmlformats.org/drawingml/2006/main">
              <a:ext uri="{FF2B5EF4-FFF2-40B4-BE49-F238E27FC236}">
                <a16:creationId xmlns:a16="http://schemas.microsoft.com/office/drawing/2014/main" id="{21826B85-9857-464C-9CC5-96D097EA6D90}"/>
              </a:ext>
            </a:extLst>
          </p:cNvPr>
          <p:cNvSpPr>
            <a:spLocks xmlns:a="http://schemas.openxmlformats.org/drawingml/2006/main" noGrp="1"/>
          </p:cNvSpPr>
          <p:nvPr/>
        </p:nvSpPr>
        <p:spPr>
          <a:xfrm xmlns:a="http://schemas.openxmlformats.org/drawingml/2006/main">
            <a:off x="502920" y="621792"/>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2600" b="1">
                <a:solidFill>
                  <a:srgbClr val="FFFFFF"/>
                </a:solidFill>
                <a:latin typeface="Cambria"/>
                <a:ea typeface="Cambria"/>
                <a:cs typeface="Cambria"/>
              </a:rPr>
              <a:t>708 organizations hold 62% of every repeat dollar.</a:t>
            </a:r>
            <a:endParaRPr sz="2600"/>
          </a:p>
        </p:txBody>
      </p:sp>
      <p:sp>
        <p:nvSpPr>
          <p:cNvPr id="5" name="Text 3">
            <a:extLst xmlns:a="http://schemas.openxmlformats.org/drawingml/2006/main">
              <a:ext uri="{FF2B5EF4-FFF2-40B4-BE49-F238E27FC236}">
                <a16:creationId xmlns:a16="http://schemas.microsoft.com/office/drawing/2014/main" id="{5D84653E-81E9-4C4F-B95F-FFBC8C785A3C}"/>
              </a:ext>
            </a:extLst>
          </p:cNvPr>
          <p:cNvSpPr>
            <a:spLocks xmlns:a="http://schemas.openxmlformats.org/drawingml/2006/main" noGrp="1"/>
          </p:cNvSpPr>
          <p:nvPr/>
        </p:nvSpPr>
        <p:spPr>
          <a:xfrm xmlns:a="http://schemas.openxmlformats.org/drawingml/2006/main">
            <a:off x="502920" y="1600200"/>
            <a:ext cx="3246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F2EDE3"/>
                </a:solidFill>
                <a:latin typeface="Calibri"/>
                <a:ea typeface="Calibri"/>
                <a:cs typeface="Calibri"/>
              </a:rPr>
              <a:t>Our first result found 80% of all repeat dollars at 10% capacity with the dumbest possible rule: rank by gift size. It looked like a triumph.</a:t>
            </a:r>
            <a:endParaRPr sz="1200"/>
          </a:p>
        </p:txBody>
      </p:sp>
      <p:sp>
        <p:nvSpPr>
          <p:cNvPr id="6" name="Text 4">
            <a:extLst xmlns:a="http://schemas.openxmlformats.org/drawingml/2006/main">
              <a:ext uri="{FF2B5EF4-FFF2-40B4-BE49-F238E27FC236}">
                <a16:creationId xmlns:a16="http://schemas.microsoft.com/office/drawing/2014/main" id="{795B5D97-283A-4AEE-96A9-F0063D507FA8}"/>
              </a:ext>
            </a:extLst>
          </p:cNvPr>
          <p:cNvSpPr>
            <a:spLocks xmlns:a="http://schemas.openxmlformats.org/drawingml/2006/main" noGrp="1"/>
          </p:cNvSpPr>
          <p:nvPr/>
        </p:nvSpPr>
        <p:spPr>
          <a:xfrm xmlns:a="http://schemas.openxmlformats.org/drawingml/2006/main">
            <a:off x="502920" y="2468880"/>
            <a:ext cx="3246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D9D3C6"/>
                </a:solidFill>
                <a:latin typeface="Calibri"/>
                <a:ea typeface="Calibri"/>
                <a:cs typeface="Calibri"/>
              </a:rPr>
              <a:t>It was measuring corporate matching programs. The largest made 66,348 donations in its twelve-month window. Any ranker wins the pooled contest by finding them — and she already knows who they are.</a:t>
            </a:r>
            <a:endParaRPr sz="1200"/>
          </a:p>
        </p:txBody>
      </p:sp>
      <p:sp>
        <p:nvSpPr>
          <p:cNvPr id="7" name="Shape 5">
            <a:extLst xmlns:a="http://schemas.openxmlformats.org/drawingml/2006/main">
              <a:ext uri="{FF2B5EF4-FFF2-40B4-BE49-F238E27FC236}">
                <a16:creationId xmlns:a16="http://schemas.microsoft.com/office/drawing/2014/main" id="{32E4186C-7F68-4288-A49E-96B56C1A114F}"/>
              </a:ext>
            </a:extLst>
          </p:cNvPr>
          <p:cNvSpPr>
            <a:spLocks xmlns:a="http://schemas.openxmlformats.org/drawingml/2006/main" noGrp="1"/>
          </p:cNvSpPr>
          <p:nvPr/>
        </p:nvSpPr>
        <p:spPr>
          <a:xfrm xmlns:a="http://schemas.openxmlformats.org/drawingml/2006/main">
            <a:off x="502920" y="3611880"/>
            <a:ext cx="3246120" cy="1051560"/>
          </a:xfrm>
          <a:prstGeom xmlns:a="http://schemas.openxmlformats.org/drawingml/2006/main" prst="roundRect">
            <a:avLst>
              <a:gd name="adj" fmla="val 5217"/>
            </a:avLst>
          </a:prstGeom>
          <a:solidFill xmlns:a="http://schemas.openxmlformats.org/drawingml/2006/main">
            <a:srgbClr val="13253A"/>
          </a:solidFill>
          <a:ln xmlns:a="http://schemas.openxmlformats.org/drawingml/2006/main" w="12700">
            <a:solidFill>
              <a:srgbClr val="13253A"/>
            </a:solidFill>
            <a:prstDash val="solid"/>
          </a:ln>
        </p:spPr>
      </p:sp>
      <p:sp>
        <p:nvSpPr>
          <p:cNvPr id="8" name="Text 6">
            <a:extLst xmlns:a="http://schemas.openxmlformats.org/drawingml/2006/main">
              <a:ext uri="{FF2B5EF4-FFF2-40B4-BE49-F238E27FC236}">
                <a16:creationId xmlns:a16="http://schemas.microsoft.com/office/drawing/2014/main" id="{7034D24F-7DB0-4283-A45C-E5548426C6D1}"/>
              </a:ext>
            </a:extLst>
          </p:cNvPr>
          <p:cNvSpPr>
            <a:spLocks xmlns:a="http://schemas.openxmlformats.org/drawingml/2006/main" noGrp="1"/>
          </p:cNvSpPr>
          <p:nvPr/>
        </p:nvSpPr>
        <p:spPr>
          <a:xfrm xmlns:a="http://schemas.openxmlformats.org/drawingml/2006/main">
            <a:off x="685800" y="370332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200">
                <a:solidFill>
                  <a:srgbClr val="C9A96A"/>
                </a:solidFill>
                <a:latin typeface="Courier New"/>
                <a:ea typeface="Courier New"/>
                <a:cs typeface="Courier New"/>
              </a:rPr>
              <a:t>THE DECISION</a:t>
            </a:r>
            <a:endParaRPr sz="800"/>
          </a:p>
        </p:txBody>
      </p:sp>
      <p:sp>
        <p:nvSpPr>
          <p:cNvPr id="9" name="Text 7">
            <a:extLst xmlns:a="http://schemas.openxmlformats.org/drawingml/2006/main">
              <a:ext uri="{FF2B5EF4-FFF2-40B4-BE49-F238E27FC236}">
                <a16:creationId xmlns:a16="http://schemas.microsoft.com/office/drawing/2014/main" id="{B43882C4-606D-45E4-9DF0-9195B9D0E1B8}"/>
              </a:ext>
            </a:extLst>
          </p:cNvPr>
          <p:cNvSpPr>
            <a:spLocks xmlns:a="http://schemas.openxmlformats.org/drawingml/2006/main" noGrp="1"/>
          </p:cNvSpPr>
          <p:nvPr/>
        </p:nvSpPr>
        <p:spPr>
          <a:xfrm xmlns:a="http://schemas.openxmlformats.org/drawingml/2006/main">
            <a:off x="685800" y="3913632"/>
            <a:ext cx="2880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50">
                <a:solidFill>
                  <a:srgbClr val="F2EDE3"/>
                </a:solidFill>
                <a:latin typeface="Calibri"/>
                <a:ea typeface="Calibri"/>
                <a:cs typeface="Calibri"/>
              </a:rPr>
              <a:t>Score citizen donors only — 86% of people, the ones she actually calls. One line in config, reversible, both numbers kept.</a:t>
            </a:r>
            <a:endParaRPr sz="105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c5d1c0974f6a48a4"/>
          <a:stretch xmlns:a="http://schemas.openxmlformats.org/drawingml/2006/main">
            <a:fillRect l="0" t="0" r="0" b="0"/>
          </a:stretch>
        </p:blipFill>
        <p:spPr>
          <a:xfrm xmlns:a="http://schemas.openxmlformats.org/drawingml/2006/main">
            <a:off x="4416552" y="1207008"/>
            <a:ext cx="4224528" cy="3474720"/>
          </a:xfrm>
          <a:prstGeom xmlns:a="http://schemas.openxmlformats.org/drawingml/2006/main" prst="rect">
            <a:avLst/>
          </a:prstGeom>
        </p:spPr>
      </p:pic>
    </p:spTree>
    <p:extLst>
      <p:ext uri="{BB962C8B-B14F-4D97-AF65-F5344CB8AC3E}">
        <p14:creationId xmlns:p14="http://schemas.microsoft.com/office/powerpoint/2010/main" val="497856962"/>
      </p:ext>
    </p:extLst>
  </p:cSld>
</p:sld>
</file>

<file path=ppt/slides/slide5.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83FA93-7492-49C1-B4FD-A2C48A75A778}"/>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FEATURES</a:t>
            </a:r>
            <a:endParaRPr sz="900"/>
          </a:p>
        </p:txBody>
      </p:sp>
      <p:sp>
        <p:nvSpPr>
          <p:cNvPr id="3" name="Text 1">
            <a:extLst xmlns:a="http://schemas.openxmlformats.org/drawingml/2006/main">
              <a:ext uri="{FF2B5EF4-FFF2-40B4-BE49-F238E27FC236}">
                <a16:creationId xmlns:a16="http://schemas.microsoft.com/office/drawing/2014/main" id="{D0834E2C-438B-4BBF-96ED-BF9CE3A5BDDE}"/>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Reid  ·  5 / 10</a:t>
            </a:r>
            <a:endParaRPr sz="900"/>
          </a:p>
        </p:txBody>
      </p:sp>
      <p:sp>
        <p:nvSpPr>
          <p:cNvPr id="4" name="Text 2">
            <a:extLst xmlns:a="http://schemas.openxmlformats.org/drawingml/2006/main">
              <a:ext uri="{FF2B5EF4-FFF2-40B4-BE49-F238E27FC236}">
                <a16:creationId xmlns:a16="http://schemas.microsoft.com/office/drawing/2014/main" id="{58DAE839-B21B-43F4-97B5-D8D0A5014C55}"/>
              </a:ext>
            </a:extLst>
          </p:cNvPr>
          <p:cNvSpPr>
            <a:spLocks xmlns:a="http://schemas.openxmlformats.org/drawingml/2006/main" noGrp="1"/>
          </p:cNvSpPr>
          <p:nvPr/>
        </p:nvSpPr>
        <p:spPr>
          <a:xfrm xmlns:a="http://schemas.openxmlformats.org/drawingml/2006/main">
            <a:off x="502920" y="621792"/>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3000" b="1">
                <a:solidFill>
                  <a:srgbClr val="FFFFFF"/>
                </a:solidFill>
                <a:latin typeface="Cambria"/>
                <a:ea typeface="Cambria"/>
                <a:cs typeface="Cambria"/>
              </a:rPr>
              <a:t>What predicts a return</a:t>
            </a:r>
            <a:endParaRPr sz="3000"/>
          </a:p>
        </p:txBody>
      </p:sp>
      <p:sp>
        <p:nvSpPr>
          <p:cNvPr id="5" name="Text 3">
            <a:extLst xmlns:a="http://schemas.openxmlformats.org/drawingml/2006/main">
              <a:ext uri="{FF2B5EF4-FFF2-40B4-BE49-F238E27FC236}">
                <a16:creationId xmlns:a16="http://schemas.microsoft.com/office/drawing/2014/main" id="{32D6B913-E811-417D-844A-135E4BF58307}"/>
              </a:ext>
            </a:extLst>
          </p:cNvPr>
          <p:cNvSpPr>
            <a:spLocks xmlns:a="http://schemas.openxmlformats.org/drawingml/2006/main" noGrp="1"/>
          </p:cNvSpPr>
          <p:nvPr/>
        </p:nvSpPr>
        <p:spPr>
          <a:xfrm xmlns:a="http://schemas.openxmlformats.org/drawingml/2006/main">
            <a:off x="502920" y="1280160"/>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i="1">
                <a:solidFill>
                  <a:srgbClr val="C9A96A"/>
                </a:solidFill>
                <a:latin typeface="Calibri"/>
                <a:ea typeface="Calibri"/>
                <a:cs typeface="Calibri"/>
              </a:rPr>
              <a:t>Gift size finds dollars; [feature] finds people. Here is what moved and what did not.</a:t>
            </a:r>
            <a:endParaRPr sz="1300"/>
          </a:p>
        </p:txBody>
      </p:sp>
      <p:sp>
        <p:nvSpPr>
          <p:cNvPr id="6" name="Text 4">
            <a:extLst xmlns:a="http://schemas.openxmlformats.org/drawingml/2006/main">
              <a:ext uri="{FF2B5EF4-FFF2-40B4-BE49-F238E27FC236}">
                <a16:creationId xmlns:a16="http://schemas.microsoft.com/office/drawing/2014/main" id="{D42B7F3E-0BF3-4612-9B82-65E78353A18D}"/>
              </a:ext>
            </a:extLst>
          </p:cNvPr>
          <p:cNvSpPr>
            <a:spLocks xmlns:a="http://schemas.openxmlformats.org/drawingml/2006/main" noGrp="1"/>
          </p:cNvSpPr>
          <p:nvPr/>
        </p:nvSpPr>
        <p:spPr>
          <a:xfrm xmlns:a="http://schemas.openxmlformats.org/drawingml/2006/main">
            <a:off x="502920" y="1965960"/>
            <a:ext cx="32918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00">
                <a:solidFill>
                  <a:srgbClr val="D9D3C6"/>
                </a:solidFill>
                <a:latin typeface="Calibri"/>
                <a:ea typeface="Calibri"/>
                <a:cs typeface="Calibri"/>
              </a:rPr>
              <a:t>Structure to keep: one chart of importance or lift, one sentence per feature that mattered, one on what did not. Text is masked by ICPSR — no embeddings. Tie back to slide 4.</a:t>
            </a:r>
            <a:endParaRPr sz="1100"/>
          </a:p>
        </p:txBody>
      </p:sp>
      <p:sp>
        <p:nvSpPr>
          <p:cNvPr id="7" name="Shape 5">
            <a:extLst xmlns:a="http://schemas.openxmlformats.org/drawingml/2006/main">
              <a:ext uri="{FF2B5EF4-FFF2-40B4-BE49-F238E27FC236}">
                <a16:creationId xmlns:a16="http://schemas.microsoft.com/office/drawing/2014/main" id="{6B3FE3D1-A668-44FD-970E-C7766D0B8C63}"/>
              </a:ext>
            </a:extLst>
          </p:cNvPr>
          <p:cNvSpPr>
            <a:spLocks xmlns:a="http://schemas.openxmlformats.org/drawingml/2006/main" noGrp="1"/>
          </p:cNvSpPr>
          <p:nvPr/>
        </p:nvSpPr>
        <p:spPr>
          <a:xfrm xmlns:a="http://schemas.openxmlformats.org/drawingml/2006/main">
            <a:off x="4160520" y="1188720"/>
            <a:ext cx="4480560" cy="3520440"/>
          </a:xfrm>
          <a:prstGeom xmlns:a="http://schemas.openxmlformats.org/drawingml/2006/main" prst="roundRect">
            <a:avLst>
              <a:gd name="adj" fmla="val 1558"/>
            </a:avLst>
          </a:prstGeom>
          <a:solidFill xmlns:a="http://schemas.openxmlformats.org/drawingml/2006/main">
            <a:srgbClr val="081321"/>
          </a:solidFill>
          <a:ln xmlns:a="http://schemas.openxmlformats.org/drawingml/2006/main" w="9525">
            <a:solidFill>
              <a:srgbClr val="C9A96A"/>
            </a:solidFill>
            <a:prstDash val="dash"/>
          </a:ln>
        </p:spPr>
      </p:sp>
      <p:sp>
        <p:nvSpPr>
          <p:cNvPr id="8" name="Text 6">
            <a:extLst xmlns:a="http://schemas.openxmlformats.org/drawingml/2006/main">
              <a:ext uri="{FF2B5EF4-FFF2-40B4-BE49-F238E27FC236}">
                <a16:creationId xmlns:a16="http://schemas.microsoft.com/office/drawing/2014/main" id="{3997C490-6A5E-4459-8E99-330F99C4CFE7}"/>
              </a:ext>
            </a:extLst>
          </p:cNvPr>
          <p:cNvSpPr>
            <a:spLocks xmlns:a="http://schemas.openxmlformats.org/drawingml/2006/main" noGrp="1"/>
          </p:cNvSpPr>
          <p:nvPr/>
        </p:nvSpPr>
        <p:spPr>
          <a:xfrm xmlns:a="http://schemas.openxmlformats.org/drawingml/2006/main">
            <a:off x="4343400" y="1371600"/>
            <a:ext cx="4114800" cy="3154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spc="200">
                <a:solidFill>
                  <a:srgbClr val="C9A96A"/>
                </a:solidFill>
                <a:latin typeface="Courier New"/>
                <a:ea typeface="Courier New"/>
                <a:cs typeface="Courier New"/>
              </a:rPr>
              <a:t>DROP HERE</a:t>
            </a:r>
            <a:endParaRPr sz="800"/>
          </a:p>
          <a:p xmlns:a="http://schemas.openxmlformats.org/drawingml/2006/main">
            <a:pPr marL="0" indent="0" algn="ctr">
              <a:buNone/>
            </a:pPr>
            <a:r>
              <a:rPr sz="1200" i="1">
                <a:solidFill>
                  <a:srgbClr val="B4AE9F"/>
                </a:solidFill>
                <a:latin typeface="Calibri"/>
                <a:ea typeface="Calibri"/>
                <a:cs typeface="Calibri"/>
              </a:rPr>
              <a:t>Feature importance or lift table — one chart</a:t>
            </a:r>
            <a:endParaRPr sz="800"/>
          </a:p>
        </p:txBody>
      </p:sp>
    </p:spTree>
    <p:extLst>
      <p:ext uri="{BB962C8B-B14F-4D97-AF65-F5344CB8AC3E}">
        <p14:creationId xmlns:p14="http://schemas.microsoft.com/office/powerpoint/2010/main" val="696158413"/>
      </p:ext>
    </p:extLst>
  </p:cSld>
</p:sld>
</file>

<file path=ppt/slides/slide6.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1E50387-0E50-4C71-AEA0-90B59FFEC18E}"/>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THE HEADLINE</a:t>
            </a:r>
            <a:endParaRPr sz="900"/>
          </a:p>
        </p:txBody>
      </p:sp>
      <p:sp>
        <p:nvSpPr>
          <p:cNvPr id="3" name="Text 1">
            <a:extLst xmlns:a="http://schemas.openxmlformats.org/drawingml/2006/main">
              <a:ext uri="{FF2B5EF4-FFF2-40B4-BE49-F238E27FC236}">
                <a16:creationId xmlns:a16="http://schemas.microsoft.com/office/drawing/2014/main" id="{0968D1DF-C709-49A2-8315-F0A09F166CAC}"/>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Rodolfo  ·  6 / 10</a:t>
            </a:r>
            <a:endParaRPr sz="900"/>
          </a:p>
        </p:txBody>
      </p:sp>
      <p:sp>
        <p:nvSpPr>
          <p:cNvPr id="4" name="Text 2">
            <a:extLst xmlns:a="http://schemas.openxmlformats.org/drawingml/2006/main">
              <a:ext uri="{FF2B5EF4-FFF2-40B4-BE49-F238E27FC236}">
                <a16:creationId xmlns:a16="http://schemas.microsoft.com/office/drawing/2014/main" id="{C5762EBB-74DC-4CE1-A28E-0D56221645E1}"/>
              </a:ext>
            </a:extLst>
          </p:cNvPr>
          <p:cNvSpPr>
            <a:spLocks xmlns:a="http://schemas.openxmlformats.org/drawingml/2006/main" noGrp="1"/>
          </p:cNvSpPr>
          <p:nvPr/>
        </p:nvSpPr>
        <p:spPr>
          <a:xfrm xmlns:a="http://schemas.openxmlformats.org/drawingml/2006/main">
            <a:off x="502920" y="621792"/>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2800" b="1">
                <a:solidFill>
                  <a:srgbClr val="FFFFFF"/>
                </a:solidFill>
                <a:latin typeface="Cambria"/>
                <a:ea typeface="Cambria"/>
                <a:cs typeface="Cambria"/>
              </a:rPr>
              <a:t>At her capacity, dollars identified per contact</a:t>
            </a:r>
            <a:endParaRPr sz="2800"/>
          </a:p>
        </p:txBody>
      </p:sp>
      <p:sp>
        <p:nvSpPr>
          <p:cNvPr id="5" name="Text 3">
            <a:extLst xmlns:a="http://schemas.openxmlformats.org/drawingml/2006/main">
              <a:ext uri="{FF2B5EF4-FFF2-40B4-BE49-F238E27FC236}">
                <a16:creationId xmlns:a16="http://schemas.microsoft.com/office/drawing/2014/main" id="{BFD61FEB-7F7C-4C75-9F21-3B8C60EA5B5C}"/>
              </a:ext>
            </a:extLst>
          </p:cNvPr>
          <p:cNvSpPr>
            <a:spLocks xmlns:a="http://schemas.openxmlformats.org/drawingml/2006/main" noGrp="1"/>
          </p:cNvSpPr>
          <p:nvPr/>
        </p:nvSpPr>
        <p:spPr>
          <a:xfrm xmlns:a="http://schemas.openxmlformats.org/drawingml/2006/main">
            <a:off x="502920" y="1261872"/>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00">
                <a:solidFill>
                  <a:srgbClr val="B4AE9F"/>
                </a:solidFill>
                <a:latin typeface="Calibri"/>
                <a:ea typeface="Calibri"/>
                <a:cs typeface="Calibri"/>
              </a:rPr>
              <a:t>Citizen donors · top 10% of each month's new donors · 2017–18 holdout · value identified, never “caused”</a:t>
            </a:r>
            <a:endParaRPr sz="1000"/>
          </a:p>
        </p:txBody>
      </p:sp>
      <p:graphicFrame>
        <p:nvGraphicFramePr>
          <p:cNvPr id="13" name="Table 0"/>
          <p:cNvGraphicFramePr/>
          <p:nvPr/>
        </p:nvGraphicFramePr>
        <p:xfrm>
          <a:off xmlns:a="http://schemas.openxmlformats.org/drawingml/2006/main" x="502920" y="1645920"/>
          <a:ext xmlns:a="http://schemas.openxmlformats.org/drawingml/2006/main" cx="8138160" cy="914400"/>
        </p:xfrm>
        <a:graphic xmlns:a="http://schemas.openxmlformats.org/drawingml/2006/main">
          <a:graphicData uri="http://schemas.openxmlformats.org/drawingml/2006/table">
            <a:tbl>
              <a:tblPr/>
              <a:tblGrid>
                <a:gridCol w="3200400"/>
                <a:gridCol w="1234440"/>
                <a:gridCol w="1234440"/>
                <a:gridCol w="1417320"/>
                <a:gridCol w="1051560"/>
              </a:tblGrid>
              <a:tr h="384048">
                <a:tc>
                  <a:txBody>
                    <a:bodyPr/>
                    <a:lstStyle/>
                    <a:p>
                      <a:pPr marL="0" indent="0" algn="l">
                        <a:buNone/>
                      </a:pPr>
                      <a:r>
                        <a:rPr sz="800" b="1">
                          <a:solidFill>
                            <a:srgbClr val="C9A96A"/>
                          </a:solidFill>
                          <a:latin typeface="Courier New"/>
                          <a:ea typeface="Courier New"/>
                          <a:cs typeface="Courier New"/>
                        </a:rPr>
                        <a:t>RANKING</a:t>
                      </a:r>
                      <a:endParaRPr sz="800">
                        <a:latin typeface="Courier New"/>
                        <a:ea typeface="Courier New"/>
                        <a:cs typeface="Courier New"/>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13253A"/>
                    </a:solidFill>
                  </a:tcPr>
                </a:tc>
                <a:tc>
                  <a:txBody>
                    <a:bodyPr/>
                    <a:lstStyle/>
                    <a:p>
                      <a:pPr marL="0" indent="0" algn="l">
                        <a:buNone/>
                      </a:pPr>
                      <a:r>
                        <a:rPr sz="800" b="1">
                          <a:solidFill>
                            <a:srgbClr val="C9A96A"/>
                          </a:solidFill>
                          <a:latin typeface="Courier New"/>
                          <a:ea typeface="Courier New"/>
                          <a:cs typeface="Courier New"/>
                        </a:rPr>
                        <a:t>PRECISION</a:t>
                      </a:r>
                      <a:endParaRPr sz="800">
                        <a:latin typeface="Courier New"/>
                        <a:ea typeface="Courier New"/>
                        <a:cs typeface="Courier New"/>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13253A"/>
                    </a:solidFill>
                  </a:tcPr>
                </a:tc>
                <a:tc>
                  <a:txBody>
                    <a:bodyPr/>
                    <a:lstStyle/>
                    <a:p>
                      <a:pPr marL="0" indent="0" algn="l">
                        <a:buNone/>
                      </a:pPr>
                      <a:r>
                        <a:rPr sz="800" b="1">
                          <a:solidFill>
                            <a:srgbClr val="C9A96A"/>
                          </a:solidFill>
                          <a:latin typeface="Courier New"/>
                          <a:ea typeface="Courier New"/>
                          <a:cs typeface="Courier New"/>
                        </a:rPr>
                        <a:t>RECALL</a:t>
                      </a:r>
                      <a:endParaRPr sz="800">
                        <a:latin typeface="Courier New"/>
                        <a:ea typeface="Courier New"/>
                        <a:cs typeface="Courier New"/>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13253A"/>
                    </a:solidFill>
                  </a:tcPr>
                </a:tc>
                <a:tc>
                  <a:txBody>
                    <a:bodyPr/>
                    <a:lstStyle/>
                    <a:p>
                      <a:pPr marL="0" indent="0" algn="l">
                        <a:buNone/>
                      </a:pPr>
                      <a:r>
                        <a:rPr sz="800" b="1">
                          <a:solidFill>
                            <a:srgbClr val="C9A96A"/>
                          </a:solidFill>
                          <a:latin typeface="Courier New"/>
                          <a:ea typeface="Courier New"/>
                          <a:cs typeface="Courier New"/>
                        </a:rPr>
                        <a:t>VALUE FOUND</a:t>
                      </a:r>
                      <a:endParaRPr sz="800">
                        <a:latin typeface="Courier New"/>
                        <a:ea typeface="Courier New"/>
                        <a:cs typeface="Courier New"/>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13253A"/>
                    </a:solidFill>
                  </a:tcPr>
                </a:tc>
                <a:tc>
                  <a:txBody>
                    <a:bodyPr/>
                    <a:lstStyle/>
                    <a:p>
                      <a:pPr marL="0" indent="0" algn="l">
                        <a:buNone/>
                      </a:pPr>
                      <a:r>
                        <a:rPr sz="800" b="1">
                          <a:solidFill>
                            <a:srgbClr val="C9A96A"/>
                          </a:solidFill>
                          <a:latin typeface="Courier New"/>
                          <a:ea typeface="Courier New"/>
                          <a:cs typeface="Courier New"/>
                        </a:rPr>
                        <a:t>$ / CONTACT</a:t>
                      </a:r>
                      <a:endParaRPr sz="800">
                        <a:latin typeface="Courier New"/>
                        <a:ea typeface="Courier New"/>
                        <a:cs typeface="Courier New"/>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13253A"/>
                    </a:solidFill>
                  </a:tcPr>
                </a:tc>
              </a:tr>
              <a:tr h="384048">
                <a:tc>
                  <a:txBody>
                    <a:bodyPr/>
                    <a:lstStyle/>
                    <a:p>
                      <a:pPr marL="0" indent="0" algn="l">
                        <a:buNone/>
                      </a:pPr>
                      <a:r>
                        <a:rPr sz="1100" b="1">
                          <a:solidFill>
                            <a:srgbClr val="FFFFFF"/>
                          </a:solidFill>
                          <a:latin typeface="Calibri"/>
                          <a:ea typeface="Calibri"/>
                          <a:cs typeface="Calibri"/>
                        </a:rPr>
                        <a:t>Our model — probability × amount score</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D1C2B"/>
                    </a:solidFill>
                  </a:tcPr>
                </a:tc>
                <a:tc>
                  <a:txBody>
                    <a:bodyPr/>
                    <a:lstStyle/>
                    <a:p>
                      <a:pPr marL="0" indent="0" algn="r">
                        <a:buNone/>
                      </a:pPr>
                      <a:r>
                        <a:rPr sz="1100">
                          <a:solidFill>
                            <a:srgbClr val="FFFFFF"/>
                          </a:solidFill>
                          <a:latin typeface="Calibri"/>
                          <a:ea typeface="Calibri"/>
                          <a:cs typeface="Calibri"/>
                        </a:rPr>
                        <a:t>22.3%</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D1C2B"/>
                    </a:solidFill>
                  </a:tcPr>
                </a:tc>
                <a:tc>
                  <a:txBody>
                    <a:bodyPr/>
                    <a:lstStyle/>
                    <a:p>
                      <a:pPr marL="0" indent="0" algn="r">
                        <a:buNone/>
                      </a:pPr>
                      <a:r>
                        <a:rPr sz="1100">
                          <a:solidFill>
                            <a:srgbClr val="FFFFFF"/>
                          </a:solidFill>
                          <a:latin typeface="Calibri"/>
                          <a:ea typeface="Calibri"/>
                          <a:cs typeface="Calibri"/>
                        </a:rPr>
                        <a:t>17.7%</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D1C2B"/>
                    </a:solidFill>
                  </a:tcPr>
                </a:tc>
                <a:tc>
                  <a:txBody>
                    <a:bodyPr/>
                    <a:lstStyle/>
                    <a:p>
                      <a:pPr marL="0" indent="0" algn="r">
                        <a:buNone/>
                      </a:pPr>
                      <a:r>
                        <a:rPr sz="1100">
                          <a:solidFill>
                            <a:srgbClr val="FFFFFF"/>
                          </a:solidFill>
                          <a:latin typeface="Calibri"/>
                          <a:ea typeface="Calibri"/>
                          <a:cs typeface="Calibri"/>
                        </a:rPr>
                        <a:t>58.1%</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D1C2B"/>
                    </a:solidFill>
                  </a:tcPr>
                </a:tc>
                <a:tc>
                  <a:txBody>
                    <a:bodyPr/>
                    <a:lstStyle/>
                    <a:p>
                      <a:pPr marL="0" indent="0" algn="r">
                        <a:buNone/>
                      </a:pPr>
                      <a:r>
                        <a:rPr sz="1100" b="1">
                          <a:solidFill>
                            <a:srgbClr val="C9A96A"/>
                          </a:solidFill>
                          <a:latin typeface="Calibri"/>
                          <a:ea typeface="Calibri"/>
                          <a:cs typeface="Calibri"/>
                        </a:rPr>
                        <a:t>$120</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D1C2B"/>
                    </a:solidFill>
                  </a:tcPr>
                </a:tc>
              </a:tr>
              <a:tr h="384048">
                <a:tc>
                  <a:txBody>
                    <a:bodyPr/>
                    <a:lstStyle/>
                    <a:p>
                      <a:pPr marL="0" indent="0" algn="l">
                        <a:buNone/>
                      </a:pPr>
                      <a:r>
                        <a:rPr sz="1100">
                          <a:solidFill>
                            <a:srgbClr val="F2EDE3"/>
                          </a:solidFill>
                          <a:latin typeface="Calibri"/>
                          <a:ea typeface="Calibri"/>
                          <a:cs typeface="Calibri"/>
                        </a:rPr>
                        <a:t>First gift size — the honest baseline</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19.7%</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15.7%</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56.4%</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b="1">
                          <a:solidFill>
                            <a:srgbClr val="F2EDE3"/>
                          </a:solidFill>
                          <a:latin typeface="Calibri"/>
                          <a:ea typeface="Calibri"/>
                          <a:cs typeface="Calibri"/>
                        </a:rPr>
                        <a:t>$116</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r>
              <a:tr h="384048">
                <a:tc>
                  <a:txBody>
                    <a:bodyPr/>
                    <a:lstStyle/>
                    <a:p>
                      <a:pPr marL="0" indent="0" algn="l">
                        <a:buNone/>
                      </a:pPr>
                      <a:r>
                        <a:rPr sz="1100">
                          <a:solidFill>
                            <a:srgbClr val="D9D3C6"/>
                          </a:solidFill>
                          <a:latin typeface="Calibri"/>
                          <a:ea typeface="Calibri"/>
                          <a:cs typeface="Calibri"/>
                        </a:rPr>
                        <a:t>First-month gift count</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20.4%</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16.2%</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41.4%</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$85</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r>
              <a:tr h="384048">
                <a:tc>
                  <a:txBody>
                    <a:bodyPr/>
                    <a:lstStyle/>
                    <a:p>
                      <a:pPr marL="0" indent="0" algn="l">
                        <a:buNone/>
                      </a:pPr>
                      <a:r>
                        <a:rPr sz="1100">
                          <a:solidFill>
                            <a:srgbClr val="D9D3C6"/>
                          </a:solidFill>
                          <a:latin typeface="Calibri"/>
                          <a:ea typeface="Calibri"/>
                          <a:cs typeface="Calibri"/>
                        </a:rPr>
                        <a:t>Random</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12.7%</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10.1%</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9.1%</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$19</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r>
              <a:tr h="384048">
                <a:tc>
                  <a:txBody>
                    <a:bodyPr/>
                    <a:lstStyle/>
                    <a:p>
                      <a:pPr marL="0" indent="0" algn="l">
                        <a:buNone/>
                      </a:pPr>
                      <a:r>
                        <a:rPr sz="1100">
                          <a:solidFill>
                            <a:srgbClr val="D9D3C6"/>
                          </a:solidFill>
                          <a:latin typeface="Calibri"/>
                          <a:ea typeface="Calibri"/>
                          <a:cs typeface="Calibri"/>
                        </a:rPr>
                        <a:t>Contact everyone</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12.6%</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100%</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100%</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c>
                  <a:txBody>
                    <a:bodyPr/>
                    <a:lstStyle/>
                    <a:p>
                      <a:pPr marL="0" indent="0" algn="r">
                        <a:buNone/>
                      </a:pPr>
                      <a:r>
                        <a:rPr sz="1100">
                          <a:solidFill>
                            <a:srgbClr val="D9D3C6"/>
                          </a:solidFill>
                          <a:latin typeface="Calibri"/>
                          <a:ea typeface="Calibri"/>
                          <a:cs typeface="Calibri"/>
                        </a:rPr>
                        <a:t>$21</a:t>
                      </a:r>
                      <a:endParaRPr sz="1100">
                        <a:latin typeface="Calibri"/>
                        <a:ea typeface="Calibri"/>
                        <a:cs typeface="Calibri"/>
                      </a:endParaRPr>
                    </a:p>
                  </a:txBody>
                  <a:tcPr marL="73152" marR="73152" marT="73152" marB="73152" anchor="ctr">
                    <a:lnL w="6350" cmpd="sng">
                      <a:solidFill>
                        <a:srgbClr val="13253A"/>
                      </a:solidFill>
                      <a:prstDash val="solid"/>
                    </a:lnL>
                    <a:lnR w="6350" cmpd="sng">
                      <a:solidFill>
                        <a:srgbClr val="13253A"/>
                      </a:solidFill>
                      <a:prstDash val="solid"/>
                    </a:lnR>
                    <a:lnT w="6350" cmpd="sng">
                      <a:solidFill>
                        <a:srgbClr val="13253A"/>
                      </a:solidFill>
                      <a:prstDash val="solid"/>
                    </a:lnT>
                    <a:lnB w="6350" cmpd="sng">
                      <a:solidFill>
                        <a:srgbClr val="13253A"/>
                      </a:solidFill>
                      <a:prstDash val="solid"/>
                    </a:lnB>
                    <a:solidFill>
                      <a:srgbClr val="081321"/>
                    </a:solidFill>
                  </a:tcPr>
                </a:tc>
              </a:tr>
            </a:tbl>
          </a:graphicData>
        </a:graphic>
      </p:graphicFrame>
      <p:sp>
        <p:nvSpPr>
          <p:cNvPr id="7" name="Text 4">
            <a:extLst xmlns:a="http://schemas.openxmlformats.org/drawingml/2006/main">
              <a:ext uri="{FF2B5EF4-FFF2-40B4-BE49-F238E27FC236}">
                <a16:creationId xmlns:a16="http://schemas.microsoft.com/office/drawing/2014/main" id="{B900959C-87D6-4FC3-AE39-93766B02139A}"/>
              </a:ext>
            </a:extLst>
          </p:cNvPr>
          <p:cNvSpPr>
            <a:spLocks xmlns:a="http://schemas.openxmlformats.org/drawingml/2006/main" noGrp="1"/>
          </p:cNvSpPr>
          <p:nvPr/>
        </p:nvSpPr>
        <p:spPr>
          <a:xfrm xmlns:a="http://schemas.openxmlformats.org/drawingml/2006/main">
            <a:off x="502920" y="4114800"/>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50" i="1">
                <a:solidFill>
                  <a:srgbClr val="B4AE9F"/>
                </a:solidFill>
                <a:latin typeface="Calibri"/>
                <a:ea typeface="Calibri"/>
                <a:cs typeface="Calibri"/>
              </a:rPr>
              <a:t>30 paired donor bootstrap samples: </a:t>
            </a:r>
            <a:r>
              <a:rPr sz="1050" i="1">
                <a:solidFill>
                  <a:srgbClr val="B4AE9F"/>
                </a:solidFill>
                <a:latin typeface="Calibri"/>
                <a:ea typeface="Calibri"/>
                <a:cs typeface="Calibri"/>
              </a:rPr>
              <a:t>+$3.51</a:t>
            </a:r>
            <a:r>
              <a:rPr sz="1050" i="1">
                <a:solidFill>
                  <a:srgbClr val="B4AE9F"/>
                </a:solidFill>
                <a:latin typeface="Calibri"/>
                <a:ea typeface="Calibri"/>
                <a:cs typeface="Calibri"/>
              </a:rPr>
              <a:t> ± 0.51 per contact over gift size (±1 standard error). The </a:t>
            </a:r>
            <a:r>
              <a:rPr sz="1050" i="1">
                <a:solidFill>
                  <a:srgbClr val="B4AE9F"/>
                </a:solidFill>
                <a:latin typeface="Calibri"/>
                <a:ea typeface="Calibri"/>
                <a:cs typeface="Calibri"/>
              </a:rPr>
              <a:t>3.0%</a:t>
            </a:r>
            <a:r>
              <a:rPr sz="1050" i="1">
                <a:solidFill>
                  <a:srgbClr val="B4AE9F"/>
                </a:solidFill>
                <a:latin typeface="Calibri"/>
                <a:ea typeface="Calibri"/>
                <a:cs typeface="Calibri"/>
              </a:rPr>
              <a:t> gain is modest; gift size already carries most of the dollar signal. The baseline is fair: on a first-gift cohort, RFM collapses to gift size, and it is what she does by hand.</a:t>
            </a:r>
            <a:endParaRPr sz="1050"/>
          </a:p>
        </p:txBody>
      </p:sp>
    </p:spTree>
    <p:extLst>
      <p:ext uri="{BB962C8B-B14F-4D97-AF65-F5344CB8AC3E}">
        <p14:creationId xmlns:p14="http://schemas.microsoft.com/office/powerpoint/2010/main" val="1400847566"/>
      </p:ext>
    </p:extLst>
  </p:cSld>
</p:sld>
</file>

<file path=ppt/slides/slide7.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EF9482-186A-44CC-AE00-D60E5AA4BA5A}"/>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EVALUATION</a:t>
            </a:r>
            <a:endParaRPr sz="900"/>
          </a:p>
        </p:txBody>
      </p:sp>
      <p:sp>
        <p:nvSpPr>
          <p:cNvPr id="3" name="Text 1">
            <a:extLst xmlns:a="http://schemas.openxmlformats.org/drawingml/2006/main">
              <a:ext uri="{FF2B5EF4-FFF2-40B4-BE49-F238E27FC236}">
                <a16:creationId xmlns:a16="http://schemas.microsoft.com/office/drawing/2014/main" id="{435607C2-57CF-4AA2-9863-2CF08DDC36C2}"/>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Thadeus  ·  7 / 10</a:t>
            </a:r>
            <a:endParaRPr sz="900"/>
          </a:p>
        </p:txBody>
      </p:sp>
      <p:sp>
        <p:nvSpPr>
          <p:cNvPr id="4" name="Text 2">
            <a:extLst xmlns:a="http://schemas.openxmlformats.org/drawingml/2006/main">
              <a:ext uri="{FF2B5EF4-FFF2-40B4-BE49-F238E27FC236}">
                <a16:creationId xmlns:a16="http://schemas.microsoft.com/office/drawing/2014/main" id="{1BC4697E-353E-44A7-9E1A-9B89F6D0E49E}"/>
              </a:ext>
            </a:extLst>
          </p:cNvPr>
          <p:cNvSpPr>
            <a:spLocks xmlns:a="http://schemas.openxmlformats.org/drawingml/2006/main" noGrp="1"/>
          </p:cNvSpPr>
          <p:nvPr/>
        </p:nvSpPr>
        <p:spPr>
          <a:xfrm xmlns:a="http://schemas.openxmlformats.org/drawingml/2006/main">
            <a:off x="502920" y="621792"/>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2600" b="1">
                <a:solidFill>
                  <a:srgbClr val="FFFFFF"/>
                </a:solidFill>
                <a:latin typeface="Cambria"/>
                <a:ea typeface="Cambria"/>
                <a:cs typeface="Cambria"/>
              </a:rPr>
              <a:t>The gain holds, but the dollar list favors large gifts</a:t>
            </a:r>
            <a:endParaRPr sz="26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8a0743cc5c6d423a"/>
          <a:stretch xmlns:a="http://schemas.openxmlformats.org/drawingml/2006/main">
            <a:fillRect l="0" t="0" r="0" b="0"/>
          </a:stretch>
        </p:blipFill>
        <p:spPr>
          <a:xfrm xmlns:a="http://schemas.openxmlformats.org/drawingml/2006/main" flipH="0" flipV="0">
            <a:off x="502920" y="1234440"/>
            <a:ext cx="8138160" cy="3255264"/>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97CC860-06B2-4D20-993D-661BA36B52EA}"/>
              </a:ext>
            </a:extLst>
          </p:cNvPr>
          <p:cNvSpPr>
            <a:spLocks xmlns:a="http://schemas.openxmlformats.org/drawingml/2006/main" noGrp="1"/>
          </p:cNvSpPr>
          <p:nvPr/>
        </p:nvSpPr>
        <p:spPr>
          <a:xfrm xmlns:a="http://schemas.openxmlformats.org/drawingml/2006/main">
            <a:off x="502920" y="4562856"/>
            <a:ext cx="8138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50">
                <a:solidFill>
                  <a:srgbClr val="C9A96A"/>
                </a:solidFill>
                <a:latin typeface="Calibri"/>
                <a:ea typeface="Calibri"/>
                <a:cs typeface="Calibri"/>
              </a:rPr>
              <a:t>Under-$50 donors: 52.4% of the holdout, only </a:t>
            </a:r>
            <a:r>
              <a:rPr sz="1050">
                <a:solidFill>
                  <a:srgbClr val="C9A96A"/>
                </a:solidFill>
                <a:latin typeface="Calibri"/>
                <a:ea typeface="Calibri"/>
                <a:cs typeface="Calibri"/>
              </a:rPr>
              <a:t>0.51%</a:t>
            </a:r>
            <a:r>
              <a:rPr sz="1050">
                <a:solidFill>
                  <a:srgbClr val="C9A96A"/>
                </a:solidFill>
                <a:latin typeface="Calibri"/>
                <a:ea typeface="Calibri"/>
                <a:cs typeface="Calibri"/>
              </a:rPr>
              <a:t> of the dollar-ranked list (</a:t>
            </a:r>
            <a:r>
              <a:rPr sz="1050">
                <a:solidFill>
                  <a:srgbClr val="C9A96A"/>
                </a:solidFill>
                <a:latin typeface="Calibri"/>
                <a:ea typeface="Calibri"/>
                <a:cs typeface="Calibri"/>
              </a:rPr>
              <a:t>14.1%</a:t>
            </a:r>
            <a:r>
              <a:rPr sz="1050">
                <a:solidFill>
                  <a:srgbClr val="C9A96A"/>
                </a:solidFill>
                <a:latin typeface="Calibri"/>
                <a:ea typeface="Calibri"/>
                <a:cs typeface="Calibri"/>
              </a:rPr>
              <a:t> if ranked by probability).</a:t>
            </a:r>
            <a:endParaRPr sz="1050"/>
          </a:p>
        </p:txBody>
      </p:sp>
    </p:spTree>
    <p:extLst>
      <p:ext uri="{BB962C8B-B14F-4D97-AF65-F5344CB8AC3E}">
        <p14:creationId xmlns:p14="http://schemas.microsoft.com/office/powerpoint/2010/main" val="671564451"/>
      </p:ext>
    </p:extLst>
  </p:cSld>
</p:sld>
</file>

<file path=ppt/slides/slide8.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19D1B79-64E0-418B-A084-A78574DBD5FB}"/>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THE DECISION</a:t>
            </a:r>
            <a:endParaRPr sz="900"/>
          </a:p>
        </p:txBody>
      </p:sp>
      <p:sp>
        <p:nvSpPr>
          <p:cNvPr id="3" name="Text 1">
            <a:extLst xmlns:a="http://schemas.openxmlformats.org/drawingml/2006/main">
              <a:ext uri="{FF2B5EF4-FFF2-40B4-BE49-F238E27FC236}">
                <a16:creationId xmlns:a16="http://schemas.microsoft.com/office/drawing/2014/main" id="{CAC4138A-F1FF-44B6-A2B4-0FB54841D63A}"/>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Malorie  ·  8 / 10</a:t>
            </a:r>
            <a:endParaRPr sz="900"/>
          </a:p>
        </p:txBody>
      </p:sp>
      <p:sp>
        <p:nvSpPr>
          <p:cNvPr id="4" name="Text 2">
            <a:extLst xmlns:a="http://schemas.openxmlformats.org/drawingml/2006/main">
              <a:ext uri="{FF2B5EF4-FFF2-40B4-BE49-F238E27FC236}">
                <a16:creationId xmlns:a16="http://schemas.microsoft.com/office/drawing/2014/main" id="{7C236632-2BF4-466D-80F5-339032A7854B}"/>
              </a:ext>
            </a:extLst>
          </p:cNvPr>
          <p:cNvSpPr>
            <a:spLocks xmlns:a="http://schemas.openxmlformats.org/drawingml/2006/main" noGrp="1"/>
          </p:cNvSpPr>
          <p:nvPr/>
        </p:nvSpPr>
        <p:spPr>
          <a:xfrm xmlns:a="http://schemas.openxmlformats.org/drawingml/2006/main">
            <a:off x="502920" y="621792"/>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3000" b="1">
                <a:solidFill>
                  <a:srgbClr val="FFFFFF"/>
                </a:solidFill>
                <a:latin typeface="Cambria"/>
                <a:ea typeface="Cambria"/>
                <a:cs typeface="Cambria"/>
              </a:rPr>
              <a:t>What she does on Monday</a:t>
            </a:r>
            <a:endParaRPr sz="3000"/>
          </a:p>
        </p:txBody>
      </p:sp>
      <p:sp>
        <p:nvSpPr>
          <p:cNvPr id="5" name="Shape 3">
            <a:extLst xmlns:a="http://schemas.openxmlformats.org/drawingml/2006/main">
              <a:ext uri="{FF2B5EF4-FFF2-40B4-BE49-F238E27FC236}">
                <a16:creationId xmlns:a16="http://schemas.microsoft.com/office/drawing/2014/main" id="{811A1D92-2779-48C0-BC29-DD5D8ECED218}"/>
              </a:ext>
            </a:extLst>
          </p:cNvPr>
          <p:cNvSpPr>
            <a:spLocks xmlns:a="http://schemas.openxmlformats.org/drawingml/2006/main" noGrp="1"/>
          </p:cNvSpPr>
          <p:nvPr/>
        </p:nvSpPr>
        <p:spPr>
          <a:xfrm xmlns:a="http://schemas.openxmlformats.org/drawingml/2006/main">
            <a:off x="502920" y="1371600"/>
            <a:ext cx="1874520" cy="1325880"/>
          </a:xfrm>
          <a:prstGeom xmlns:a="http://schemas.openxmlformats.org/drawingml/2006/main" prst="roundRect">
            <a:avLst>
              <a:gd name="adj" fmla="val 4138"/>
            </a:avLst>
          </a:prstGeom>
          <a:solidFill xmlns:a="http://schemas.openxmlformats.org/drawingml/2006/main">
            <a:srgbClr val="0D1C2B"/>
          </a:solidFill>
          <a:ln xmlns:a="http://schemas.openxmlformats.org/drawingml/2006/main" w="12700">
            <a:solidFill>
              <a:srgbClr val="0D1C2B"/>
            </a:solidFill>
            <a:prstDash val="solid"/>
          </a:ln>
        </p:spPr>
      </p:sp>
      <p:sp>
        <p:nvSpPr>
          <p:cNvPr id="6" name="Text 4">
            <a:extLst xmlns:a="http://schemas.openxmlformats.org/drawingml/2006/main">
              <a:ext uri="{FF2B5EF4-FFF2-40B4-BE49-F238E27FC236}">
                <a16:creationId xmlns:a16="http://schemas.microsoft.com/office/drawing/2014/main" id="{76EF56CD-87E7-4BB7-ABAD-607F72276156}"/>
              </a:ext>
            </a:extLst>
          </p:cNvPr>
          <p:cNvSpPr>
            <a:spLocks xmlns:a="http://schemas.openxmlformats.org/drawingml/2006/main" noGrp="1"/>
          </p:cNvSpPr>
          <p:nvPr/>
        </p:nvSpPr>
        <p:spPr>
          <a:xfrm xmlns:a="http://schemas.openxmlformats.org/drawingml/2006/main">
            <a:off x="685800" y="151790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Cambria"/>
                <a:ea typeface="Cambria"/>
                <a:cs typeface="Cambria"/>
              </a:rPr>
              <a:t>3,013</a:t>
            </a:r>
            <a:endParaRPr sz="2800"/>
          </a:p>
        </p:txBody>
      </p:sp>
      <p:sp>
        <p:nvSpPr>
          <p:cNvPr id="7" name="Text 5">
            <a:extLst xmlns:a="http://schemas.openxmlformats.org/drawingml/2006/main">
              <a:ext uri="{FF2B5EF4-FFF2-40B4-BE49-F238E27FC236}">
                <a16:creationId xmlns:a16="http://schemas.microsoft.com/office/drawing/2014/main" id="{00C09A72-158A-4AEC-8704-AE035548EFB8}"/>
              </a:ext>
            </a:extLst>
          </p:cNvPr>
          <p:cNvSpPr>
            <a:spLocks xmlns:a="http://schemas.openxmlformats.org/drawingml/2006/main" noGrp="1"/>
          </p:cNvSpPr>
          <p:nvPr/>
        </p:nvSpPr>
        <p:spPr>
          <a:xfrm xmlns:a="http://schemas.openxmlformats.org/drawingml/2006/main">
            <a:off x="685800" y="2157984"/>
            <a:ext cx="1600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150">
                <a:solidFill>
                  <a:srgbClr val="8A8474"/>
                </a:solidFill>
                <a:latin typeface="Courier New"/>
                <a:ea typeface="Courier New"/>
                <a:cs typeface="Courier New"/>
              </a:rPr>
              <a:t>SELECTED · DEC 2018</a:t>
            </a:r>
            <a:endParaRPr sz="800"/>
          </a:p>
        </p:txBody>
      </p:sp>
      <p:sp>
        <p:nvSpPr>
          <p:cNvPr id="8" name="Shape 6">
            <a:extLst xmlns:a="http://schemas.openxmlformats.org/drawingml/2006/main">
              <a:ext uri="{FF2B5EF4-FFF2-40B4-BE49-F238E27FC236}">
                <a16:creationId xmlns:a16="http://schemas.microsoft.com/office/drawing/2014/main" id="{0EF8E278-B721-4E3B-91A8-8AE4FE100FB0}"/>
              </a:ext>
            </a:extLst>
          </p:cNvPr>
          <p:cNvSpPr>
            <a:spLocks xmlns:a="http://schemas.openxmlformats.org/drawingml/2006/main" noGrp="1"/>
          </p:cNvSpPr>
          <p:nvPr/>
        </p:nvSpPr>
        <p:spPr>
          <a:xfrm xmlns:a="http://schemas.openxmlformats.org/drawingml/2006/main">
            <a:off x="2560320" y="1371600"/>
            <a:ext cx="1874520" cy="1325880"/>
          </a:xfrm>
          <a:prstGeom xmlns:a="http://schemas.openxmlformats.org/drawingml/2006/main" prst="roundRect">
            <a:avLst>
              <a:gd name="adj" fmla="val 4138"/>
            </a:avLst>
          </a:prstGeom>
          <a:solidFill xmlns:a="http://schemas.openxmlformats.org/drawingml/2006/main">
            <a:srgbClr val="0D1C2B"/>
          </a:solidFill>
          <a:ln xmlns:a="http://schemas.openxmlformats.org/drawingml/2006/main" w="12700">
            <a:solidFill>
              <a:srgbClr val="0D1C2B"/>
            </a:solidFill>
            <a:prstDash val="solid"/>
          </a:ln>
        </p:spPr>
      </p:sp>
      <p:sp>
        <p:nvSpPr>
          <p:cNvPr id="9" name="Text 7">
            <a:extLst xmlns:a="http://schemas.openxmlformats.org/drawingml/2006/main">
              <a:ext uri="{FF2B5EF4-FFF2-40B4-BE49-F238E27FC236}">
                <a16:creationId xmlns:a16="http://schemas.microsoft.com/office/drawing/2014/main" id="{33287C4E-A1E3-4C86-8737-952E600C578C}"/>
              </a:ext>
            </a:extLst>
          </p:cNvPr>
          <p:cNvSpPr>
            <a:spLocks xmlns:a="http://schemas.openxmlformats.org/drawingml/2006/main" noGrp="1"/>
          </p:cNvSpPr>
          <p:nvPr/>
        </p:nvSpPr>
        <p:spPr>
          <a:xfrm xmlns:a="http://schemas.openxmlformats.org/drawingml/2006/main">
            <a:off x="2743200" y="151790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Cambria"/>
                <a:ea typeface="Cambria"/>
                <a:cs typeface="Cambria"/>
              </a:rPr>
              <a:t>$25</a:t>
            </a:r>
            <a:endParaRPr sz="2800"/>
          </a:p>
        </p:txBody>
      </p:sp>
      <p:sp>
        <p:nvSpPr>
          <p:cNvPr id="10" name="Text 8">
            <a:extLst xmlns:a="http://schemas.openxmlformats.org/drawingml/2006/main">
              <a:ext uri="{FF2B5EF4-FFF2-40B4-BE49-F238E27FC236}">
                <a16:creationId xmlns:a16="http://schemas.microsoft.com/office/drawing/2014/main" id="{A1F7D59A-5EC1-4AD1-82DC-A6FEA60320D6}"/>
              </a:ext>
            </a:extLst>
          </p:cNvPr>
          <p:cNvSpPr>
            <a:spLocks xmlns:a="http://schemas.openxmlformats.org/drawingml/2006/main" noGrp="1"/>
          </p:cNvSpPr>
          <p:nvPr/>
        </p:nvSpPr>
        <p:spPr>
          <a:xfrm xmlns:a="http://schemas.openxmlformats.org/drawingml/2006/main">
            <a:off x="2743200" y="2157984"/>
            <a:ext cx="1600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150">
                <a:solidFill>
                  <a:srgbClr val="8A8474"/>
                </a:solidFill>
                <a:latin typeface="Courier New"/>
                <a:ea typeface="Courier New"/>
                <a:cs typeface="Courier New"/>
              </a:rPr>
              <a:t>PER CALL · PLACEHOLDER</a:t>
            </a:r>
            <a:endParaRPr sz="800"/>
          </a:p>
        </p:txBody>
      </p:sp>
      <p:sp>
        <p:nvSpPr>
          <p:cNvPr id="11" name="Shape 9">
            <a:extLst xmlns:a="http://schemas.openxmlformats.org/drawingml/2006/main">
              <a:ext uri="{FF2B5EF4-FFF2-40B4-BE49-F238E27FC236}">
                <a16:creationId xmlns:a16="http://schemas.microsoft.com/office/drawing/2014/main" id="{7E5CA88C-5311-40DE-9346-69769C452811}"/>
              </a:ext>
            </a:extLst>
          </p:cNvPr>
          <p:cNvSpPr>
            <a:spLocks xmlns:a="http://schemas.openxmlformats.org/drawingml/2006/main" noGrp="1"/>
          </p:cNvSpPr>
          <p:nvPr/>
        </p:nvSpPr>
        <p:spPr>
          <a:xfrm xmlns:a="http://schemas.openxmlformats.org/drawingml/2006/main">
            <a:off x="4617720" y="1371600"/>
            <a:ext cx="1874520" cy="1325880"/>
          </a:xfrm>
          <a:prstGeom xmlns:a="http://schemas.openxmlformats.org/drawingml/2006/main" prst="roundRect">
            <a:avLst>
              <a:gd name="adj" fmla="val 4138"/>
            </a:avLst>
          </a:prstGeom>
          <a:solidFill xmlns:a="http://schemas.openxmlformats.org/drawingml/2006/main">
            <a:srgbClr val="0D1C2B"/>
          </a:solidFill>
          <a:ln xmlns:a="http://schemas.openxmlformats.org/drawingml/2006/main" w="12700">
            <a:solidFill>
              <a:srgbClr val="0D1C2B"/>
            </a:solidFill>
            <a:prstDash val="solid"/>
          </a:ln>
        </p:spPr>
      </p:sp>
      <p:sp>
        <p:nvSpPr>
          <p:cNvPr id="12" name="Text 10">
            <a:extLst xmlns:a="http://schemas.openxmlformats.org/drawingml/2006/main">
              <a:ext uri="{FF2B5EF4-FFF2-40B4-BE49-F238E27FC236}">
                <a16:creationId xmlns:a16="http://schemas.microsoft.com/office/drawing/2014/main" id="{60C5A36F-45E5-410D-BF49-9DCB208C0564}"/>
              </a:ext>
            </a:extLst>
          </p:cNvPr>
          <p:cNvSpPr>
            <a:spLocks xmlns:a="http://schemas.openxmlformats.org/drawingml/2006/main" noGrp="1"/>
          </p:cNvSpPr>
          <p:nvPr/>
        </p:nvSpPr>
        <p:spPr>
          <a:xfrm xmlns:a="http://schemas.openxmlformats.org/drawingml/2006/main">
            <a:off x="4800600" y="151790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Cambria"/>
                <a:ea typeface="Cambria"/>
                <a:cs typeface="Cambria"/>
              </a:rPr>
              <a:t>$7.72M</a:t>
            </a:r>
            <a:endParaRPr sz="2800"/>
          </a:p>
        </p:txBody>
      </p:sp>
      <p:sp>
        <p:nvSpPr>
          <p:cNvPr id="13" name="Text 11">
            <a:extLst xmlns:a="http://schemas.openxmlformats.org/drawingml/2006/main">
              <a:ext uri="{FF2B5EF4-FFF2-40B4-BE49-F238E27FC236}">
                <a16:creationId xmlns:a16="http://schemas.microsoft.com/office/drawing/2014/main" id="{CF0F02A0-E18B-46CD-8759-3C15F1F27044}"/>
              </a:ext>
            </a:extLst>
          </p:cNvPr>
          <p:cNvSpPr>
            <a:spLocks xmlns:a="http://schemas.openxmlformats.org/drawingml/2006/main" noGrp="1"/>
          </p:cNvSpPr>
          <p:nvPr/>
        </p:nvSpPr>
        <p:spPr>
          <a:xfrm xmlns:a="http://schemas.openxmlformats.org/drawingml/2006/main">
            <a:off x="4800600" y="2157984"/>
            <a:ext cx="1600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150">
                <a:solidFill>
                  <a:srgbClr val="8A8474"/>
                </a:solidFill>
                <a:latin typeface="Courier New"/>
                <a:ea typeface="Courier New"/>
                <a:cs typeface="Courier New"/>
              </a:rPr>
              <a:t>VALUE LESS ASSUMED COST</a:t>
            </a:r>
            <a:endParaRPr sz="800"/>
          </a:p>
        </p:txBody>
      </p:sp>
      <p:sp>
        <p:nvSpPr>
          <p:cNvPr id="14" name="Shape 12">
            <a:extLst xmlns:a="http://schemas.openxmlformats.org/drawingml/2006/main">
              <a:ext uri="{FF2B5EF4-FFF2-40B4-BE49-F238E27FC236}">
                <a16:creationId xmlns:a16="http://schemas.microsoft.com/office/drawing/2014/main" id="{689758DC-A45A-45D4-86E5-1C88D383F33D}"/>
              </a:ext>
            </a:extLst>
          </p:cNvPr>
          <p:cNvSpPr>
            <a:spLocks xmlns:a="http://schemas.openxmlformats.org/drawingml/2006/main" noGrp="1"/>
          </p:cNvSpPr>
          <p:nvPr/>
        </p:nvSpPr>
        <p:spPr>
          <a:xfrm xmlns:a="http://schemas.openxmlformats.org/drawingml/2006/main">
            <a:off x="6675120" y="1371600"/>
            <a:ext cx="1874520" cy="1325880"/>
          </a:xfrm>
          <a:prstGeom xmlns:a="http://schemas.openxmlformats.org/drawingml/2006/main" prst="roundRect">
            <a:avLst>
              <a:gd name="adj" fmla="val 4138"/>
            </a:avLst>
          </a:prstGeom>
          <a:solidFill xmlns:a="http://schemas.openxmlformats.org/drawingml/2006/main">
            <a:srgbClr val="0D1C2B"/>
          </a:solidFill>
          <a:ln xmlns:a="http://schemas.openxmlformats.org/drawingml/2006/main" w="12700">
            <a:solidFill>
              <a:srgbClr val="0D1C2B"/>
            </a:solidFill>
            <a:prstDash val="solid"/>
          </a:ln>
        </p:spPr>
      </p:sp>
      <p:sp>
        <p:nvSpPr>
          <p:cNvPr id="15" name="Text 13">
            <a:extLst xmlns:a="http://schemas.openxmlformats.org/drawingml/2006/main">
              <a:ext uri="{FF2B5EF4-FFF2-40B4-BE49-F238E27FC236}">
                <a16:creationId xmlns:a16="http://schemas.microsoft.com/office/drawing/2014/main" id="{CD0F18CC-4C38-4CD9-B7AB-C8D38C5251E8}"/>
              </a:ext>
            </a:extLst>
          </p:cNvPr>
          <p:cNvSpPr>
            <a:spLocks xmlns:a="http://schemas.openxmlformats.org/drawingml/2006/main" noGrp="1"/>
          </p:cNvSpPr>
          <p:nvPr/>
        </p:nvSpPr>
        <p:spPr>
          <a:xfrm xmlns:a="http://schemas.openxmlformats.org/drawingml/2006/main">
            <a:off x="6858000" y="151790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Cambria"/>
                <a:ea typeface="Cambria"/>
                <a:cs typeface="Cambria"/>
              </a:rPr>
              <a:t>No API</a:t>
            </a:r>
            <a:endParaRPr sz="2800"/>
          </a:p>
        </p:txBody>
      </p:sp>
      <p:sp>
        <p:nvSpPr>
          <p:cNvPr id="16" name="Text 14">
            <a:extLst xmlns:a="http://schemas.openxmlformats.org/drawingml/2006/main">
              <a:ext uri="{FF2B5EF4-FFF2-40B4-BE49-F238E27FC236}">
                <a16:creationId xmlns:a16="http://schemas.microsoft.com/office/drawing/2014/main" id="{73192630-D53E-4EF8-B5CB-612A0F82A243}"/>
              </a:ext>
            </a:extLst>
          </p:cNvPr>
          <p:cNvSpPr>
            <a:spLocks xmlns:a="http://schemas.openxmlformats.org/drawingml/2006/main" noGrp="1"/>
          </p:cNvSpPr>
          <p:nvPr/>
        </p:nvSpPr>
        <p:spPr>
          <a:xfrm xmlns:a="http://schemas.openxmlformats.org/drawingml/2006/main">
            <a:off x="6858000" y="2157984"/>
            <a:ext cx="1600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150">
                <a:solidFill>
                  <a:srgbClr val="8A8474"/>
                </a:solidFill>
                <a:latin typeface="Courier New"/>
                <a:ea typeface="Courier New"/>
                <a:cs typeface="Courier New"/>
              </a:rPr>
              <a:t>EXTERNAL MODEL CALLS</a:t>
            </a:r>
            <a:endParaRPr sz="800"/>
          </a:p>
        </p:txBody>
      </p:sp>
      <p:sp>
        <p:nvSpPr>
          <p:cNvPr id="17" name="Text 15">
            <a:extLst xmlns:a="http://schemas.openxmlformats.org/drawingml/2006/main">
              <a:ext uri="{FF2B5EF4-FFF2-40B4-BE49-F238E27FC236}">
                <a16:creationId xmlns:a16="http://schemas.microsoft.com/office/drawing/2014/main" id="{403B06AC-7E91-4C15-B58B-B9CBBACF42D9}"/>
              </a:ext>
            </a:extLst>
          </p:cNvPr>
          <p:cNvSpPr>
            <a:spLocks xmlns:a="http://schemas.openxmlformats.org/drawingml/2006/main" noGrp="1"/>
          </p:cNvSpPr>
          <p:nvPr/>
        </p:nvSpPr>
        <p:spPr>
          <a:xfrm xmlns:a="http://schemas.openxmlformats.org/drawingml/2006/main">
            <a:off x="502920" y="2880360"/>
            <a:ext cx="8138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D9D3C6"/>
                </a:solidFill>
                <a:latin typeface="Calibri"/>
                <a:ea typeface="Calibri"/>
                <a:cs typeface="Calibri"/>
              </a:rPr>
              <a:t>The model's list contains </a:t>
            </a:r>
            <a:r>
              <a:rPr sz="1200">
                <a:solidFill>
                  <a:srgbClr val="D9D3C6"/>
                </a:solidFill>
                <a:latin typeface="Calibri"/>
                <a:ea typeface="Calibri"/>
                <a:cs typeface="Calibri"/>
              </a:rPr>
              <a:t>$9.76M</a:t>
            </a:r>
            <a:r>
              <a:rPr sz="1200">
                <a:solidFill>
                  <a:srgbClr val="D9D3C6"/>
                </a:solidFill>
                <a:latin typeface="Calibri"/>
                <a:ea typeface="Calibri"/>
                <a:cs typeface="Calibri"/>
              </a:rPr>
              <a:t> of subsequent giving. Subtracting $2.04M of hypothetical contact costs leaves </a:t>
            </a:r>
            <a:r>
              <a:rPr sz="1200">
                <a:solidFill>
                  <a:srgbClr val="D9D3C6"/>
                </a:solidFill>
                <a:latin typeface="Calibri"/>
                <a:ea typeface="Calibri"/>
                <a:cs typeface="Calibri"/>
              </a:rPr>
              <a:t>$7.72M</a:t>
            </a:r>
            <a:r>
              <a:rPr sz="1200">
                <a:solidFill>
                  <a:srgbClr val="D9D3C6"/>
                </a:solidFill>
                <a:latin typeface="Calibri"/>
                <a:ea typeface="Calibri"/>
                <a:cs typeface="Calibri"/>
              </a:rPr>
              <a:t>, versus $7.44M for gift-size ranking. Neither balance measures outreach profit: we do not know how much extra giving a call causes.</a:t>
            </a:r>
            <a:endParaRPr sz="1200"/>
          </a:p>
        </p:txBody>
      </p:sp>
      <p:sp>
        <p:nvSpPr>
          <p:cNvPr id="18" name="Shape 16">
            <a:extLst xmlns:a="http://schemas.openxmlformats.org/drawingml/2006/main">
              <a:ext uri="{FF2B5EF4-FFF2-40B4-BE49-F238E27FC236}">
                <a16:creationId xmlns:a16="http://schemas.microsoft.com/office/drawing/2014/main" id="{2E72A59B-B8FD-4A8D-B109-2F401E314163}"/>
              </a:ext>
            </a:extLst>
          </p:cNvPr>
          <p:cNvSpPr>
            <a:spLocks xmlns:a="http://schemas.openxmlformats.org/drawingml/2006/main" noGrp="1"/>
          </p:cNvSpPr>
          <p:nvPr/>
        </p:nvSpPr>
        <p:spPr>
          <a:xfrm xmlns:a="http://schemas.openxmlformats.org/drawingml/2006/main">
            <a:off x="502920" y="3703320"/>
            <a:ext cx="8138160" cy="960120"/>
          </a:xfrm>
          <a:prstGeom xmlns:a="http://schemas.openxmlformats.org/drawingml/2006/main" prst="roundRect">
            <a:avLst>
              <a:gd name="adj" fmla="val 5714"/>
            </a:avLst>
          </a:prstGeom>
          <a:solidFill xmlns:a="http://schemas.openxmlformats.org/drawingml/2006/main">
            <a:srgbClr val="0D1C2B"/>
          </a:solidFill>
          <a:ln xmlns:a="http://schemas.openxmlformats.org/drawingml/2006/main" w="12700">
            <a:solidFill>
              <a:srgbClr val="0D1C2B"/>
            </a:solidFill>
            <a:prstDash val="solid"/>
          </a:ln>
        </p:spPr>
      </p:sp>
      <p:sp>
        <p:nvSpPr>
          <p:cNvPr id="19" name="Text 17">
            <a:extLst xmlns:a="http://schemas.openxmlformats.org/drawingml/2006/main">
              <a:ext uri="{FF2B5EF4-FFF2-40B4-BE49-F238E27FC236}">
                <a16:creationId xmlns:a16="http://schemas.microsoft.com/office/drawing/2014/main" id="{0CA51120-7942-4CA6-9861-4B77FA252ABD}"/>
              </a:ext>
            </a:extLst>
          </p:cNvPr>
          <p:cNvSpPr>
            <a:spLocks xmlns:a="http://schemas.openxmlformats.org/drawingml/2006/main" noGrp="1"/>
          </p:cNvSpPr>
          <p:nvPr/>
        </p:nvSpPr>
        <p:spPr>
          <a:xfrm xmlns:a="http://schemas.openxmlformats.org/drawingml/2006/main">
            <a:off x="731520" y="384048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spc="200">
                <a:solidFill>
                  <a:srgbClr val="C9A96A"/>
                </a:solidFill>
                <a:latin typeface="Courier New"/>
                <a:ea typeface="Courier New"/>
                <a:cs typeface="Courier New"/>
              </a:rPr>
              <a:t>COST AT PRODUCTION SCALE</a:t>
            </a:r>
            <a:endParaRPr sz="800"/>
          </a:p>
        </p:txBody>
      </p:sp>
      <p:sp>
        <p:nvSpPr>
          <p:cNvPr id="20" name="Text 18">
            <a:extLst xmlns:a="http://schemas.openxmlformats.org/drawingml/2006/main">
              <a:ext uri="{FF2B5EF4-FFF2-40B4-BE49-F238E27FC236}">
                <a16:creationId xmlns:a16="http://schemas.microsoft.com/office/drawing/2014/main" id="{C03CDBA0-651B-477C-AFB6-D9293C561E8F}"/>
              </a:ext>
            </a:extLst>
          </p:cNvPr>
          <p:cNvSpPr>
            <a:spLocks xmlns:a="http://schemas.openxmlformats.org/drawingml/2006/main" noGrp="1"/>
          </p:cNvSpPr>
          <p:nvPr/>
        </p:nvSpPr>
        <p:spPr>
          <a:xfrm xmlns:a="http://schemas.openxmlformats.org/drawingml/2006/main">
            <a:off x="731520" y="4069080"/>
            <a:ext cx="76809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FFFFFF"/>
                </a:solidFill>
                <a:latin typeface="Calibri"/>
                <a:ea typeface="Calibri"/>
                <a:cs typeface="Calibri"/>
              </a:rPr>
              <a:t>Scoring runs locally without API fees. Staff outreach, setup and maintenance still cost money. Replace the $25 contact-cost assumption with evidence from practice.</a:t>
            </a:r>
            <a:endParaRPr sz="1200"/>
          </a:p>
        </p:txBody>
      </p:sp>
    </p:spTree>
    <p:extLst>
      <p:ext uri="{BB962C8B-B14F-4D97-AF65-F5344CB8AC3E}">
        <p14:creationId xmlns:p14="http://schemas.microsoft.com/office/powerpoint/2010/main" val="434628805"/>
      </p:ext>
    </p:extLst>
  </p:cSld>
</p:sld>
</file>

<file path=ppt/slides/slide9.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81F207-08E5-4CF9-83C3-042149002AC2}"/>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LIMITS</a:t>
            </a:r>
            <a:endParaRPr sz="900"/>
          </a:p>
        </p:txBody>
      </p:sp>
      <p:sp>
        <p:nvSpPr>
          <p:cNvPr id="3" name="Text 1">
            <a:extLst xmlns:a="http://schemas.openxmlformats.org/drawingml/2006/main">
              <a:ext uri="{FF2B5EF4-FFF2-40B4-BE49-F238E27FC236}">
                <a16:creationId xmlns:a16="http://schemas.microsoft.com/office/drawing/2014/main" id="{1C9D0ABC-6223-445B-B76A-9CFB58878E0B}"/>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Thadeus  ·  9 / 10</a:t>
            </a:r>
            <a:endParaRPr sz="900"/>
          </a:p>
        </p:txBody>
      </p:sp>
      <p:sp>
        <p:nvSpPr>
          <p:cNvPr id="4" name="Text 2">
            <a:extLst xmlns:a="http://schemas.openxmlformats.org/drawingml/2006/main">
              <a:ext uri="{FF2B5EF4-FFF2-40B4-BE49-F238E27FC236}">
                <a16:creationId xmlns:a16="http://schemas.microsoft.com/office/drawing/2014/main" id="{B4807A6A-07C3-408E-BCF7-CA4E4F64656F}"/>
              </a:ext>
            </a:extLst>
          </p:cNvPr>
          <p:cNvSpPr>
            <a:spLocks xmlns:a="http://schemas.openxmlformats.org/drawingml/2006/main" noGrp="1"/>
          </p:cNvSpPr>
          <p:nvPr/>
        </p:nvSpPr>
        <p:spPr>
          <a:xfrm xmlns:a="http://schemas.openxmlformats.org/drawingml/2006/main">
            <a:off x="502920" y="621792"/>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2600" b="1">
                <a:solidFill>
                  <a:srgbClr val="FFFFFF"/>
                </a:solidFill>
                <a:latin typeface="Cambria"/>
                <a:ea typeface="Cambria"/>
                <a:cs typeface="Cambria"/>
              </a:rPr>
              <a:t>What we did not find, and what we are not claiming</a:t>
            </a:r>
            <a:endParaRPr sz="2600"/>
          </a:p>
        </p:txBody>
      </p:sp>
      <p:sp>
        <p:nvSpPr>
          <p:cNvPr id="5" name="Shape 3">
            <a:extLst xmlns:a="http://schemas.openxmlformats.org/drawingml/2006/main">
              <a:ext uri="{FF2B5EF4-FFF2-40B4-BE49-F238E27FC236}">
                <a16:creationId xmlns:a16="http://schemas.microsoft.com/office/drawing/2014/main" id="{F53B865B-2366-4377-A5C1-2896CFD6942E}"/>
              </a:ext>
            </a:extLst>
          </p:cNvPr>
          <p:cNvSpPr>
            <a:spLocks xmlns:a="http://schemas.openxmlformats.org/drawingml/2006/main" noGrp="1"/>
          </p:cNvSpPr>
          <p:nvPr/>
        </p:nvSpPr>
        <p:spPr>
          <a:xfrm xmlns:a="http://schemas.openxmlformats.org/drawingml/2006/main">
            <a:off x="502920" y="1371600"/>
            <a:ext cx="2606040" cy="2926080"/>
          </a:xfrm>
          <a:prstGeom xmlns:a="http://schemas.openxmlformats.org/drawingml/2006/main" prst="roundRect">
            <a:avLst>
              <a:gd name="adj" fmla="val 2105"/>
            </a:avLst>
          </a:prstGeom>
          <a:solidFill xmlns:a="http://schemas.openxmlformats.org/drawingml/2006/main">
            <a:srgbClr val="0D1C2B"/>
          </a:solidFill>
          <a:ln xmlns:a="http://schemas.openxmlformats.org/drawingml/2006/main" w="12700">
            <a:solidFill>
              <a:srgbClr val="0D1C2B"/>
            </a:solidFill>
            <a:prstDash val="solid"/>
          </a:ln>
        </p:spPr>
      </p:sp>
      <p:sp>
        <p:nvSpPr>
          <p:cNvPr id="6" name="Text 4">
            <a:extLst xmlns:a="http://schemas.openxmlformats.org/drawingml/2006/main">
              <a:ext uri="{FF2B5EF4-FFF2-40B4-BE49-F238E27FC236}">
                <a16:creationId xmlns:a16="http://schemas.microsoft.com/office/drawing/2014/main" id="{A55A5E55-9C5A-49F4-BF29-9E8252647D5B}"/>
              </a:ext>
            </a:extLst>
          </p:cNvPr>
          <p:cNvSpPr>
            <a:spLocks xmlns:a="http://schemas.openxmlformats.org/drawingml/2006/main" noGrp="1"/>
          </p:cNvSpPr>
          <p:nvPr/>
        </p:nvSpPr>
        <p:spPr>
          <a:xfrm xmlns:a="http://schemas.openxmlformats.org/drawingml/2006/main">
            <a:off x="704088" y="15544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C9A96A"/>
                </a:solidFill>
                <a:latin typeface="Cambria"/>
                <a:ea typeface="Cambria"/>
                <a:cs typeface="Cambria"/>
              </a:rPr>
              <a:t>1</a:t>
            </a:r>
            <a:endParaRPr sz="2600"/>
          </a:p>
        </p:txBody>
      </p:sp>
      <p:sp>
        <p:nvSpPr>
          <p:cNvPr id="7" name="Text 5">
            <a:extLst xmlns:a="http://schemas.openxmlformats.org/drawingml/2006/main">
              <a:ext uri="{FF2B5EF4-FFF2-40B4-BE49-F238E27FC236}">
                <a16:creationId xmlns:a16="http://schemas.microsoft.com/office/drawing/2014/main" id="{08863C3D-28E8-41C7-8E6A-BE16397D9906}"/>
              </a:ext>
            </a:extLst>
          </p:cNvPr>
          <p:cNvSpPr>
            <a:spLocks xmlns:a="http://schemas.openxmlformats.org/drawingml/2006/main" noGrp="1"/>
          </p:cNvSpPr>
          <p:nvPr/>
        </p:nvSpPr>
        <p:spPr>
          <a:xfrm xmlns:a="http://schemas.openxmlformats.org/drawingml/2006/main">
            <a:off x="704088" y="2103120"/>
            <a:ext cx="2240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b="1">
                <a:solidFill>
                  <a:srgbClr val="FFFFFF"/>
                </a:solidFill>
                <a:latin typeface="Calibri"/>
                <a:ea typeface="Calibri"/>
                <a:cs typeface="Calibri"/>
              </a:rPr>
              <a:t>Outreach impact is unknown</a:t>
            </a:r>
            <a:endParaRPr sz="1300"/>
          </a:p>
        </p:txBody>
      </p:sp>
      <p:sp>
        <p:nvSpPr>
          <p:cNvPr id="8" name="Text 6">
            <a:extLst xmlns:a="http://schemas.openxmlformats.org/drawingml/2006/main">
              <a:ext uri="{FF2B5EF4-FFF2-40B4-BE49-F238E27FC236}">
                <a16:creationId xmlns:a16="http://schemas.microsoft.com/office/drawing/2014/main" id="{B2409B52-B161-4653-BE4A-E5DCFB7EAE6D}"/>
              </a:ext>
            </a:extLst>
          </p:cNvPr>
          <p:cNvSpPr>
            <a:spLocks xmlns:a="http://schemas.openxmlformats.org/drawingml/2006/main" noGrp="1"/>
          </p:cNvSpPr>
          <p:nvPr/>
        </p:nvSpPr>
        <p:spPr>
          <a:xfrm xmlns:a="http://schemas.openxmlformats.org/drawingml/2006/main">
            <a:off x="704088" y="2606040"/>
            <a:ext cx="224028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50">
                <a:solidFill>
                  <a:srgbClr val="D9D3C6"/>
                </a:solidFill>
                <a:latin typeface="Calibri"/>
                <a:ea typeface="Calibri"/>
                <a:cs typeface="Calibri"/>
              </a:rPr>
              <a:t>The records show who gave again, not what a call changed. Dollars identified minus assumed contact cost is not measured profit.</a:t>
            </a:r>
            <a:endParaRPr sz="1050"/>
          </a:p>
        </p:txBody>
      </p:sp>
      <p:sp>
        <p:nvSpPr>
          <p:cNvPr id="9" name="Shape 7">
            <a:extLst xmlns:a="http://schemas.openxmlformats.org/drawingml/2006/main">
              <a:ext uri="{FF2B5EF4-FFF2-40B4-BE49-F238E27FC236}">
                <a16:creationId xmlns:a16="http://schemas.microsoft.com/office/drawing/2014/main" id="{80ACD90E-DC8D-4C0A-8017-FDA8AB93667B}"/>
              </a:ext>
            </a:extLst>
          </p:cNvPr>
          <p:cNvSpPr>
            <a:spLocks xmlns:a="http://schemas.openxmlformats.org/drawingml/2006/main" noGrp="1"/>
          </p:cNvSpPr>
          <p:nvPr/>
        </p:nvSpPr>
        <p:spPr>
          <a:xfrm xmlns:a="http://schemas.openxmlformats.org/drawingml/2006/main">
            <a:off x="3246120" y="1371600"/>
            <a:ext cx="2606040" cy="2926080"/>
          </a:xfrm>
          <a:prstGeom xmlns:a="http://schemas.openxmlformats.org/drawingml/2006/main" prst="roundRect">
            <a:avLst>
              <a:gd name="adj" fmla="val 2105"/>
            </a:avLst>
          </a:prstGeom>
          <a:solidFill xmlns:a="http://schemas.openxmlformats.org/drawingml/2006/main">
            <a:srgbClr val="0D1C2B"/>
          </a:solidFill>
          <a:ln xmlns:a="http://schemas.openxmlformats.org/drawingml/2006/main" w="12700">
            <a:solidFill>
              <a:srgbClr val="0D1C2B"/>
            </a:solidFill>
            <a:prstDash val="solid"/>
          </a:ln>
        </p:spPr>
      </p:sp>
      <p:sp>
        <p:nvSpPr>
          <p:cNvPr id="10" name="Text 8">
            <a:extLst xmlns:a="http://schemas.openxmlformats.org/drawingml/2006/main">
              <a:ext uri="{FF2B5EF4-FFF2-40B4-BE49-F238E27FC236}">
                <a16:creationId xmlns:a16="http://schemas.microsoft.com/office/drawing/2014/main" id="{362311BC-3374-4401-9AE6-F68D23ACCD39}"/>
              </a:ext>
            </a:extLst>
          </p:cNvPr>
          <p:cNvSpPr>
            <a:spLocks xmlns:a="http://schemas.openxmlformats.org/drawingml/2006/main" noGrp="1"/>
          </p:cNvSpPr>
          <p:nvPr/>
        </p:nvSpPr>
        <p:spPr>
          <a:xfrm xmlns:a="http://schemas.openxmlformats.org/drawingml/2006/main">
            <a:off x="3447288" y="15544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C9A96A"/>
                </a:solidFill>
                <a:latin typeface="Cambria"/>
                <a:ea typeface="Cambria"/>
                <a:cs typeface="Cambria"/>
              </a:rPr>
              <a:t>2</a:t>
            </a:r>
            <a:endParaRPr sz="2600"/>
          </a:p>
        </p:txBody>
      </p:sp>
      <p:sp>
        <p:nvSpPr>
          <p:cNvPr id="11" name="Text 9">
            <a:extLst xmlns:a="http://schemas.openxmlformats.org/drawingml/2006/main">
              <a:ext uri="{FF2B5EF4-FFF2-40B4-BE49-F238E27FC236}">
                <a16:creationId xmlns:a16="http://schemas.microsoft.com/office/drawing/2014/main" id="{9F89E44D-6C77-4510-9550-5962255F6621}"/>
              </a:ext>
            </a:extLst>
          </p:cNvPr>
          <p:cNvSpPr>
            <a:spLocks xmlns:a="http://schemas.openxmlformats.org/drawingml/2006/main" noGrp="1"/>
          </p:cNvSpPr>
          <p:nvPr/>
        </p:nvSpPr>
        <p:spPr>
          <a:xfrm xmlns:a="http://schemas.openxmlformats.org/drawingml/2006/main">
            <a:off x="3447288" y="2103120"/>
            <a:ext cx="2240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b="1">
                <a:solidFill>
                  <a:srgbClr val="FFFFFF"/>
                </a:solidFill>
                <a:latin typeface="Calibri"/>
                <a:ea typeface="Calibri"/>
                <a:cs typeface="Calibri"/>
              </a:rPr>
              <a:t>Thank-you packet: dropped</a:t>
            </a:r>
            <a:endParaRPr sz="1300"/>
          </a:p>
        </p:txBody>
      </p:sp>
      <p:sp>
        <p:nvSpPr>
          <p:cNvPr id="12" name="Text 10">
            <a:extLst xmlns:a="http://schemas.openxmlformats.org/drawingml/2006/main">
              <a:ext uri="{FF2B5EF4-FFF2-40B4-BE49-F238E27FC236}">
                <a16:creationId xmlns:a16="http://schemas.microsoft.com/office/drawing/2014/main" id="{5939E841-B9FE-4582-BF98-0703B04B32BC}"/>
              </a:ext>
            </a:extLst>
          </p:cNvPr>
          <p:cNvSpPr>
            <a:spLocks xmlns:a="http://schemas.openxmlformats.org/drawingml/2006/main" noGrp="1"/>
          </p:cNvSpPr>
          <p:nvPr/>
        </p:nvSpPr>
        <p:spPr>
          <a:xfrm xmlns:a="http://schemas.openxmlformats.org/drawingml/2006/main">
            <a:off x="3447288" y="2606040"/>
            <a:ext cx="224028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50">
                <a:solidFill>
                  <a:srgbClr val="D9D3C6"/>
                </a:solidFill>
                <a:latin typeface="Calibri"/>
                <a:ea typeface="Calibri"/>
                <a:cs typeface="Calibri"/>
              </a:rPr>
              <a:t>The codebook gives no timing. The flag may record something that happened after the second gift. Albert pre-approved dropping it.</a:t>
            </a:r>
            <a:endParaRPr sz="1050"/>
          </a:p>
        </p:txBody>
      </p:sp>
      <p:sp>
        <p:nvSpPr>
          <p:cNvPr id="13" name="Shape 11">
            <a:extLst xmlns:a="http://schemas.openxmlformats.org/drawingml/2006/main">
              <a:ext uri="{FF2B5EF4-FFF2-40B4-BE49-F238E27FC236}">
                <a16:creationId xmlns:a16="http://schemas.microsoft.com/office/drawing/2014/main" id="{D99ACE54-6756-4A42-9482-49A3F4EB51CC}"/>
              </a:ext>
            </a:extLst>
          </p:cNvPr>
          <p:cNvSpPr>
            <a:spLocks xmlns:a="http://schemas.openxmlformats.org/drawingml/2006/main" noGrp="1"/>
          </p:cNvSpPr>
          <p:nvPr/>
        </p:nvSpPr>
        <p:spPr>
          <a:xfrm xmlns:a="http://schemas.openxmlformats.org/drawingml/2006/main">
            <a:off x="5989320" y="1371600"/>
            <a:ext cx="2606040" cy="2926080"/>
          </a:xfrm>
          <a:prstGeom xmlns:a="http://schemas.openxmlformats.org/drawingml/2006/main" prst="roundRect">
            <a:avLst>
              <a:gd name="adj" fmla="val 2105"/>
            </a:avLst>
          </a:prstGeom>
          <a:solidFill xmlns:a="http://schemas.openxmlformats.org/drawingml/2006/main">
            <a:srgbClr val="0D1C2B"/>
          </a:solidFill>
          <a:ln xmlns:a="http://schemas.openxmlformats.org/drawingml/2006/main" w="12700">
            <a:solidFill>
              <a:srgbClr val="0D1C2B"/>
            </a:solidFill>
            <a:prstDash val="solid"/>
          </a:ln>
        </p:spPr>
      </p:sp>
      <p:sp>
        <p:nvSpPr>
          <p:cNvPr id="14" name="Text 12">
            <a:extLst xmlns:a="http://schemas.openxmlformats.org/drawingml/2006/main">
              <a:ext uri="{FF2B5EF4-FFF2-40B4-BE49-F238E27FC236}">
                <a16:creationId xmlns:a16="http://schemas.microsoft.com/office/drawing/2014/main" id="{80F38DCF-0B79-407C-8865-4C7E38389758}"/>
              </a:ext>
            </a:extLst>
          </p:cNvPr>
          <p:cNvSpPr>
            <a:spLocks xmlns:a="http://schemas.openxmlformats.org/drawingml/2006/main" noGrp="1"/>
          </p:cNvSpPr>
          <p:nvPr/>
        </p:nvSpPr>
        <p:spPr>
          <a:xfrm xmlns:a="http://schemas.openxmlformats.org/drawingml/2006/main">
            <a:off x="6190488" y="15544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C9A96A"/>
                </a:solidFill>
                <a:latin typeface="Cambria"/>
                <a:ea typeface="Cambria"/>
                <a:cs typeface="Cambria"/>
              </a:rPr>
              <a:t>3</a:t>
            </a:r>
            <a:endParaRPr sz="2600"/>
          </a:p>
        </p:txBody>
      </p:sp>
      <p:sp>
        <p:nvSpPr>
          <p:cNvPr id="15" name="Text 13">
            <a:extLst xmlns:a="http://schemas.openxmlformats.org/drawingml/2006/main">
              <a:ext uri="{FF2B5EF4-FFF2-40B4-BE49-F238E27FC236}">
                <a16:creationId xmlns:a16="http://schemas.microsoft.com/office/drawing/2014/main" id="{110939AF-6239-42D5-A16B-5729DBCF07A4}"/>
              </a:ext>
            </a:extLst>
          </p:cNvPr>
          <p:cNvSpPr>
            <a:spLocks xmlns:a="http://schemas.openxmlformats.org/drawingml/2006/main" noGrp="1"/>
          </p:cNvSpPr>
          <p:nvPr/>
        </p:nvSpPr>
        <p:spPr>
          <a:xfrm xmlns:a="http://schemas.openxmlformats.org/drawingml/2006/main">
            <a:off x="6190488" y="2103120"/>
            <a:ext cx="2240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b="1">
                <a:solidFill>
                  <a:srgbClr val="FFFFFF"/>
                </a:solidFill>
                <a:latin typeface="Calibri"/>
                <a:ea typeface="Calibri"/>
                <a:cs typeface="Calibri"/>
              </a:rPr>
              <a:t>Transfer is untested</a:t>
            </a:r>
            <a:endParaRPr sz="1300"/>
          </a:p>
        </p:txBody>
      </p:sp>
      <p:sp>
        <p:nvSpPr>
          <p:cNvPr id="16" name="Text 14">
            <a:extLst xmlns:a="http://schemas.openxmlformats.org/drawingml/2006/main">
              <a:ext uri="{FF2B5EF4-FFF2-40B4-BE49-F238E27FC236}">
                <a16:creationId xmlns:a16="http://schemas.microsoft.com/office/drawing/2014/main" id="{C02EE6D6-D56D-4A12-892B-041B724A5D28}"/>
              </a:ext>
            </a:extLst>
          </p:cNvPr>
          <p:cNvSpPr>
            <a:spLocks xmlns:a="http://schemas.openxmlformats.org/drawingml/2006/main" noGrp="1"/>
          </p:cNvSpPr>
          <p:nvPr/>
        </p:nvSpPr>
        <p:spPr>
          <a:xfrm xmlns:a="http://schemas.openxmlformats.org/drawingml/2006/main">
            <a:off x="6190488" y="2606040"/>
            <a:ext cx="224028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050">
                <a:solidFill>
                  <a:srgbClr val="D9D3C6"/>
                </a:solidFill>
                <a:latin typeface="Calibri"/>
                <a:ea typeface="Calibri"/>
                <a:cs typeface="Calibri"/>
              </a:rPr>
              <a:t>We tested 2017–18 DonorsChoose cohorts. Performance for today’s donors or another nonprofit has not been established.</a:t>
            </a:r>
            <a:endParaRPr sz="1050"/>
          </a:p>
        </p:txBody>
      </p:sp>
      <p:sp>
        <p:nvSpPr>
          <p:cNvPr id="17" name="Text 15">
            <a:extLst xmlns:a="http://schemas.openxmlformats.org/drawingml/2006/main">
              <a:ext uri="{FF2B5EF4-FFF2-40B4-BE49-F238E27FC236}">
                <a16:creationId xmlns:a16="http://schemas.microsoft.com/office/drawing/2014/main" id="{C06355EB-94AB-4332-94C3-7CDA50FA3041}"/>
              </a:ext>
            </a:extLst>
          </p:cNvPr>
          <p:cNvSpPr>
            <a:spLocks xmlns:a="http://schemas.openxmlformats.org/drawingml/2006/main" noGrp="1"/>
          </p:cNvSpPr>
          <p:nvPr/>
        </p:nvSpPr>
        <p:spPr>
          <a:xfrm xmlns:a="http://schemas.openxmlformats.org/drawingml/2006/main">
            <a:off x="502920" y="4507992"/>
            <a:ext cx="8138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00">
                <a:solidFill>
                  <a:srgbClr val="C9A96A"/>
                </a:solidFill>
                <a:latin typeface="Calibri"/>
                <a:ea typeface="Calibri"/>
                <a:cs typeface="Calibri"/>
              </a:rPr>
              <a:t>Next: validate locally, measure real contact costs, and test randomized outreach before scaling.</a:t>
            </a:r>
            <a:endParaRPr sz="1100"/>
          </a:p>
        </p:txBody>
      </p:sp>
    </p:spTree>
    <p:extLst>
      <p:ext uri="{BB962C8B-B14F-4D97-AF65-F5344CB8AC3E}">
        <p14:creationId xmlns:p14="http://schemas.microsoft.com/office/powerpoint/2010/main" val="1094453985"/>
      </p:ext>
    </p:extLst>
  </p:cSld>
</p:sld>
</file>

<file path=ppt/slides/slide10.xml><?xml version="1.0" encoding="utf-8"?>
<p:sld xmlns:p="http://schemas.openxmlformats.org/presentationml/2006/main">
  <p:cSld>
    <p:bg>
      <p:bgPr>
        <a:solidFill xmlns:a="http://schemas.openxmlformats.org/drawingml/2006/main">
          <a:srgbClr val="08132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A3CBE3-6B49-45FC-A32B-891D69412052}"/>
              </a:ext>
            </a:extLst>
          </p:cNvPr>
          <p:cNvSpPr>
            <a:spLocks xmlns:a="http://schemas.openxmlformats.org/drawingml/2006/main" noGrp="1"/>
          </p:cNvSpPr>
          <p:nvPr/>
        </p:nvSpPr>
        <p:spPr>
          <a:xfrm xmlns:a="http://schemas.openxmlformats.org/drawingml/2006/main">
            <a:off x="502920" y="292608"/>
            <a:ext cx="6035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200">
                <a:solidFill>
                  <a:srgbClr val="C9A96A"/>
                </a:solidFill>
                <a:latin typeface="Courier New"/>
                <a:ea typeface="Courier New"/>
                <a:cs typeface="Courier New"/>
              </a:rPr>
              <a:t>RECOMMENDATION</a:t>
            </a:r>
            <a:endParaRPr sz="900"/>
          </a:p>
        </p:txBody>
      </p:sp>
      <p:sp>
        <p:nvSpPr>
          <p:cNvPr id="3" name="Text 1">
            <a:extLst xmlns:a="http://schemas.openxmlformats.org/drawingml/2006/main">
              <a:ext uri="{FF2B5EF4-FFF2-40B4-BE49-F238E27FC236}">
                <a16:creationId xmlns:a16="http://schemas.microsoft.com/office/drawing/2014/main" id="{EBE1D0DB-4322-429B-8051-6BBD3245CAEF}"/>
              </a:ext>
            </a:extLst>
          </p:cNvPr>
          <p:cNvSpPr>
            <a:spLocks xmlns:a="http://schemas.openxmlformats.org/drawingml/2006/main" noGrp="1"/>
          </p:cNvSpPr>
          <p:nvPr/>
        </p:nvSpPr>
        <p:spPr>
          <a:xfrm xmlns:a="http://schemas.openxmlformats.org/drawingml/2006/main">
            <a:off x="5715000" y="29260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A8474"/>
                </a:solidFill>
                <a:latin typeface="Courier New"/>
                <a:ea typeface="Courier New"/>
                <a:cs typeface="Courier New"/>
              </a:rPr>
              <a:t>Malorie  ·  10 / 10</a:t>
            </a:r>
            <a:endParaRPr sz="900"/>
          </a:p>
        </p:txBody>
      </p:sp>
      <p:sp>
        <p:nvSpPr>
          <p:cNvPr id="4" name="Text 2">
            <a:extLst xmlns:a="http://schemas.openxmlformats.org/drawingml/2006/main">
              <a:ext uri="{FF2B5EF4-FFF2-40B4-BE49-F238E27FC236}">
                <a16:creationId xmlns:a16="http://schemas.microsoft.com/office/drawing/2014/main" id="{53DFBC38-EE24-4A97-BF8C-C5BD50B7171C}"/>
              </a:ext>
            </a:extLst>
          </p:cNvPr>
          <p:cNvSpPr>
            <a:spLocks xmlns:a="http://schemas.openxmlformats.org/drawingml/2006/main" noGrp="1"/>
          </p:cNvSpPr>
          <p:nvPr/>
        </p:nvSpPr>
        <p:spPr>
          <a:xfrm xmlns:a="http://schemas.openxmlformats.org/drawingml/2006/main">
            <a:off x="777240" y="1234440"/>
            <a:ext cx="758952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2800">
                <a:solidFill>
                  <a:srgbClr val="FFFFFF"/>
                </a:solidFill>
                <a:latin typeface="Cambria"/>
                <a:ea typeface="Cambria"/>
                <a:cs typeface="Cambria"/>
              </a:rPr>
              <a:t>Pilot the model-ranked list against gift-size ranking. The historical top 10% contained 58% of subsequent giving; test whether outreach adds donations before scaling.</a:t>
            </a:r>
            <a:endParaRPr sz="2800"/>
          </a:p>
        </p:txBody>
      </p:sp>
      <p:sp>
        <p:nvSpPr>
          <p:cNvPr id="5" name="Text 3">
            <a:extLst xmlns:a="http://schemas.openxmlformats.org/drawingml/2006/main">
              <a:ext uri="{FF2B5EF4-FFF2-40B4-BE49-F238E27FC236}">
                <a16:creationId xmlns:a16="http://schemas.microsoft.com/office/drawing/2014/main" id="{64FAF392-4ABF-4978-A512-952AD997B878}"/>
              </a:ext>
            </a:extLst>
          </p:cNvPr>
          <p:cNvSpPr>
            <a:spLocks xmlns:a="http://schemas.openxmlformats.org/drawingml/2006/main" noGrp="1"/>
          </p:cNvSpPr>
          <p:nvPr/>
        </p:nvSpPr>
        <p:spPr>
          <a:xfrm xmlns:a="http://schemas.openxmlformats.org/drawingml/2006/main">
            <a:off x="777240" y="4251960"/>
            <a:ext cx="7863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950">
                <a:solidFill>
                  <a:srgbClr val="8A8474"/>
                </a:solidFill>
                <a:latin typeface="Calibri"/>
                <a:ea typeface="Calibri"/>
                <a:cs typeface="Calibri"/>
              </a:rPr>
              <a:t>github.com/bakulbadwal/gbus8496-project  ·  every number reproduces with  python evals/run_all.py</a:t>
            </a:r>
            <a:endParaRPr sz="950"/>
          </a:p>
        </p:txBody>
      </p:sp>
    </p:spTree>
    <p:extLst>
      <p:ext uri="{BB962C8B-B14F-4D97-AF65-F5344CB8AC3E}">
        <p14:creationId xmlns:p14="http://schemas.microsoft.com/office/powerpoint/2010/main" val="122314191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2026-09-27T17:37:52.9650000Z</dcterms:created>
  <dcterms:modified xsi:type="dcterms:W3CDTF">2026-09-27T17:37:52.9650000Z</dcterms:modified>
</coreProperties>
</file>