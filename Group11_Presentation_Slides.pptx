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3" r:id="rId2"/>
    <p:sldId id="276" r:id="rId3"/>
    <p:sldId id="295" r:id="rId4"/>
    <p:sldId id="256" r:id="rId5"/>
    <p:sldId id="300" r:id="rId6"/>
    <p:sldId id="257" r:id="rId7"/>
    <p:sldId id="259" r:id="rId8"/>
    <p:sldId id="293" r:id="rId9"/>
    <p:sldId id="279" r:id="rId10"/>
    <p:sldId id="302" r:id="rId11"/>
    <p:sldId id="280" r:id="rId12"/>
    <p:sldId id="281" r:id="rId13"/>
    <p:sldId id="296" r:id="rId14"/>
    <p:sldId id="261" r:id="rId15"/>
    <p:sldId id="262" r:id="rId16"/>
    <p:sldId id="304" r:id="rId17"/>
    <p:sldId id="305" r:id="rId18"/>
    <p:sldId id="289" r:id="rId19"/>
    <p:sldId id="297" r:id="rId20"/>
    <p:sldId id="291"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F28A35BA-5222-DE42-B31D-A88E1F2B9229}">
          <p14:sldIdLst>
            <p14:sldId id="273"/>
            <p14:sldId id="276"/>
            <p14:sldId id="295"/>
            <p14:sldId id="256"/>
            <p14:sldId id="300"/>
            <p14:sldId id="257"/>
            <p14:sldId id="259"/>
            <p14:sldId id="293"/>
            <p14:sldId id="279"/>
            <p14:sldId id="302"/>
            <p14:sldId id="280"/>
            <p14:sldId id="281"/>
            <p14:sldId id="296"/>
            <p14:sldId id="261"/>
            <p14:sldId id="262"/>
            <p14:sldId id="304"/>
            <p14:sldId id="305"/>
            <p14:sldId id="289"/>
            <p14:sldId id="297"/>
            <p14:sldId id="291"/>
          </p14:sldIdLst>
        </p14:section>
        <p14:section name="Appendix" id="{A9520891-610C-304B-8B28-3CC04B361DE6}">
          <p14:sldIdLst/>
        </p14:section>
        <p14:section name="Trash" id="{21D9F33A-35B9-D947-83C9-3626456FCACD}">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CE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9" dt="2026-09-29T00:34:42.315"/>
    <p1510:client id="{13AA44CB-D595-7C1F-7F3E-C60383DDFA3D}" v="62" dt="2026-09-28T22:46:34.800"/>
    <p1510:client id="{4E132088-5FBE-E5C3-092A-CC95B225205E}" v="119" dt="2026-09-29T13:48:21.283"/>
    <p1510:client id="{538A28C8-C695-05C6-D4AF-3E6C9BE6F2B7}" v="1" dt="2026-09-29T13:38:22.393"/>
    <p1510:client id="{685CAB59-DCD8-547B-7745-6D2F0D141FBA}" v="44" dt="2026-09-29T00:27:48.701"/>
    <p1510:client id="{7514708D-A092-5FC6-237D-412D29CBAA21}" v="8" dt="2026-09-28T15:56:43.823"/>
    <p1510:client id="{CFE69E0D-AE0A-3A4D-64BA-3924EC47018D}" v="12" dt="2026-09-29T15:17:19.398"/>
    <p1510:client id="{D2B80E78-DEBF-42DE-A27A-245C38D1E7CF}" v="346" dt="2026-09-29T13:54:07.685"/>
    <p1510:client id="{E2315B66-FE91-54D5-0FA2-15B24E7EF1C4}" v="469" dt="2026-09-29T00:10:56.988"/>
    <p1510:client id="{E50B009C-349F-6549-B4F6-E196235F85A9}" v="2332" dt="2026-09-29T13:38:28.2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0_0.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_12C_46E41E9F.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_12C_46E41E9F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_101_0.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_103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Households giving</c:v>
                </c:pt>
              </c:strCache>
            </c:strRef>
          </c:tx>
          <c:spPr>
            <a:solidFill>
              <a:srgbClr val="C9CED4">
                <a:alpha val="100000"/>
              </a:srgbClr>
            </a:solidFill>
            <a:effectLst/>
          </c:spPr>
          <c:invertIfNegative val="0"/>
          <c:dPt>
            <c:idx val="0"/>
            <c:invertIfNegative val="0"/>
            <c:bubble3D val="0"/>
            <c:spPr>
              <a:solidFill>
                <a:srgbClr val="C9CED4"/>
              </a:solidFill>
              <a:effectLst/>
            </c:spPr>
            <c:extLst>
              <c:ext xmlns:c16="http://schemas.microsoft.com/office/drawing/2014/chart" uri="{C3380CC4-5D6E-409C-BE32-E72D297353CC}">
                <c16:uniqueId val="{00000001-206B-4A20-8739-CDF3C2259499}"/>
              </c:ext>
            </c:extLst>
          </c:dPt>
          <c:dPt>
            <c:idx val="1"/>
            <c:invertIfNegative val="0"/>
            <c:bubble3D val="0"/>
            <c:spPr>
              <a:solidFill>
                <a:srgbClr val="C9CED4"/>
              </a:solidFill>
              <a:effectLst/>
            </c:spPr>
            <c:extLst>
              <c:ext xmlns:c16="http://schemas.microsoft.com/office/drawing/2014/chart" uri="{C3380CC4-5D6E-409C-BE32-E72D297353CC}">
                <c16:uniqueId val="{00000003-206B-4A20-8739-CDF3C2259499}"/>
              </c:ext>
            </c:extLst>
          </c:dPt>
          <c:dPt>
            <c:idx val="2"/>
            <c:invertIfNegative val="0"/>
            <c:bubble3D val="0"/>
            <c:spPr>
              <a:solidFill>
                <a:srgbClr val="D2603A"/>
              </a:solidFill>
              <a:effectLst/>
            </c:spPr>
            <c:extLst>
              <c:ext xmlns:c16="http://schemas.microsoft.com/office/drawing/2014/chart" uri="{C3380CC4-5D6E-409C-BE32-E72D297353CC}">
                <c16:uniqueId val="{00000005-206B-4A20-8739-CDF3C2259499}"/>
              </c:ext>
            </c:extLst>
          </c:dPt>
          <c:dLbls>
            <c:numFmt formatCode="0.0&quot;%&quot;" sourceLinked="0"/>
            <c:spPr>
              <a:noFill/>
              <a:ln>
                <a:noFill/>
              </a:ln>
              <a:effectLst/>
            </c:spPr>
            <c:txPr>
              <a:bodyPr/>
              <a:lstStyle/>
              <a:p>
                <a:pPr>
                  <a:defRPr sz="13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2000</c:v>
                </c:pt>
                <c:pt idx="1">
                  <c:v>2018</c:v>
                </c:pt>
                <c:pt idx="2">
                  <c:v>2020</c:v>
                </c:pt>
              </c:strCache>
            </c:strRef>
          </c:cat>
          <c:val>
            <c:numRef>
              <c:f>Sheet1!$B$2:$B$4</c:f>
              <c:numCache>
                <c:formatCode>General</c:formatCode>
                <c:ptCount val="3"/>
                <c:pt idx="0">
                  <c:v>66.2</c:v>
                </c:pt>
                <c:pt idx="1">
                  <c:v>49.6</c:v>
                </c:pt>
                <c:pt idx="2">
                  <c:v>46.9</c:v>
                </c:pt>
              </c:numCache>
            </c:numRef>
          </c:val>
          <c:extLst>
            <c:ext xmlns:c16="http://schemas.microsoft.com/office/drawing/2014/chart" uri="{C3380CC4-5D6E-409C-BE32-E72D297353CC}">
              <c16:uniqueId val="{00000006-206B-4A20-8739-CDF3C225949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3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Households giving</c:v>
                </c:pt>
              </c:strCache>
            </c:strRef>
          </c:tx>
          <c:spPr>
            <a:solidFill>
              <a:srgbClr val="C9CED4">
                <a:alpha val="100000"/>
              </a:srgbClr>
            </a:solidFill>
            <a:effectLst/>
          </c:spPr>
          <c:invertIfNegative val="0"/>
          <c:dPt>
            <c:idx val="0"/>
            <c:invertIfNegative val="0"/>
            <c:bubble3D val="0"/>
            <c:spPr>
              <a:solidFill>
                <a:srgbClr val="C9CED4"/>
              </a:solidFill>
              <a:effectLst/>
            </c:spPr>
            <c:extLst>
              <c:ext xmlns:c16="http://schemas.microsoft.com/office/drawing/2014/chart" uri="{C3380CC4-5D6E-409C-BE32-E72D297353CC}">
                <c16:uniqueId val="{00000001-206B-4A20-8739-CDF3C2259499}"/>
              </c:ext>
            </c:extLst>
          </c:dPt>
          <c:dPt>
            <c:idx val="1"/>
            <c:invertIfNegative val="0"/>
            <c:bubble3D val="0"/>
            <c:spPr>
              <a:solidFill>
                <a:srgbClr val="C9CED4"/>
              </a:solidFill>
              <a:effectLst/>
            </c:spPr>
            <c:extLst>
              <c:ext xmlns:c16="http://schemas.microsoft.com/office/drawing/2014/chart" uri="{C3380CC4-5D6E-409C-BE32-E72D297353CC}">
                <c16:uniqueId val="{00000003-206B-4A20-8739-CDF3C2259499}"/>
              </c:ext>
            </c:extLst>
          </c:dPt>
          <c:dPt>
            <c:idx val="2"/>
            <c:invertIfNegative val="0"/>
            <c:bubble3D val="0"/>
            <c:spPr>
              <a:solidFill>
                <a:srgbClr val="D2603A"/>
              </a:solidFill>
              <a:effectLst/>
            </c:spPr>
            <c:extLst>
              <c:ext xmlns:c16="http://schemas.microsoft.com/office/drawing/2014/chart" uri="{C3380CC4-5D6E-409C-BE32-E72D297353CC}">
                <c16:uniqueId val="{00000005-206B-4A20-8739-CDF3C2259499}"/>
              </c:ext>
            </c:extLst>
          </c:dPt>
          <c:dLbls>
            <c:numFmt formatCode="0.0&quot;%&quot;" sourceLinked="0"/>
            <c:spPr>
              <a:noFill/>
              <a:ln>
                <a:noFill/>
              </a:ln>
              <a:effectLst/>
            </c:spPr>
            <c:txPr>
              <a:bodyPr/>
              <a:lstStyle/>
              <a:p>
                <a:pPr>
                  <a:defRPr sz="13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2000</c:v>
                </c:pt>
                <c:pt idx="1">
                  <c:v>2018</c:v>
                </c:pt>
                <c:pt idx="2">
                  <c:v>2020</c:v>
                </c:pt>
              </c:strCache>
            </c:strRef>
          </c:cat>
          <c:val>
            <c:numRef>
              <c:f>Sheet1!$B$2:$B$4</c:f>
              <c:numCache>
                <c:formatCode>General</c:formatCode>
                <c:ptCount val="3"/>
                <c:pt idx="0">
                  <c:v>66.2</c:v>
                </c:pt>
                <c:pt idx="1">
                  <c:v>49.6</c:v>
                </c:pt>
                <c:pt idx="2">
                  <c:v>46.9</c:v>
                </c:pt>
              </c:numCache>
            </c:numRef>
          </c:val>
          <c:extLst>
            <c:ext xmlns:c16="http://schemas.microsoft.com/office/drawing/2014/chart" uri="{C3380CC4-5D6E-409C-BE32-E72D297353CC}">
              <c16:uniqueId val="{00000006-206B-4A20-8739-CDF3C225949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3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Share of donors</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0-B552-4AAB-A5A3-A39A3CFA537F}"/>
              </c:ext>
            </c:extLst>
          </c:dPt>
          <c:dPt>
            <c:idx val="1"/>
            <c:invertIfNegative val="0"/>
            <c:bubble3D val="0"/>
            <c:spPr>
              <a:solidFill>
                <a:srgbClr val="C9CED6"/>
              </a:solidFill>
              <a:effectLst/>
            </c:spPr>
            <c:extLst>
              <c:ext xmlns:c16="http://schemas.microsoft.com/office/drawing/2014/chart" uri="{C3380CC4-5D6E-409C-BE32-E72D297353CC}">
                <c16:uniqueId val="{00000002-B552-4AAB-A5A3-A39A3CFA537F}"/>
              </c:ext>
            </c:extLst>
          </c:dPt>
          <c:dPt>
            <c:idx val="2"/>
            <c:invertIfNegative val="0"/>
            <c:bubble3D val="0"/>
            <c:spPr>
              <a:solidFill>
                <a:srgbClr val="C9CED6"/>
              </a:solidFill>
              <a:effectLst/>
            </c:spPr>
            <c:extLst>
              <c:ext xmlns:c16="http://schemas.microsoft.com/office/drawing/2014/chart" uri="{C3380CC4-5D6E-409C-BE32-E72D297353CC}">
                <c16:uniqueId val="{00000004-B552-4AAB-A5A3-A39A3CFA537F}"/>
              </c:ext>
            </c:extLst>
          </c:dPt>
          <c:dPt>
            <c:idx val="3"/>
            <c:invertIfNegative val="0"/>
            <c:bubble3D val="0"/>
            <c:spPr>
              <a:solidFill>
                <a:srgbClr val="C9CED6"/>
              </a:solidFill>
              <a:effectLst/>
            </c:spPr>
            <c:extLst>
              <c:ext xmlns:c16="http://schemas.microsoft.com/office/drawing/2014/chart" uri="{C3380CC4-5D6E-409C-BE32-E72D297353CC}">
                <c16:uniqueId val="{00000006-B552-4AAB-A5A3-A39A3CFA537F}"/>
              </c:ext>
            </c:extLst>
          </c:dPt>
          <c:dPt>
            <c:idx val="4"/>
            <c:invertIfNegative val="0"/>
            <c:bubble3D val="0"/>
            <c:spPr>
              <a:solidFill>
                <a:srgbClr val="C9CED6"/>
              </a:solidFill>
              <a:effectLst/>
            </c:spPr>
            <c:extLst>
              <c:ext xmlns:c16="http://schemas.microsoft.com/office/drawing/2014/chart" uri="{C3380CC4-5D6E-409C-BE32-E72D297353CC}">
                <c16:uniqueId val="{00000008-B552-4AAB-A5A3-A39A3CFA537F}"/>
              </c:ext>
            </c:extLst>
          </c:dPt>
          <c:dLbls>
            <c:numFmt formatCode="0.0&quot;%&quot;" sourceLinked="0"/>
            <c:spPr>
              <a:noFill/>
              <a:ln>
                <a:noFill/>
              </a:ln>
              <a:effectLst/>
            </c:spPr>
            <c:txPr>
              <a:bodyPr/>
              <a:lstStyle/>
              <a:p>
                <a:pPr>
                  <a:defRPr sz="1200" b="0" i="0" u="none" strike="noStrike">
                    <a:solidFill>
                      <a:srgbClr val="1B2A41"/>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c:v>
                </c:pt>
                <c:pt idx="1">
                  <c:v>2</c:v>
                </c:pt>
                <c:pt idx="2">
                  <c:v>3–5</c:v>
                </c:pt>
                <c:pt idx="3">
                  <c:v>6–20</c:v>
                </c:pt>
                <c:pt idx="4">
                  <c:v>21+</c:v>
                </c:pt>
              </c:strCache>
            </c:strRef>
          </c:cat>
          <c:val>
            <c:numRef>
              <c:f>Sheet1!$B$2:$B$6</c:f>
              <c:numCache>
                <c:formatCode>General</c:formatCode>
                <c:ptCount val="5"/>
                <c:pt idx="0">
                  <c:v>71.099999999999994</c:v>
                </c:pt>
                <c:pt idx="1">
                  <c:v>14.1</c:v>
                </c:pt>
                <c:pt idx="2">
                  <c:v>9.4</c:v>
                </c:pt>
                <c:pt idx="3">
                  <c:v>4.5</c:v>
                </c:pt>
                <c:pt idx="4">
                  <c:v>1</c:v>
                </c:pt>
              </c:numCache>
            </c:numRef>
          </c:val>
          <c:extLst>
            <c:ext xmlns:c16="http://schemas.microsoft.com/office/drawing/2014/chart" uri="{C3380CC4-5D6E-409C-BE32-E72D297353CC}">
              <c16:uniqueId val="{00000009-B552-4AAB-A5A3-A39A3CFA537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1100" b="0" i="0" u="none" strike="noStrike">
                    <a:solidFill>
                      <a:srgbClr val="6B7280"/>
                    </a:solidFill>
                    <a:latin typeface="Arial"/>
                  </a:defRPr>
                </a:pPr>
                <a:r>
                  <a:rPr lang="en-US" sz="1100" b="0" i="0" u="none" strike="noStrike">
                    <a:solidFill>
                      <a:srgbClr val="6B7280"/>
                    </a:solidFill>
                    <a:latin typeface="Arial"/>
                  </a:rPr>
                  <a:t>Lifetime gifts per donor</a:t>
                </a:r>
              </a:p>
            </c:rich>
          </c:tx>
          <c:overlay val="0"/>
        </c:title>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giving</c:v>
                </c:pt>
              </c:strCache>
            </c:strRef>
          </c:tx>
          <c:spPr>
            <a:solidFill>
              <a:srgbClr val="1B3A5C">
                <a:alpha val="100000"/>
              </a:srgbClr>
            </a:solidFill>
            <a:effectLst/>
          </c:spPr>
          <c:invertIfNegative val="0"/>
          <c:dPt>
            <c:idx val="0"/>
            <c:invertIfNegative val="0"/>
            <c:bubble3D val="0"/>
            <c:spPr>
              <a:solidFill>
                <a:srgbClr val="1B3A5C"/>
              </a:solidFill>
              <a:effectLst/>
            </c:spPr>
            <c:extLst>
              <c:ext xmlns:c16="http://schemas.microsoft.com/office/drawing/2014/chart" uri="{C3380CC4-5D6E-409C-BE32-E72D297353CC}">
                <c16:uniqueId val="{00000001-880F-43D5-B232-EA22EE176799}"/>
              </c:ext>
            </c:extLst>
          </c:dPt>
          <c:dPt>
            <c:idx val="1"/>
            <c:invertIfNegative val="0"/>
            <c:bubble3D val="0"/>
            <c:spPr>
              <a:solidFill>
                <a:srgbClr val="C9CED4"/>
              </a:solidFill>
              <a:effectLst/>
            </c:spPr>
            <c:extLst>
              <c:ext xmlns:c16="http://schemas.microsoft.com/office/drawing/2014/chart" uri="{C3380CC4-5D6E-409C-BE32-E72D297353CC}">
                <c16:uniqueId val="{00000003-880F-43D5-B232-EA22EE176799}"/>
              </c:ext>
            </c:extLst>
          </c:dPt>
          <c:dPt>
            <c:idx val="2"/>
            <c:invertIfNegative val="0"/>
            <c:bubble3D val="0"/>
            <c:spPr>
              <a:solidFill>
                <a:srgbClr val="C9CED4"/>
              </a:solidFill>
              <a:effectLst/>
            </c:spPr>
            <c:extLst>
              <c:ext xmlns:c16="http://schemas.microsoft.com/office/drawing/2014/chart" uri="{C3380CC4-5D6E-409C-BE32-E72D297353CC}">
                <c16:uniqueId val="{00000005-880F-43D5-B232-EA22EE176799}"/>
              </c:ext>
            </c:extLst>
          </c:dPt>
          <c:dPt>
            <c:idx val="3"/>
            <c:invertIfNegative val="0"/>
            <c:bubble3D val="0"/>
            <c:spPr>
              <a:solidFill>
                <a:srgbClr val="C9CED4"/>
              </a:solidFill>
              <a:effectLst/>
            </c:spPr>
            <c:extLst>
              <c:ext xmlns:c16="http://schemas.microsoft.com/office/drawing/2014/chart" uri="{C3380CC4-5D6E-409C-BE32-E72D297353CC}">
                <c16:uniqueId val="{00000007-880F-43D5-B232-EA22EE176799}"/>
              </c:ext>
            </c:extLst>
          </c:dPt>
          <c:dPt>
            <c:idx val="4"/>
            <c:invertIfNegative val="0"/>
            <c:bubble3D val="0"/>
            <c:spPr>
              <a:solidFill>
                <a:srgbClr val="D2603A"/>
              </a:solidFill>
              <a:effectLst/>
            </c:spPr>
            <c:extLst>
              <c:ext xmlns:c16="http://schemas.microsoft.com/office/drawing/2014/chart" uri="{C3380CC4-5D6E-409C-BE32-E72D297353CC}">
                <c16:uniqueId val="{00000009-880F-43D5-B232-EA22EE176799}"/>
              </c:ext>
            </c:extLst>
          </c:dPt>
          <c:dLbls>
            <c:numFmt formatCode="\$0" sourceLinked="0"/>
            <c:spPr>
              <a:noFill/>
              <a:ln>
                <a:noFill/>
              </a:ln>
              <a:effectLst/>
            </c:spPr>
            <c:txPr>
              <a:bodyPr/>
              <a:lstStyle/>
              <a:p>
                <a:pPr>
                  <a:defRPr sz="12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660.8</c:v>
                </c:pt>
                <c:pt idx="1">
                  <c:v>591.4</c:v>
                </c:pt>
                <c:pt idx="2">
                  <c:v>579</c:v>
                </c:pt>
                <c:pt idx="3">
                  <c:v>598.1</c:v>
                </c:pt>
                <c:pt idx="4">
                  <c:v>617.20000000000005</c:v>
                </c:pt>
              </c:numCache>
            </c:numRef>
          </c:val>
          <c:extLst>
            <c:ext xmlns:c16="http://schemas.microsoft.com/office/drawing/2014/chart" uri="{C3380CC4-5D6E-409C-BE32-E72D297353CC}">
              <c16:uniqueId val="{0000000A-880F-43D5-B232-EA22EE17679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2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78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organizations</c:v>
                </c:pt>
              </c:strCache>
            </c:strRef>
          </c:tx>
          <c:spPr>
            <a:solidFill>
              <a:srgbClr val="D2603A">
                <a:alpha val="100000"/>
              </a:srgbClr>
            </a:solidFill>
            <a:effectLst/>
          </c:spPr>
          <c:invertIfNegative val="0"/>
          <c:dLbls>
            <c:numFmt formatCode="0.0&quot;%&quot;" sourceLinked="0"/>
            <c:spPr>
              <a:noFill/>
              <a:ln>
                <a:noFill/>
              </a:ln>
              <a:effectLst/>
            </c:spPr>
            <c:txPr>
              <a:bodyPr/>
              <a:lstStyle/>
              <a:p>
                <a:pPr>
                  <a:defRPr sz="11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 $500K</c:v>
                </c:pt>
                <c:pt idx="1">
                  <c:v>$10M and above</c:v>
                </c:pt>
              </c:strCache>
            </c:strRef>
          </c:cat>
          <c:val>
            <c:numRef>
              <c:f>Sheet1!$B$2:$B$3</c:f>
              <c:numCache>
                <c:formatCode>General</c:formatCode>
                <c:ptCount val="2"/>
                <c:pt idx="0">
                  <c:v>66.599999999999994</c:v>
                </c:pt>
                <c:pt idx="1">
                  <c:v>5.4</c:v>
                </c:pt>
              </c:numCache>
            </c:numRef>
          </c:val>
          <c:extLst>
            <c:ext xmlns:c16="http://schemas.microsoft.com/office/drawing/2014/chart" uri="{C3380CC4-5D6E-409C-BE32-E72D297353CC}">
              <c16:uniqueId val="{00000000-A91A-40C6-8BA1-3FC991FA2AA4}"/>
            </c:ext>
          </c:extLst>
        </c:ser>
        <c:ser>
          <c:idx val="1"/>
          <c:order val="1"/>
          <c:tx>
            <c:strRef>
              <c:f>Sheet1!$C$1</c:f>
              <c:strCache>
                <c:ptCount val="1"/>
                <c:pt idx="0">
                  <c:v>Share of spending</c:v>
                </c:pt>
              </c:strCache>
            </c:strRef>
          </c:tx>
          <c:spPr>
            <a:solidFill>
              <a:srgbClr val="1B3A5C">
                <a:alpha val="100000"/>
              </a:srgbClr>
            </a:solidFill>
            <a:effectLst/>
          </c:spPr>
          <c:invertIfNegative val="0"/>
          <c:dLbls>
            <c:numFmt formatCode="0.0&quot;%&quot;" sourceLinked="0"/>
            <c:spPr>
              <a:noFill/>
              <a:ln>
                <a:noFill/>
              </a:ln>
              <a:effectLst/>
            </c:spPr>
            <c:txPr>
              <a:bodyPr/>
              <a:lstStyle/>
              <a:p>
                <a:pPr>
                  <a:defRPr sz="1100" b="1" i="0" u="none" strike="noStrike">
                    <a:solidFill>
                      <a:srgbClr val="1B3A5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 $500K</c:v>
                </c:pt>
                <c:pt idx="1">
                  <c:v>$10M and above</c:v>
                </c:pt>
              </c:strCache>
            </c:strRef>
          </c:cat>
          <c:val>
            <c:numRef>
              <c:f>Sheet1!$C$2:$C$3</c:f>
              <c:numCache>
                <c:formatCode>General</c:formatCode>
                <c:ptCount val="2"/>
                <c:pt idx="0">
                  <c:v>1.7</c:v>
                </c:pt>
                <c:pt idx="1">
                  <c:v>88.1</c:v>
                </c:pt>
              </c:numCache>
            </c:numRef>
          </c:val>
          <c:extLst>
            <c:ext xmlns:c16="http://schemas.microsoft.com/office/drawing/2014/chart" uri="{C3380CC4-5D6E-409C-BE32-E72D297353CC}">
              <c16:uniqueId val="{00000001-A91A-40C6-8BA1-3FC991FA2AA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9CED4"/>
            </a:solidFill>
            <a:prstDash val="solid"/>
            <a:round/>
          </a:ln>
        </c:spPr>
        <c:txPr>
          <a:bodyPr/>
          <a:lstStyle/>
          <a:p>
            <a:pPr>
              <a:defRPr sz="1200" b="0" i="0" u="none" strike="noStrike">
                <a:solidFill>
                  <a:srgbClr val="1B3A5C"/>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1B3A5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0"/>
            <c:invertIfNegative val="0"/>
            <c:bubble3D val="0"/>
            <c:spPr>
              <a:solidFill>
                <a:srgbClr val="E4572E"/>
              </a:solidFill>
            </c:spPr>
            <c:extLst>
              <c:ext xmlns:c16="http://schemas.microsoft.com/office/drawing/2014/chart" uri="{C3380CC4-5D6E-409C-BE32-E72D297353CC}">
                <c16:uniqueId val="{00000001-55D1-4D42-93B0-0DCBD6FAA9A9}"/>
              </c:ext>
            </c:extLst>
          </c:dPt>
          <c:dPt>
            <c:idx val="1"/>
            <c:invertIfNegative val="0"/>
            <c:bubble3D val="0"/>
            <c:extLst>
              <c:ext xmlns:c16="http://schemas.microsoft.com/office/drawing/2014/chart" uri="{C3380CC4-5D6E-409C-BE32-E72D297353CC}">
                <c16:uniqueId val="{00000003-55D1-4D42-93B0-0DCBD6FAA9A9}"/>
              </c:ext>
            </c:extLst>
          </c:dPt>
          <c:dPt>
            <c:idx val="2"/>
            <c:invertIfNegative val="0"/>
            <c:bubble3D val="0"/>
            <c:spPr>
              <a:solidFill>
                <a:srgbClr val="AEB6C2"/>
              </a:solidFill>
            </c:spPr>
            <c:extLst>
              <c:ext xmlns:c16="http://schemas.microsoft.com/office/drawing/2014/chart" uri="{C3380CC4-5D6E-409C-BE32-E72D297353CC}">
                <c16:uniqueId val="{00000005-55D1-4D42-93B0-0DCBD6FAA9A9}"/>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Dollar ranking</c:v>
              </c:pt>
              <c:pt idx="1">
                <c:v>Probability ranking</c:v>
              </c:pt>
              <c:pt idx="2">
                <c:v>Gift-size baseline</c:v>
              </c:pt>
            </c:strLit>
          </c:cat>
          <c:val>
            <c:numLit>
              <c:formatCode>0.0%</c:formatCode>
              <c:ptCount val="3"/>
              <c:pt idx="0">
                <c:v>0.22259999999999999</c:v>
              </c:pt>
              <c:pt idx="1">
                <c:v>0.24249999999999999</c:v>
              </c:pt>
              <c:pt idx="2">
                <c:v>0.1973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55D1-4D42-93B0-0DCBD6FAA9A9}"/>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0.31"/>
          <c:min val="0"/>
        </c:scaling>
        <c:delete val="0"/>
        <c:axPos val="b"/>
        <c:numFmt formatCode="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majorUnit val="0.1"/>
        <c:minorUnit val="5.000000000000001E-2"/>
      </c:valAx>
      <c:spPr>
        <a:solidFill>
          <a:srgbClr val="FFFFFF"/>
        </a:solidFill>
      </c:spPr>
    </c:plotArea>
    <c:plotVisOnly val="1"/>
    <c:dispBlanksAs val="zero"/>
    <c:showDLblsOverMax val="1"/>
  </c:chart>
  <c:spPr>
    <a:solidFill>
      <a:srgbClr val="FFFFFF"/>
    </a:solidFill>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0"/>
            <c:invertIfNegative val="0"/>
            <c:bubble3D val="0"/>
            <c:spPr>
              <a:solidFill>
                <a:srgbClr val="E4572E"/>
              </a:solidFill>
            </c:spPr>
            <c:extLst>
              <c:ext xmlns:c16="http://schemas.microsoft.com/office/drawing/2014/chart" uri="{C3380CC4-5D6E-409C-BE32-E72D297353CC}">
                <c16:uniqueId val="{00000001-1813-DC44-A3E4-28D60E953B8F}"/>
              </c:ext>
            </c:extLst>
          </c:dPt>
          <c:dPt>
            <c:idx val="2"/>
            <c:invertIfNegative val="0"/>
            <c:bubble3D val="0"/>
            <c:spPr>
              <a:solidFill>
                <a:srgbClr val="AEB6C2"/>
              </a:solidFill>
            </c:spPr>
            <c:extLst>
              <c:ext xmlns:c16="http://schemas.microsoft.com/office/drawing/2014/chart" uri="{C3380CC4-5D6E-409C-BE32-E72D297353CC}">
                <c16:uniqueId val="{00000003-1813-DC44-A3E4-28D60E953B8F}"/>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Dollar ranking</c:v>
              </c:pt>
              <c:pt idx="1">
                <c:v>Probability ranking</c:v>
              </c:pt>
              <c:pt idx="2">
                <c:v>Gift-size baseline</c:v>
              </c:pt>
            </c:strLit>
          </c:cat>
          <c:val>
            <c:numLit>
              <c:formatCode>\$0.00</c:formatCode>
              <c:ptCount val="3"/>
              <c:pt idx="0">
                <c:v>119.712</c:v>
              </c:pt>
              <c:pt idx="1">
                <c:v>107.7085</c:v>
              </c:pt>
              <c:pt idx="2">
                <c:v>116.2577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1813-DC44-A3E4-28D60E953B8F}"/>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45"/>
          <c:min val="0"/>
        </c:scaling>
        <c:delete val="0"/>
        <c:axPos val="b"/>
        <c:numFmt formatCode="\$0.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minorUnit val="50"/>
      </c:valAx>
      <c:spPr>
        <a:solidFill>
          <a:srgbClr val="FFFFFF"/>
        </a:solidFill>
      </c:spPr>
    </c:plotArea>
    <c:plotVisOnly val="1"/>
    <c:dispBlanksAs val="zero"/>
    <c:showDLblsOverMax val="1"/>
  </c:chart>
  <c:spPr>
    <a:solidFill>
      <a:srgbClr val="FFFFFF"/>
    </a:solidFill>
  </c:spPr>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Measured outcome</c:v>
          </c:tx>
          <c:spPr>
            <a:solidFill>
              <a:srgbClr val="2A9D8F"/>
            </a:solidFill>
          </c:spPr>
          <c:invertIfNegative val="1"/>
          <c:dPt>
            <c:idx val="3"/>
            <c:invertIfNegative val="0"/>
            <c:bubble3D val="0"/>
            <c:spPr>
              <a:solidFill>
                <a:srgbClr val="E4572E"/>
              </a:solidFill>
            </c:spPr>
            <c:extLst>
              <c:ext xmlns:c16="http://schemas.microsoft.com/office/drawing/2014/chart" uri="{C3380CC4-5D6E-409C-BE32-E72D297353CC}">
                <c16:uniqueId val="{00000001-35FE-584F-90D1-FA17954DBB10}"/>
              </c:ext>
            </c:extLst>
          </c:dPt>
          <c:dPt>
            <c:idx val="4"/>
            <c:invertIfNegative val="0"/>
            <c:bubble3D val="0"/>
            <c:spPr>
              <a:solidFill>
                <a:srgbClr val="E4572E"/>
              </a:solidFill>
            </c:spPr>
            <c:extLst>
              <c:ext xmlns:c16="http://schemas.microsoft.com/office/drawing/2014/chart" uri="{C3380CC4-5D6E-409C-BE32-E72D297353CC}">
                <c16:uniqueId val="{00000003-35FE-584F-90D1-FA17954DBB10}"/>
              </c:ext>
            </c:extLst>
          </c:dPt>
          <c:dLbls>
            <c:spPr>
              <a:noFill/>
              <a:ln>
                <a:noFill/>
              </a:ln>
            </c:spPr>
            <c:txPr>
              <a:bodyPr anchorCtr="1"/>
              <a:lstStyle/>
              <a:p>
                <a:pPr>
                  <a:defRPr sz="1500" b="1">
                    <a:solidFill>
                      <a:srgbClr val="1B2A41"/>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School state</c:v>
              </c:pt>
              <c:pt idx="1">
                <c:v>School poverty level</c:v>
              </c:pt>
              <c:pt idx="2">
                <c:v>Project total price</c:v>
              </c:pt>
              <c:pt idx="3">
                <c:v>First-month gift count</c:v>
              </c:pt>
              <c:pt idx="4">
                <c:v>First-month gift amount</c:v>
              </c:pt>
            </c:strLit>
          </c:cat>
          <c:val>
            <c:numLit>
              <c:formatCode>0.0000</c:formatCode>
              <c:ptCount val="5"/>
              <c:pt idx="0">
                <c:v>4.0000000000000001E-3</c:v>
              </c:pt>
              <c:pt idx="1">
                <c:v>5.1000000000000004E-3</c:v>
              </c:pt>
              <c:pt idx="2">
                <c:v>6.7999999999999996E-3</c:v>
              </c:pt>
              <c:pt idx="3">
                <c:v>1.6799999999999999E-2</c:v>
              </c:pt>
              <c:pt idx="4">
                <c:v>3.1300000000000001E-2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35FE-584F-90D1-FA17954DBB10}"/>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425">
                <a:solidFill>
                  <a:srgbClr val="1B2A41"/>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3.7999999999999999E-2"/>
          <c:min val="0"/>
        </c:scaling>
        <c:delete val="0"/>
        <c:axPos val="b"/>
        <c:numFmt formatCode="0.0000" sourceLinked="1"/>
        <c:majorTickMark val="none"/>
        <c:minorTickMark val="none"/>
        <c:tickLblPos val="nextTo"/>
        <c:spPr>
          <a:ln w="9525">
            <a:solidFill>
              <a:srgbClr val="D4D4D4"/>
            </a:solidFill>
            <a:prstDash val="solid"/>
          </a:ln>
        </c:spPr>
        <c:txPr>
          <a:bodyPr anchorCtr="1"/>
          <a:lstStyle/>
          <a:p>
            <a:pPr>
              <a:defRPr sz="900">
                <a:solidFill>
                  <a:srgbClr val="6B7280"/>
                </a:solidFill>
                <a:latin typeface="Calibri"/>
                <a:ea typeface="Calibri"/>
                <a:cs typeface="Calibri"/>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25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Malorie</a:t>
            </a:r>
          </a:p>
          <a:p>
            <a:endParaRPr/>
          </a:p>
          <a:p>
            <a:r>
              <a:t>- Hi, we're Group 11. Our question: when a nonprofit gets a new donor, who will give again, and who might need a nudge to come back?</a:t>
            </a:r>
          </a:p>
          <a:p>
            <a:r>
              <a:t>- Disclosure: I founded GoGood Technologies, a donor engagement platform. Nonprofits like our stakeholder are GoGood's customers. That's why we picked this problem, so weigh what we say accordingly.</a:t>
            </a:r>
          </a:p>
          <a:p>
            <a:endParaRPr/>
          </a:p>
          <a:p>
            <a:r>
              <a:t>Contributors: whole team. Malorie proposed the topic; the team chose it by vote.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Malorie
- Through GoGood, I'm working with the Darden School Foundation. Alumni volunteers (class agents) reach out to classmates, each outreach gets logged, and we track whether it's followed by a gift.
- The goal is to learn whether outreach actually increases the chance someone gives again. Our class project can't answer that on its own: nobody in our data was randomly contacted. That's exactly why the Darden work matters, and we'll come back to it at the end.
- Why you should care: as Darden alumni, you'll be asked to give. Many of you will sit on boards or lead organizations that ask others for money. You'll be on both sides of this problem.
[Malorie: adjust the Darden details to what you're comfortable sharing publicly.]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B27D2-35F5-22D3-2CEA-C0E743761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36D93-C66B-D689-860D-03AA9F8B0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69EBD-FD0A-358F-E57F-5F981EEFA7BF}"/>
              </a:ext>
            </a:extLst>
          </p:cNvPr>
          <p:cNvSpPr>
            <a:spLocks noGrp="1"/>
          </p:cNvSpPr>
          <p:nvPr>
            <p:ph type="body" idx="1"/>
          </p:nvPr>
        </p:nvSpPr>
        <p:spPr/>
        <p:txBody>
          <a:bodyPr/>
          <a:lstStyle/>
          <a:p>
            <a:r>
              <a:rPr lang="en-US"/>
              <a:t>Suggested speaker: Malorie
- Through GoGood, I'm working with the Darden School Foundation. Alumni volunteers (class agents) reach out to classmates, each outreach gets logged, and we track whether it's followed by a gift.
- The goal is to learn whether outreach actually increases the chance someone gives again. Our class project can't answer that on its own: nobody in our data was randomly contacted. That's exactly why the Darden work matters, and we'll come back to it at the end.
- Why you should care: as Darden alumni, you'll be asked to give. Many of you will sit on boards or lead organizations that ask others for money. You'll be on both sides of this problem.
[Malorie: adjust the Darden details to what you're comfortable sharing publicly.]</a:t>
            </a:r>
          </a:p>
        </p:txBody>
      </p:sp>
      <p:sp>
        <p:nvSpPr>
          <p:cNvPr id="4" name="Slide Number Placeholder 3">
            <a:extLst>
              <a:ext uri="{FF2B5EF4-FFF2-40B4-BE49-F238E27FC236}">
                <a16:creationId xmlns:a16="http://schemas.microsoft.com/office/drawing/2014/main" id="{0189581B-1480-E817-85BB-B22EBCBC726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79694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Household participation fell from 66.2% in 2000 to 49.6% in 2018 to 46.9% in 2020. Fewer Americans give at all, and those who do give a smaller share of their income: individual giving is 1.7% of disposable personal income, against a peak of 2.4% in 2000 and 2005. For a small nonprofit, acquiring a new donor gets harder every year.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982CA-6CF3-55AF-5FA2-75534EEA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DC7B4-0897-655A-56DB-1F14538E6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92A27-DB8B-9A7F-15CF-126A78B458A3}"/>
              </a:ext>
            </a:extLst>
          </p:cNvPr>
          <p:cNvSpPr>
            <a:spLocks noGrp="1"/>
          </p:cNvSpPr>
          <p:nvPr>
            <p:ph type="body" idx="1"/>
          </p:nvPr>
        </p:nvSpPr>
        <p:spPr/>
        <p:txBody>
          <a:bodyPr/>
          <a:lstStyle/>
          <a:p>
            <a:r>
              <a:rPr lang="en-US"/>
              <a:t>Household participation fell from 66.2% in 2000 to 49.6% in 2018 to 46.9% in 2020. Fewer Americans give at all, and those who do give a smaller share of their income: individual giving is 1.7% of disposable personal income, against a peak of 2.4% in 2000 and 2005. For a small nonprofit, acquiring a new donor gets harder every year.</a:t>
            </a:r>
          </a:p>
        </p:txBody>
      </p:sp>
      <p:sp>
        <p:nvSpPr>
          <p:cNvPr id="4" name="Slide Number Placeholder 3">
            <a:extLst>
              <a:ext uri="{FF2B5EF4-FFF2-40B4-BE49-F238E27FC236}">
                <a16:creationId xmlns:a16="http://schemas.microsoft.com/office/drawing/2014/main" id="{45C84902-F0FD-3852-D623-59150E82DCA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69108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Total giving hit $617.2 billion in 2025, the first year above $600 billion and a record in current dollars. Adjusted for inflation it is the second-highest year on record, still short of the 2021 peak. Giving fell 10.5% in real terms in 2022 and another 2.1% in 2023. Where growth has come from: foundations now supply 19% of all giving, up from 7% in 1986-1990, while individuals have fallen from 80% to 64%. A nonprofit with no major-gift officer cannot reach any of that top-end growth.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Two-thirds of reporting public charities, about 212,000 organizations, operate on under $500,000 a year, and together they account for less than 2% of sector spending. The largest 5.4% of charities account for 88% of it. So the money is concentrated at the top and the organizations are concentrated at the bottom. Our stakeholder sits in that bottom two-thirds: no analyst, no major-gift officer, and the retention problem hits her hardest.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latin typeface="Calibri"/>
                <a:ea typeface="Calibri"/>
                <a:cs typeface="Calibri"/>
              </a:rPr>
              <a:t>Rodolfo</a:t>
            </a:r>
          </a:p>
        </p:txBody>
      </p:sp>
    </p:spTree>
    <p:extLst>
      <p:ext uri="{BB962C8B-B14F-4D97-AF65-F5344CB8AC3E}">
        <p14:creationId xmlns:p14="http://schemas.microsoft.com/office/powerpoint/2010/main" val="3630589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Rodolfo
- </a:t>
            </a:r>
            <a:r>
              <a:rPr lang="en-US" err="1"/>
              <a:t>DonorsChoose</a:t>
            </a:r>
            <a:r>
              <a:rPr lang="en-US"/>
              <a:t> is a site where teachers post classroom project requests and anyone can fund them.
- Public data from ICPSR (study 37898). Anyone can download it with a free account.
- Two files: Donations (11.4M rows) and Projects (2.1M rows). We used every row, no sampling. It all ran on a laptop.
- What we know about each first gift: amount, month, whether it was matched, paid with a gift card, or teacher-referred. Plus project details: school state, subject, grade, cost, and school poverty level.
- What we don't have: exact dates (month only), donor demographics, and the project essay text (hidden by ICPSR).
Contributors: Bakul (data pipeline), Reid (joining the project details).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6D58-B530-D6F0-F1A0-3DE45B4EF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2F673-4083-5C97-9042-416648C92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AF343F-66E2-CD80-165C-B47DF9E66FB9}"/>
              </a:ext>
            </a:extLst>
          </p:cNvPr>
          <p:cNvSpPr>
            <a:spLocks noGrp="1"/>
          </p:cNvSpPr>
          <p:nvPr>
            <p:ph type="body" idx="1"/>
          </p:nvPr>
        </p:nvSpPr>
        <p:spPr/>
        <p:txBody>
          <a:bodyPr/>
          <a:lstStyle/>
          <a:p>
            <a:r>
              <a:t>Suggested speaker: </a:t>
            </a:r>
            <a:r>
              <a:rPr lang="en-US" err="1"/>
              <a:t>Rodolf</a:t>
            </a:r>
            <a:endParaRPr lang="en-US"/>
          </a:p>
          <a:p>
            <a:endParaRPr/>
          </a:p>
          <a:p>
            <a:r>
              <a:t>- Meet our stakeholder: a development lead at a nonprofit with about a $500K budget and no data staff.</a:t>
            </a:r>
          </a:p>
          <a:p>
            <a:r>
              <a:t>- Of every 100 new individual donors, only about 13 give again within a year (12.6% in our 2017–18 test years).</a:t>
            </a:r>
          </a:p>
          <a:p>
            <a:r>
              <a:t>- Today, the outreach rep decides who gets personal attention by gift size.</a:t>
            </a:r>
          </a:p>
          <a:p>
            <a:r>
              <a:t>- Our first question: can data predict who gives again better than gift size?</a:t>
            </a:r>
          </a:p>
          <a:p>
            <a:r>
              <a:t>- Next slide: why predicting who gives isn't the whole answer.</a:t>
            </a:r>
          </a:p>
          <a:p>
            <a:endParaRPr/>
          </a:p>
          <a:p>
            <a:r>
              <a:t>Contributors: Malorie (stakeholder framing).</a:t>
            </a:r>
          </a:p>
        </p:txBody>
      </p:sp>
      <p:sp>
        <p:nvSpPr>
          <p:cNvPr id="4" name="Slide Number Placeholder 3">
            <a:extLst>
              <a:ext uri="{FF2B5EF4-FFF2-40B4-BE49-F238E27FC236}">
                <a16:creationId xmlns:a16="http://schemas.microsoft.com/office/drawing/2014/main" id="{0F553EAD-8401-6E4A-93A0-E43032742FF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77802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speaker: </a:t>
            </a:r>
            <a:r>
              <a:rPr lang="en-US"/>
              <a:t>Bakul</a:t>
            </a:r>
          </a:p>
          <a:p>
            <a:endParaRPr/>
          </a:p>
          <a:p>
            <a:r>
              <a:t>1. Check (Bakul): confirmed the same donor ID shows up across gifts. 25% of donors gave to more than one project, so we can actually track a second gift.</a:t>
            </a:r>
          </a:p>
          <a:p>
            <a:r>
              <a:t>2. Label (Bakul): for each donor, find their first gift month, then check: did they give again in the next 12 months? Extra gifts in the same month count as part of the first gift. Refunds removed. Donors whose 12 months weren't over by the end of 2019 were dropped, not counted as "no." Result: 3.28M first-time donors, 15.8% gave again.</a:t>
            </a:r>
          </a:p>
          <a:p>
            <a:r>
              <a:t>3. Split (Bakul): learn from older donors, test on newer ones. Next slide.</a:t>
            </a:r>
          </a:p>
          <a:p>
            <a:r>
              <a:t>4. Baseline (Bakul): the rule to beat is "biggest first gift first." For first-time donors, everyone has the same recency and frequency, so the classic RFM rule collapses to gift size. It's also what she does today. We also built a simple logistic regression as a floor ($119 per call).</a:t>
            </a:r>
          </a:p>
          <a:p>
            <a:r>
              <a:t>5. Model (Rodolfo, using Reid's project features): gradient boosting, which combines many small decision trees. Two parts: the chance a donor gives again, and how much if they do. Multiply them to get expected dollars per donor.</a:t>
            </a:r>
          </a:p>
          <a:p>
            <a:r>
              <a:t>6. Rank (Malorie and Bakul): sort donors by expected repeat dollars. The team also built a cost comparison (expected value vs. the cost of outreach), but the cost per contact is still a placeholder, and that math assumes outreach causes the gift, which we can't show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a:t>
            </a:r>
            <a:r>
              <a:rPr lang="en-US"/>
              <a:t>Bakul</a:t>
            </a:r>
          </a:p>
          <a:p>
            <a:endParaRPr/>
          </a:p>
          <a:p>
            <a:r>
              <a:t>- Everything the model sees is something the development lead would know the day the first gift arrives. That rule is what keeps it honest.</a:t>
            </a:r>
          </a:p>
          <a:p>
            <a:r>
              <a:t>- About the gift: amount, how many classrooms they funded in that first month, whether it was matched by a corporate partner, paid with a gift card, or referred by a teacher, and the month and year.</a:t>
            </a:r>
          </a:p>
          <a:p>
            <a:r>
              <a:t>- About the project they funded: school state, subject, grade, cost, students reached, school poverty level, and how long the project had been posted.</a:t>
            </a:r>
          </a:p>
          <a:p>
            <a:r>
              <a:t>- 19 inputs in total. The slide groups a few of them (for example, there are two cost fields and two subject fields).</a:t>
            </a:r>
          </a:p>
          <a:p>
            <a:r>
              <a:t>- Deliberately left out: the thank-you packet flag (no record of when it was sent), teacher ID (the model would just memorize specific teachers), anything that happened after the gift, and essay text (hidden in the public data).</a:t>
            </a:r>
          </a:p>
          <a:p>
            <a:endParaRPr/>
          </a:p>
          <a:p>
            <a:r>
              <a:t>Contributors: Rodolfo (model inputs), Reid (project details join), Bakul (donation-side inputs).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1895-3DC3-51C7-9FEE-A633503EF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7918E-BB60-A0EF-C28E-4FC52E802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252D09-3940-1B10-72E8-92960A358C1B}"/>
              </a:ext>
            </a:extLst>
          </p:cNvPr>
          <p:cNvSpPr>
            <a:spLocks noGrp="1"/>
          </p:cNvSpPr>
          <p:nvPr>
            <p:ph type="body" idx="1"/>
          </p:nvPr>
        </p:nvSpPr>
        <p:spPr/>
        <p:txBody>
          <a:bodyPr/>
          <a:lstStyle/>
          <a:p>
            <a:pPr marL="0" lvl="0" indent="0">
              <a:buFont typeface="Arial" panose="020B0604020202020204" pitchFamily="34" charset="0"/>
              <a:buNone/>
            </a:pPr>
            <a:r>
              <a:rPr lang="en-US"/>
              <a:t>Thadeus</a:t>
            </a:r>
          </a:p>
          <a:p>
            <a:pPr marL="0" lvl="0" indent="0">
              <a:buFont typeface="Arial" panose="020B0604020202020204" pitchFamily="34" charset="0"/>
              <a:buNone/>
            </a:pPr>
            <a:endParaRPr lang="en-US"/>
          </a:p>
          <a:p>
            <a:pPr marL="342900" lvl="0" indent="-342900">
              <a:buFont typeface="Arial" panose="020B0604020202020204" pitchFamily="34" charset="0"/>
              <a:buChar char="•"/>
            </a:pPr>
            <a:r>
              <a:rPr lang="en-US"/>
              <a:t>We use these gift and project inputs in </a:t>
            </a:r>
            <a:r>
              <a:rPr lang="en-US" b="1"/>
              <a:t>two models, each predicting something different</a:t>
            </a:r>
            <a:r>
              <a:rPr lang="en-US"/>
              <a:t>.</a:t>
            </a:r>
          </a:p>
          <a:p>
            <a:pPr marL="342900" lvl="0" indent="-342900">
              <a:buFont typeface="Arial" panose="020B0604020202020204" pitchFamily="34" charset="0"/>
              <a:buChar char="•"/>
            </a:pPr>
            <a:r>
              <a:rPr lang="en-US"/>
              <a:t>The first predicts </a:t>
            </a:r>
            <a:r>
              <a:rPr lang="en-US" b="1"/>
              <a:t>the chance of giving again within the next 12 months</a:t>
            </a:r>
            <a:r>
              <a:rPr lang="en-US"/>
              <a:t>. The second estimates </a:t>
            </a:r>
            <a:r>
              <a:rPr lang="en-US" b="1"/>
              <a:t>total giving during that period, if the donor returns</a:t>
            </a:r>
            <a:r>
              <a:rPr lang="en-US"/>
              <a:t>.</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To illustrate how this helps us prioritize donors for outreach, let’s look at </a:t>
            </a:r>
            <a:r>
              <a:rPr lang="en-US" b="1"/>
              <a:t>three fictional donors</a:t>
            </a:r>
            <a:r>
              <a:rPr lang="en-US"/>
              <a:t>.</a:t>
            </a:r>
          </a:p>
          <a:p>
            <a:pPr marL="342900" lvl="0" indent="-342900">
              <a:buFont typeface="Arial" panose="020B0604020202020204" pitchFamily="34" charset="0"/>
              <a:buChar char="•"/>
            </a:pPr>
            <a:r>
              <a:rPr lang="en-US"/>
              <a:t>The table shows their first-month giving, alongside example predictions from the two models: their return probability and giving amount if they return.</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This gives us </a:t>
            </a:r>
            <a:r>
              <a:rPr lang="en-US" b="1"/>
              <a:t>three ways to rank them</a:t>
            </a:r>
            <a:r>
              <a:rPr lang="en-US"/>
              <a:t>.</a:t>
            </a:r>
          </a:p>
          <a:p>
            <a:pPr marL="342900" lvl="0" indent="-342900">
              <a:buFont typeface="Arial" panose="020B0604020202020204" pitchFamily="34" charset="0"/>
              <a:buChar char="•"/>
            </a:pPr>
            <a:r>
              <a:rPr lang="en-US"/>
              <a:t>The </a:t>
            </a:r>
            <a:r>
              <a:rPr lang="en-US" b="1"/>
              <a:t>baseline needs no model</a:t>
            </a:r>
            <a:r>
              <a:rPr lang="en-US"/>
              <a:t>: simply select whoever gave the most in the first month. Here, that’s </a:t>
            </a:r>
            <a:r>
              <a:rPr lang="en-US" b="1"/>
              <a:t>A</a:t>
            </a:r>
            <a:r>
              <a:rPr lang="en-US"/>
              <a:t>.</a:t>
            </a:r>
          </a:p>
          <a:p>
            <a:pPr marL="342900" lvl="0" indent="-342900">
              <a:buFont typeface="Arial" panose="020B0604020202020204" pitchFamily="34" charset="0"/>
              <a:buChar char="•"/>
            </a:pPr>
            <a:r>
              <a:rPr lang="en-US"/>
              <a:t>Alternatively, we can select whoever is </a:t>
            </a:r>
            <a:r>
              <a:rPr lang="en-US" b="1"/>
              <a:t>most likely to return</a:t>
            </a:r>
            <a:r>
              <a:rPr lang="en-US"/>
              <a:t>. In this case, that’s </a:t>
            </a:r>
            <a:r>
              <a:rPr lang="en-US" b="1"/>
              <a:t>B</a:t>
            </a:r>
            <a:r>
              <a:rPr lang="en-US"/>
              <a:t>.</a:t>
            </a:r>
          </a:p>
          <a:p>
            <a:pPr marL="342900" lvl="0" indent="-342900">
              <a:buFont typeface="Arial" panose="020B0604020202020204" pitchFamily="34" charset="0"/>
              <a:buChar char="•"/>
            </a:pPr>
            <a:r>
              <a:rPr lang="en-US"/>
              <a:t>Finally, we can consider </a:t>
            </a:r>
            <a:r>
              <a:rPr lang="en-US" b="1"/>
              <a:t>both the chance of returning and the amount they might give</a:t>
            </a:r>
            <a:r>
              <a:rPr lang="en-US"/>
              <a:t>. Multiplying the two gives us a dollar-ranking score. Here, </a:t>
            </a:r>
            <a:r>
              <a:rPr lang="en-US" b="1"/>
              <a:t>C comes first.</a:t>
            </a:r>
          </a:p>
          <a:p>
            <a:pPr marL="342900" lvl="0" indent="-342900">
              <a:buFont typeface="Arial" panose="020B0604020202020204" pitchFamily="34" charset="0"/>
              <a:buChar char="•"/>
            </a:pPr>
            <a:endParaRPr lang="en-US" b="1"/>
          </a:p>
          <a:p>
            <a:pPr marL="342900" lvl="0" indent="-342900">
              <a:buFont typeface="Arial" panose="020B0604020202020204" pitchFamily="34" charset="0"/>
              <a:buChar char="•"/>
            </a:pPr>
            <a:r>
              <a:rPr lang="en-US" b="1"/>
              <a:t>Different objectives produce different lists. How do those lists perform on actual donors?</a:t>
            </a:r>
            <a:endParaRPr lang="en-US"/>
          </a:p>
          <a:p>
            <a:endParaRPr/>
          </a:p>
        </p:txBody>
      </p:sp>
      <p:sp>
        <p:nvSpPr>
          <p:cNvPr id="4" name="Slide Number Placeholder 3">
            <a:extLst>
              <a:ext uri="{FF2B5EF4-FFF2-40B4-BE49-F238E27FC236}">
                <a16:creationId xmlns:a16="http://schemas.microsoft.com/office/drawing/2014/main" id="{441627F8-5BCD-9482-F5D7-2030AE51138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22401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Thadeus</a:t>
            </a:r>
            <a:endParaRPr lang="en-US"/>
          </a:p>
          <a:p>
            <a:endParaRPr lang="en-US"/>
          </a:p>
          <a:p>
            <a:pPr marL="171450" indent="-171450">
              <a:buFont typeface="Arial" panose="020B0604020202020204" pitchFamily="34" charset="0"/>
              <a:buChar char="•"/>
            </a:pPr>
            <a:r>
              <a:rPr lang="en-US"/>
              <a:t>To see how these ranking methods perform, we applied them on our test data of about 800 thousand donors, </a:t>
            </a:r>
          </a:p>
          <a:p>
            <a:pPr marL="171450" indent="-171450">
              <a:buFont typeface="Arial" panose="020B0604020202020204" pitchFamily="34" charset="0"/>
              <a:buChar char="•"/>
            </a:pPr>
            <a:r>
              <a:rPr lang="en-US"/>
              <a:t>Then we looked at the top 10% of each ranking and compared them by: share of donors that return and the subsequent giving per donor</a:t>
            </a:r>
          </a:p>
          <a:p>
            <a:pPr marL="171450" lvl="0" indent="-171450">
              <a:buFont typeface="Arial" panose="020B0604020202020204" pitchFamily="34" charset="0"/>
              <a:buChar char="•"/>
            </a:pPr>
            <a:endParaRPr lang="en-US"/>
          </a:p>
          <a:p>
            <a:pPr marL="171450" lvl="0" indent="-171450">
              <a:buFont typeface="Arial" panose="020B0604020202020204" pitchFamily="34" charset="0"/>
              <a:buChar char="•"/>
            </a:pPr>
            <a:r>
              <a:rPr lang="en-US"/>
              <a:t>On the left, </a:t>
            </a:r>
            <a:r>
              <a:rPr lang="en-US" b="1"/>
              <a:t>probability ranking finds the most returners</a:t>
            </a:r>
            <a:r>
              <a:rPr lang="en-US"/>
              <a:t>: about 24 out of every 100 selected donors, compared with 20 for the gift-size baseline.</a:t>
            </a:r>
          </a:p>
          <a:p>
            <a:pPr marL="171450" lvl="0" indent="-171450">
              <a:buFont typeface="Arial" panose="020B0604020202020204" pitchFamily="34" charset="0"/>
              <a:buChar char="•"/>
            </a:pPr>
            <a:r>
              <a:rPr lang="en-US"/>
              <a:t>But finding more returners does not necessarily mean finding more dollars. On the right, </a:t>
            </a:r>
            <a:r>
              <a:rPr lang="en-US" b="1"/>
              <a:t>dollar ranking identifies the most giving</a:t>
            </a:r>
            <a:r>
              <a:rPr lang="en-US"/>
              <a:t>: about $120 per selected donor, versus $116 for the baseline.</a:t>
            </a:r>
          </a:p>
          <a:p>
            <a:pPr marL="171450" lvl="0" indent="-171450">
              <a:buFont typeface="Arial" panose="020B0604020202020204" pitchFamily="34" charset="0"/>
              <a:buChar char="•"/>
            </a:pPr>
            <a:r>
              <a:rPr lang="en-US"/>
              <a:t>That is a </a:t>
            </a:r>
            <a:r>
              <a:rPr lang="en-US" b="1"/>
              <a:t>$3.45 improvement, or 3%</a:t>
            </a:r>
            <a:r>
              <a:rPr lang="en-US"/>
              <a:t>. A modest gain over a strong simple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Thadeus</a:t>
            </a:r>
          </a:p>
          <a:p>
            <a:endParaRPr lang="de-DE"/>
          </a:p>
          <a:p>
            <a:pPr marL="342900" lvl="0" indent="-342900">
              <a:buFont typeface="Arial" panose="020B0604020202020204" pitchFamily="34" charset="0"/>
              <a:buChar char="•"/>
            </a:pPr>
            <a:r>
              <a:rPr lang="en-US"/>
              <a:t>Going back to our inputs, lets look at which information mattered most when predicting whether a donor would give again.</a:t>
            </a:r>
          </a:p>
          <a:p>
            <a:pPr marL="342900" lvl="0" indent="-342900">
              <a:buFont typeface="Arial" panose="020B0604020202020204" pitchFamily="34" charset="0"/>
              <a:buChar char="•"/>
            </a:pPr>
            <a:endParaRPr lang="en-US"/>
          </a:p>
          <a:p>
            <a:pPr marL="342900" lvl="0" indent="-342900">
              <a:buFont typeface="Arial" panose="020B0604020202020204" pitchFamily="34" charset="0"/>
              <a:buChar char="•"/>
            </a:pPr>
            <a:r>
              <a:rPr lang="en-US"/>
              <a:t>The two most important inputs are </a:t>
            </a:r>
            <a:r>
              <a:rPr lang="en-US" b="1"/>
              <a:t>how much they gave in the first month and how many gifts they made</a:t>
            </a:r>
            <a:r>
              <a:rPr lang="en-US"/>
              <a:t>.</a:t>
            </a:r>
          </a:p>
          <a:p>
            <a:pPr marL="342900" lvl="0" indent="-342900">
              <a:buFont typeface="Arial" panose="020B0604020202020204" pitchFamily="34" charset="0"/>
              <a:buChar char="•"/>
            </a:pPr>
            <a:r>
              <a:rPr lang="en-US"/>
              <a:t>Information about the projects they supported also helps, but plays a smaller role.</a:t>
            </a:r>
          </a:p>
          <a:p>
            <a:pPr marL="342900" lvl="0" indent="-342900">
              <a:buFont typeface="Arial" panose="020B0604020202020204" pitchFamily="34" charset="0"/>
              <a:buChar char="•"/>
            </a:pPr>
            <a:r>
              <a:rPr lang="en-US"/>
              <a:t>This helps explain why gift size alone was already a strong baseline. </a:t>
            </a:r>
            <a:endParaRPr lang="de-DE"/>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speaker: Reid
- The 80% "win": our first result looked amazing until we saw it was corporate matching programs. We kept both numbers and scored individuals only. One line in the config, reversible.
- Thank-you packet: the codebook doesn't say when it was mailed. If it was mailed after the second gift, it would leak the answer. Professor Albert pre-approved dropping it.
- Data size: our proposal asked about sampling because of file size. Reading the data in 1M-row chunks let us use every row on a laptop.
- Amount: the decision step first assumed every returner gives $50 (</a:t>
            </a:r>
            <a:r>
              <a:rPr lang="en-US" err="1"/>
              <a:t>DonorsChoose's</a:t>
            </a:r>
            <a:r>
              <a:rPr lang="en-US"/>
              <a:t> typical gift). That quietly turned "rank by expected dollars" back into "rank by probability." We switched to the model's own predicted amount per donor.
- Also: project essays are hidden in the public data, so text features were never an option.
Contributors: Bakul (integration), Rodolfo (amount model), Malorie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A4E4-23DE-DFC9-B37F-2EF0E3B651C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5E5DDEBC-8156-B108-B092-2026B1ABE8FC}"/>
              </a:ext>
            </a:extLst>
          </p:cNvPr>
          <p:cNvSpPr>
            <a:spLocks noGrp="1"/>
          </p:cNvSpPr>
          <p:nvPr>
            <p:ph type="body" idx="1"/>
          </p:nvPr>
        </p:nvSpPr>
        <p:spPr/>
        <p:txBody>
          <a:bodyPr/>
          <a:lstStyle/>
          <a:p>
            <a:r>
              <a:t>Suggested speaker: </a:t>
            </a:r>
            <a:r>
              <a:rPr lang="en-US"/>
              <a:t>Reid</a:t>
            </a:r>
            <a:endParaRPr/>
          </a:p>
          <a:p>
            <a:endParaRPr/>
          </a:p>
          <a:p>
            <a:r>
              <a:t>- 1. Does outreach cause the gift? Nobody in the data was randomly contacted, so we can't measure what outreach adds. Why it matters: without that, a nonprofit could spend its scarce staff time on donors who'd give anyway.</a:t>
            </a:r>
          </a:p>
          <a:p>
            <a:r>
              <a:t>- 2. Who was already followed up with? Phone calls, personal emails, and </a:t>
            </a:r>
            <a:r>
              <a:rPr err="1"/>
              <a:t>DonorsChoose's</a:t>
            </a:r>
            <a:r>
              <a:t> own marketing emails aren't in the data. Why it matters: some "gave again" may be because of follow-up we can't see. So our model predicts giving under business as usual, not giving "on their own."</a:t>
            </a:r>
          </a:p>
          <a:p>
            <a:r>
              <a:t>- 3. Does the thank-you packet work? It's the one follow-up recorded in our data, but the codebook doesn't say when it was sent, so we left it out of the model. Why it matters: it's the cheapest outreach there is. Next step: check whether packets went to donors above a gift-size cutoff. If so, comparing donors just above and just below that line is a near-experiment.</a:t>
            </a:r>
          </a:p>
          <a:p>
            <a:r>
              <a:t>- 4. Does this carry over? Our label counts a second gift to any classroom on </a:t>
            </a:r>
            <a:r>
              <a:rPr err="1"/>
              <a:t>DonorsChoose</a:t>
            </a:r>
            <a:r>
              <a:t>. A real nonprofit cares about a second gift to them. Next step: rerun with "same teacher or same school" as the label.</a:t>
            </a:r>
          </a:p>
          <a:p>
            <a:r>
              <a:t>- Also worth saying: our ranking is modest (AUC 0.60, where 0.5 is a coin flip), and a small number of big donors hold most of the repeat dollars, so averages can swing.</a:t>
            </a:r>
          </a:p>
        </p:txBody>
      </p:sp>
    </p:spTree>
    <p:extLst>
      <p:ext uri="{BB962C8B-B14F-4D97-AF65-F5344CB8AC3E}">
        <p14:creationId xmlns:p14="http://schemas.microsoft.com/office/powerpoint/2010/main" val="4021464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Suggested speaker: Malorie</a:t>
            </a:r>
          </a:p>
          <a:p>
            <a:endParaRPr/>
          </a:p>
          <a:p>
            <a:r>
              <a:t>- The way to find </a:t>
            </a:r>
            <a:r>
              <a:rPr lang="en-US" err="1"/>
              <a:t>persuadables</a:t>
            </a:r>
            <a:r>
              <a:t> is a randomized test.</a:t>
            </a:r>
          </a:p>
          <a:p>
            <a:r>
              <a:t>- 1. Score donors with the model, so we know who's likely to give anyway.</a:t>
            </a:r>
          </a:p>
          <a:p>
            <a:r>
              <a:t>- 2. Within each score group (high, medium, low), randomly split donors into two groups.</a:t>
            </a:r>
          </a:p>
          <a:p>
            <a:r>
              <a:t>- 3. Class agents reach out to one group first; the other gets business as usual. Randomizing timing (early vs. later outreach) means no one is left out.</a:t>
            </a:r>
          </a:p>
          <a:p>
            <a:r>
              <a:t>- 4. Compare giving between the two groups. The difference is what outreach actually adds, and we see it separately for each score group. That tells us where the </a:t>
            </a:r>
            <a:r>
              <a:rPr lang="en-US" err="1"/>
              <a:t>persuadables</a:t>
            </a:r>
            <a:r>
              <a:t> are.</a:t>
            </a:r>
          </a:p>
          <a:p>
            <a:r>
              <a:t>- What we'd test maps to the psychology from the start: personal outreach (connection), a personal thank-you (gratitude and reciprocity), and an impact update (seeing what your gift did).</a:t>
            </a:r>
          </a:p>
          <a:p>
            <a:r>
              <a:t>- Before the pilot, we can already test the thank-you packet in the </a:t>
            </a:r>
            <a:r>
              <a:rPr lang="en-US" err="1"/>
              <a:t>DonorsChoose</a:t>
            </a:r>
            <a:r>
              <a:t> data.</a:t>
            </a:r>
          </a:p>
          <a:p>
            <a:r>
              <a:t>- This builds on the outreach logging </a:t>
            </a:r>
            <a:r>
              <a:rPr lang="en-US" err="1"/>
              <a:t>GoGood</a:t>
            </a:r>
            <a:r>
              <a:t> is doing with the Darden School Foundation.</a:t>
            </a:r>
          </a:p>
          <a:p>
            <a:endParaRPr/>
          </a:p>
          <a:p>
            <a:r>
              <a:t>[Malorie: adjust the pilot details to what's planned and shareable.]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E88E581-77C0-3281-60E6-C77D74F3A806}"/>
              </a:ext>
            </a:extLst>
          </p:cNvPr>
          <p:cNvGraphicFramePr>
            <a:graphicFrameLocks/>
          </p:cNvGraphicFramePr>
          <p:nvPr userDrawn="1">
            <p:custDataLst>
              <p:tags r:id="rId3"/>
            </p:custDataLst>
            <p:extLst>
              <p:ext uri="{D42A27DB-BD31-4B8C-83A1-F6EECF244321}">
                <p14:modId xmlns:p14="http://schemas.microsoft.com/office/powerpoint/2010/main" val="15612687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60" imgH="645" progId="TCLayout.ActiveDocument.1">
                  <p:embed/>
                </p:oleObj>
              </mc:Choice>
              <mc:Fallback>
                <p:oleObj name="thinkcell Slide" r:id="rId4" imgW="660" imgH="645" progId="TCLayout.ActiveDocument.1">
                  <p:embed/>
                  <p:pic>
                    <p:nvPicPr>
                      <p:cNvPr id="2" name="thinkcell data - do not delete" hidden="1">
                        <a:extLst>
                          <a:ext uri="{FF2B5EF4-FFF2-40B4-BE49-F238E27FC236}">
                            <a16:creationId xmlns:a16="http://schemas.microsoft.com/office/drawing/2014/main" id="{BE88E581-77C0-3281-60E6-C77D74F3A80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31.png"/><Relationship Id="rId9"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a:effectLst/>
      </p:bgPr>
    </p:bg>
    <p:spTree>
      <p:nvGrpSpPr>
        <p:cNvPr id="1" name=""/>
        <p:cNvGrpSpPr/>
        <p:nvPr/>
      </p:nvGrpSpPr>
      <p:grpSpPr>
        <a:xfrm>
          <a:off x="0" y="0"/>
          <a:ext cx="0" cy="0"/>
          <a:chOff x="0" y="0"/>
          <a:chExt cx="0" cy="0"/>
        </a:xfrm>
      </p:grpSpPr>
      <p:sp>
        <p:nvSpPr>
          <p:cNvPr id="2" name="Text 0"/>
          <p:cNvSpPr txBox="1"/>
          <p:nvPr/>
        </p:nvSpPr>
        <p:spPr>
          <a:xfrm>
            <a:off x="548640" y="3935307"/>
            <a:ext cx="4572000" cy="274320"/>
          </a:xfrm>
          <a:prstGeom prst="rect">
            <a:avLst/>
          </a:prstGeom>
          <a:noFill/>
          <a:ln/>
        </p:spPr>
        <p:txBody>
          <a:bodyPr wrap="square" lIns="0" tIns="0" rIns="0" bIns="0" rtlCol="0" anchor="ctr"/>
          <a:lstStyle/>
          <a:p>
            <a:pPr marL="0" indent="0">
              <a:buNone/>
            </a:pPr>
            <a:r>
              <a:rPr lang="en-US" sz="1200" b="1" kern="0" spc="300">
                <a:solidFill>
                  <a:srgbClr val="E4572E"/>
                </a:solidFill>
                <a:latin typeface="Calibri" pitchFamily="34" charset="0"/>
                <a:ea typeface="Calibri" pitchFamily="34" charset="-122"/>
                <a:cs typeface="Calibri" pitchFamily="34" charset="-120"/>
              </a:rPr>
              <a:t>GBUS 8496  ·  GROUP 11</a:t>
            </a:r>
            <a:endParaRPr lang="en-US" sz="1200"/>
          </a:p>
        </p:txBody>
      </p:sp>
      <p:sp>
        <p:nvSpPr>
          <p:cNvPr id="3" name="Text 1"/>
          <p:cNvSpPr txBox="1"/>
          <p:nvPr/>
        </p:nvSpPr>
        <p:spPr>
          <a:xfrm>
            <a:off x="548640" y="1325880"/>
            <a:ext cx="5669280" cy="1371600"/>
          </a:xfrm>
          <a:prstGeom prst="rect">
            <a:avLst/>
          </a:prstGeom>
          <a:noFill/>
          <a:ln/>
        </p:spPr>
        <p:txBody>
          <a:bodyPr wrap="square" lIns="0" tIns="0" rIns="0" bIns="0" rtlCol="0" anchor="ctr"/>
          <a:lstStyle/>
          <a:p>
            <a:pPr marL="0" indent="0">
              <a:buNone/>
            </a:pPr>
            <a:r>
              <a:rPr lang="en-US" sz="4400" b="1">
                <a:solidFill>
                  <a:srgbClr val="FFFFFF"/>
                </a:solidFill>
                <a:latin typeface="Cambria"/>
                <a:ea typeface="Cambria"/>
                <a:cs typeface="Cambria" pitchFamily="34" charset="-120"/>
              </a:rPr>
              <a:t>Predicting Giving</a:t>
            </a:r>
            <a:endParaRPr lang="en-US" sz="4400"/>
          </a:p>
        </p:txBody>
      </p:sp>
      <p:sp>
        <p:nvSpPr>
          <p:cNvPr id="5" name="Text 3"/>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200">
                <a:solidFill>
                  <a:srgbClr val="9AA5B8"/>
                </a:solidFill>
                <a:latin typeface="Calibri" pitchFamily="34" charset="0"/>
                <a:ea typeface="Calibri" pitchFamily="34" charset="-122"/>
                <a:cs typeface="Calibri" pitchFamily="34" charset="-120"/>
              </a:rPr>
              <a:t>Malorie Black · Reid Jacobson · Thadeus Knospe · Rodolfo Perez-Cortes Manrique · Bakul Badwal</a:t>
            </a:r>
            <a:endParaRPr lang="en-US" sz="1200"/>
          </a:p>
        </p:txBody>
      </p:sp>
      <p:sp>
        <p:nvSpPr>
          <p:cNvPr id="6" name="Shape 4"/>
          <p:cNvSpPr/>
          <p:nvPr/>
        </p:nvSpPr>
        <p:spPr>
          <a:xfrm>
            <a:off x="6492240" y="1234440"/>
            <a:ext cx="2011680" cy="2011680"/>
          </a:xfrm>
          <a:prstGeom prst="ellipse">
            <a:avLst/>
          </a:prstGeom>
          <a:solidFill>
            <a:srgbClr val="E4572E"/>
          </a:solidFill>
          <a:ln w="12700">
            <a:solidFill>
              <a:srgbClr val="E4572E"/>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995160" y="1737360"/>
            <a:ext cx="1005840" cy="1005840"/>
          </a:xfrm>
          <a:prstGeom prst="rect">
            <a:avLst/>
          </a:prstGeom>
        </p:spPr>
      </p:pic>
    </p:spTree>
    <p:extLst>
      <p:ext uri="{BB962C8B-B14F-4D97-AF65-F5344CB8AC3E}">
        <p14:creationId xmlns:p14="http://schemas.microsoft.com/office/powerpoint/2010/main" val="121016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Why this matters to us</a:t>
            </a:r>
            <a:endParaRPr lang="en-US" sz="3000"/>
          </a:p>
        </p:txBody>
      </p:sp>
      <p:sp>
        <p:nvSpPr>
          <p:cNvPr id="3" name="Text 1"/>
          <p:cNvSpPr txBox="1"/>
          <p:nvPr/>
        </p:nvSpPr>
        <p:spPr>
          <a:xfrm>
            <a:off x="1052406" y="1593427"/>
            <a:ext cx="3412067" cy="391159"/>
          </a:xfrm>
          <a:prstGeom prst="rect">
            <a:avLst/>
          </a:prstGeom>
          <a:noFill/>
          <a:ln/>
        </p:spPr>
        <p:txBody>
          <a:bodyPr wrap="square" lIns="0" tIns="0" rIns="0" bIns="0" rtlCol="0" anchor="ctr"/>
          <a:lstStyle/>
          <a:p>
            <a:pPr marL="0" indent="0">
              <a:buNone/>
            </a:pPr>
            <a:r>
              <a:rPr lang="en-US" sz="1600" b="1">
                <a:solidFill>
                  <a:srgbClr val="E4572E"/>
                </a:solidFill>
                <a:latin typeface="Calibri" pitchFamily="34" charset="0"/>
                <a:ea typeface="Calibri" pitchFamily="34" charset="-122"/>
                <a:cs typeface="Calibri" pitchFamily="34" charset="-120"/>
              </a:rPr>
              <a:t>GoGood × Darden School Foundation</a:t>
            </a:r>
            <a:endParaRPr lang="en-US" sz="1600"/>
          </a:p>
        </p:txBody>
      </p:sp>
      <p:sp>
        <p:nvSpPr>
          <p:cNvPr id="4" name="Shape 2"/>
          <p:cNvSpPr/>
          <p:nvPr/>
        </p:nvSpPr>
        <p:spPr>
          <a:xfrm>
            <a:off x="7230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40223" y="2417657"/>
            <a:ext cx="434340" cy="434340"/>
          </a:xfrm>
          <a:prstGeom prst="rect">
            <a:avLst/>
          </a:prstGeom>
        </p:spPr>
      </p:pic>
      <p:sp>
        <p:nvSpPr>
          <p:cNvPr id="6" name="Text 3"/>
          <p:cNvSpPr txBox="1"/>
          <p:nvPr/>
        </p:nvSpPr>
        <p:spPr>
          <a:xfrm>
            <a:off x="4258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Alumni agents reach out</a:t>
            </a:r>
            <a:endParaRPr lang="en-US" sz="1300"/>
          </a:p>
        </p:txBody>
      </p:sp>
      <p:sp>
        <p:nvSpPr>
          <p:cNvPr id="7" name="Shape 4"/>
          <p:cNvSpPr/>
          <p:nvPr/>
        </p:nvSpPr>
        <p:spPr>
          <a:xfrm>
            <a:off x="1683173" y="2634827"/>
            <a:ext cx="502920" cy="0"/>
          </a:xfrm>
          <a:prstGeom prst="line">
            <a:avLst/>
          </a:prstGeom>
          <a:noFill/>
          <a:ln w="19050">
            <a:solidFill>
              <a:srgbClr val="6B7280"/>
            </a:solidFill>
            <a:prstDash val="solid"/>
            <a:tailEnd type="triangle"/>
          </a:ln>
        </p:spPr>
        <p:txBody>
          <a:bodyPr/>
          <a:lstStyle/>
          <a:p>
            <a:endParaRPr lang="en-US"/>
          </a:p>
        </p:txBody>
      </p:sp>
      <p:sp>
        <p:nvSpPr>
          <p:cNvPr id="8" name="Shape 5"/>
          <p:cNvSpPr/>
          <p:nvPr/>
        </p:nvSpPr>
        <p:spPr>
          <a:xfrm>
            <a:off x="23232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2540423" y="2417657"/>
            <a:ext cx="434340" cy="434340"/>
          </a:xfrm>
          <a:prstGeom prst="rect">
            <a:avLst/>
          </a:prstGeom>
        </p:spPr>
      </p:pic>
      <p:sp>
        <p:nvSpPr>
          <p:cNvPr id="10" name="Text 6"/>
          <p:cNvSpPr txBox="1"/>
          <p:nvPr/>
        </p:nvSpPr>
        <p:spPr>
          <a:xfrm>
            <a:off x="20260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Each outreach logged</a:t>
            </a:r>
            <a:endParaRPr lang="en-US" sz="1300"/>
          </a:p>
        </p:txBody>
      </p:sp>
      <p:sp>
        <p:nvSpPr>
          <p:cNvPr id="11" name="Shape 7"/>
          <p:cNvSpPr/>
          <p:nvPr/>
        </p:nvSpPr>
        <p:spPr>
          <a:xfrm>
            <a:off x="3283373" y="2634827"/>
            <a:ext cx="502920" cy="0"/>
          </a:xfrm>
          <a:prstGeom prst="line">
            <a:avLst/>
          </a:prstGeom>
          <a:noFill/>
          <a:ln w="19050">
            <a:solidFill>
              <a:srgbClr val="6B7280"/>
            </a:solidFill>
            <a:prstDash val="solid"/>
            <a:tailEnd type="triangle"/>
          </a:ln>
        </p:spPr>
        <p:txBody>
          <a:bodyPr/>
          <a:lstStyle/>
          <a:p>
            <a:endParaRPr lang="en-US"/>
          </a:p>
        </p:txBody>
      </p:sp>
      <p:sp>
        <p:nvSpPr>
          <p:cNvPr id="12" name="Shape 8"/>
          <p:cNvSpPr/>
          <p:nvPr/>
        </p:nvSpPr>
        <p:spPr>
          <a:xfrm>
            <a:off x="3923453" y="2200487"/>
            <a:ext cx="868680" cy="868680"/>
          </a:xfrm>
          <a:prstGeom prst="ellipse">
            <a:avLst/>
          </a:prstGeom>
          <a:solidFill>
            <a:srgbClr val="E4572E"/>
          </a:solidFill>
          <a:ln w="12700">
            <a:solidFill>
              <a:srgbClr val="E4572E"/>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4140623" y="2417657"/>
            <a:ext cx="434340" cy="434340"/>
          </a:xfrm>
          <a:prstGeom prst="rect">
            <a:avLst/>
          </a:prstGeom>
        </p:spPr>
      </p:pic>
      <p:sp>
        <p:nvSpPr>
          <p:cNvPr id="14" name="Text 9"/>
          <p:cNvSpPr txBox="1"/>
          <p:nvPr/>
        </p:nvSpPr>
        <p:spPr>
          <a:xfrm>
            <a:off x="36262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Did they give again?</a:t>
            </a:r>
            <a:endParaRPr lang="en-US" sz="1300"/>
          </a:p>
        </p:txBody>
      </p:sp>
    </p:spTree>
    <p:extLst>
      <p:ext uri="{BB962C8B-B14F-4D97-AF65-F5344CB8AC3E}">
        <p14:creationId xmlns:p14="http://schemas.microsoft.com/office/powerpoint/2010/main" val="343429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F6D10-53EC-ADB9-6B96-93E80C34EBC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6F4B03-4E12-5BE8-814F-B5E0B0FD9646}"/>
              </a:ext>
            </a:extLst>
          </p:cNvPr>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Why this matters to us</a:t>
            </a:r>
            <a:endParaRPr lang="en-US" sz="3000"/>
          </a:p>
        </p:txBody>
      </p:sp>
      <p:sp>
        <p:nvSpPr>
          <p:cNvPr id="3" name="Text 1">
            <a:extLst>
              <a:ext uri="{FF2B5EF4-FFF2-40B4-BE49-F238E27FC236}">
                <a16:creationId xmlns:a16="http://schemas.microsoft.com/office/drawing/2014/main" id="{74BCCA9F-DB37-B4EE-3ABB-472691346770}"/>
              </a:ext>
            </a:extLst>
          </p:cNvPr>
          <p:cNvSpPr txBox="1"/>
          <p:nvPr/>
        </p:nvSpPr>
        <p:spPr>
          <a:xfrm>
            <a:off x="1052406" y="1593427"/>
            <a:ext cx="3412067" cy="391159"/>
          </a:xfrm>
          <a:prstGeom prst="rect">
            <a:avLst/>
          </a:prstGeom>
          <a:noFill/>
          <a:ln/>
        </p:spPr>
        <p:txBody>
          <a:bodyPr wrap="square" lIns="0" tIns="0" rIns="0" bIns="0" rtlCol="0" anchor="ctr"/>
          <a:lstStyle/>
          <a:p>
            <a:pPr marL="0" indent="0">
              <a:buNone/>
            </a:pPr>
            <a:r>
              <a:rPr lang="en-US" sz="1600" b="1">
                <a:solidFill>
                  <a:srgbClr val="E4572E"/>
                </a:solidFill>
                <a:latin typeface="Calibri" pitchFamily="34" charset="0"/>
                <a:ea typeface="Calibri" pitchFamily="34" charset="-122"/>
                <a:cs typeface="Calibri" pitchFamily="34" charset="-120"/>
              </a:rPr>
              <a:t>GoGood × Darden School Foundation</a:t>
            </a:r>
            <a:endParaRPr lang="en-US" sz="1600"/>
          </a:p>
        </p:txBody>
      </p:sp>
      <p:sp>
        <p:nvSpPr>
          <p:cNvPr id="4" name="Shape 2">
            <a:extLst>
              <a:ext uri="{FF2B5EF4-FFF2-40B4-BE49-F238E27FC236}">
                <a16:creationId xmlns:a16="http://schemas.microsoft.com/office/drawing/2014/main" id="{589331E5-6354-E52C-47A2-BB2098DC72F5}"/>
              </a:ext>
            </a:extLst>
          </p:cNvPr>
          <p:cNvSpPr/>
          <p:nvPr/>
        </p:nvSpPr>
        <p:spPr>
          <a:xfrm>
            <a:off x="7230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a:extLst>
              <a:ext uri="{FF2B5EF4-FFF2-40B4-BE49-F238E27FC236}">
                <a16:creationId xmlns:a16="http://schemas.microsoft.com/office/drawing/2014/main" id="{90E72D33-C3F0-DAAC-D4B7-6262D5542F17}"/>
              </a:ext>
            </a:extLst>
          </p:cNvPr>
          <p:cNvPicPr>
            <a:picLocks noChangeAspect="1"/>
          </p:cNvPicPr>
          <p:nvPr/>
        </p:nvPicPr>
        <p:blipFill>
          <a:blip r:embed="rId3"/>
          <a:stretch>
            <a:fillRect/>
          </a:stretch>
        </p:blipFill>
        <p:spPr>
          <a:xfrm>
            <a:off x="940223" y="2417657"/>
            <a:ext cx="434340" cy="434340"/>
          </a:xfrm>
          <a:prstGeom prst="rect">
            <a:avLst/>
          </a:prstGeom>
        </p:spPr>
      </p:pic>
      <p:sp>
        <p:nvSpPr>
          <p:cNvPr id="6" name="Text 3">
            <a:extLst>
              <a:ext uri="{FF2B5EF4-FFF2-40B4-BE49-F238E27FC236}">
                <a16:creationId xmlns:a16="http://schemas.microsoft.com/office/drawing/2014/main" id="{7ED9CA4B-71AA-8EB5-1E94-097A75BC8EDA}"/>
              </a:ext>
            </a:extLst>
          </p:cNvPr>
          <p:cNvSpPr txBox="1"/>
          <p:nvPr/>
        </p:nvSpPr>
        <p:spPr>
          <a:xfrm>
            <a:off x="4258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Alumni agents reach out</a:t>
            </a:r>
            <a:endParaRPr lang="en-US" sz="1300"/>
          </a:p>
        </p:txBody>
      </p:sp>
      <p:sp>
        <p:nvSpPr>
          <p:cNvPr id="7" name="Shape 4">
            <a:extLst>
              <a:ext uri="{FF2B5EF4-FFF2-40B4-BE49-F238E27FC236}">
                <a16:creationId xmlns:a16="http://schemas.microsoft.com/office/drawing/2014/main" id="{5D6FB5C3-0624-86A5-1BB5-90464DE7DE53}"/>
              </a:ext>
            </a:extLst>
          </p:cNvPr>
          <p:cNvSpPr/>
          <p:nvPr/>
        </p:nvSpPr>
        <p:spPr>
          <a:xfrm>
            <a:off x="1683173" y="2634827"/>
            <a:ext cx="502920" cy="0"/>
          </a:xfrm>
          <a:prstGeom prst="line">
            <a:avLst/>
          </a:prstGeom>
          <a:noFill/>
          <a:ln w="19050">
            <a:solidFill>
              <a:srgbClr val="6B7280"/>
            </a:solidFill>
            <a:prstDash val="solid"/>
            <a:tailEnd type="triangle"/>
          </a:ln>
        </p:spPr>
        <p:txBody>
          <a:bodyPr/>
          <a:lstStyle/>
          <a:p>
            <a:endParaRPr lang="en-US"/>
          </a:p>
        </p:txBody>
      </p:sp>
      <p:sp>
        <p:nvSpPr>
          <p:cNvPr id="8" name="Shape 5">
            <a:extLst>
              <a:ext uri="{FF2B5EF4-FFF2-40B4-BE49-F238E27FC236}">
                <a16:creationId xmlns:a16="http://schemas.microsoft.com/office/drawing/2014/main" id="{0A4991DD-4949-CB3E-EB43-884822B594A2}"/>
              </a:ext>
            </a:extLst>
          </p:cNvPr>
          <p:cNvSpPr/>
          <p:nvPr/>
        </p:nvSpPr>
        <p:spPr>
          <a:xfrm>
            <a:off x="2323253" y="2200487"/>
            <a:ext cx="868680" cy="86868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a:extLst>
              <a:ext uri="{FF2B5EF4-FFF2-40B4-BE49-F238E27FC236}">
                <a16:creationId xmlns:a16="http://schemas.microsoft.com/office/drawing/2014/main" id="{079B755C-B471-963F-6F9B-960DCF4B4D87}"/>
              </a:ext>
            </a:extLst>
          </p:cNvPr>
          <p:cNvPicPr>
            <a:picLocks noChangeAspect="1"/>
          </p:cNvPicPr>
          <p:nvPr/>
        </p:nvPicPr>
        <p:blipFill>
          <a:blip r:embed="rId4"/>
          <a:stretch>
            <a:fillRect/>
          </a:stretch>
        </p:blipFill>
        <p:spPr>
          <a:xfrm>
            <a:off x="2540423" y="2417657"/>
            <a:ext cx="434340" cy="434340"/>
          </a:xfrm>
          <a:prstGeom prst="rect">
            <a:avLst/>
          </a:prstGeom>
        </p:spPr>
      </p:pic>
      <p:sp>
        <p:nvSpPr>
          <p:cNvPr id="10" name="Text 6">
            <a:extLst>
              <a:ext uri="{FF2B5EF4-FFF2-40B4-BE49-F238E27FC236}">
                <a16:creationId xmlns:a16="http://schemas.microsoft.com/office/drawing/2014/main" id="{F08598C6-E90E-2FCB-9AAD-3160616E604B}"/>
              </a:ext>
            </a:extLst>
          </p:cNvPr>
          <p:cNvSpPr txBox="1"/>
          <p:nvPr/>
        </p:nvSpPr>
        <p:spPr>
          <a:xfrm>
            <a:off x="20260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Each outreach logged</a:t>
            </a:r>
            <a:endParaRPr lang="en-US" sz="1300"/>
          </a:p>
        </p:txBody>
      </p:sp>
      <p:sp>
        <p:nvSpPr>
          <p:cNvPr id="11" name="Shape 7">
            <a:extLst>
              <a:ext uri="{FF2B5EF4-FFF2-40B4-BE49-F238E27FC236}">
                <a16:creationId xmlns:a16="http://schemas.microsoft.com/office/drawing/2014/main" id="{2E1F77F9-978A-03FD-9274-F766291C06CB}"/>
              </a:ext>
            </a:extLst>
          </p:cNvPr>
          <p:cNvSpPr/>
          <p:nvPr/>
        </p:nvSpPr>
        <p:spPr>
          <a:xfrm>
            <a:off x="3283373" y="2634827"/>
            <a:ext cx="502920" cy="0"/>
          </a:xfrm>
          <a:prstGeom prst="line">
            <a:avLst/>
          </a:prstGeom>
          <a:noFill/>
          <a:ln w="19050">
            <a:solidFill>
              <a:srgbClr val="6B7280"/>
            </a:solidFill>
            <a:prstDash val="solid"/>
            <a:tailEnd type="triangle"/>
          </a:ln>
        </p:spPr>
        <p:txBody>
          <a:bodyPr/>
          <a:lstStyle/>
          <a:p>
            <a:endParaRPr lang="en-US"/>
          </a:p>
        </p:txBody>
      </p:sp>
      <p:sp>
        <p:nvSpPr>
          <p:cNvPr id="12" name="Shape 8">
            <a:extLst>
              <a:ext uri="{FF2B5EF4-FFF2-40B4-BE49-F238E27FC236}">
                <a16:creationId xmlns:a16="http://schemas.microsoft.com/office/drawing/2014/main" id="{BE97451E-0307-45E0-E36C-F0E126508E02}"/>
              </a:ext>
            </a:extLst>
          </p:cNvPr>
          <p:cNvSpPr/>
          <p:nvPr/>
        </p:nvSpPr>
        <p:spPr>
          <a:xfrm>
            <a:off x="3923453" y="2200487"/>
            <a:ext cx="868680" cy="868680"/>
          </a:xfrm>
          <a:prstGeom prst="ellipse">
            <a:avLst/>
          </a:prstGeom>
          <a:solidFill>
            <a:srgbClr val="E4572E"/>
          </a:solidFill>
          <a:ln w="12700">
            <a:solidFill>
              <a:srgbClr val="E4572E"/>
            </a:solidFill>
            <a:prstDash val="solid"/>
          </a:ln>
        </p:spPr>
        <p:txBody>
          <a:bodyPr/>
          <a:lstStyle/>
          <a:p>
            <a:endParaRPr lang="en-US"/>
          </a:p>
        </p:txBody>
      </p:sp>
      <p:pic>
        <p:nvPicPr>
          <p:cNvPr id="13" name="Image 2" descr="preencoded.png">
            <a:extLst>
              <a:ext uri="{FF2B5EF4-FFF2-40B4-BE49-F238E27FC236}">
                <a16:creationId xmlns:a16="http://schemas.microsoft.com/office/drawing/2014/main" id="{9F971C5E-FF2D-9941-ECDB-AA27DDBFDB50}"/>
              </a:ext>
            </a:extLst>
          </p:cNvPr>
          <p:cNvPicPr>
            <a:picLocks noChangeAspect="1"/>
          </p:cNvPicPr>
          <p:nvPr/>
        </p:nvPicPr>
        <p:blipFill>
          <a:blip r:embed="rId5"/>
          <a:stretch>
            <a:fillRect/>
          </a:stretch>
        </p:blipFill>
        <p:spPr>
          <a:xfrm>
            <a:off x="4140623" y="2417657"/>
            <a:ext cx="434340" cy="434340"/>
          </a:xfrm>
          <a:prstGeom prst="rect">
            <a:avLst/>
          </a:prstGeom>
        </p:spPr>
      </p:pic>
      <p:sp>
        <p:nvSpPr>
          <p:cNvPr id="14" name="Text 9">
            <a:extLst>
              <a:ext uri="{FF2B5EF4-FFF2-40B4-BE49-F238E27FC236}">
                <a16:creationId xmlns:a16="http://schemas.microsoft.com/office/drawing/2014/main" id="{9125BCC5-C2CE-89E0-2187-8D89608CD616}"/>
              </a:ext>
            </a:extLst>
          </p:cNvPr>
          <p:cNvSpPr txBox="1"/>
          <p:nvPr/>
        </p:nvSpPr>
        <p:spPr>
          <a:xfrm>
            <a:off x="3626273" y="3206327"/>
            <a:ext cx="1463040" cy="548640"/>
          </a:xfrm>
          <a:prstGeom prst="rect">
            <a:avLst/>
          </a:prstGeom>
          <a:noFill/>
          <a:ln/>
        </p:spPr>
        <p:txBody>
          <a:bodyPr wrap="square" lIns="0" tIns="0" rIns="0" bIns="0" rtlCol="0" anchor="t"/>
          <a:lstStyle/>
          <a:p>
            <a:pPr marL="0" indent="0" algn="ctr">
              <a:buNone/>
            </a:pPr>
            <a:r>
              <a:rPr lang="en-US" sz="1300">
                <a:solidFill>
                  <a:srgbClr val="1B2A41"/>
                </a:solidFill>
                <a:latin typeface="Calibri" pitchFamily="34" charset="0"/>
                <a:ea typeface="Calibri" pitchFamily="34" charset="-122"/>
                <a:cs typeface="Calibri" pitchFamily="34" charset="-120"/>
              </a:rPr>
              <a:t>Did they give again?</a:t>
            </a:r>
            <a:endParaRPr lang="en-US" sz="1300"/>
          </a:p>
        </p:txBody>
      </p:sp>
      <p:sp>
        <p:nvSpPr>
          <p:cNvPr id="16" name="Shape 11">
            <a:extLst>
              <a:ext uri="{FF2B5EF4-FFF2-40B4-BE49-F238E27FC236}">
                <a16:creationId xmlns:a16="http://schemas.microsoft.com/office/drawing/2014/main" id="{4E68798C-18F9-CF7B-BAC9-6FB899EBF079}"/>
              </a:ext>
            </a:extLst>
          </p:cNvPr>
          <p:cNvSpPr/>
          <p:nvPr/>
        </p:nvSpPr>
        <p:spPr>
          <a:xfrm>
            <a:off x="5303520" y="1005840"/>
            <a:ext cx="3291840" cy="3429000"/>
          </a:xfrm>
          <a:prstGeom prst="roundRect">
            <a:avLst>
              <a:gd name="adj" fmla="val 2222"/>
            </a:avLst>
          </a:prstGeom>
          <a:solidFill>
            <a:srgbClr val="F1F3F5"/>
          </a:solidFill>
          <a:ln w="12700">
            <a:solidFill>
              <a:srgbClr val="F1F3F5"/>
            </a:solidFill>
            <a:prstDash val="solid"/>
          </a:ln>
        </p:spPr>
        <p:txBody>
          <a:bodyPr/>
          <a:lstStyle/>
          <a:p>
            <a:endParaRPr lang="en-US"/>
          </a:p>
        </p:txBody>
      </p:sp>
      <p:sp>
        <p:nvSpPr>
          <p:cNvPr id="17" name="Text 12">
            <a:extLst>
              <a:ext uri="{FF2B5EF4-FFF2-40B4-BE49-F238E27FC236}">
                <a16:creationId xmlns:a16="http://schemas.microsoft.com/office/drawing/2014/main" id="{09CD5637-F795-F729-F411-C37CF0220934}"/>
              </a:ext>
            </a:extLst>
          </p:cNvPr>
          <p:cNvSpPr txBox="1"/>
          <p:nvPr/>
        </p:nvSpPr>
        <p:spPr>
          <a:xfrm>
            <a:off x="5577840" y="1234440"/>
            <a:ext cx="2834640" cy="411480"/>
          </a:xfrm>
          <a:prstGeom prst="rect">
            <a:avLst/>
          </a:prstGeom>
          <a:noFill/>
          <a:ln/>
        </p:spPr>
        <p:txBody>
          <a:bodyPr wrap="square" lIns="0" tIns="0" rIns="0" bIns="0" rtlCol="0" anchor="ctr"/>
          <a:lstStyle/>
          <a:p>
            <a:r>
              <a:rPr lang="en-US" sz="1800" b="1">
                <a:solidFill>
                  <a:srgbClr val="1B2A41"/>
                </a:solidFill>
                <a:latin typeface="Calibri"/>
                <a:ea typeface="Calibri"/>
                <a:cs typeface="Calibri"/>
              </a:rPr>
              <a:t>Soon, this is</a:t>
            </a:r>
            <a:r>
              <a:rPr lang="en-US" b="1">
                <a:solidFill>
                  <a:srgbClr val="1B2A41"/>
                </a:solidFill>
                <a:latin typeface="Calibri"/>
                <a:ea typeface="Calibri"/>
                <a:cs typeface="Calibri"/>
              </a:rPr>
              <a:t> could be</a:t>
            </a:r>
            <a:r>
              <a:rPr lang="en-US" sz="1800" b="1">
                <a:solidFill>
                  <a:srgbClr val="1B2A41"/>
                </a:solidFill>
                <a:latin typeface="Calibri"/>
                <a:ea typeface="Calibri"/>
                <a:cs typeface="Calibri"/>
              </a:rPr>
              <a:t> you</a:t>
            </a:r>
            <a:endParaRPr lang="en-US" sz="1800">
              <a:latin typeface="Calibri"/>
              <a:ea typeface="Calibri"/>
              <a:cs typeface="Calibri"/>
            </a:endParaRPr>
          </a:p>
        </p:txBody>
      </p:sp>
      <p:sp>
        <p:nvSpPr>
          <p:cNvPr id="18" name="Shape 13">
            <a:extLst>
              <a:ext uri="{FF2B5EF4-FFF2-40B4-BE49-F238E27FC236}">
                <a16:creationId xmlns:a16="http://schemas.microsoft.com/office/drawing/2014/main" id="{3985B307-776A-A4FD-29D3-52B3656EF2E1}"/>
              </a:ext>
            </a:extLst>
          </p:cNvPr>
          <p:cNvSpPr/>
          <p:nvPr/>
        </p:nvSpPr>
        <p:spPr>
          <a:xfrm>
            <a:off x="5577840" y="187452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19" name="Image 3" descr="preencoded.png">
            <a:extLst>
              <a:ext uri="{FF2B5EF4-FFF2-40B4-BE49-F238E27FC236}">
                <a16:creationId xmlns:a16="http://schemas.microsoft.com/office/drawing/2014/main" id="{2173EE50-7624-4401-77DA-B8422955A764}"/>
              </a:ext>
            </a:extLst>
          </p:cNvPr>
          <p:cNvPicPr>
            <a:picLocks noChangeAspect="1"/>
          </p:cNvPicPr>
          <p:nvPr/>
        </p:nvPicPr>
        <p:blipFill>
          <a:blip r:embed="rId5"/>
          <a:stretch>
            <a:fillRect/>
          </a:stretch>
        </p:blipFill>
        <p:spPr>
          <a:xfrm>
            <a:off x="5715000" y="2011680"/>
            <a:ext cx="274320" cy="274320"/>
          </a:xfrm>
          <a:prstGeom prst="rect">
            <a:avLst/>
          </a:prstGeom>
        </p:spPr>
      </p:pic>
      <p:sp>
        <p:nvSpPr>
          <p:cNvPr id="20" name="Text 14">
            <a:extLst>
              <a:ext uri="{FF2B5EF4-FFF2-40B4-BE49-F238E27FC236}">
                <a16:creationId xmlns:a16="http://schemas.microsoft.com/office/drawing/2014/main" id="{3ABB20C8-C5AF-00CD-ADAF-77B57323D77F}"/>
              </a:ext>
            </a:extLst>
          </p:cNvPr>
          <p:cNvSpPr txBox="1"/>
          <p:nvPr/>
        </p:nvSpPr>
        <p:spPr>
          <a:xfrm>
            <a:off x="6263640" y="187452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be asked to give</a:t>
            </a:r>
            <a:endParaRPr lang="en-US" sz="1400"/>
          </a:p>
        </p:txBody>
      </p:sp>
      <p:sp>
        <p:nvSpPr>
          <p:cNvPr id="21" name="Shape 15">
            <a:extLst>
              <a:ext uri="{FF2B5EF4-FFF2-40B4-BE49-F238E27FC236}">
                <a16:creationId xmlns:a16="http://schemas.microsoft.com/office/drawing/2014/main" id="{6A0552C8-EC90-DAE3-0825-6C00560D09F5}"/>
              </a:ext>
            </a:extLst>
          </p:cNvPr>
          <p:cNvSpPr/>
          <p:nvPr/>
        </p:nvSpPr>
        <p:spPr>
          <a:xfrm>
            <a:off x="5577840" y="265176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22" name="Image 4" descr="preencoded.png">
            <a:extLst>
              <a:ext uri="{FF2B5EF4-FFF2-40B4-BE49-F238E27FC236}">
                <a16:creationId xmlns:a16="http://schemas.microsoft.com/office/drawing/2014/main" id="{119B0E2A-BC40-FF3F-FD39-82BD6757AC16}"/>
              </a:ext>
            </a:extLst>
          </p:cNvPr>
          <p:cNvPicPr>
            <a:picLocks noChangeAspect="1"/>
          </p:cNvPicPr>
          <p:nvPr/>
        </p:nvPicPr>
        <p:blipFill>
          <a:blip r:embed="rId6"/>
          <a:stretch>
            <a:fillRect/>
          </a:stretch>
        </p:blipFill>
        <p:spPr>
          <a:xfrm>
            <a:off x="5715000" y="2788920"/>
            <a:ext cx="274320" cy="274320"/>
          </a:xfrm>
          <a:prstGeom prst="rect">
            <a:avLst/>
          </a:prstGeom>
        </p:spPr>
      </p:pic>
      <p:sp>
        <p:nvSpPr>
          <p:cNvPr id="23" name="Text 16">
            <a:extLst>
              <a:ext uri="{FF2B5EF4-FFF2-40B4-BE49-F238E27FC236}">
                <a16:creationId xmlns:a16="http://schemas.microsoft.com/office/drawing/2014/main" id="{0739022A-E887-1ACA-7FF3-9CA96F68CC70}"/>
              </a:ext>
            </a:extLst>
          </p:cNvPr>
          <p:cNvSpPr txBox="1"/>
          <p:nvPr/>
        </p:nvSpPr>
        <p:spPr>
          <a:xfrm>
            <a:off x="6263640" y="265176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ask others to give</a:t>
            </a:r>
            <a:endParaRPr lang="en-US" sz="1400"/>
          </a:p>
        </p:txBody>
      </p:sp>
      <p:sp>
        <p:nvSpPr>
          <p:cNvPr id="24" name="Shape 17">
            <a:extLst>
              <a:ext uri="{FF2B5EF4-FFF2-40B4-BE49-F238E27FC236}">
                <a16:creationId xmlns:a16="http://schemas.microsoft.com/office/drawing/2014/main" id="{DA79F110-2D12-680F-D03F-B24D8788E4E8}"/>
              </a:ext>
            </a:extLst>
          </p:cNvPr>
          <p:cNvSpPr/>
          <p:nvPr/>
        </p:nvSpPr>
        <p:spPr>
          <a:xfrm>
            <a:off x="5577840" y="3429000"/>
            <a:ext cx="548640" cy="548640"/>
          </a:xfrm>
          <a:prstGeom prst="ellipse">
            <a:avLst/>
          </a:prstGeom>
          <a:solidFill>
            <a:srgbClr val="2A9D8F"/>
          </a:solidFill>
          <a:ln w="12700">
            <a:solidFill>
              <a:srgbClr val="2A9D8F"/>
            </a:solidFill>
            <a:prstDash val="solid"/>
          </a:ln>
        </p:spPr>
        <p:txBody>
          <a:bodyPr/>
          <a:lstStyle/>
          <a:p>
            <a:endParaRPr lang="en-US"/>
          </a:p>
        </p:txBody>
      </p:sp>
      <p:pic>
        <p:nvPicPr>
          <p:cNvPr id="25" name="Image 5" descr="preencoded.png">
            <a:extLst>
              <a:ext uri="{FF2B5EF4-FFF2-40B4-BE49-F238E27FC236}">
                <a16:creationId xmlns:a16="http://schemas.microsoft.com/office/drawing/2014/main" id="{BB678945-BDAA-E469-0E30-E538C6254D48}"/>
              </a:ext>
            </a:extLst>
          </p:cNvPr>
          <p:cNvPicPr>
            <a:picLocks noChangeAspect="1"/>
          </p:cNvPicPr>
          <p:nvPr/>
        </p:nvPicPr>
        <p:blipFill>
          <a:blip r:embed="rId7"/>
          <a:stretch>
            <a:fillRect/>
          </a:stretch>
        </p:blipFill>
        <p:spPr>
          <a:xfrm>
            <a:off x="5715000" y="3566160"/>
            <a:ext cx="274320" cy="274320"/>
          </a:xfrm>
          <a:prstGeom prst="rect">
            <a:avLst/>
          </a:prstGeom>
        </p:spPr>
      </p:pic>
      <p:sp>
        <p:nvSpPr>
          <p:cNvPr id="26" name="Text 18">
            <a:extLst>
              <a:ext uri="{FF2B5EF4-FFF2-40B4-BE49-F238E27FC236}">
                <a16:creationId xmlns:a16="http://schemas.microsoft.com/office/drawing/2014/main" id="{4731C003-EE0D-C485-01FD-E4E2AE4FE197}"/>
              </a:ext>
            </a:extLst>
          </p:cNvPr>
          <p:cNvSpPr txBox="1"/>
          <p:nvPr/>
        </p:nvSpPr>
        <p:spPr>
          <a:xfrm>
            <a:off x="6263640" y="3429000"/>
            <a:ext cx="2194560" cy="548640"/>
          </a:xfrm>
          <a:prstGeom prst="rect">
            <a:avLst/>
          </a:prstGeom>
          <a:noFill/>
          <a:ln/>
        </p:spPr>
        <p:txBody>
          <a:bodyPr wrap="square" lIns="0" tIns="0" rIns="0" bIns="0" rtlCol="0" anchor="ctr"/>
          <a:lstStyle/>
          <a:p>
            <a:pPr marL="0" indent="0">
              <a:buNone/>
            </a:pPr>
            <a:r>
              <a:rPr lang="en-US" sz="1400">
                <a:solidFill>
                  <a:srgbClr val="1B2A41"/>
                </a:solidFill>
                <a:latin typeface="Calibri" pitchFamily="34" charset="0"/>
                <a:ea typeface="Calibri" pitchFamily="34" charset="-122"/>
                <a:cs typeface="Calibri" pitchFamily="34" charset="-120"/>
              </a:rPr>
              <a:t>You'll decide who to contact</a:t>
            </a:r>
            <a:endParaRPr lang="en-US" sz="1400"/>
          </a:p>
        </p:txBody>
      </p:sp>
    </p:spTree>
    <p:extLst>
      <p:ext uri="{BB962C8B-B14F-4D97-AF65-F5344CB8AC3E}">
        <p14:creationId xmlns:p14="http://schemas.microsoft.com/office/powerpoint/2010/main" val="4046776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45440" y="407247"/>
            <a:ext cx="8046720" cy="457200"/>
          </a:xfrm>
          <a:prstGeom prst="rect">
            <a:avLst/>
          </a:prstGeom>
          <a:noFill/>
          <a:ln/>
        </p:spPr>
        <p:txBody>
          <a:bodyPr wrap="square" lIns="0" tIns="0" rIns="0" bIns="0" rtlCol="0" anchor="ctr"/>
          <a:lstStyle/>
          <a:p>
            <a:r>
              <a:rPr lang="en-US" sz="3000" b="1">
                <a:solidFill>
                  <a:srgbClr val="1B2A41"/>
                </a:solidFill>
                <a:latin typeface="Cambria" pitchFamily="34" charset="0"/>
                <a:ea typeface="Cambria" pitchFamily="34" charset="-122"/>
              </a:rPr>
              <a:t>The pool is shrinking</a:t>
            </a:r>
          </a:p>
        </p:txBody>
      </p:sp>
      <p:graphicFrame>
        <p:nvGraphicFramePr>
          <p:cNvPr id="6" name="Chart 0"/>
          <p:cNvGraphicFramePr/>
          <p:nvPr>
            <p:extLst>
              <p:ext uri="{D42A27DB-BD31-4B8C-83A1-F6EECF244321}">
                <p14:modId xmlns:p14="http://schemas.microsoft.com/office/powerpoint/2010/main" val="1226889765"/>
              </p:ext>
            </p:extLst>
          </p:nvPr>
        </p:nvGraphicFramePr>
        <p:xfrm>
          <a:off x="345977" y="1006060"/>
          <a:ext cx="3886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802078" y="4206460"/>
            <a:ext cx="3886200" cy="274320"/>
          </a:xfrm>
          <a:prstGeom prst="rect">
            <a:avLst/>
          </a:prstGeom>
          <a:noFill/>
          <a:ln/>
        </p:spPr>
        <p:txBody>
          <a:bodyPr wrap="square" lIns="0" tIns="0" rIns="0" bIns="0" rtlCol="0" anchor="ctr"/>
          <a:lstStyle/>
          <a:p>
            <a:pPr marL="0" indent="0">
              <a:buNone/>
            </a:pPr>
            <a:r>
              <a:rPr lang="en-US" sz="1100">
                <a:solidFill>
                  <a:srgbClr val="6B7683"/>
                </a:solidFill>
                <a:latin typeface="Calibri" pitchFamily="34" charset="0"/>
                <a:ea typeface="Calibri" pitchFamily="34" charset="-122"/>
                <a:cs typeface="Calibri" pitchFamily="34" charset="-120"/>
              </a:rPr>
              <a:t>Share of U.S. households making a charitable gift.</a:t>
            </a:r>
            <a:endParaRPr lang="en-US" sz="1100"/>
          </a:p>
        </p:txBody>
      </p:sp>
      <p:sp>
        <p:nvSpPr>
          <p:cNvPr id="8" name="Text 5"/>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Indiana University Lilly Family School of Philanthropy, Philanthropy Panel Study.</a:t>
            </a:r>
            <a:endParaRPr lang="en-US" sz="900"/>
          </a:p>
        </p:txBody>
      </p:sp>
      <p:cxnSp>
        <p:nvCxnSpPr>
          <p:cNvPr id="5" name="Straight Arrow Connector 4">
            <a:extLst>
              <a:ext uri="{FF2B5EF4-FFF2-40B4-BE49-F238E27FC236}">
                <a16:creationId xmlns:a16="http://schemas.microsoft.com/office/drawing/2014/main" id="{E1E794A9-F114-0157-F7F1-23B4664D2583}"/>
              </a:ext>
            </a:extLst>
          </p:cNvPr>
          <p:cNvCxnSpPr/>
          <p:nvPr/>
        </p:nvCxnSpPr>
        <p:spPr>
          <a:xfrm>
            <a:off x="1222811" y="1175636"/>
            <a:ext cx="2445323" cy="57987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B79E99-A2D6-5B4D-7EE1-E9832C6FF4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D4064D-BC01-003B-B0E6-11B2BB96BC06}"/>
              </a:ext>
            </a:extLst>
          </p:cNvPr>
          <p:cNvSpPr txBox="1"/>
          <p:nvPr/>
        </p:nvSpPr>
        <p:spPr>
          <a:xfrm>
            <a:off x="345318" y="411480"/>
            <a:ext cx="8046720" cy="457200"/>
          </a:xfrm>
          <a:prstGeom prst="rect">
            <a:avLst/>
          </a:prstGeom>
          <a:noFill/>
          <a:ln/>
        </p:spPr>
        <p:txBody>
          <a:bodyPr wrap="square" lIns="0" tIns="0" rIns="0" bIns="0" rtlCol="0" anchor="ctr"/>
          <a:lstStyle/>
          <a:p>
            <a:pPr indent="0">
              <a:buNone/>
            </a:pPr>
            <a:r>
              <a:rPr lang="en-US" sz="3000" b="1">
                <a:solidFill>
                  <a:srgbClr val="1B2A41"/>
                </a:solidFill>
                <a:latin typeface="Cambria" pitchFamily="34" charset="0"/>
                <a:ea typeface="Cambria" pitchFamily="34" charset="-122"/>
              </a:rPr>
              <a:t>The pool is shrinking</a:t>
            </a:r>
          </a:p>
        </p:txBody>
      </p:sp>
      <p:graphicFrame>
        <p:nvGraphicFramePr>
          <p:cNvPr id="6" name="Chart 0">
            <a:extLst>
              <a:ext uri="{FF2B5EF4-FFF2-40B4-BE49-F238E27FC236}">
                <a16:creationId xmlns:a16="http://schemas.microsoft.com/office/drawing/2014/main" id="{8958821A-3A7A-EBBC-233E-7EB0C5BE4F64}"/>
              </a:ext>
            </a:extLst>
          </p:cNvPr>
          <p:cNvGraphicFramePr/>
          <p:nvPr/>
        </p:nvGraphicFramePr>
        <p:xfrm>
          <a:off x="345977" y="1006060"/>
          <a:ext cx="3886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a:extLst>
              <a:ext uri="{FF2B5EF4-FFF2-40B4-BE49-F238E27FC236}">
                <a16:creationId xmlns:a16="http://schemas.microsoft.com/office/drawing/2014/main" id="{E2A843C1-6B88-DDCD-8AEA-96140B6119A3}"/>
              </a:ext>
            </a:extLst>
          </p:cNvPr>
          <p:cNvSpPr txBox="1"/>
          <p:nvPr/>
        </p:nvSpPr>
        <p:spPr>
          <a:xfrm>
            <a:off x="802078" y="4206460"/>
            <a:ext cx="3886200" cy="274320"/>
          </a:xfrm>
          <a:prstGeom prst="rect">
            <a:avLst/>
          </a:prstGeom>
          <a:noFill/>
          <a:ln/>
        </p:spPr>
        <p:txBody>
          <a:bodyPr wrap="square" lIns="0" tIns="0" rIns="0" bIns="0" rtlCol="0" anchor="ctr"/>
          <a:lstStyle/>
          <a:p>
            <a:pPr marL="0" indent="0">
              <a:buNone/>
            </a:pPr>
            <a:r>
              <a:rPr lang="en-US" sz="1100">
                <a:solidFill>
                  <a:srgbClr val="6B7683"/>
                </a:solidFill>
                <a:latin typeface="Calibri" pitchFamily="34" charset="0"/>
                <a:ea typeface="Calibri" pitchFamily="34" charset="-122"/>
                <a:cs typeface="Calibri" pitchFamily="34" charset="-120"/>
              </a:rPr>
              <a:t>Share of U.S. households making a charitable gift.</a:t>
            </a:r>
            <a:endParaRPr lang="en-US" sz="1100"/>
          </a:p>
        </p:txBody>
      </p:sp>
      <p:sp>
        <p:nvSpPr>
          <p:cNvPr id="8" name="Text 5">
            <a:extLst>
              <a:ext uri="{FF2B5EF4-FFF2-40B4-BE49-F238E27FC236}">
                <a16:creationId xmlns:a16="http://schemas.microsoft.com/office/drawing/2014/main" id="{72D1C042-6A01-1D5D-0127-C21F2064BF5F}"/>
              </a:ext>
            </a:extLst>
          </p:cNvPr>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Indiana University Lilly Family School of Philanthropy, Philanthropy Panel Study.</a:t>
            </a:r>
            <a:endParaRPr lang="en-US" sz="900"/>
          </a:p>
        </p:txBody>
      </p:sp>
      <p:cxnSp>
        <p:nvCxnSpPr>
          <p:cNvPr id="5" name="Straight Arrow Connector 4">
            <a:extLst>
              <a:ext uri="{FF2B5EF4-FFF2-40B4-BE49-F238E27FC236}">
                <a16:creationId xmlns:a16="http://schemas.microsoft.com/office/drawing/2014/main" id="{38A49568-75E8-6AD8-8117-AA3AC9A21627}"/>
              </a:ext>
            </a:extLst>
          </p:cNvPr>
          <p:cNvCxnSpPr/>
          <p:nvPr/>
        </p:nvCxnSpPr>
        <p:spPr>
          <a:xfrm>
            <a:off x="1222811" y="1175636"/>
            <a:ext cx="2445323" cy="57987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Text 0">
            <a:extLst>
              <a:ext uri="{FF2B5EF4-FFF2-40B4-BE49-F238E27FC236}">
                <a16:creationId xmlns:a16="http://schemas.microsoft.com/office/drawing/2014/main" id="{81EE663C-BBA2-E501-54FA-7D72C8830B5E}"/>
              </a:ext>
            </a:extLst>
          </p:cNvPr>
          <p:cNvSpPr txBox="1"/>
          <p:nvPr/>
        </p:nvSpPr>
        <p:spPr>
          <a:xfrm>
            <a:off x="4685054" y="481452"/>
            <a:ext cx="4546283" cy="457200"/>
          </a:xfrm>
          <a:prstGeom prst="rect">
            <a:avLst/>
          </a:prstGeom>
          <a:noFill/>
          <a:ln/>
        </p:spPr>
        <p:txBody>
          <a:bodyPr wrap="square" lIns="0" tIns="0" rIns="0" bIns="0" rtlCol="0" anchor="ctr"/>
          <a:lstStyle/>
          <a:p>
            <a:r>
              <a:rPr lang="en-US" sz="3000" b="1">
                <a:solidFill>
                  <a:srgbClr val="1B2A41"/>
                </a:solidFill>
                <a:latin typeface="Cambria"/>
                <a:ea typeface="Cambria"/>
              </a:rPr>
              <a:t>And the donors they win do not come back</a:t>
            </a:r>
            <a:endParaRPr lang="en-US" sz="2600" b="1">
              <a:solidFill>
                <a:srgbClr val="1B3A5C"/>
              </a:solidFill>
              <a:latin typeface="Calibri"/>
              <a:ea typeface="Calibri"/>
              <a:cs typeface="Calibri"/>
            </a:endParaRPr>
          </a:p>
        </p:txBody>
      </p:sp>
      <p:graphicFrame>
        <p:nvGraphicFramePr>
          <p:cNvPr id="10" name="Chart 0">
            <a:extLst>
              <a:ext uri="{FF2B5EF4-FFF2-40B4-BE49-F238E27FC236}">
                <a16:creationId xmlns:a16="http://schemas.microsoft.com/office/drawing/2014/main" id="{4F2AC9A3-8CFE-7940-D538-78BC93B85ED7}"/>
              </a:ext>
            </a:extLst>
          </p:cNvPr>
          <p:cNvGraphicFramePr/>
          <p:nvPr>
            <p:extLst>
              <p:ext uri="{D42A27DB-BD31-4B8C-83A1-F6EECF244321}">
                <p14:modId xmlns:p14="http://schemas.microsoft.com/office/powerpoint/2010/main" val="758308775"/>
              </p:ext>
            </p:extLst>
          </p:nvPr>
        </p:nvGraphicFramePr>
        <p:xfrm>
          <a:off x="4786312" y="1151132"/>
          <a:ext cx="41148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547AF395-9E02-10D0-238A-5B57F9F1DF17}"/>
              </a:ext>
            </a:extLst>
          </p:cNvPr>
          <p:cNvSpPr/>
          <p:nvPr/>
        </p:nvSpPr>
        <p:spPr>
          <a:xfrm>
            <a:off x="-3336" y="985"/>
            <a:ext cx="4446852" cy="5154437"/>
          </a:xfrm>
          <a:prstGeom prst="rect">
            <a:avLst/>
          </a:prstGeom>
          <a:solidFill>
            <a:srgbClr val="D0CECE">
              <a:alpha val="43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9355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457200"/>
          </a:xfrm>
          <a:prstGeom prst="rect">
            <a:avLst/>
          </a:prstGeom>
          <a:noFill/>
          <a:ln/>
        </p:spPr>
        <p:txBody>
          <a:bodyPr wrap="square" lIns="0" tIns="0" rIns="0" bIns="0" rtlCol="0" anchor="ctr"/>
          <a:lstStyle/>
          <a:p>
            <a:r>
              <a:rPr lang="en-US" sz="3000" b="1">
                <a:solidFill>
                  <a:srgbClr val="1B2A41"/>
                </a:solidFill>
                <a:latin typeface="Cambria" pitchFamily="34" charset="0"/>
                <a:ea typeface="Cambria" pitchFamily="34" charset="-122"/>
              </a:rPr>
              <a:t>Total dollars are slightly growing. </a:t>
            </a:r>
          </a:p>
        </p:txBody>
      </p:sp>
      <p:graphicFrame>
        <p:nvGraphicFramePr>
          <p:cNvPr id="3" name="Chart 0"/>
          <p:cNvGraphicFramePr/>
          <p:nvPr>
            <p:extLst>
              <p:ext uri="{D42A27DB-BD31-4B8C-83A1-F6EECF244321}">
                <p14:modId xmlns:p14="http://schemas.microsoft.com/office/powerpoint/2010/main" val="1611966835"/>
              </p:ext>
            </p:extLst>
          </p:nvPr>
        </p:nvGraphicFramePr>
        <p:xfrm>
          <a:off x="1450484" y="979962"/>
          <a:ext cx="6475306" cy="3469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3234235" y="4314134"/>
            <a:ext cx="5120640" cy="274320"/>
          </a:xfrm>
          <a:prstGeom prst="rect">
            <a:avLst/>
          </a:prstGeom>
          <a:noFill/>
          <a:ln/>
        </p:spPr>
        <p:txBody>
          <a:bodyPr wrap="square" lIns="0" tIns="0" rIns="0" bIns="0" rtlCol="0" anchor="ctr"/>
          <a:lstStyle/>
          <a:p>
            <a:r>
              <a:rPr lang="en-US" sz="1100">
                <a:solidFill>
                  <a:srgbClr val="6B7683"/>
                </a:solidFill>
                <a:latin typeface="Calibri"/>
                <a:ea typeface="Calibri"/>
                <a:cs typeface="Calibri"/>
              </a:rPr>
              <a:t>Total U.S. charitable giving, billions of 2025 dollars </a:t>
            </a:r>
            <a:endParaRPr lang="en-US" sz="1100">
              <a:latin typeface="Calibri"/>
              <a:ea typeface="Calibri"/>
              <a:cs typeface="Calibri"/>
            </a:endParaRPr>
          </a:p>
        </p:txBody>
      </p:sp>
      <p:sp>
        <p:nvSpPr>
          <p:cNvPr id="8" name="Text 5"/>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Giving USA 2026. Constant 2025 dollars, computed from Giving USA reported inflation-adjusted annual changes.</a:t>
            </a:r>
            <a:endParaRPr lang="en-US" sz="900"/>
          </a:p>
        </p:txBody>
      </p:sp>
      <p:cxnSp>
        <p:nvCxnSpPr>
          <p:cNvPr id="6" name="Straight Arrow Connector 5">
            <a:extLst>
              <a:ext uri="{FF2B5EF4-FFF2-40B4-BE49-F238E27FC236}">
                <a16:creationId xmlns:a16="http://schemas.microsoft.com/office/drawing/2014/main" id="{0F0319F9-EB59-E522-A14C-99730F7523FA}"/>
              </a:ext>
            </a:extLst>
          </p:cNvPr>
          <p:cNvCxnSpPr/>
          <p:nvPr/>
        </p:nvCxnSpPr>
        <p:spPr>
          <a:xfrm flipV="1">
            <a:off x="3132044" y="1306782"/>
            <a:ext cx="4028590" cy="203287"/>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457200"/>
          </a:xfrm>
          <a:prstGeom prst="rect">
            <a:avLst/>
          </a:prstGeom>
          <a:noFill/>
          <a:ln/>
        </p:spPr>
        <p:txBody>
          <a:bodyPr wrap="square" lIns="0" tIns="0" rIns="0" bIns="0" rtlCol="0" anchor="ctr"/>
          <a:lstStyle/>
          <a:p>
            <a:pPr indent="0">
              <a:buNone/>
            </a:pPr>
            <a:r>
              <a:rPr lang="en-US" sz="3000" b="1">
                <a:solidFill>
                  <a:srgbClr val="1B2A41"/>
                </a:solidFill>
                <a:latin typeface="Cambria" pitchFamily="34" charset="0"/>
                <a:ea typeface="Cambria" pitchFamily="34" charset="-122"/>
              </a:rPr>
              <a:t>Who this matters for</a:t>
            </a:r>
          </a:p>
        </p:txBody>
      </p:sp>
      <p:sp>
        <p:nvSpPr>
          <p:cNvPr id="3" name="Text 1"/>
          <p:cNvSpPr txBox="1"/>
          <p:nvPr/>
        </p:nvSpPr>
        <p:spPr>
          <a:xfrm>
            <a:off x="548640" y="1051560"/>
            <a:ext cx="3840480" cy="868680"/>
          </a:xfrm>
          <a:prstGeom prst="rect">
            <a:avLst/>
          </a:prstGeom>
          <a:noFill/>
          <a:ln/>
        </p:spPr>
        <p:txBody>
          <a:bodyPr wrap="square" lIns="0" tIns="0" rIns="0" bIns="0" rtlCol="0" anchor="ctr"/>
          <a:lstStyle/>
          <a:p>
            <a:pPr marL="0" indent="0">
              <a:buNone/>
            </a:pPr>
            <a:r>
              <a:rPr lang="en-US" sz="5800" b="1">
                <a:solidFill>
                  <a:srgbClr val="D2603A"/>
                </a:solidFill>
                <a:latin typeface="Cambria" pitchFamily="34" charset="0"/>
                <a:ea typeface="Cambria" pitchFamily="34" charset="-122"/>
                <a:cs typeface="Cambria" pitchFamily="34" charset="-120"/>
              </a:rPr>
              <a:t>212,000</a:t>
            </a:r>
            <a:endParaRPr lang="en-US" sz="5800"/>
          </a:p>
        </p:txBody>
      </p:sp>
      <p:sp>
        <p:nvSpPr>
          <p:cNvPr id="4" name="Text 2"/>
          <p:cNvSpPr txBox="1"/>
          <p:nvPr/>
        </p:nvSpPr>
        <p:spPr>
          <a:xfrm>
            <a:off x="548640" y="1993392"/>
            <a:ext cx="3611880" cy="685800"/>
          </a:xfrm>
          <a:prstGeom prst="rect">
            <a:avLst/>
          </a:prstGeom>
          <a:noFill/>
          <a:ln/>
        </p:spPr>
        <p:txBody>
          <a:bodyPr wrap="square" lIns="0" tIns="0" rIns="0" bIns="0" rtlCol="0" anchor="ctr"/>
          <a:lstStyle/>
          <a:p>
            <a:pPr marL="0" indent="0">
              <a:lnSpc>
                <a:spcPct val="115000"/>
              </a:lnSpc>
              <a:buNone/>
            </a:pPr>
            <a:r>
              <a:rPr lang="en-US" sz="1700" b="1">
                <a:solidFill>
                  <a:srgbClr val="1B3A5C"/>
                </a:solidFill>
                <a:latin typeface="Calibri" pitchFamily="34" charset="0"/>
                <a:ea typeface="Calibri" pitchFamily="34" charset="-122"/>
                <a:cs typeface="Calibri" pitchFamily="34" charset="-120"/>
              </a:rPr>
              <a:t>public charities run on less than $500,000 a year.</a:t>
            </a:r>
            <a:endParaRPr lang="en-US" sz="1700"/>
          </a:p>
        </p:txBody>
      </p:sp>
      <p:graphicFrame>
        <p:nvGraphicFramePr>
          <p:cNvPr id="6" name="Chart 0"/>
          <p:cNvGraphicFramePr/>
          <p:nvPr>
            <p:extLst>
              <p:ext uri="{D42A27DB-BD31-4B8C-83A1-F6EECF244321}">
                <p14:modId xmlns:p14="http://schemas.microsoft.com/office/powerpoint/2010/main" val="337696369"/>
              </p:ext>
            </p:extLst>
          </p:nvPr>
        </p:nvGraphicFramePr>
        <p:xfrm>
          <a:off x="3440853" y="38101"/>
          <a:ext cx="5624406" cy="459401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48640" y="4590288"/>
            <a:ext cx="8046720" cy="274320"/>
          </a:xfrm>
          <a:prstGeom prst="rect">
            <a:avLst/>
          </a:prstGeom>
          <a:noFill/>
          <a:ln/>
        </p:spPr>
        <p:txBody>
          <a:bodyPr wrap="square" lIns="0" tIns="0" rIns="0" bIns="0" rtlCol="0" anchor="ctr"/>
          <a:lstStyle/>
          <a:p>
            <a:pPr marL="0" indent="0">
              <a:buNone/>
            </a:pPr>
            <a:r>
              <a:rPr lang="en-US" sz="900">
                <a:solidFill>
                  <a:srgbClr val="6B7683"/>
                </a:solidFill>
                <a:latin typeface="Calibri" pitchFamily="34" charset="0"/>
                <a:ea typeface="Calibri" pitchFamily="34" charset="-122"/>
                <a:cs typeface="Calibri" pitchFamily="34" charset="-120"/>
              </a:rPr>
              <a:t>National Center for Charitable Statistics, The Nonprofit Sector in Brief 2019 (reporting public charities, 2016).</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77AF57-67C0-F2CB-3E2F-721AC8E5F575}"/>
              </a:ext>
            </a:extLst>
          </p:cNvPr>
          <p:cNvPicPr>
            <a:picLocks noChangeAspect="1"/>
          </p:cNvPicPr>
          <p:nvPr/>
        </p:nvPicPr>
        <p:blipFill>
          <a:blip r:embed="rId3"/>
          <a:srcRect l="-477" t="-1251" r="60959" b="90198"/>
          <a:stretch>
            <a:fillRect/>
          </a:stretch>
        </p:blipFill>
        <p:spPr>
          <a:xfrm>
            <a:off x="-1627" y="-1000"/>
            <a:ext cx="3061738" cy="473144"/>
          </a:xfrm>
          <a:prstGeom prst="rect">
            <a:avLst/>
          </a:prstGeom>
        </p:spPr>
      </p:pic>
      <p:pic>
        <p:nvPicPr>
          <p:cNvPr id="12" name="Picture 11" descr="May be an image of studying and text">
            <a:extLst>
              <a:ext uri="{FF2B5EF4-FFF2-40B4-BE49-F238E27FC236}">
                <a16:creationId xmlns:a16="http://schemas.microsoft.com/office/drawing/2014/main" id="{F1832FB6-DED7-1F4C-F17B-203C97CF9981}"/>
              </a:ext>
            </a:extLst>
          </p:cNvPr>
          <p:cNvPicPr>
            <a:picLocks noChangeAspect="1"/>
          </p:cNvPicPr>
          <p:nvPr/>
        </p:nvPicPr>
        <p:blipFill>
          <a:blip r:embed="rId4"/>
          <a:srcRect r="5882" b="4"/>
          <a:stretch>
            <a:fillRect/>
          </a:stretch>
        </p:blipFill>
        <p:spPr>
          <a:xfrm>
            <a:off x="3071220" y="10"/>
            <a:ext cx="3021753" cy="4280642"/>
          </a:xfrm>
          <a:prstGeom prst="rect">
            <a:avLst/>
          </a:prstGeom>
        </p:spPr>
      </p:pic>
      <p:pic>
        <p:nvPicPr>
          <p:cNvPr id="6" name="Picture 5" descr="May be an image of text that says 'iHeart Powered By DONORS THANK የ&quot; Radio CHOOSE TEACHER 2026 CONGRATULATIONS To: ADRIANNA LUNA HAMILTON ELEMENTARY FRESNO, CA ON WINNING $5.000 IN CLASSROOM SUPPLIES FROM DONORSCHOOSE AND iHEARTRADIO! suunaduul'">
            <a:extLst>
              <a:ext uri="{FF2B5EF4-FFF2-40B4-BE49-F238E27FC236}">
                <a16:creationId xmlns:a16="http://schemas.microsoft.com/office/drawing/2014/main" id="{14B49278-9433-6593-2902-39AA41CD3CB8}"/>
              </a:ext>
            </a:extLst>
          </p:cNvPr>
          <p:cNvPicPr>
            <a:picLocks noChangeAspect="1"/>
          </p:cNvPicPr>
          <p:nvPr/>
        </p:nvPicPr>
        <p:blipFill>
          <a:blip r:embed="rId5"/>
          <a:srcRect l="7621" r="4501" b="3"/>
          <a:stretch>
            <a:fillRect/>
          </a:stretch>
        </p:blipFill>
        <p:spPr>
          <a:xfrm>
            <a:off x="6134510" y="887504"/>
            <a:ext cx="3009490" cy="4280653"/>
          </a:xfrm>
          <a:prstGeom prst="rect">
            <a:avLst/>
          </a:prstGeom>
        </p:spPr>
      </p:pic>
      <p:pic>
        <p:nvPicPr>
          <p:cNvPr id="15" name="Picture 14" descr="No photo description available.">
            <a:extLst>
              <a:ext uri="{FF2B5EF4-FFF2-40B4-BE49-F238E27FC236}">
                <a16:creationId xmlns:a16="http://schemas.microsoft.com/office/drawing/2014/main" id="{3E680F5C-377F-555E-6819-6C4F983BA0A7}"/>
              </a:ext>
            </a:extLst>
          </p:cNvPr>
          <p:cNvPicPr>
            <a:picLocks noChangeAspect="1"/>
          </p:cNvPicPr>
          <p:nvPr/>
        </p:nvPicPr>
        <p:blipFill>
          <a:blip r:embed="rId6"/>
          <a:srcRect l="31001" t="-70" r="9948" b="-419"/>
          <a:stretch>
            <a:fillRect/>
          </a:stretch>
        </p:blipFill>
        <p:spPr>
          <a:xfrm>
            <a:off x="-12638" y="795565"/>
            <a:ext cx="3023768" cy="4291060"/>
          </a:xfrm>
          <a:prstGeom prst="rect">
            <a:avLst/>
          </a:prstGeom>
        </p:spPr>
      </p:pic>
    </p:spTree>
    <p:extLst>
      <p:ext uri="{BB962C8B-B14F-4D97-AF65-F5344CB8AC3E}">
        <p14:creationId xmlns:p14="http://schemas.microsoft.com/office/powerpoint/2010/main" val="1184532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The data: </a:t>
            </a:r>
            <a:r>
              <a:rPr lang="en-US" sz="3000" b="1" err="1">
                <a:solidFill>
                  <a:srgbClr val="1B2A41"/>
                </a:solidFill>
                <a:latin typeface="Cambria" pitchFamily="34" charset="0"/>
                <a:ea typeface="Cambria" pitchFamily="34" charset="-122"/>
                <a:cs typeface="Cambria" pitchFamily="34" charset="-120"/>
              </a:rPr>
              <a:t>DonorsChoose</a:t>
            </a:r>
            <a:endParaRPr lang="en-US" sz="3000"/>
          </a:p>
        </p:txBody>
      </p:sp>
      <p:sp>
        <p:nvSpPr>
          <p:cNvPr id="3" name="Text 1"/>
          <p:cNvSpPr txBox="1"/>
          <p:nvPr/>
        </p:nvSpPr>
        <p:spPr>
          <a:xfrm>
            <a:off x="548640" y="896112"/>
            <a:ext cx="8046720" cy="320040"/>
          </a:xfrm>
          <a:prstGeom prst="rect">
            <a:avLst/>
          </a:prstGeom>
          <a:noFill/>
          <a:ln/>
        </p:spPr>
        <p:txBody>
          <a:bodyPr wrap="square" lIns="0" tIns="0" rIns="0" bIns="0" rtlCol="0" anchor="ctr"/>
          <a:lstStyle/>
          <a:p>
            <a:pPr marL="0" indent="0">
              <a:buNone/>
            </a:pPr>
            <a:r>
              <a:rPr lang="en-US" sz="1400">
                <a:solidFill>
                  <a:srgbClr val="6B7280"/>
                </a:solidFill>
                <a:latin typeface="Calibri" pitchFamily="34" charset="0"/>
                <a:ea typeface="Calibri" pitchFamily="34" charset="-122"/>
                <a:cs typeface="Calibri" pitchFamily="34" charset="-120"/>
              </a:rPr>
              <a:t>Teachers post classroom requests. Anyone can fund them.</a:t>
            </a:r>
            <a:endParaRPr lang="en-US" sz="1400"/>
          </a:p>
        </p:txBody>
      </p:sp>
      <p:sp>
        <p:nvSpPr>
          <p:cNvPr id="4" name="Shape 2"/>
          <p:cNvSpPr/>
          <p:nvPr/>
        </p:nvSpPr>
        <p:spPr>
          <a:xfrm>
            <a:off x="5486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5" name="Shape 3"/>
          <p:cNvSpPr/>
          <p:nvPr/>
        </p:nvSpPr>
        <p:spPr>
          <a:xfrm>
            <a:off x="7315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91540" y="1805940"/>
            <a:ext cx="320040" cy="320040"/>
          </a:xfrm>
          <a:prstGeom prst="rect">
            <a:avLst/>
          </a:prstGeom>
        </p:spPr>
      </p:pic>
      <p:sp>
        <p:nvSpPr>
          <p:cNvPr id="7" name="Text 4"/>
          <p:cNvSpPr txBox="1"/>
          <p:nvPr/>
        </p:nvSpPr>
        <p:spPr>
          <a:xfrm>
            <a:off x="7315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11.4M</a:t>
            </a:r>
            <a:endParaRPr lang="en-US" sz="3000"/>
          </a:p>
        </p:txBody>
      </p:sp>
      <p:sp>
        <p:nvSpPr>
          <p:cNvPr id="8" name="Text 5"/>
          <p:cNvSpPr txBox="1"/>
          <p:nvPr/>
        </p:nvSpPr>
        <p:spPr>
          <a:xfrm>
            <a:off x="7315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donations</a:t>
            </a:r>
            <a:endParaRPr lang="en-US" sz="1300"/>
          </a:p>
        </p:txBody>
      </p:sp>
      <p:sp>
        <p:nvSpPr>
          <p:cNvPr id="9" name="Shape 6"/>
          <p:cNvSpPr/>
          <p:nvPr/>
        </p:nvSpPr>
        <p:spPr>
          <a:xfrm>
            <a:off x="26060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0" name="Shape 7"/>
          <p:cNvSpPr/>
          <p:nvPr/>
        </p:nvSpPr>
        <p:spPr>
          <a:xfrm>
            <a:off x="27889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948940" y="1805940"/>
            <a:ext cx="320040" cy="320040"/>
          </a:xfrm>
          <a:prstGeom prst="rect">
            <a:avLst/>
          </a:prstGeom>
        </p:spPr>
      </p:pic>
      <p:sp>
        <p:nvSpPr>
          <p:cNvPr id="12" name="Text 8"/>
          <p:cNvSpPr txBox="1"/>
          <p:nvPr/>
        </p:nvSpPr>
        <p:spPr>
          <a:xfrm>
            <a:off x="27889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3.5M</a:t>
            </a:r>
            <a:endParaRPr lang="en-US" sz="3000"/>
          </a:p>
        </p:txBody>
      </p:sp>
      <p:sp>
        <p:nvSpPr>
          <p:cNvPr id="13" name="Text 9"/>
          <p:cNvSpPr txBox="1"/>
          <p:nvPr/>
        </p:nvSpPr>
        <p:spPr>
          <a:xfrm>
            <a:off x="27889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donors</a:t>
            </a:r>
            <a:endParaRPr lang="en-US" sz="1300"/>
          </a:p>
        </p:txBody>
      </p:sp>
      <p:sp>
        <p:nvSpPr>
          <p:cNvPr id="14" name="Shape 10"/>
          <p:cNvSpPr/>
          <p:nvPr/>
        </p:nvSpPr>
        <p:spPr>
          <a:xfrm>
            <a:off x="46634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5" name="Shape 11"/>
          <p:cNvSpPr/>
          <p:nvPr/>
        </p:nvSpPr>
        <p:spPr>
          <a:xfrm>
            <a:off x="48463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006340" y="1805940"/>
            <a:ext cx="320040" cy="320040"/>
          </a:xfrm>
          <a:prstGeom prst="rect">
            <a:avLst/>
          </a:prstGeom>
        </p:spPr>
      </p:pic>
      <p:sp>
        <p:nvSpPr>
          <p:cNvPr id="17" name="Text 12"/>
          <p:cNvSpPr txBox="1"/>
          <p:nvPr/>
        </p:nvSpPr>
        <p:spPr>
          <a:xfrm>
            <a:off x="48463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2.1M</a:t>
            </a:r>
            <a:endParaRPr lang="en-US" sz="3000"/>
          </a:p>
        </p:txBody>
      </p:sp>
      <p:sp>
        <p:nvSpPr>
          <p:cNvPr id="18" name="Text 13"/>
          <p:cNvSpPr txBox="1"/>
          <p:nvPr/>
        </p:nvSpPr>
        <p:spPr>
          <a:xfrm>
            <a:off x="48463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classroom projects</a:t>
            </a:r>
            <a:endParaRPr lang="en-US" sz="1300"/>
          </a:p>
        </p:txBody>
      </p:sp>
      <p:sp>
        <p:nvSpPr>
          <p:cNvPr id="19" name="Shape 14"/>
          <p:cNvSpPr/>
          <p:nvPr/>
        </p:nvSpPr>
        <p:spPr>
          <a:xfrm>
            <a:off x="6720840" y="1417320"/>
            <a:ext cx="1783080" cy="2103120"/>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20" name="Shape 15"/>
          <p:cNvSpPr/>
          <p:nvPr/>
        </p:nvSpPr>
        <p:spPr>
          <a:xfrm>
            <a:off x="6903720" y="1645920"/>
            <a:ext cx="640080" cy="640080"/>
          </a:xfrm>
          <a:prstGeom prst="ellipse">
            <a:avLst/>
          </a:prstGeom>
          <a:solidFill>
            <a:srgbClr val="1B2A41"/>
          </a:solidFill>
          <a:ln w="12700">
            <a:solidFill>
              <a:srgbClr val="1B2A41"/>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7063740" y="1805940"/>
            <a:ext cx="320040" cy="320040"/>
          </a:xfrm>
          <a:prstGeom prst="rect">
            <a:avLst/>
          </a:prstGeom>
        </p:spPr>
      </p:pic>
      <p:sp>
        <p:nvSpPr>
          <p:cNvPr id="22" name="Text 16"/>
          <p:cNvSpPr txBox="1"/>
          <p:nvPr/>
        </p:nvSpPr>
        <p:spPr>
          <a:xfrm>
            <a:off x="6903720" y="2377440"/>
            <a:ext cx="1463040" cy="548640"/>
          </a:xfrm>
          <a:prstGeom prst="rect">
            <a:avLst/>
          </a:prstGeom>
          <a:noFill/>
          <a:ln/>
        </p:spPr>
        <p:txBody>
          <a:bodyPr wrap="square" lIns="0" tIns="0" rIns="0" bIns="0" rtlCol="0" anchor="ctr"/>
          <a:lstStyle/>
          <a:p>
            <a:pPr marL="0" indent="0">
              <a:buNone/>
            </a:pPr>
            <a:r>
              <a:rPr lang="en-US" sz="3000" b="1">
                <a:solidFill>
                  <a:srgbClr val="E4572E"/>
                </a:solidFill>
                <a:latin typeface="Cambria" pitchFamily="34" charset="0"/>
                <a:ea typeface="Cambria" pitchFamily="34" charset="-122"/>
                <a:cs typeface="Cambria" pitchFamily="34" charset="-120"/>
              </a:rPr>
              <a:t>17 yrs</a:t>
            </a:r>
            <a:endParaRPr lang="en-US" sz="3000"/>
          </a:p>
        </p:txBody>
      </p:sp>
      <p:sp>
        <p:nvSpPr>
          <p:cNvPr id="23" name="Text 17"/>
          <p:cNvSpPr txBox="1"/>
          <p:nvPr/>
        </p:nvSpPr>
        <p:spPr>
          <a:xfrm>
            <a:off x="6903720" y="2926080"/>
            <a:ext cx="1463040" cy="365760"/>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2002–2019</a:t>
            </a:r>
            <a:endParaRPr lang="en-US" sz="1300"/>
          </a:p>
        </p:txBody>
      </p:sp>
      <p:sp>
        <p:nvSpPr>
          <p:cNvPr id="24" name="Shape 18"/>
          <p:cNvSpPr/>
          <p:nvPr/>
        </p:nvSpPr>
        <p:spPr>
          <a:xfrm>
            <a:off x="548640" y="3931920"/>
            <a:ext cx="411480" cy="411480"/>
          </a:xfrm>
          <a:prstGeom prst="ellipse">
            <a:avLst/>
          </a:prstGeom>
          <a:solidFill>
            <a:srgbClr val="2A9D8F"/>
          </a:solidFill>
          <a:ln w="12700">
            <a:solidFill>
              <a:srgbClr val="2A9D8F"/>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651510" y="4034790"/>
            <a:ext cx="205740" cy="205740"/>
          </a:xfrm>
          <a:prstGeom prst="rect">
            <a:avLst/>
          </a:prstGeom>
        </p:spPr>
      </p:pic>
      <p:sp>
        <p:nvSpPr>
          <p:cNvPr id="26" name="Text 19"/>
          <p:cNvSpPr txBox="1"/>
          <p:nvPr/>
        </p:nvSpPr>
        <p:spPr>
          <a:xfrm>
            <a:off x="1097280" y="3931920"/>
            <a:ext cx="5486400" cy="411480"/>
          </a:xfrm>
          <a:prstGeom prst="rect">
            <a:avLst/>
          </a:prstGeom>
          <a:noFill/>
          <a:ln/>
        </p:spPr>
        <p:txBody>
          <a:bodyPr wrap="square" lIns="0" tIns="0" rIns="0" bIns="0" rtlCol="0" anchor="ctr"/>
          <a:lstStyle/>
          <a:p>
            <a:pPr marL="0" indent="0">
              <a:buNone/>
            </a:pPr>
            <a:r>
              <a:rPr lang="en-US" sz="1600" b="1">
                <a:solidFill>
                  <a:srgbClr val="1B2A41"/>
                </a:solidFill>
                <a:latin typeface="Calibri" pitchFamily="34" charset="0"/>
                <a:ea typeface="Calibri" pitchFamily="34" charset="-122"/>
                <a:cs typeface="Calibri" pitchFamily="34" charset="-120"/>
              </a:rPr>
              <a:t>Every row used. No sampling.</a:t>
            </a:r>
            <a:endParaRPr lang="en-US" sz="1600"/>
          </a:p>
        </p:txBody>
      </p:sp>
      <p:sp>
        <p:nvSpPr>
          <p:cNvPr id="27" name="Text 20"/>
          <p:cNvSpPr txBox="1"/>
          <p:nvPr/>
        </p:nvSpPr>
        <p:spPr>
          <a:xfrm>
            <a:off x="548640" y="4617720"/>
            <a:ext cx="8046720" cy="274320"/>
          </a:xfrm>
          <a:prstGeom prst="rect">
            <a:avLst/>
          </a:prstGeom>
          <a:noFill/>
          <a:ln/>
        </p:spPr>
        <p:txBody>
          <a:bodyPr wrap="square" lIns="0" tIns="0" rIns="0" bIns="0" rtlCol="0" anchor="ctr"/>
          <a:lstStyle/>
          <a:p>
            <a:pPr marL="0" indent="0">
              <a:buNone/>
            </a:pPr>
            <a:r>
              <a:rPr lang="en-US" sz="1000">
                <a:solidFill>
                  <a:srgbClr val="6B7280"/>
                </a:solidFill>
                <a:latin typeface="Calibri" pitchFamily="34" charset="0"/>
                <a:ea typeface="Calibri" pitchFamily="34" charset="-122"/>
                <a:cs typeface="Calibri" pitchFamily="34" charset="-120"/>
              </a:rPr>
              <a:t>Source: ICPSR study 37898 (free, public)</a:t>
            </a:r>
            <a:endParaRPr lang="en-US" sz="1000"/>
          </a:p>
        </p:txBody>
      </p:sp>
    </p:spTree>
    <p:extLst>
      <p:ext uri="{BB962C8B-B14F-4D97-AF65-F5344CB8AC3E}">
        <p14:creationId xmlns:p14="http://schemas.microsoft.com/office/powerpoint/2010/main" val="3255277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2272-2493-7A0F-8559-C5331EE03AEB}"/>
            </a:ext>
          </a:extLst>
        </p:cNvPr>
        <p:cNvGrpSpPr/>
        <p:nvPr/>
      </p:nvGrpSpPr>
      <p:grpSpPr>
        <a:xfrm>
          <a:off x="0" y="0"/>
          <a:ext cx="0" cy="0"/>
          <a:chOff x="0" y="0"/>
          <a:chExt cx="0" cy="0"/>
        </a:xfrm>
      </p:grpSpPr>
      <p:sp>
        <p:nvSpPr>
          <p:cNvPr id="120" name="Shape 2">
            <a:extLst>
              <a:ext uri="{FF2B5EF4-FFF2-40B4-BE49-F238E27FC236}">
                <a16:creationId xmlns:a16="http://schemas.microsoft.com/office/drawing/2014/main" id="{4D354BB6-76C9-E90F-A3CF-8405A5E9486C}"/>
              </a:ext>
            </a:extLst>
          </p:cNvPr>
          <p:cNvSpPr/>
          <p:nvPr/>
        </p:nvSpPr>
        <p:spPr>
          <a:xfrm>
            <a:off x="1192709" y="3281497"/>
            <a:ext cx="6858543"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19" name="Shape 2">
            <a:extLst>
              <a:ext uri="{FF2B5EF4-FFF2-40B4-BE49-F238E27FC236}">
                <a16:creationId xmlns:a16="http://schemas.microsoft.com/office/drawing/2014/main" id="{E1679EAD-BF4C-C4B3-B5E4-8F476D2C7862}"/>
              </a:ext>
            </a:extLst>
          </p:cNvPr>
          <p:cNvSpPr/>
          <p:nvPr/>
        </p:nvSpPr>
        <p:spPr>
          <a:xfrm>
            <a:off x="1192710" y="2351676"/>
            <a:ext cx="6858543"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118" name="Shape 2">
            <a:extLst>
              <a:ext uri="{FF2B5EF4-FFF2-40B4-BE49-F238E27FC236}">
                <a16:creationId xmlns:a16="http://schemas.microsoft.com/office/drawing/2014/main" id="{EDD8E7A3-1940-4554-0B65-F78EC8FA2BBF}"/>
              </a:ext>
            </a:extLst>
          </p:cNvPr>
          <p:cNvSpPr/>
          <p:nvPr/>
        </p:nvSpPr>
        <p:spPr>
          <a:xfrm>
            <a:off x="1192711" y="1526177"/>
            <a:ext cx="6110151" cy="656228"/>
          </a:xfrm>
          <a:prstGeom prst="roundRect">
            <a:avLst>
              <a:gd name="adj" fmla="val 4103"/>
            </a:avLst>
          </a:prstGeom>
          <a:solidFill>
            <a:srgbClr val="F1F3F5"/>
          </a:solidFill>
          <a:ln w="12700">
            <a:solidFill>
              <a:srgbClr val="F1F3F5"/>
            </a:solidFill>
            <a:prstDash val="solid"/>
          </a:ln>
        </p:spPr>
        <p:txBody>
          <a:bodyPr/>
          <a:lstStyle/>
          <a:p>
            <a:endParaRPr lang="en-US"/>
          </a:p>
        </p:txBody>
      </p:sp>
      <p:sp>
        <p:nvSpPr>
          <p:cNvPr id="2" name="Text 0">
            <a:extLst>
              <a:ext uri="{FF2B5EF4-FFF2-40B4-BE49-F238E27FC236}">
                <a16:creationId xmlns:a16="http://schemas.microsoft.com/office/drawing/2014/main" id="{AA82C3AE-3337-5CFB-5E64-04C0F457915E}"/>
              </a:ext>
            </a:extLst>
          </p:cNvPr>
          <p:cNvSpPr txBox="1"/>
          <p:nvPr/>
        </p:nvSpPr>
        <p:spPr>
          <a:xfrm>
            <a:off x="548640" y="320040"/>
            <a:ext cx="8046720" cy="640080"/>
          </a:xfrm>
          <a:prstGeom prst="rect">
            <a:avLst/>
          </a:prstGeom>
          <a:noFill/>
          <a:ln/>
        </p:spPr>
        <p:txBody>
          <a:bodyPr wrap="square" lIns="0" tIns="0" rIns="0" bIns="0" rtlCol="0" anchor="ctr"/>
          <a:lstStyle/>
          <a:p>
            <a:r>
              <a:rPr lang="en-US" sz="3000" b="1">
                <a:solidFill>
                  <a:srgbClr val="1B2A41"/>
                </a:solidFill>
                <a:latin typeface="Cambria"/>
                <a:ea typeface="Cambria"/>
              </a:rPr>
              <a:t>The questions</a:t>
            </a:r>
            <a:endParaRPr lang="en-US"/>
          </a:p>
        </p:txBody>
      </p:sp>
      <p:sp>
        <p:nvSpPr>
          <p:cNvPr id="106" name="Text 104">
            <a:extLst>
              <a:ext uri="{FF2B5EF4-FFF2-40B4-BE49-F238E27FC236}">
                <a16:creationId xmlns:a16="http://schemas.microsoft.com/office/drawing/2014/main" id="{54421F9B-846E-AAB1-058F-64EC7D48DB33}"/>
              </a:ext>
            </a:extLst>
          </p:cNvPr>
          <p:cNvSpPr txBox="1"/>
          <p:nvPr/>
        </p:nvSpPr>
        <p:spPr>
          <a:xfrm>
            <a:off x="1397000" y="1581121"/>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Can we predict who is most likely to give again?</a:t>
            </a:r>
            <a:endParaRPr lang="en-US" sz="2000">
              <a:latin typeface="Calibri"/>
              <a:ea typeface="Calibri"/>
              <a:cs typeface="Calibri"/>
            </a:endParaRPr>
          </a:p>
        </p:txBody>
      </p:sp>
      <p:sp>
        <p:nvSpPr>
          <p:cNvPr id="112" name="Text 104">
            <a:extLst>
              <a:ext uri="{FF2B5EF4-FFF2-40B4-BE49-F238E27FC236}">
                <a16:creationId xmlns:a16="http://schemas.microsoft.com/office/drawing/2014/main" id="{997D6E12-131F-8089-71E0-98F4DF4F1F95}"/>
              </a:ext>
            </a:extLst>
          </p:cNvPr>
          <p:cNvSpPr txBox="1"/>
          <p:nvPr/>
        </p:nvSpPr>
        <p:spPr>
          <a:xfrm>
            <a:off x="1396999" y="2451978"/>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Can we predict who is most likely to give the most over time?</a:t>
            </a:r>
            <a:endParaRPr lang="en-US" sz="2000">
              <a:latin typeface="Calibri"/>
              <a:ea typeface="Calibri"/>
              <a:cs typeface="Calibri"/>
            </a:endParaRPr>
          </a:p>
        </p:txBody>
      </p:sp>
      <p:sp>
        <p:nvSpPr>
          <p:cNvPr id="116" name="Text 104">
            <a:extLst>
              <a:ext uri="{FF2B5EF4-FFF2-40B4-BE49-F238E27FC236}">
                <a16:creationId xmlns:a16="http://schemas.microsoft.com/office/drawing/2014/main" id="{89209457-1062-3758-9855-68E11E3919CA}"/>
              </a:ext>
            </a:extLst>
          </p:cNvPr>
          <p:cNvSpPr txBox="1"/>
          <p:nvPr/>
        </p:nvSpPr>
        <p:spPr>
          <a:xfrm>
            <a:off x="1396998" y="3381799"/>
            <a:ext cx="7465966" cy="457200"/>
          </a:xfrm>
          <a:prstGeom prst="rect">
            <a:avLst/>
          </a:prstGeom>
          <a:noFill/>
          <a:ln/>
        </p:spPr>
        <p:txBody>
          <a:bodyPr wrap="square" lIns="0" tIns="0" rIns="0" bIns="0" rtlCol="0" anchor="ctr"/>
          <a:lstStyle/>
          <a:p>
            <a:r>
              <a:rPr lang="en-US" sz="2000" b="1">
                <a:solidFill>
                  <a:srgbClr val="1B2A41"/>
                </a:solidFill>
                <a:latin typeface="Calibri"/>
                <a:ea typeface="Calibri"/>
                <a:cs typeface="Calibri"/>
              </a:rPr>
              <a:t>Is there anything we can do to improve these metrics?</a:t>
            </a:r>
          </a:p>
        </p:txBody>
      </p:sp>
    </p:spTree>
    <p:extLst>
      <p:ext uri="{BB962C8B-B14F-4D97-AF65-F5344CB8AC3E}">
        <p14:creationId xmlns:p14="http://schemas.microsoft.com/office/powerpoint/2010/main" val="2196141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we did</a:t>
            </a:r>
            <a:endParaRPr lang="en-US" sz="3000"/>
          </a:p>
        </p:txBody>
      </p:sp>
      <p:sp>
        <p:nvSpPr>
          <p:cNvPr id="3" name="Shape 1"/>
          <p:cNvSpPr/>
          <p:nvPr/>
        </p:nvSpPr>
        <p:spPr>
          <a:xfrm>
            <a:off x="1097280" y="1623060"/>
            <a:ext cx="7040880" cy="0"/>
          </a:xfrm>
          <a:prstGeom prst="line">
            <a:avLst/>
          </a:prstGeom>
          <a:noFill/>
          <a:ln w="25400">
            <a:solidFill>
              <a:srgbClr val="C9CED6"/>
            </a:solidFill>
            <a:prstDash val="solid"/>
          </a:ln>
        </p:spPr>
        <p:txBody>
          <a:bodyPr/>
          <a:lstStyle/>
          <a:p>
            <a:endParaRPr lang="en-US"/>
          </a:p>
        </p:txBody>
      </p:sp>
      <p:sp>
        <p:nvSpPr>
          <p:cNvPr id="4" name="Shape 2"/>
          <p:cNvSpPr/>
          <p:nvPr/>
        </p:nvSpPr>
        <p:spPr>
          <a:xfrm>
            <a:off x="68580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880110" y="1428750"/>
            <a:ext cx="388620" cy="388620"/>
          </a:xfrm>
          <a:prstGeom prst="rect">
            <a:avLst/>
          </a:prstGeom>
        </p:spPr>
      </p:pic>
      <p:sp>
        <p:nvSpPr>
          <p:cNvPr id="6" name="Text 3"/>
          <p:cNvSpPr txBox="1"/>
          <p:nvPr/>
        </p:nvSpPr>
        <p:spPr>
          <a:xfrm>
            <a:off x="41605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1 · Check</a:t>
            </a:r>
            <a:endParaRPr lang="en-US" sz="1400"/>
          </a:p>
        </p:txBody>
      </p:sp>
      <p:sp>
        <p:nvSpPr>
          <p:cNvPr id="7" name="Text 4"/>
          <p:cNvSpPr txBox="1"/>
          <p:nvPr/>
        </p:nvSpPr>
        <p:spPr>
          <a:xfrm>
            <a:off x="41605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Can we follow one donor over time?</a:t>
            </a:r>
            <a:endParaRPr lang="en-US" sz="1150"/>
          </a:p>
        </p:txBody>
      </p:sp>
      <p:sp>
        <p:nvSpPr>
          <p:cNvPr id="8" name="Shape 5"/>
          <p:cNvSpPr/>
          <p:nvPr/>
        </p:nvSpPr>
        <p:spPr>
          <a:xfrm>
            <a:off x="210312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2297430" y="1428750"/>
            <a:ext cx="388620" cy="388620"/>
          </a:xfrm>
          <a:prstGeom prst="rect">
            <a:avLst/>
          </a:prstGeom>
        </p:spPr>
      </p:pic>
      <p:sp>
        <p:nvSpPr>
          <p:cNvPr id="10" name="Text 6"/>
          <p:cNvSpPr txBox="1"/>
          <p:nvPr/>
        </p:nvSpPr>
        <p:spPr>
          <a:xfrm>
            <a:off x="183337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2 · Label</a:t>
            </a:r>
            <a:endParaRPr lang="en-US" sz="1400"/>
          </a:p>
        </p:txBody>
      </p:sp>
      <p:sp>
        <p:nvSpPr>
          <p:cNvPr id="11" name="Text 7"/>
          <p:cNvSpPr txBox="1"/>
          <p:nvPr/>
        </p:nvSpPr>
        <p:spPr>
          <a:xfrm>
            <a:off x="183337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Gave again within 12 months?</a:t>
            </a:r>
            <a:endParaRPr lang="en-US" sz="1150"/>
          </a:p>
        </p:txBody>
      </p:sp>
      <p:sp>
        <p:nvSpPr>
          <p:cNvPr id="12" name="Shape 8"/>
          <p:cNvSpPr/>
          <p:nvPr/>
        </p:nvSpPr>
        <p:spPr>
          <a:xfrm>
            <a:off x="352044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3714750" y="1428750"/>
            <a:ext cx="388620" cy="388620"/>
          </a:xfrm>
          <a:prstGeom prst="rect">
            <a:avLst/>
          </a:prstGeom>
        </p:spPr>
      </p:pic>
      <p:sp>
        <p:nvSpPr>
          <p:cNvPr id="14" name="Text 9"/>
          <p:cNvSpPr txBox="1"/>
          <p:nvPr/>
        </p:nvSpPr>
        <p:spPr>
          <a:xfrm>
            <a:off x="325069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3 · Split</a:t>
            </a:r>
            <a:endParaRPr lang="en-US" sz="1400"/>
          </a:p>
        </p:txBody>
      </p:sp>
      <p:sp>
        <p:nvSpPr>
          <p:cNvPr id="15" name="Text 10"/>
          <p:cNvSpPr txBox="1"/>
          <p:nvPr/>
        </p:nvSpPr>
        <p:spPr>
          <a:xfrm>
            <a:off x="325069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Learn from the past, test on the future</a:t>
            </a:r>
            <a:endParaRPr lang="en-US" sz="1150"/>
          </a:p>
        </p:txBody>
      </p:sp>
      <p:sp>
        <p:nvSpPr>
          <p:cNvPr id="16" name="Shape 11"/>
          <p:cNvSpPr/>
          <p:nvPr/>
        </p:nvSpPr>
        <p:spPr>
          <a:xfrm>
            <a:off x="4937760" y="1234440"/>
            <a:ext cx="777240" cy="777240"/>
          </a:xfrm>
          <a:prstGeom prst="ellipse">
            <a:avLst/>
          </a:prstGeom>
          <a:solidFill>
            <a:srgbClr val="1B2A41"/>
          </a:solidFill>
          <a:ln w="12700">
            <a:solidFill>
              <a:srgbClr val="1B2A41"/>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5132070" y="1428750"/>
            <a:ext cx="388620" cy="388620"/>
          </a:xfrm>
          <a:prstGeom prst="rect">
            <a:avLst/>
          </a:prstGeom>
        </p:spPr>
      </p:pic>
      <p:sp>
        <p:nvSpPr>
          <p:cNvPr id="18" name="Text 12"/>
          <p:cNvSpPr txBox="1"/>
          <p:nvPr/>
        </p:nvSpPr>
        <p:spPr>
          <a:xfrm>
            <a:off x="466801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4 · Baseline</a:t>
            </a:r>
            <a:endParaRPr lang="en-US" sz="1400"/>
          </a:p>
        </p:txBody>
      </p:sp>
      <p:sp>
        <p:nvSpPr>
          <p:cNvPr id="19" name="Text 13"/>
          <p:cNvSpPr txBox="1"/>
          <p:nvPr/>
        </p:nvSpPr>
        <p:spPr>
          <a:xfrm>
            <a:off x="466801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Rule to beat: biggest gift first</a:t>
            </a:r>
            <a:endParaRPr lang="en-US" sz="1150"/>
          </a:p>
        </p:txBody>
      </p:sp>
      <p:sp>
        <p:nvSpPr>
          <p:cNvPr id="20" name="Shape 14"/>
          <p:cNvSpPr/>
          <p:nvPr/>
        </p:nvSpPr>
        <p:spPr>
          <a:xfrm>
            <a:off x="6355080" y="1234440"/>
            <a:ext cx="777240" cy="777240"/>
          </a:xfrm>
          <a:prstGeom prst="ellipse">
            <a:avLst/>
          </a:prstGeom>
          <a:solidFill>
            <a:srgbClr val="E4572E"/>
          </a:solidFill>
          <a:ln w="12700">
            <a:solidFill>
              <a:srgbClr val="E4572E"/>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6549390" y="1428750"/>
            <a:ext cx="388620" cy="388620"/>
          </a:xfrm>
          <a:prstGeom prst="rect">
            <a:avLst/>
          </a:prstGeom>
        </p:spPr>
      </p:pic>
      <p:sp>
        <p:nvSpPr>
          <p:cNvPr id="22" name="Text 15"/>
          <p:cNvSpPr txBox="1"/>
          <p:nvPr/>
        </p:nvSpPr>
        <p:spPr>
          <a:xfrm>
            <a:off x="608533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5 · Model</a:t>
            </a:r>
            <a:endParaRPr lang="en-US" sz="1400"/>
          </a:p>
        </p:txBody>
      </p:sp>
      <p:sp>
        <p:nvSpPr>
          <p:cNvPr id="23" name="Text 16"/>
          <p:cNvSpPr txBox="1"/>
          <p:nvPr/>
        </p:nvSpPr>
        <p:spPr>
          <a:xfrm>
            <a:off x="608533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Chance of return × likely amount</a:t>
            </a:r>
            <a:endParaRPr lang="en-US" sz="1150"/>
          </a:p>
        </p:txBody>
      </p:sp>
      <p:sp>
        <p:nvSpPr>
          <p:cNvPr id="24" name="Shape 17"/>
          <p:cNvSpPr/>
          <p:nvPr/>
        </p:nvSpPr>
        <p:spPr>
          <a:xfrm>
            <a:off x="7772400" y="1234440"/>
            <a:ext cx="777240" cy="777240"/>
          </a:xfrm>
          <a:prstGeom prst="ellipse">
            <a:avLst/>
          </a:prstGeom>
          <a:solidFill>
            <a:srgbClr val="1B2A41"/>
          </a:solidFill>
          <a:ln w="12700">
            <a:solidFill>
              <a:srgbClr val="1B2A41"/>
            </a:solidFill>
            <a:prstDash val="solid"/>
          </a:ln>
        </p:spPr>
        <p:txBody>
          <a:bodyPr/>
          <a:lstStyle/>
          <a:p>
            <a:endParaRPr lang="en-US"/>
          </a:p>
        </p:txBody>
      </p:sp>
      <p:sp>
        <p:nvSpPr>
          <p:cNvPr id="26" name="Text 18"/>
          <p:cNvSpPr txBox="1"/>
          <p:nvPr/>
        </p:nvSpPr>
        <p:spPr>
          <a:xfrm>
            <a:off x="7502652" y="2148840"/>
            <a:ext cx="1316736" cy="320040"/>
          </a:xfrm>
          <a:prstGeom prst="rect">
            <a:avLst/>
          </a:prstGeom>
          <a:noFill/>
          <a:ln/>
        </p:spPr>
        <p:txBody>
          <a:bodyPr wrap="square" lIns="0" tIns="0" rIns="0" bIns="0" rtlCol="0" anchor="ctr"/>
          <a:lstStyle/>
          <a:p>
            <a:pPr marL="0" indent="0" algn="ctr">
              <a:buNone/>
            </a:pPr>
            <a:r>
              <a:rPr lang="en-US" sz="1400" b="1">
                <a:solidFill>
                  <a:srgbClr val="1B2A41"/>
                </a:solidFill>
                <a:latin typeface="Calibri" pitchFamily="34" charset="0"/>
                <a:ea typeface="Calibri" pitchFamily="34" charset="-122"/>
                <a:cs typeface="Calibri" pitchFamily="34" charset="-120"/>
              </a:rPr>
              <a:t>6 · Rank</a:t>
            </a:r>
            <a:endParaRPr lang="en-US" sz="1400"/>
          </a:p>
        </p:txBody>
      </p:sp>
      <p:sp>
        <p:nvSpPr>
          <p:cNvPr id="27" name="Text 19"/>
          <p:cNvSpPr txBox="1"/>
          <p:nvPr/>
        </p:nvSpPr>
        <p:spPr>
          <a:xfrm>
            <a:off x="7502652" y="2487168"/>
            <a:ext cx="1316736" cy="731520"/>
          </a:xfrm>
          <a:prstGeom prst="rect">
            <a:avLst/>
          </a:prstGeom>
          <a:noFill/>
          <a:ln/>
        </p:spPr>
        <p:txBody>
          <a:bodyPr wrap="square" lIns="0" tIns="0" rIns="0" bIns="0" rtlCol="0" anchor="t"/>
          <a:lstStyle/>
          <a:p>
            <a:pPr marL="0" indent="0" algn="ctr">
              <a:buNone/>
            </a:pPr>
            <a:r>
              <a:rPr lang="en-US" sz="1150">
                <a:solidFill>
                  <a:srgbClr val="6B7280"/>
                </a:solidFill>
                <a:latin typeface="Calibri" pitchFamily="34" charset="0"/>
                <a:ea typeface="Calibri" pitchFamily="34" charset="-122"/>
                <a:cs typeface="Calibri" pitchFamily="34" charset="-120"/>
              </a:rPr>
              <a:t>Sort by predicted repeat value</a:t>
            </a:r>
            <a:endParaRPr lang="en-US" sz="1150"/>
          </a:p>
        </p:txBody>
      </p:sp>
      <p:sp>
        <p:nvSpPr>
          <p:cNvPr id="28" name="Shape 20"/>
          <p:cNvSpPr/>
          <p:nvPr/>
        </p:nvSpPr>
        <p:spPr>
          <a:xfrm>
            <a:off x="548640" y="3611880"/>
            <a:ext cx="8046720" cy="868680"/>
          </a:xfrm>
          <a:prstGeom prst="roundRect">
            <a:avLst>
              <a:gd name="adj" fmla="val 8421"/>
            </a:avLst>
          </a:prstGeom>
          <a:solidFill>
            <a:srgbClr val="F1F3F5"/>
          </a:solidFill>
          <a:ln w="12700">
            <a:solidFill>
              <a:srgbClr val="F1F3F5"/>
            </a:solidFill>
            <a:prstDash val="solid"/>
          </a:ln>
        </p:spPr>
        <p:txBody>
          <a:bodyPr/>
          <a:lstStyle/>
          <a:p>
            <a:endParaRPr lang="en-US"/>
          </a:p>
        </p:txBody>
      </p:sp>
      <p:sp>
        <p:nvSpPr>
          <p:cNvPr id="29" name="Text 21"/>
          <p:cNvSpPr txBox="1"/>
          <p:nvPr/>
        </p:nvSpPr>
        <p:spPr>
          <a:xfrm>
            <a:off x="822960" y="3611880"/>
            <a:ext cx="3840480" cy="868680"/>
          </a:xfrm>
          <a:prstGeom prst="rect">
            <a:avLst/>
          </a:prstGeom>
          <a:noFill/>
          <a:ln/>
        </p:spPr>
        <p:txBody>
          <a:bodyPr wrap="square" lIns="0" tIns="0" rIns="0" bIns="0" rtlCol="0" anchor="ctr"/>
          <a:lstStyle/>
          <a:p>
            <a:pPr marL="0" indent="0">
              <a:buNone/>
            </a:pPr>
            <a:r>
              <a:rPr lang="en-US" sz="2600" b="1">
                <a:solidFill>
                  <a:srgbClr val="E4572E"/>
                </a:solidFill>
                <a:latin typeface="Cambria" pitchFamily="34" charset="0"/>
                <a:ea typeface="Cambria" pitchFamily="34" charset="-122"/>
                <a:cs typeface="Cambria" pitchFamily="34" charset="-120"/>
              </a:rPr>
              <a:t>3.28M </a:t>
            </a:r>
            <a:r>
              <a:rPr lang="en-US" sz="1400">
                <a:solidFill>
                  <a:srgbClr val="1B2A41"/>
                </a:solidFill>
                <a:latin typeface="Calibri" pitchFamily="34" charset="0"/>
                <a:ea typeface="Calibri" pitchFamily="34" charset="-122"/>
                <a:cs typeface="Calibri" pitchFamily="34" charset="-120"/>
              </a:rPr>
              <a:t>first-time donors labeled</a:t>
            </a:r>
            <a:endParaRPr lang="en-US" sz="2600"/>
          </a:p>
        </p:txBody>
      </p:sp>
      <p:sp>
        <p:nvSpPr>
          <p:cNvPr id="30" name="Text 22"/>
          <p:cNvSpPr txBox="1"/>
          <p:nvPr/>
        </p:nvSpPr>
        <p:spPr>
          <a:xfrm>
            <a:off x="4663440" y="3611880"/>
            <a:ext cx="3840480" cy="868680"/>
          </a:xfrm>
          <a:prstGeom prst="rect">
            <a:avLst/>
          </a:prstGeom>
          <a:noFill/>
          <a:ln/>
        </p:spPr>
        <p:txBody>
          <a:bodyPr wrap="square" lIns="0" tIns="0" rIns="0" bIns="0" rtlCol="0" anchor="ctr"/>
          <a:lstStyle/>
          <a:p>
            <a:pPr marL="0" indent="0">
              <a:buNone/>
            </a:pPr>
            <a:r>
              <a:rPr lang="en-US" sz="2600" b="1">
                <a:solidFill>
                  <a:srgbClr val="E4572E"/>
                </a:solidFill>
                <a:latin typeface="Cambria" pitchFamily="34" charset="0"/>
                <a:ea typeface="Cambria" pitchFamily="34" charset="-122"/>
                <a:cs typeface="Cambria" pitchFamily="34" charset="-120"/>
              </a:rPr>
              <a:t>15.8% </a:t>
            </a:r>
            <a:r>
              <a:rPr lang="en-US" sz="1400">
                <a:solidFill>
                  <a:srgbClr val="1B2A41"/>
                </a:solidFill>
                <a:latin typeface="Calibri" pitchFamily="34" charset="0"/>
                <a:ea typeface="Calibri" pitchFamily="34" charset="-122"/>
                <a:cs typeface="Calibri" pitchFamily="34" charset="-120"/>
              </a:rPr>
              <a:t>gave again within a year</a:t>
            </a:r>
            <a:endParaRPr lang="en-US" sz="2600"/>
          </a:p>
        </p:txBody>
      </p:sp>
      <p:pic>
        <p:nvPicPr>
          <p:cNvPr id="31" name="Picture 30" descr="FaSortAmountDown_FFFFFF.png"/>
          <p:cNvPicPr>
            <a:picLocks noChangeAspect="1"/>
          </p:cNvPicPr>
          <p:nvPr/>
        </p:nvPicPr>
        <p:blipFill>
          <a:blip r:embed="rId8"/>
          <a:stretch>
            <a:fillRect/>
          </a:stretch>
        </p:blipFill>
        <p:spPr>
          <a:xfrm>
            <a:off x="7966710" y="1428750"/>
            <a:ext cx="388620" cy="388620"/>
          </a:xfrm>
          <a:prstGeom prst="rect">
            <a:avLst/>
          </a:prstGeom>
        </p:spPr>
      </p:pic>
    </p:spTree>
    <p:extLst>
      <p:ext uri="{BB962C8B-B14F-4D97-AF65-F5344CB8AC3E}">
        <p14:creationId xmlns:p14="http://schemas.microsoft.com/office/powerpoint/2010/main" val="3932616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What the model looked at</a:t>
            </a:r>
          </a:p>
        </p:txBody>
      </p:sp>
      <p:sp>
        <p:nvSpPr>
          <p:cNvPr id="3" name="TextBox 2"/>
          <p:cNvSpPr txBox="1"/>
          <p:nvPr/>
        </p:nvSpPr>
        <p:spPr>
          <a:xfrm>
            <a:off x="548640" y="896112"/>
            <a:ext cx="8046720" cy="320040"/>
          </a:xfrm>
          <a:prstGeom prst="rect">
            <a:avLst/>
          </a:prstGeom>
          <a:noFill/>
        </p:spPr>
        <p:txBody>
          <a:bodyPr wrap="square" lIns="0" tIns="0" rIns="0" bIns="0" anchor="t">
            <a:spAutoFit/>
          </a:bodyPr>
          <a:lstStyle/>
          <a:p>
            <a:pPr algn="l"/>
            <a:r>
              <a:rPr sz="1400" b="0" i="0">
                <a:solidFill>
                  <a:srgbClr val="6B7280"/>
                </a:solidFill>
                <a:latin typeface="Calibri"/>
              </a:rPr>
              <a:t>19 inputs, all known the day of the first gift. No names, no demographics.</a:t>
            </a:r>
          </a:p>
        </p:txBody>
      </p:sp>
      <p:sp>
        <p:nvSpPr>
          <p:cNvPr id="4" name="Rounded Rectangle 3"/>
          <p:cNvSpPr/>
          <p:nvPr/>
        </p:nvSpPr>
        <p:spPr>
          <a:xfrm>
            <a:off x="548640" y="1371600"/>
            <a:ext cx="3886200" cy="3246120"/>
          </a:xfrm>
          <a:prstGeom prst="roundRect">
            <a:avLst>
              <a:gd name="adj" fmla="val 225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600200"/>
            <a:ext cx="502920" cy="5029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902970" y="1725930"/>
            <a:ext cx="251460" cy="251460"/>
          </a:xfrm>
          <a:prstGeom prst="rect">
            <a:avLst/>
          </a:prstGeom>
        </p:spPr>
      </p:pic>
      <p:sp>
        <p:nvSpPr>
          <p:cNvPr id="7" name="TextBox 6"/>
          <p:cNvSpPr txBox="1"/>
          <p:nvPr/>
        </p:nvSpPr>
        <p:spPr>
          <a:xfrm>
            <a:off x="1417319" y="1600200"/>
            <a:ext cx="2743200" cy="502920"/>
          </a:xfrm>
          <a:prstGeom prst="rect">
            <a:avLst/>
          </a:prstGeom>
          <a:noFill/>
        </p:spPr>
        <p:txBody>
          <a:bodyPr wrap="square" lIns="0" tIns="0" rIns="0" bIns="0" anchor="ctr">
            <a:spAutoFit/>
          </a:bodyPr>
          <a:lstStyle/>
          <a:p>
            <a:pPr algn="l"/>
            <a:r>
              <a:rPr sz="1800" b="1" i="0">
                <a:solidFill>
                  <a:srgbClr val="1B2A41"/>
                </a:solidFill>
                <a:latin typeface="Calibri"/>
              </a:rPr>
              <a:t>About the gift</a:t>
            </a:r>
          </a:p>
        </p:txBody>
      </p:sp>
      <p:sp>
        <p:nvSpPr>
          <p:cNvPr id="8" name="Oval 7"/>
          <p:cNvSpPr/>
          <p:nvPr/>
        </p:nvSpPr>
        <p:spPr>
          <a:xfrm>
            <a:off x="868680" y="2423160"/>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2331720"/>
            <a:ext cx="3200400" cy="274320"/>
          </a:xfrm>
          <a:prstGeom prst="rect">
            <a:avLst/>
          </a:prstGeom>
          <a:noFill/>
        </p:spPr>
        <p:txBody>
          <a:bodyPr wrap="square" lIns="0" tIns="0" rIns="0" bIns="0" anchor="t">
            <a:spAutoFit/>
          </a:bodyPr>
          <a:lstStyle/>
          <a:p>
            <a:pPr algn="l"/>
            <a:r>
              <a:rPr sz="1400" b="0" i="0">
                <a:solidFill>
                  <a:srgbClr val="1B2A41"/>
                </a:solidFill>
                <a:latin typeface="Calibri"/>
              </a:rPr>
              <a:t>Gift amount</a:t>
            </a:r>
          </a:p>
        </p:txBody>
      </p:sp>
      <p:sp>
        <p:nvSpPr>
          <p:cNvPr id="10" name="Oval 9"/>
          <p:cNvSpPr/>
          <p:nvPr/>
        </p:nvSpPr>
        <p:spPr>
          <a:xfrm>
            <a:off x="868680" y="2734056"/>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642615"/>
            <a:ext cx="3200400" cy="274320"/>
          </a:xfrm>
          <a:prstGeom prst="rect">
            <a:avLst/>
          </a:prstGeom>
          <a:noFill/>
        </p:spPr>
        <p:txBody>
          <a:bodyPr wrap="square" lIns="0" tIns="0" rIns="0" bIns="0" anchor="t">
            <a:spAutoFit/>
          </a:bodyPr>
          <a:lstStyle/>
          <a:p>
            <a:pPr algn="l"/>
            <a:r>
              <a:rPr sz="1400" b="0" i="0">
                <a:solidFill>
                  <a:srgbClr val="1B2A41"/>
                </a:solidFill>
                <a:latin typeface="Calibri"/>
              </a:rPr>
              <a:t>Classrooms funded that month</a:t>
            </a:r>
          </a:p>
        </p:txBody>
      </p:sp>
      <p:sp>
        <p:nvSpPr>
          <p:cNvPr id="12" name="Oval 11"/>
          <p:cNvSpPr/>
          <p:nvPr/>
        </p:nvSpPr>
        <p:spPr>
          <a:xfrm>
            <a:off x="868680" y="3044952"/>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2953512"/>
            <a:ext cx="3200400" cy="274320"/>
          </a:xfrm>
          <a:prstGeom prst="rect">
            <a:avLst/>
          </a:prstGeom>
          <a:noFill/>
        </p:spPr>
        <p:txBody>
          <a:bodyPr wrap="square" lIns="0" tIns="0" rIns="0" bIns="0" anchor="t">
            <a:spAutoFit/>
          </a:bodyPr>
          <a:lstStyle/>
          <a:p>
            <a:pPr algn="l"/>
            <a:r>
              <a:rPr sz="1400" b="0" i="0">
                <a:solidFill>
                  <a:srgbClr val="1B2A41"/>
                </a:solidFill>
                <a:latin typeface="Calibri"/>
              </a:rPr>
              <a:t>Matched by a partner</a:t>
            </a:r>
          </a:p>
        </p:txBody>
      </p:sp>
      <p:sp>
        <p:nvSpPr>
          <p:cNvPr id="14" name="Oval 13"/>
          <p:cNvSpPr/>
          <p:nvPr/>
        </p:nvSpPr>
        <p:spPr>
          <a:xfrm>
            <a:off x="868680" y="3355848"/>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3264408"/>
            <a:ext cx="3200400" cy="274320"/>
          </a:xfrm>
          <a:prstGeom prst="rect">
            <a:avLst/>
          </a:prstGeom>
          <a:noFill/>
        </p:spPr>
        <p:txBody>
          <a:bodyPr wrap="square" lIns="0" tIns="0" rIns="0" bIns="0" anchor="t">
            <a:spAutoFit/>
          </a:bodyPr>
          <a:lstStyle/>
          <a:p>
            <a:pPr algn="l"/>
            <a:r>
              <a:rPr sz="1400" b="0" i="0">
                <a:solidFill>
                  <a:srgbClr val="1B2A41"/>
                </a:solidFill>
                <a:latin typeface="Calibri"/>
              </a:rPr>
              <a:t>Paid with a gift card</a:t>
            </a:r>
          </a:p>
        </p:txBody>
      </p:sp>
      <p:sp>
        <p:nvSpPr>
          <p:cNvPr id="16" name="Oval 15"/>
          <p:cNvSpPr/>
          <p:nvPr/>
        </p:nvSpPr>
        <p:spPr>
          <a:xfrm>
            <a:off x="868680" y="3666744"/>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3575304"/>
            <a:ext cx="3200400" cy="274320"/>
          </a:xfrm>
          <a:prstGeom prst="rect">
            <a:avLst/>
          </a:prstGeom>
          <a:noFill/>
        </p:spPr>
        <p:txBody>
          <a:bodyPr wrap="square" lIns="0" tIns="0" rIns="0" bIns="0" anchor="t">
            <a:spAutoFit/>
          </a:bodyPr>
          <a:lstStyle/>
          <a:p>
            <a:pPr algn="l"/>
            <a:r>
              <a:rPr sz="1400" b="0" i="0">
                <a:solidFill>
                  <a:srgbClr val="1B2A41"/>
                </a:solidFill>
                <a:latin typeface="Calibri"/>
              </a:rPr>
              <a:t>Referred by a teacher</a:t>
            </a:r>
          </a:p>
        </p:txBody>
      </p:sp>
      <p:sp>
        <p:nvSpPr>
          <p:cNvPr id="18" name="Oval 17"/>
          <p:cNvSpPr/>
          <p:nvPr/>
        </p:nvSpPr>
        <p:spPr>
          <a:xfrm>
            <a:off x="868680" y="3977639"/>
            <a:ext cx="91440" cy="914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3886200"/>
            <a:ext cx="3200400" cy="274320"/>
          </a:xfrm>
          <a:prstGeom prst="rect">
            <a:avLst/>
          </a:prstGeom>
          <a:noFill/>
        </p:spPr>
        <p:txBody>
          <a:bodyPr wrap="square" lIns="0" tIns="0" rIns="0" bIns="0" anchor="t">
            <a:spAutoFit/>
          </a:bodyPr>
          <a:lstStyle/>
          <a:p>
            <a:pPr algn="l"/>
            <a:r>
              <a:rPr sz="1400" b="0" i="0">
                <a:solidFill>
                  <a:srgbClr val="1B2A41"/>
                </a:solidFill>
                <a:latin typeface="Calibri"/>
              </a:rPr>
              <a:t>Month and year of the gift</a:t>
            </a:r>
          </a:p>
        </p:txBody>
      </p:sp>
      <p:sp>
        <p:nvSpPr>
          <p:cNvPr id="20" name="Rounded Rectangle 19"/>
          <p:cNvSpPr/>
          <p:nvPr/>
        </p:nvSpPr>
        <p:spPr>
          <a:xfrm>
            <a:off x="4709159" y="1371600"/>
            <a:ext cx="3886200" cy="3246120"/>
          </a:xfrm>
          <a:prstGeom prst="roundRect">
            <a:avLst>
              <a:gd name="adj" fmla="val 2253"/>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4937759" y="1600200"/>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4"/>
          <a:stretch>
            <a:fillRect/>
          </a:stretch>
        </p:blipFill>
        <p:spPr>
          <a:xfrm>
            <a:off x="5063490" y="1725930"/>
            <a:ext cx="251460" cy="251460"/>
          </a:xfrm>
          <a:prstGeom prst="rect">
            <a:avLst/>
          </a:prstGeom>
        </p:spPr>
      </p:pic>
      <p:sp>
        <p:nvSpPr>
          <p:cNvPr id="23" name="TextBox 22"/>
          <p:cNvSpPr txBox="1"/>
          <p:nvPr/>
        </p:nvSpPr>
        <p:spPr>
          <a:xfrm>
            <a:off x="5577840" y="1600200"/>
            <a:ext cx="2743200" cy="502920"/>
          </a:xfrm>
          <a:prstGeom prst="rect">
            <a:avLst/>
          </a:prstGeom>
          <a:noFill/>
        </p:spPr>
        <p:txBody>
          <a:bodyPr wrap="square" lIns="0" tIns="0" rIns="0" bIns="0" anchor="ctr">
            <a:spAutoFit/>
          </a:bodyPr>
          <a:lstStyle/>
          <a:p>
            <a:pPr algn="l"/>
            <a:r>
              <a:rPr sz="1800" b="1" i="0">
                <a:solidFill>
                  <a:srgbClr val="1B2A41"/>
                </a:solidFill>
                <a:latin typeface="Calibri"/>
              </a:rPr>
              <a:t>About the project</a:t>
            </a:r>
          </a:p>
        </p:txBody>
      </p:sp>
      <p:sp>
        <p:nvSpPr>
          <p:cNvPr id="24" name="Oval 23"/>
          <p:cNvSpPr/>
          <p:nvPr/>
        </p:nvSpPr>
        <p:spPr>
          <a:xfrm>
            <a:off x="5029199" y="2423160"/>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257799" y="2331720"/>
            <a:ext cx="3200400" cy="274320"/>
          </a:xfrm>
          <a:prstGeom prst="rect">
            <a:avLst/>
          </a:prstGeom>
          <a:noFill/>
        </p:spPr>
        <p:txBody>
          <a:bodyPr wrap="square" lIns="0" tIns="0" rIns="0" bIns="0" anchor="t">
            <a:spAutoFit/>
          </a:bodyPr>
          <a:lstStyle/>
          <a:p>
            <a:pPr algn="l"/>
            <a:r>
              <a:rPr sz="1400" b="0" i="0">
                <a:solidFill>
                  <a:srgbClr val="1B2A41"/>
                </a:solidFill>
                <a:latin typeface="Calibri"/>
              </a:rPr>
              <a:t>School state</a:t>
            </a:r>
          </a:p>
        </p:txBody>
      </p:sp>
      <p:sp>
        <p:nvSpPr>
          <p:cNvPr id="26" name="Oval 25"/>
          <p:cNvSpPr/>
          <p:nvPr/>
        </p:nvSpPr>
        <p:spPr>
          <a:xfrm>
            <a:off x="5029199" y="2734056"/>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57799" y="2642615"/>
            <a:ext cx="3200400" cy="274320"/>
          </a:xfrm>
          <a:prstGeom prst="rect">
            <a:avLst/>
          </a:prstGeom>
          <a:noFill/>
        </p:spPr>
        <p:txBody>
          <a:bodyPr wrap="square" lIns="0" tIns="0" rIns="0" bIns="0" anchor="t">
            <a:spAutoFit/>
          </a:bodyPr>
          <a:lstStyle/>
          <a:p>
            <a:pPr algn="l"/>
            <a:r>
              <a:rPr sz="1400" b="0" i="0">
                <a:solidFill>
                  <a:srgbClr val="1B2A41"/>
                </a:solidFill>
                <a:latin typeface="Calibri"/>
              </a:rPr>
              <a:t>Subject</a:t>
            </a:r>
          </a:p>
        </p:txBody>
      </p:sp>
      <p:sp>
        <p:nvSpPr>
          <p:cNvPr id="28" name="Oval 27"/>
          <p:cNvSpPr/>
          <p:nvPr/>
        </p:nvSpPr>
        <p:spPr>
          <a:xfrm>
            <a:off x="5029199" y="3044952"/>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257799" y="2953512"/>
            <a:ext cx="3200400" cy="274320"/>
          </a:xfrm>
          <a:prstGeom prst="rect">
            <a:avLst/>
          </a:prstGeom>
          <a:noFill/>
        </p:spPr>
        <p:txBody>
          <a:bodyPr wrap="square" lIns="0" tIns="0" rIns="0" bIns="0" anchor="t">
            <a:spAutoFit/>
          </a:bodyPr>
          <a:lstStyle/>
          <a:p>
            <a:pPr algn="l"/>
            <a:r>
              <a:rPr sz="1400" b="0" i="0">
                <a:solidFill>
                  <a:srgbClr val="1B2A41"/>
                </a:solidFill>
                <a:latin typeface="Calibri"/>
              </a:rPr>
              <a:t>Grade level</a:t>
            </a:r>
          </a:p>
        </p:txBody>
      </p:sp>
      <p:sp>
        <p:nvSpPr>
          <p:cNvPr id="30" name="Oval 29"/>
          <p:cNvSpPr/>
          <p:nvPr/>
        </p:nvSpPr>
        <p:spPr>
          <a:xfrm>
            <a:off x="5029199" y="3355848"/>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257799" y="3264408"/>
            <a:ext cx="3200400" cy="274320"/>
          </a:xfrm>
          <a:prstGeom prst="rect">
            <a:avLst/>
          </a:prstGeom>
          <a:noFill/>
        </p:spPr>
        <p:txBody>
          <a:bodyPr wrap="square" lIns="0" tIns="0" rIns="0" bIns="0" anchor="t">
            <a:spAutoFit/>
          </a:bodyPr>
          <a:lstStyle/>
          <a:p>
            <a:pPr algn="l"/>
            <a:r>
              <a:rPr sz="1400" b="0" i="0">
                <a:solidFill>
                  <a:srgbClr val="1B2A41"/>
                </a:solidFill>
                <a:latin typeface="Calibri"/>
              </a:rPr>
              <a:t>Project cost</a:t>
            </a:r>
          </a:p>
        </p:txBody>
      </p:sp>
      <p:sp>
        <p:nvSpPr>
          <p:cNvPr id="32" name="Oval 31"/>
          <p:cNvSpPr/>
          <p:nvPr/>
        </p:nvSpPr>
        <p:spPr>
          <a:xfrm>
            <a:off x="5029199" y="3666744"/>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57799" y="3575304"/>
            <a:ext cx="3200400" cy="274320"/>
          </a:xfrm>
          <a:prstGeom prst="rect">
            <a:avLst/>
          </a:prstGeom>
          <a:noFill/>
        </p:spPr>
        <p:txBody>
          <a:bodyPr wrap="square" lIns="0" tIns="0" rIns="0" bIns="0" anchor="t">
            <a:spAutoFit/>
          </a:bodyPr>
          <a:lstStyle/>
          <a:p>
            <a:pPr algn="l"/>
            <a:r>
              <a:rPr sz="1400" b="0" i="0">
                <a:solidFill>
                  <a:srgbClr val="1B2A41"/>
                </a:solidFill>
                <a:latin typeface="Calibri"/>
              </a:rPr>
              <a:t>Students reached</a:t>
            </a:r>
          </a:p>
        </p:txBody>
      </p:sp>
      <p:sp>
        <p:nvSpPr>
          <p:cNvPr id="34" name="Oval 33"/>
          <p:cNvSpPr/>
          <p:nvPr/>
        </p:nvSpPr>
        <p:spPr>
          <a:xfrm>
            <a:off x="5029199" y="3977639"/>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57799" y="3886200"/>
            <a:ext cx="3200400" cy="274320"/>
          </a:xfrm>
          <a:prstGeom prst="rect">
            <a:avLst/>
          </a:prstGeom>
          <a:noFill/>
        </p:spPr>
        <p:txBody>
          <a:bodyPr wrap="square" lIns="0" tIns="0" rIns="0" bIns="0" anchor="t">
            <a:spAutoFit/>
          </a:bodyPr>
          <a:lstStyle/>
          <a:p>
            <a:pPr algn="l"/>
            <a:r>
              <a:rPr sz="1400" b="0" i="0">
                <a:solidFill>
                  <a:srgbClr val="1B2A41"/>
                </a:solidFill>
                <a:latin typeface="Calibri"/>
              </a:rPr>
              <a:t>School poverty level</a:t>
            </a:r>
          </a:p>
        </p:txBody>
      </p:sp>
      <p:sp>
        <p:nvSpPr>
          <p:cNvPr id="36" name="Oval 35"/>
          <p:cNvSpPr/>
          <p:nvPr/>
        </p:nvSpPr>
        <p:spPr>
          <a:xfrm>
            <a:off x="5029199" y="4288536"/>
            <a:ext cx="91440" cy="914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57799" y="4197096"/>
            <a:ext cx="3200400" cy="274320"/>
          </a:xfrm>
          <a:prstGeom prst="rect">
            <a:avLst/>
          </a:prstGeom>
          <a:noFill/>
        </p:spPr>
        <p:txBody>
          <a:bodyPr wrap="square" lIns="0" tIns="0" rIns="0" bIns="0" anchor="t">
            <a:spAutoFit/>
          </a:bodyPr>
          <a:lstStyle/>
          <a:p>
            <a:pPr algn="l"/>
            <a:r>
              <a:rPr sz="1400" b="0" i="0">
                <a:solidFill>
                  <a:srgbClr val="1B2A41"/>
                </a:solidFill>
                <a:latin typeface="Calibri"/>
              </a:rPr>
              <a:t>How long it had been posted</a:t>
            </a:r>
          </a:p>
        </p:txBody>
      </p:sp>
    </p:spTree>
    <p:extLst>
      <p:ext uri="{BB962C8B-B14F-4D97-AF65-F5344CB8AC3E}">
        <p14:creationId xmlns:p14="http://schemas.microsoft.com/office/powerpoint/2010/main" val="987169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DADF-CDBC-C488-D1EB-FBA2A848D09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DD2E2D4-1E50-5C47-6CF4-8AD8FCB29505}"/>
              </a:ext>
            </a:extLst>
          </p:cNvPr>
          <p:cNvSpPr>
            <a:spLocks noGrp="1"/>
          </p:cNvSpPr>
          <p:nvPr/>
        </p:nvSpPr>
        <p:spPr>
          <a:xfrm>
            <a:off x="548640" y="304800"/>
            <a:ext cx="8039100" cy="609600"/>
          </a:xfrm>
          <a:prstGeom prst="rect">
            <a:avLst/>
          </a:prstGeom>
          <a:noFill/>
          <a:ln w="0">
            <a:noFill/>
          </a:ln>
        </p:spPr>
        <p:txBody>
          <a:bodyPr anchor="ctr">
            <a:noAutofit/>
          </a:bodyPr>
          <a:lstStyle/>
          <a:p>
            <a:pPr>
              <a:defRPr sz="3000" b="1">
                <a:solidFill>
                  <a:srgbClr val="1B2A41"/>
                </a:solidFill>
                <a:latin typeface="Cambria"/>
                <a:ea typeface="Cambria"/>
                <a:cs typeface="Cambria"/>
              </a:defRPr>
            </a:pPr>
            <a:r>
              <a:rPr lang="de-DE" sz="3000" b="1">
                <a:solidFill>
                  <a:srgbClr val="1B2A41"/>
                </a:solidFill>
                <a:latin typeface="Cambria"/>
                <a:ea typeface="Cambria"/>
                <a:cs typeface="Cambria"/>
              </a:rPr>
              <a:t>Two </a:t>
            </a:r>
            <a:r>
              <a:rPr lang="de-DE" sz="3000" b="1" err="1">
                <a:solidFill>
                  <a:srgbClr val="1B2A41"/>
                </a:solidFill>
                <a:latin typeface="Cambria"/>
                <a:ea typeface="Cambria"/>
                <a:cs typeface="Cambria"/>
              </a:rPr>
              <a:t>decision</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tree</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models</a:t>
            </a:r>
            <a:endParaRPr sz="3000" b="1">
              <a:solidFill>
                <a:srgbClr val="1B2A41"/>
              </a:solidFill>
              <a:latin typeface="Cambria"/>
              <a:ea typeface="Cambria"/>
              <a:cs typeface="Cambria"/>
            </a:endParaRPr>
          </a:p>
        </p:txBody>
      </p:sp>
      <p:sp>
        <p:nvSpPr>
          <p:cNvPr id="4" name="Rectangle 3">
            <a:extLst>
              <a:ext uri="{FF2B5EF4-FFF2-40B4-BE49-F238E27FC236}">
                <a16:creationId xmlns:a16="http://schemas.microsoft.com/office/drawing/2014/main" id="{7D70963F-DEDD-C9D7-1DE5-A5245A2AAFFC}"/>
              </a:ext>
            </a:extLst>
          </p:cNvPr>
          <p:cNvSpPr>
            <a:spLocks noGrp="1"/>
          </p:cNvSpPr>
          <p:nvPr/>
        </p:nvSpPr>
        <p:spPr>
          <a:xfrm>
            <a:off x="554355" y="1137844"/>
            <a:ext cx="8035290" cy="434500"/>
          </a:xfrm>
          <a:prstGeom prst="rect">
            <a:avLst/>
          </a:prstGeom>
          <a:solidFill>
            <a:srgbClr val="F1F3F5"/>
          </a:solidFill>
          <a:ln w="0">
            <a:noFill/>
          </a:ln>
        </p:spPr>
        <p:txBody>
          <a:bodyPr/>
          <a:lstStyle/>
          <a:p>
            <a:endParaRPr lang="en-US"/>
          </a:p>
        </p:txBody>
      </p:sp>
      <p:sp>
        <p:nvSpPr>
          <p:cNvPr id="5" name="Rectangle 4">
            <a:extLst>
              <a:ext uri="{FF2B5EF4-FFF2-40B4-BE49-F238E27FC236}">
                <a16:creationId xmlns:a16="http://schemas.microsoft.com/office/drawing/2014/main" id="{DE0C4BC5-070E-2C79-6DAE-373C94EE0D2A}"/>
              </a:ext>
            </a:extLst>
          </p:cNvPr>
          <p:cNvSpPr>
            <a:spLocks noGrp="1"/>
          </p:cNvSpPr>
          <p:nvPr/>
        </p:nvSpPr>
        <p:spPr>
          <a:xfrm>
            <a:off x="647700" y="1225216"/>
            <a:ext cx="7612380" cy="259755"/>
          </a:xfrm>
          <a:prstGeom prst="rect">
            <a:avLst/>
          </a:prstGeom>
          <a:noFill/>
          <a:ln w="0">
            <a:noFill/>
          </a:ln>
        </p:spPr>
        <p:txBody>
          <a:bodyPr anchor="ctr">
            <a:noAutofit/>
          </a:bodyPr>
          <a:lstStyle/>
          <a:p>
            <a:pPr algn="ctr">
              <a:defRPr sz="1800" b="1">
                <a:solidFill>
                  <a:srgbClr val="1B2A41"/>
                </a:solidFill>
                <a:latin typeface="Calibri"/>
                <a:ea typeface="Calibri"/>
                <a:cs typeface="Calibri"/>
              </a:defRPr>
            </a:pPr>
            <a:r>
              <a:rPr sz="1600" b="1">
                <a:solidFill>
                  <a:srgbClr val="1B2A41"/>
                </a:solidFill>
                <a:latin typeface="Calibri"/>
                <a:ea typeface="Calibri"/>
                <a:cs typeface="Calibri"/>
              </a:rPr>
              <a:t>Gift + project inputs</a:t>
            </a:r>
          </a:p>
        </p:txBody>
      </p:sp>
      <p:sp>
        <p:nvSpPr>
          <p:cNvPr id="6" name="Right Arrow 5">
            <a:extLst>
              <a:ext uri="{FF2B5EF4-FFF2-40B4-BE49-F238E27FC236}">
                <a16:creationId xmlns:a16="http://schemas.microsoft.com/office/drawing/2014/main" id="{8AE009E3-1D28-D895-A5B4-F3BF81D2992F}"/>
              </a:ext>
            </a:extLst>
          </p:cNvPr>
          <p:cNvSpPr>
            <a:spLocks noGrp="1"/>
          </p:cNvSpPr>
          <p:nvPr/>
        </p:nvSpPr>
        <p:spPr>
          <a:xfrm rot="5400000">
            <a:off x="6476047" y="1743403"/>
            <a:ext cx="257175" cy="171450"/>
          </a:xfrm>
          <a:prstGeom prst="rightArrow">
            <a:avLst/>
          </a:prstGeom>
          <a:solidFill>
            <a:srgbClr val="6B7280"/>
          </a:solidFill>
          <a:ln w="0">
            <a:noFill/>
          </a:ln>
        </p:spPr>
        <p:txBody>
          <a:bodyPr/>
          <a:lstStyle/>
          <a:p>
            <a:endParaRPr lang="en-US"/>
          </a:p>
        </p:txBody>
      </p:sp>
      <p:sp>
        <p:nvSpPr>
          <p:cNvPr id="7" name="Right Arrow 6">
            <a:extLst>
              <a:ext uri="{FF2B5EF4-FFF2-40B4-BE49-F238E27FC236}">
                <a16:creationId xmlns:a16="http://schemas.microsoft.com/office/drawing/2014/main" id="{12B7EE62-B4A5-7803-0E2A-F4008A036D29}"/>
              </a:ext>
            </a:extLst>
          </p:cNvPr>
          <p:cNvSpPr>
            <a:spLocks noGrp="1"/>
          </p:cNvSpPr>
          <p:nvPr/>
        </p:nvSpPr>
        <p:spPr>
          <a:xfrm rot="5400000">
            <a:off x="2410777" y="1743403"/>
            <a:ext cx="257175" cy="171450"/>
          </a:xfrm>
          <a:prstGeom prst="rightArrow">
            <a:avLst/>
          </a:prstGeom>
          <a:solidFill>
            <a:srgbClr val="6B7280"/>
          </a:solidFill>
          <a:ln w="0">
            <a:noFill/>
          </a:ln>
        </p:spPr>
        <p:txBody>
          <a:bodyPr/>
          <a:lstStyle/>
          <a:p>
            <a:endParaRPr lang="en-US"/>
          </a:p>
        </p:txBody>
      </p:sp>
      <p:sp>
        <p:nvSpPr>
          <p:cNvPr id="8" name="Rectangle 7">
            <a:extLst>
              <a:ext uri="{FF2B5EF4-FFF2-40B4-BE49-F238E27FC236}">
                <a16:creationId xmlns:a16="http://schemas.microsoft.com/office/drawing/2014/main" id="{7E357845-8664-3CFE-FBC3-891FD2091BCB}"/>
              </a:ext>
            </a:extLst>
          </p:cNvPr>
          <p:cNvSpPr>
            <a:spLocks noGrp="1"/>
          </p:cNvSpPr>
          <p:nvPr/>
        </p:nvSpPr>
        <p:spPr>
          <a:xfrm>
            <a:off x="548640" y="2028611"/>
            <a:ext cx="3981450" cy="257175"/>
          </a:xfrm>
          <a:prstGeom prst="rect">
            <a:avLst/>
          </a:prstGeom>
          <a:noFill/>
          <a:ln w="0">
            <a:noFill/>
          </a:ln>
        </p:spPr>
        <p:txBody>
          <a:bodyPr anchor="ctr">
            <a:noAutofit/>
          </a:bodyPr>
          <a:lstStyle/>
          <a:p>
            <a:pPr algn="ctr">
              <a:defRPr sz="1275" b="1">
                <a:solidFill>
                  <a:srgbClr val="2A9D8F"/>
                </a:solidFill>
                <a:latin typeface="Calibri"/>
                <a:ea typeface="Calibri"/>
                <a:cs typeface="Calibri"/>
              </a:defRPr>
            </a:pPr>
            <a:r>
              <a:rPr sz="1275" b="1">
                <a:solidFill>
                  <a:srgbClr val="2A9D8F"/>
                </a:solidFill>
                <a:latin typeface="Calibri"/>
                <a:ea typeface="Calibri"/>
                <a:cs typeface="Calibri"/>
              </a:rPr>
              <a:t>MODEL 1</a:t>
            </a:r>
          </a:p>
        </p:txBody>
      </p:sp>
      <p:sp>
        <p:nvSpPr>
          <p:cNvPr id="9" name="Rectangle 8">
            <a:extLst>
              <a:ext uri="{FF2B5EF4-FFF2-40B4-BE49-F238E27FC236}">
                <a16:creationId xmlns:a16="http://schemas.microsoft.com/office/drawing/2014/main" id="{57E0D0B3-820F-D46D-CE7F-1B7C3E68B2B1}"/>
              </a:ext>
            </a:extLst>
          </p:cNvPr>
          <p:cNvSpPr>
            <a:spLocks noGrp="1"/>
          </p:cNvSpPr>
          <p:nvPr/>
        </p:nvSpPr>
        <p:spPr>
          <a:xfrm>
            <a:off x="548640" y="2276625"/>
            <a:ext cx="3981450" cy="352425"/>
          </a:xfrm>
          <a:prstGeom prst="rect">
            <a:avLst/>
          </a:prstGeom>
          <a:noFill/>
          <a:ln w="0">
            <a:noFill/>
          </a:ln>
        </p:spPr>
        <p:txBody>
          <a:bodyPr anchor="ctr">
            <a:noAutofit/>
          </a:bodyPr>
          <a:lstStyle/>
          <a:p>
            <a:pPr algn="ctr">
              <a:defRPr sz="2100" b="1">
                <a:solidFill>
                  <a:srgbClr val="2A9D8F"/>
                </a:solidFill>
                <a:latin typeface="Calibri"/>
                <a:ea typeface="Calibri"/>
                <a:cs typeface="Calibri"/>
              </a:defRPr>
            </a:pPr>
            <a:r>
              <a:rPr sz="1600" b="1">
                <a:solidFill>
                  <a:srgbClr val="2A9D8F"/>
                </a:solidFill>
                <a:latin typeface="Calibri"/>
                <a:ea typeface="Calibri"/>
                <a:cs typeface="Calibri"/>
              </a:rPr>
              <a:t>Chance of giving again</a:t>
            </a:r>
          </a:p>
        </p:txBody>
      </p:sp>
      <p:sp>
        <p:nvSpPr>
          <p:cNvPr id="10" name="Rectangle 9">
            <a:extLst>
              <a:ext uri="{FF2B5EF4-FFF2-40B4-BE49-F238E27FC236}">
                <a16:creationId xmlns:a16="http://schemas.microsoft.com/office/drawing/2014/main" id="{21720FB9-0EDC-E22E-6D77-103849C697E4}"/>
              </a:ext>
            </a:extLst>
          </p:cNvPr>
          <p:cNvSpPr>
            <a:spLocks noGrp="1"/>
          </p:cNvSpPr>
          <p:nvPr/>
        </p:nvSpPr>
        <p:spPr>
          <a:xfrm>
            <a:off x="4613910" y="2028611"/>
            <a:ext cx="3981450" cy="257175"/>
          </a:xfrm>
          <a:prstGeom prst="rect">
            <a:avLst/>
          </a:prstGeom>
          <a:noFill/>
          <a:ln w="0">
            <a:noFill/>
          </a:ln>
        </p:spPr>
        <p:txBody>
          <a:bodyPr anchor="ctr">
            <a:noAutofit/>
          </a:bodyPr>
          <a:lstStyle/>
          <a:p>
            <a:pPr algn="ctr">
              <a:defRPr sz="1275" b="1">
                <a:solidFill>
                  <a:srgbClr val="E4572E"/>
                </a:solidFill>
                <a:latin typeface="Calibri"/>
                <a:ea typeface="Calibri"/>
                <a:cs typeface="Calibri"/>
              </a:defRPr>
            </a:pPr>
            <a:r>
              <a:rPr sz="1275" b="1">
                <a:solidFill>
                  <a:srgbClr val="E4572E"/>
                </a:solidFill>
                <a:latin typeface="Calibri"/>
                <a:ea typeface="Calibri"/>
                <a:cs typeface="Calibri"/>
              </a:rPr>
              <a:t>MODEL 2</a:t>
            </a:r>
          </a:p>
        </p:txBody>
      </p:sp>
      <p:sp>
        <p:nvSpPr>
          <p:cNvPr id="11" name="Rectangle 10">
            <a:extLst>
              <a:ext uri="{FF2B5EF4-FFF2-40B4-BE49-F238E27FC236}">
                <a16:creationId xmlns:a16="http://schemas.microsoft.com/office/drawing/2014/main" id="{108EF185-5E32-F91A-3092-5FE487024348}"/>
              </a:ext>
            </a:extLst>
          </p:cNvPr>
          <p:cNvSpPr>
            <a:spLocks noGrp="1"/>
          </p:cNvSpPr>
          <p:nvPr/>
        </p:nvSpPr>
        <p:spPr>
          <a:xfrm>
            <a:off x="4613910" y="2257575"/>
            <a:ext cx="3981450" cy="371475"/>
          </a:xfrm>
          <a:prstGeom prst="rect">
            <a:avLst/>
          </a:prstGeom>
          <a:noFill/>
          <a:ln w="0">
            <a:noFill/>
          </a:ln>
        </p:spPr>
        <p:txBody>
          <a:bodyPr anchor="ctr">
            <a:noAutofit/>
          </a:bodyPr>
          <a:lstStyle/>
          <a:p>
            <a:pPr algn="ctr">
              <a:defRPr sz="2100" b="1">
                <a:solidFill>
                  <a:srgbClr val="E4572E"/>
                </a:solidFill>
                <a:latin typeface="Calibri"/>
                <a:ea typeface="Calibri"/>
                <a:cs typeface="Calibri"/>
              </a:defRPr>
            </a:pPr>
            <a:r>
              <a:rPr sz="1600" b="1">
                <a:solidFill>
                  <a:srgbClr val="E4572E"/>
                </a:solidFill>
                <a:latin typeface="Calibri"/>
                <a:ea typeface="Calibri"/>
                <a:cs typeface="Calibri"/>
              </a:rPr>
              <a:t>Total giving if they return</a:t>
            </a:r>
          </a:p>
        </p:txBody>
      </p:sp>
      <p:graphicFrame>
        <p:nvGraphicFramePr>
          <p:cNvPr id="17" name="Table 16">
            <a:extLst>
              <a:ext uri="{FF2B5EF4-FFF2-40B4-BE49-F238E27FC236}">
                <a16:creationId xmlns:a16="http://schemas.microsoft.com/office/drawing/2014/main" id="{E39EBFC0-DAB6-B9A4-28AE-01CE0067C10A}"/>
              </a:ext>
            </a:extLst>
          </p:cNvPr>
          <p:cNvGraphicFramePr/>
          <p:nvPr/>
        </p:nvGraphicFramePr>
        <p:xfrm>
          <a:off x="552450" y="2757246"/>
          <a:ext cx="8039102" cy="1632585"/>
        </p:xfrm>
        <a:graphic>
          <a:graphicData uri="http://schemas.openxmlformats.org/drawingml/2006/table">
            <a:tbl>
              <a:tblPr/>
              <a:tblGrid>
                <a:gridCol w="1248918">
                  <a:extLst>
                    <a:ext uri="{9D8B030D-6E8A-4147-A177-3AD203B41FA5}">
                      <a16:colId xmlns:a16="http://schemas.microsoft.com/office/drawing/2014/main" val="20000"/>
                    </a:ext>
                  </a:extLst>
                </a:gridCol>
                <a:gridCol w="1697546">
                  <a:extLst>
                    <a:ext uri="{9D8B030D-6E8A-4147-A177-3AD203B41FA5}">
                      <a16:colId xmlns:a16="http://schemas.microsoft.com/office/drawing/2014/main" val="20001"/>
                    </a:ext>
                  </a:extLst>
                </a:gridCol>
                <a:gridCol w="1697546">
                  <a:extLst>
                    <a:ext uri="{9D8B030D-6E8A-4147-A177-3AD203B41FA5}">
                      <a16:colId xmlns:a16="http://schemas.microsoft.com/office/drawing/2014/main" val="20002"/>
                    </a:ext>
                  </a:extLst>
                </a:gridCol>
                <a:gridCol w="1697546">
                  <a:extLst>
                    <a:ext uri="{9D8B030D-6E8A-4147-A177-3AD203B41FA5}">
                      <a16:colId xmlns:a16="http://schemas.microsoft.com/office/drawing/2014/main" val="20003"/>
                    </a:ext>
                  </a:extLst>
                </a:gridCol>
                <a:gridCol w="1697546">
                  <a:extLst>
                    <a:ext uri="{9D8B030D-6E8A-4147-A177-3AD203B41FA5}">
                      <a16:colId xmlns:a16="http://schemas.microsoft.com/office/drawing/2014/main" val="3939960848"/>
                    </a:ext>
                  </a:extLst>
                </a:gridCol>
              </a:tblGrid>
              <a:tr h="384175">
                <a:tc>
                  <a:txBody>
                    <a:bodyPr/>
                    <a:lstStyle/>
                    <a:p>
                      <a:r>
                        <a:rPr sz="1275" b="1">
                          <a:solidFill>
                            <a:srgbClr val="6B7280"/>
                          </a:solidFill>
                          <a:latin typeface="Calibri"/>
                          <a:ea typeface="Calibri"/>
                          <a:cs typeface="Calibri"/>
                        </a:rPr>
                        <a:t>Donor</a:t>
                      </a:r>
                    </a:p>
                  </a:txBody>
                  <a:tcPr>
                    <a:solidFill>
                      <a:srgbClr val="FFFFFF"/>
                    </a:solidFill>
                  </a:tcPr>
                </a:tc>
                <a:tc>
                  <a:txBody>
                    <a:bodyPr/>
                    <a:lstStyle/>
                    <a:p>
                      <a:r>
                        <a:rPr sz="1275" b="1">
                          <a:solidFill>
                            <a:srgbClr val="6B7280"/>
                          </a:solidFill>
                          <a:latin typeface="Calibri"/>
                          <a:ea typeface="Calibri"/>
                          <a:cs typeface="Calibri"/>
                        </a:rPr>
                        <a:t>First-month</a:t>
                      </a:r>
                    </a:p>
                    <a:p>
                      <a:r>
                        <a:rPr sz="1275" b="1">
                          <a:solidFill>
                            <a:srgbClr val="6B7280"/>
                          </a:solidFill>
                          <a:latin typeface="Calibri"/>
                          <a:ea typeface="Calibri"/>
                          <a:cs typeface="Calibri"/>
                        </a:rPr>
                        <a:t>giving</a:t>
                      </a:r>
                    </a:p>
                  </a:txBody>
                  <a:tcPr>
                    <a:solidFill>
                      <a:srgbClr val="FFFFFF"/>
                    </a:solidFill>
                  </a:tcPr>
                </a:tc>
                <a:tc>
                  <a:txBody>
                    <a:bodyPr/>
                    <a:lstStyle/>
                    <a:p>
                      <a:r>
                        <a:rPr sz="1275" b="1">
                          <a:solidFill>
                            <a:srgbClr val="6B7280"/>
                          </a:solidFill>
                          <a:latin typeface="Calibri"/>
                          <a:ea typeface="Calibri"/>
                          <a:cs typeface="Calibri"/>
                        </a:rPr>
                        <a:t>Return</a:t>
                      </a:r>
                    </a:p>
                    <a:p>
                      <a:r>
                        <a:rPr sz="1275" b="1">
                          <a:solidFill>
                            <a:srgbClr val="6B7280"/>
                          </a:solidFill>
                          <a:latin typeface="Calibri"/>
                          <a:ea typeface="Calibri"/>
                          <a:cs typeface="Calibri"/>
                        </a:rPr>
                        <a:t>probability</a:t>
                      </a:r>
                    </a:p>
                  </a:txBody>
                  <a:tcPr>
                    <a:solidFill>
                      <a:srgbClr val="FFFFFF"/>
                    </a:solidFill>
                  </a:tcPr>
                </a:tc>
                <a:tc>
                  <a:txBody>
                    <a:bodyPr/>
                    <a:lstStyle/>
                    <a:p>
                      <a:r>
                        <a:rPr sz="1275" b="1">
                          <a:solidFill>
                            <a:srgbClr val="6B7280"/>
                          </a:solidFill>
                          <a:latin typeface="Calibri"/>
                          <a:ea typeface="Calibri"/>
                          <a:cs typeface="Calibri"/>
                        </a:rPr>
                        <a:t>Amount if</a:t>
                      </a:r>
                    </a:p>
                    <a:p>
                      <a:r>
                        <a:rPr sz="1275" b="1">
                          <a:solidFill>
                            <a:srgbClr val="6B7280"/>
                          </a:solidFill>
                          <a:latin typeface="Calibri"/>
                          <a:ea typeface="Calibri"/>
                          <a:cs typeface="Calibri"/>
                        </a:rPr>
                        <a:t>returning</a:t>
                      </a:r>
                    </a:p>
                  </a:txBody>
                  <a:tcPr>
                    <a:solidFill>
                      <a:srgbClr val="FFFFFF"/>
                    </a:solidFill>
                  </a:tcPr>
                </a:tc>
                <a:tc>
                  <a:txBody>
                    <a:bodyPr/>
                    <a:lstStyle/>
                    <a:p>
                      <a:r>
                        <a:rPr sz="1275" b="1">
                          <a:solidFill>
                            <a:srgbClr val="6B7280"/>
                          </a:solidFill>
                          <a:latin typeface="Calibri"/>
                          <a:ea typeface="Calibri"/>
                          <a:cs typeface="Calibri"/>
                        </a:rPr>
                        <a:t>Probability</a:t>
                      </a:r>
                    </a:p>
                    <a:p>
                      <a:r>
                        <a:rPr sz="1275" b="1">
                          <a:solidFill>
                            <a:srgbClr val="6B7280"/>
                          </a:solidFill>
                          <a:latin typeface="Calibri"/>
                          <a:ea typeface="Calibri"/>
                          <a:cs typeface="Calibri"/>
                        </a:rPr>
                        <a:t>× amount</a:t>
                      </a:r>
                    </a:p>
                  </a:txBody>
                  <a:tcPr>
                    <a:solidFill>
                      <a:srgbClr val="FFFFFF"/>
                    </a:solidFill>
                  </a:tcPr>
                </a:tc>
                <a:extLst>
                  <a:ext uri="{0D108BD9-81ED-4DB2-BD59-A6C34878D82A}">
                    <a16:rowId xmlns:a16="http://schemas.microsoft.com/office/drawing/2014/main" val="10000"/>
                  </a:ext>
                </a:extLst>
              </a:tr>
              <a:tr h="384175">
                <a:tc>
                  <a:txBody>
                    <a:bodyPr/>
                    <a:lstStyle/>
                    <a:p>
                      <a:r>
                        <a:rPr sz="1400" b="1">
                          <a:solidFill>
                            <a:srgbClr val="1B2A41"/>
                          </a:solidFill>
                          <a:latin typeface="Calibri"/>
                          <a:ea typeface="Calibri"/>
                          <a:cs typeface="Calibri"/>
                        </a:rPr>
                        <a:t>A</a:t>
                      </a:r>
                    </a:p>
                  </a:txBody>
                  <a:tcPr>
                    <a:solidFill>
                      <a:srgbClr val="F1F3F5"/>
                    </a:solidFill>
                  </a:tcPr>
                </a:tc>
                <a:tc>
                  <a:txBody>
                    <a:bodyPr/>
                    <a:lstStyle/>
                    <a:p>
                      <a:r>
                        <a:rPr sz="1600" b="1">
                          <a:solidFill>
                            <a:srgbClr val="1B2A41"/>
                          </a:solidFill>
                          <a:latin typeface="Calibri"/>
                          <a:ea typeface="Calibri"/>
                          <a:cs typeface="Calibri"/>
                        </a:rPr>
                        <a:t>$200</a:t>
                      </a:r>
                    </a:p>
                  </a:txBody>
                  <a:tcPr>
                    <a:solidFill>
                      <a:srgbClr val="F1F3F5"/>
                    </a:solidFill>
                  </a:tcPr>
                </a:tc>
                <a:tc>
                  <a:txBody>
                    <a:bodyPr/>
                    <a:lstStyle/>
                    <a:p>
                      <a:r>
                        <a:rPr sz="1400" b="0">
                          <a:solidFill>
                            <a:srgbClr val="1B2A41"/>
                          </a:solidFill>
                          <a:latin typeface="Calibri"/>
                          <a:ea typeface="Calibri"/>
                          <a:cs typeface="Calibri"/>
                        </a:rPr>
                        <a:t>10%</a:t>
                      </a:r>
                    </a:p>
                  </a:txBody>
                  <a:tcPr>
                    <a:solidFill>
                      <a:srgbClr val="F1F3F5"/>
                    </a:solidFill>
                  </a:tcPr>
                </a:tc>
                <a:tc>
                  <a:txBody>
                    <a:bodyPr/>
                    <a:lstStyle/>
                    <a:p>
                      <a:r>
                        <a:rPr sz="1400" b="0">
                          <a:solidFill>
                            <a:srgbClr val="1B2A41"/>
                          </a:solidFill>
                          <a:latin typeface="Calibri"/>
                          <a:ea typeface="Calibri"/>
                          <a:cs typeface="Calibri"/>
                        </a:rPr>
                        <a:t>$150</a:t>
                      </a:r>
                    </a:p>
                  </a:txBody>
                  <a:tcPr>
                    <a:solidFill>
                      <a:srgbClr val="F1F3F5"/>
                    </a:solidFill>
                  </a:tcPr>
                </a:tc>
                <a:tc>
                  <a:txBody>
                    <a:bodyPr/>
                    <a:lstStyle/>
                    <a:p>
                      <a:r>
                        <a:rPr sz="1400" b="0">
                          <a:solidFill>
                            <a:srgbClr val="1B2A41"/>
                          </a:solidFill>
                          <a:latin typeface="Calibri"/>
                          <a:ea typeface="Calibri"/>
                          <a:cs typeface="Calibri"/>
                        </a:rPr>
                        <a:t>$15</a:t>
                      </a:r>
                    </a:p>
                  </a:txBody>
                  <a:tcPr>
                    <a:solidFill>
                      <a:srgbClr val="F1F3F5"/>
                    </a:solidFill>
                  </a:tcPr>
                </a:tc>
                <a:extLst>
                  <a:ext uri="{0D108BD9-81ED-4DB2-BD59-A6C34878D82A}">
                    <a16:rowId xmlns:a16="http://schemas.microsoft.com/office/drawing/2014/main" val="10001"/>
                  </a:ext>
                </a:extLst>
              </a:tr>
              <a:tr h="384175">
                <a:tc>
                  <a:txBody>
                    <a:bodyPr/>
                    <a:lstStyle/>
                    <a:p>
                      <a:r>
                        <a:rPr sz="1400" b="1">
                          <a:solidFill>
                            <a:srgbClr val="1B2A41"/>
                          </a:solidFill>
                          <a:latin typeface="Calibri"/>
                          <a:ea typeface="Calibri"/>
                          <a:cs typeface="Calibri"/>
                        </a:rPr>
                        <a:t>B</a:t>
                      </a:r>
                    </a:p>
                  </a:txBody>
                  <a:tcPr>
                    <a:solidFill>
                      <a:srgbClr val="F1F3F5"/>
                    </a:solidFill>
                  </a:tcPr>
                </a:tc>
                <a:tc>
                  <a:txBody>
                    <a:bodyPr/>
                    <a:lstStyle/>
                    <a:p>
                      <a:r>
                        <a:rPr sz="1400" b="0">
                          <a:solidFill>
                            <a:srgbClr val="1B2A41"/>
                          </a:solidFill>
                          <a:latin typeface="Calibri"/>
                          <a:ea typeface="Calibri"/>
                          <a:cs typeface="Calibri"/>
                        </a:rPr>
                        <a:t>$50</a:t>
                      </a:r>
                    </a:p>
                  </a:txBody>
                  <a:tcPr>
                    <a:solidFill>
                      <a:srgbClr val="F1F3F5"/>
                    </a:solidFill>
                  </a:tcPr>
                </a:tc>
                <a:tc>
                  <a:txBody>
                    <a:bodyPr/>
                    <a:lstStyle/>
                    <a:p>
                      <a:r>
                        <a:rPr sz="1600" b="1">
                          <a:solidFill>
                            <a:srgbClr val="2A9D8F"/>
                          </a:solidFill>
                          <a:latin typeface="Calibri"/>
                          <a:ea typeface="Calibri"/>
                          <a:cs typeface="Calibri"/>
                        </a:rPr>
                        <a:t>40%</a:t>
                      </a:r>
                    </a:p>
                  </a:txBody>
                  <a:tcPr>
                    <a:solidFill>
                      <a:srgbClr val="F1F3F5"/>
                    </a:solidFill>
                  </a:tcPr>
                </a:tc>
                <a:tc>
                  <a:txBody>
                    <a:bodyPr/>
                    <a:lstStyle/>
                    <a:p>
                      <a:r>
                        <a:rPr sz="1400" b="0">
                          <a:solidFill>
                            <a:srgbClr val="1B2A41"/>
                          </a:solidFill>
                          <a:latin typeface="Calibri"/>
                          <a:ea typeface="Calibri"/>
                          <a:cs typeface="Calibri"/>
                        </a:rPr>
                        <a:t>$75</a:t>
                      </a:r>
                    </a:p>
                  </a:txBody>
                  <a:tcPr>
                    <a:solidFill>
                      <a:srgbClr val="F1F3F5"/>
                    </a:solidFill>
                  </a:tcPr>
                </a:tc>
                <a:tc>
                  <a:txBody>
                    <a:bodyPr/>
                    <a:lstStyle/>
                    <a:p>
                      <a:r>
                        <a:rPr sz="1400" b="0">
                          <a:solidFill>
                            <a:srgbClr val="1B2A41"/>
                          </a:solidFill>
                          <a:latin typeface="Calibri"/>
                          <a:ea typeface="Calibri"/>
                          <a:cs typeface="Calibri"/>
                        </a:rPr>
                        <a:t>$30</a:t>
                      </a:r>
                    </a:p>
                  </a:txBody>
                  <a:tcPr>
                    <a:solidFill>
                      <a:srgbClr val="F1F3F5"/>
                    </a:solidFill>
                  </a:tcPr>
                </a:tc>
                <a:extLst>
                  <a:ext uri="{0D108BD9-81ED-4DB2-BD59-A6C34878D82A}">
                    <a16:rowId xmlns:a16="http://schemas.microsoft.com/office/drawing/2014/main" val="10002"/>
                  </a:ext>
                </a:extLst>
              </a:tr>
              <a:tr h="384175">
                <a:tc>
                  <a:txBody>
                    <a:bodyPr/>
                    <a:lstStyle/>
                    <a:p>
                      <a:r>
                        <a:rPr sz="1400" b="1">
                          <a:solidFill>
                            <a:srgbClr val="1B2A41"/>
                          </a:solidFill>
                          <a:latin typeface="Calibri"/>
                          <a:ea typeface="Calibri"/>
                          <a:cs typeface="Calibri"/>
                        </a:rPr>
                        <a:t>C</a:t>
                      </a:r>
                    </a:p>
                  </a:txBody>
                  <a:tcPr>
                    <a:solidFill>
                      <a:srgbClr val="F1F3F5"/>
                    </a:solidFill>
                  </a:tcPr>
                </a:tc>
                <a:tc>
                  <a:txBody>
                    <a:bodyPr/>
                    <a:lstStyle/>
                    <a:p>
                      <a:r>
                        <a:rPr sz="1400" b="0">
                          <a:solidFill>
                            <a:srgbClr val="1B2A41"/>
                          </a:solidFill>
                          <a:latin typeface="Calibri"/>
                          <a:ea typeface="Calibri"/>
                          <a:cs typeface="Calibri"/>
                        </a:rPr>
                        <a:t>$100</a:t>
                      </a:r>
                    </a:p>
                  </a:txBody>
                  <a:tcPr>
                    <a:solidFill>
                      <a:srgbClr val="F1F3F5"/>
                    </a:solidFill>
                  </a:tcPr>
                </a:tc>
                <a:tc>
                  <a:txBody>
                    <a:bodyPr/>
                    <a:lstStyle/>
                    <a:p>
                      <a:r>
                        <a:rPr sz="1400" b="0">
                          <a:solidFill>
                            <a:srgbClr val="1B2A41"/>
                          </a:solidFill>
                          <a:latin typeface="Calibri"/>
                          <a:ea typeface="Calibri"/>
                          <a:cs typeface="Calibri"/>
                        </a:rPr>
                        <a:t>25%</a:t>
                      </a:r>
                    </a:p>
                  </a:txBody>
                  <a:tcPr>
                    <a:solidFill>
                      <a:srgbClr val="F1F3F5"/>
                    </a:solidFill>
                  </a:tcPr>
                </a:tc>
                <a:tc>
                  <a:txBody>
                    <a:bodyPr/>
                    <a:lstStyle/>
                    <a:p>
                      <a:r>
                        <a:rPr sz="1400" b="0">
                          <a:solidFill>
                            <a:srgbClr val="1B2A41"/>
                          </a:solidFill>
                          <a:latin typeface="Calibri"/>
                          <a:ea typeface="Calibri"/>
                          <a:cs typeface="Calibri"/>
                        </a:rPr>
                        <a:t>$200</a:t>
                      </a:r>
                    </a:p>
                  </a:txBody>
                  <a:tcPr>
                    <a:solidFill>
                      <a:srgbClr val="F1F3F5"/>
                    </a:solidFill>
                  </a:tcPr>
                </a:tc>
                <a:tc>
                  <a:txBody>
                    <a:bodyPr/>
                    <a:lstStyle/>
                    <a:p>
                      <a:r>
                        <a:rPr sz="1600" b="1">
                          <a:solidFill>
                            <a:srgbClr val="E4572E"/>
                          </a:solidFill>
                          <a:latin typeface="Calibri"/>
                          <a:ea typeface="Calibri"/>
                          <a:cs typeface="Calibri"/>
                        </a:rPr>
                        <a:t>$50</a:t>
                      </a:r>
                    </a:p>
                  </a:txBody>
                  <a:tcPr>
                    <a:solidFill>
                      <a:srgbClr val="F1F3F5"/>
                    </a:solidFill>
                  </a:tcPr>
                </a:tc>
                <a:extLst>
                  <a:ext uri="{0D108BD9-81ED-4DB2-BD59-A6C34878D82A}">
                    <a16:rowId xmlns:a16="http://schemas.microsoft.com/office/drawing/2014/main" val="2525028126"/>
                  </a:ext>
                </a:extLst>
              </a:tr>
            </a:tbl>
          </a:graphicData>
        </a:graphic>
      </p:graphicFrame>
      <p:sp>
        <p:nvSpPr>
          <p:cNvPr id="18" name="Rectangle 17">
            <a:extLst>
              <a:ext uri="{FF2B5EF4-FFF2-40B4-BE49-F238E27FC236}">
                <a16:creationId xmlns:a16="http://schemas.microsoft.com/office/drawing/2014/main" id="{36F707BE-F8A3-5CDA-717D-6928B1412BDA}"/>
              </a:ext>
            </a:extLst>
          </p:cNvPr>
          <p:cNvSpPr>
            <a:spLocks noGrp="1"/>
          </p:cNvSpPr>
          <p:nvPr/>
        </p:nvSpPr>
        <p:spPr>
          <a:xfrm>
            <a:off x="3013890" y="4575327"/>
            <a:ext cx="2880000" cy="304800"/>
          </a:xfrm>
          <a:prstGeom prst="rect">
            <a:avLst/>
          </a:prstGeom>
          <a:noFill/>
          <a:ln w="0">
            <a:noFill/>
          </a:ln>
        </p:spPr>
        <p:txBody>
          <a:bodyPr anchor="ctr">
            <a:noAutofit/>
          </a:bodyPr>
          <a:lstStyle/>
          <a:p>
            <a:pPr algn="ctr">
              <a:defRPr sz="1725" b="1">
                <a:solidFill>
                  <a:srgbClr val="2A9D8F"/>
                </a:solidFill>
                <a:latin typeface="Calibri"/>
                <a:ea typeface="Calibri"/>
                <a:cs typeface="Calibri"/>
              </a:defRPr>
            </a:pPr>
            <a:r>
              <a:rPr sz="1600" b="1">
                <a:solidFill>
                  <a:srgbClr val="2A9D8F"/>
                </a:solidFill>
                <a:latin typeface="Calibri"/>
                <a:ea typeface="Calibri"/>
                <a:cs typeface="Calibri"/>
              </a:rPr>
              <a:t>Probability ranking picks </a:t>
            </a:r>
            <a:r>
              <a:rPr lang="de-DE" sz="1600" b="1">
                <a:solidFill>
                  <a:srgbClr val="2A9D8F"/>
                </a:solidFill>
                <a:latin typeface="Calibri"/>
                <a:ea typeface="Calibri"/>
                <a:cs typeface="Calibri"/>
              </a:rPr>
              <a:t>B</a:t>
            </a:r>
            <a:endParaRPr sz="1600" b="1">
              <a:solidFill>
                <a:srgbClr val="2A9D8F"/>
              </a:solidFill>
              <a:latin typeface="Calibri"/>
              <a:ea typeface="Calibri"/>
              <a:cs typeface="Calibri"/>
            </a:endParaRPr>
          </a:p>
        </p:txBody>
      </p:sp>
      <p:sp>
        <p:nvSpPr>
          <p:cNvPr id="19" name="Rectangle 18">
            <a:extLst>
              <a:ext uri="{FF2B5EF4-FFF2-40B4-BE49-F238E27FC236}">
                <a16:creationId xmlns:a16="http://schemas.microsoft.com/office/drawing/2014/main" id="{296BC3F3-4638-280A-929A-074A07FD3CD8}"/>
              </a:ext>
            </a:extLst>
          </p:cNvPr>
          <p:cNvSpPr>
            <a:spLocks noGrp="1"/>
          </p:cNvSpPr>
          <p:nvPr/>
        </p:nvSpPr>
        <p:spPr>
          <a:xfrm>
            <a:off x="5690415" y="4575327"/>
            <a:ext cx="2880000" cy="304800"/>
          </a:xfrm>
          <a:prstGeom prst="rect">
            <a:avLst/>
          </a:prstGeom>
          <a:noFill/>
          <a:ln w="0">
            <a:noFill/>
          </a:ln>
        </p:spPr>
        <p:txBody>
          <a:bodyPr anchor="ctr">
            <a:noAutofit/>
          </a:bodyPr>
          <a:lstStyle/>
          <a:p>
            <a:pPr algn="ctr">
              <a:defRPr sz="1725" b="1">
                <a:solidFill>
                  <a:srgbClr val="E4572E"/>
                </a:solidFill>
                <a:latin typeface="Calibri"/>
                <a:ea typeface="Calibri"/>
                <a:cs typeface="Calibri"/>
              </a:defRPr>
            </a:pPr>
            <a:r>
              <a:rPr sz="1600" b="1">
                <a:solidFill>
                  <a:srgbClr val="E4572E"/>
                </a:solidFill>
                <a:latin typeface="Calibri"/>
                <a:ea typeface="Calibri"/>
                <a:cs typeface="Calibri"/>
              </a:rPr>
              <a:t>Dollar ranking picks </a:t>
            </a:r>
            <a:r>
              <a:rPr lang="de-DE" sz="1600" b="1">
                <a:solidFill>
                  <a:srgbClr val="E4572E"/>
                </a:solidFill>
                <a:latin typeface="Calibri"/>
                <a:ea typeface="Calibri"/>
                <a:cs typeface="Calibri"/>
              </a:rPr>
              <a:t>C</a:t>
            </a:r>
            <a:endParaRPr sz="1600" b="1">
              <a:solidFill>
                <a:srgbClr val="E4572E"/>
              </a:solidFill>
              <a:latin typeface="Calibri"/>
              <a:ea typeface="Calibri"/>
              <a:cs typeface="Calibri"/>
            </a:endParaRPr>
          </a:p>
        </p:txBody>
      </p:sp>
      <p:sp>
        <p:nvSpPr>
          <p:cNvPr id="2" name="Rectangle 1">
            <a:extLst>
              <a:ext uri="{FF2B5EF4-FFF2-40B4-BE49-F238E27FC236}">
                <a16:creationId xmlns:a16="http://schemas.microsoft.com/office/drawing/2014/main" id="{4F09CFD6-C787-3D4B-9415-1D3B37785531}"/>
              </a:ext>
            </a:extLst>
          </p:cNvPr>
          <p:cNvSpPr>
            <a:spLocks noGrp="1"/>
          </p:cNvSpPr>
          <p:nvPr/>
        </p:nvSpPr>
        <p:spPr>
          <a:xfrm>
            <a:off x="337365" y="4575327"/>
            <a:ext cx="2880000" cy="304800"/>
          </a:xfrm>
          <a:prstGeom prst="rect">
            <a:avLst/>
          </a:prstGeom>
          <a:noFill/>
          <a:ln w="0">
            <a:noFill/>
          </a:ln>
        </p:spPr>
        <p:txBody>
          <a:bodyPr anchor="ctr">
            <a:noAutofit/>
          </a:bodyPr>
          <a:lstStyle/>
          <a:p>
            <a:pPr algn="ctr">
              <a:defRPr sz="1725" b="1">
                <a:solidFill>
                  <a:srgbClr val="2A9D8F"/>
                </a:solidFill>
                <a:latin typeface="Calibri"/>
                <a:ea typeface="Calibri"/>
                <a:cs typeface="Calibri"/>
              </a:defRPr>
            </a:pPr>
            <a:r>
              <a:rPr lang="de-DE" sz="1600" b="1">
                <a:solidFill>
                  <a:srgbClr val="1A2A41"/>
                </a:solidFill>
                <a:latin typeface="Calibri"/>
                <a:ea typeface="Calibri"/>
                <a:cs typeface="Calibri"/>
              </a:rPr>
              <a:t>Baseline </a:t>
            </a:r>
            <a:r>
              <a:rPr lang="de-DE" sz="1600" b="1" err="1">
                <a:solidFill>
                  <a:srgbClr val="1A2A41"/>
                </a:solidFill>
                <a:latin typeface="Calibri"/>
                <a:ea typeface="Calibri"/>
                <a:cs typeface="Calibri"/>
              </a:rPr>
              <a:t>picks</a:t>
            </a:r>
            <a:r>
              <a:rPr lang="de-DE" sz="1600" b="1">
                <a:solidFill>
                  <a:srgbClr val="1A2A41"/>
                </a:solidFill>
                <a:latin typeface="Calibri"/>
                <a:ea typeface="Calibri"/>
                <a:cs typeface="Calibri"/>
              </a:rPr>
              <a:t> A</a:t>
            </a:r>
            <a:endParaRPr sz="1600" b="1">
              <a:solidFill>
                <a:srgbClr val="1A2A41"/>
              </a:solidFill>
              <a:latin typeface="Calibri"/>
              <a:ea typeface="Calibri"/>
              <a:cs typeface="Calibri"/>
            </a:endParaRPr>
          </a:p>
        </p:txBody>
      </p:sp>
    </p:spTree>
    <p:extLst>
      <p:ext uri="{BB962C8B-B14F-4D97-AF65-F5344CB8AC3E}">
        <p14:creationId xmlns:p14="http://schemas.microsoft.com/office/powerpoint/2010/main" val="1516477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C7B870-BCC8-4498-91BD-A9F82589638F}"/>
              </a:ext>
            </a:extLst>
          </p:cNvPr>
          <p:cNvSpPr>
            <a:spLocks noGrp="1"/>
          </p:cNvSpPr>
          <p:nvPr/>
        </p:nvSpPr>
        <p:spPr>
          <a:xfrm>
            <a:off x="548640" y="530860"/>
            <a:ext cx="8039100" cy="609600"/>
          </a:xfrm>
          <a:prstGeom prst="rect">
            <a:avLst/>
          </a:prstGeom>
          <a:noFill/>
          <a:ln w="0">
            <a:noFill/>
          </a:ln>
        </p:spPr>
        <p:txBody>
          <a:bodyPr anchor="ctr">
            <a:noAutofit/>
          </a:bodyPr>
          <a:lstStyle/>
          <a:p>
            <a:pPr>
              <a:buNone/>
              <a:defRPr sz="3000" b="1">
                <a:solidFill>
                  <a:srgbClr val="1B2A41"/>
                </a:solidFill>
                <a:latin typeface="Cambria"/>
                <a:ea typeface="Cambria"/>
                <a:cs typeface="Cambria"/>
              </a:defRPr>
            </a:pPr>
            <a:r>
              <a:rPr lang="de-DE" sz="3000" b="1" err="1">
                <a:solidFill>
                  <a:srgbClr val="1B2A41"/>
                </a:solidFill>
                <a:latin typeface="Cambria"/>
                <a:ea typeface="Cambria"/>
                <a:cs typeface="Cambria"/>
              </a:rPr>
              <a:t>Comparing</a:t>
            </a:r>
            <a:r>
              <a:rPr lang="de-DE" sz="3000" b="1">
                <a:solidFill>
                  <a:srgbClr val="1B2A41"/>
                </a:solidFill>
                <a:latin typeface="Cambria"/>
                <a:ea typeface="Cambria"/>
                <a:cs typeface="Cambria"/>
              </a:rPr>
              <a:t> the </a:t>
            </a:r>
            <a:r>
              <a:rPr lang="de-DE" sz="3000" b="1" err="1">
                <a:solidFill>
                  <a:srgbClr val="1B2A41"/>
                </a:solidFill>
                <a:latin typeface="Cambria"/>
                <a:ea typeface="Cambria"/>
                <a:cs typeface="Cambria"/>
              </a:rPr>
              <a:t>selected</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donors</a:t>
            </a:r>
            <a:r>
              <a:rPr lang="de-DE" sz="3000" b="1">
                <a:solidFill>
                  <a:srgbClr val="1B2A41"/>
                </a:solidFill>
                <a:latin typeface="Cambria"/>
                <a:ea typeface="Cambria"/>
                <a:cs typeface="Cambria"/>
              </a:rPr>
              <a:t> of </a:t>
            </a:r>
            <a:r>
              <a:rPr lang="de-DE" sz="3000" b="1" err="1">
                <a:solidFill>
                  <a:srgbClr val="1B2A41"/>
                </a:solidFill>
                <a:latin typeface="Cambria"/>
                <a:ea typeface="Cambria"/>
                <a:cs typeface="Cambria"/>
              </a:rPr>
              <a:t>each</a:t>
            </a:r>
            <a:r>
              <a:rPr lang="de-DE" sz="3000" b="1">
                <a:solidFill>
                  <a:srgbClr val="1B2A41"/>
                </a:solidFill>
                <a:latin typeface="Cambria"/>
                <a:ea typeface="Cambria"/>
                <a:cs typeface="Cambria"/>
              </a:rPr>
              <a:t> </a:t>
            </a:r>
            <a:r>
              <a:rPr lang="de-DE" sz="3000" b="1" err="1">
                <a:solidFill>
                  <a:srgbClr val="1B2A41"/>
                </a:solidFill>
                <a:latin typeface="Cambria"/>
                <a:ea typeface="Cambria"/>
                <a:cs typeface="Cambria"/>
              </a:rPr>
              <a:t>ranking</a:t>
            </a:r>
            <a:endParaRPr sz="3000" b="1">
              <a:solidFill>
                <a:srgbClr val="1B2A41"/>
              </a:solidFill>
              <a:latin typeface="Cambria"/>
              <a:ea typeface="Cambria"/>
              <a:cs typeface="Cambria"/>
            </a:endParaRPr>
          </a:p>
        </p:txBody>
      </p:sp>
      <p:sp>
        <p:nvSpPr>
          <p:cNvPr id="3" name="Rectangle 2">
            <a:extLst>
              <a:ext uri="{FF2B5EF4-FFF2-40B4-BE49-F238E27FC236}">
                <a16:creationId xmlns:a16="http://schemas.microsoft.com/office/drawing/2014/main" id="{0CC9A111-2C4F-4E84-927F-F465F5E61890}"/>
              </a:ext>
            </a:extLst>
          </p:cNvPr>
          <p:cNvSpPr>
            <a:spLocks noGrp="1"/>
          </p:cNvSpPr>
          <p:nvPr/>
        </p:nvSpPr>
        <p:spPr>
          <a:xfrm>
            <a:off x="552450" y="1639888"/>
            <a:ext cx="3857625" cy="314325"/>
          </a:xfrm>
          <a:prstGeom prst="rect">
            <a:avLst/>
          </a:prstGeom>
          <a:noFill/>
          <a:ln w="0">
            <a:noFill/>
          </a:ln>
        </p:spPr>
        <p:txBody>
          <a:bodyPr anchor="ctr">
            <a:noAutofit/>
          </a:bodyPr>
          <a:lstStyle/>
          <a:p>
            <a:pPr>
              <a:buNone/>
              <a:defRPr sz="1875" b="1">
                <a:solidFill>
                  <a:srgbClr val="1B2A41"/>
                </a:solidFill>
                <a:latin typeface="Calibri"/>
                <a:ea typeface="Calibri"/>
                <a:cs typeface="Calibri"/>
              </a:defRPr>
            </a:pPr>
            <a:r>
              <a:rPr sz="1875" b="1">
                <a:solidFill>
                  <a:srgbClr val="1B2A41"/>
                </a:solidFill>
                <a:latin typeface="Calibri"/>
                <a:ea typeface="Calibri"/>
                <a:cs typeface="Calibri"/>
              </a:rPr>
              <a:t>Who gives again?</a:t>
            </a:r>
          </a:p>
        </p:txBody>
      </p:sp>
      <p:sp>
        <p:nvSpPr>
          <p:cNvPr id="4" name="Rectangle 3">
            <a:extLst>
              <a:ext uri="{FF2B5EF4-FFF2-40B4-BE49-F238E27FC236}">
                <a16:creationId xmlns:a16="http://schemas.microsoft.com/office/drawing/2014/main" id="{554467F2-D74A-4F42-BDB6-E03A2DD9A508}"/>
              </a:ext>
            </a:extLst>
          </p:cNvPr>
          <p:cNvSpPr>
            <a:spLocks noGrp="1"/>
          </p:cNvSpPr>
          <p:nvPr/>
        </p:nvSpPr>
        <p:spPr>
          <a:xfrm>
            <a:off x="552450" y="2030413"/>
            <a:ext cx="3857625" cy="266700"/>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Share of selected donors who returned</a:t>
            </a:r>
          </a:p>
        </p:txBody>
      </p:sp>
      <p:sp>
        <p:nvSpPr>
          <p:cNvPr id="5" name="Rectangle 4">
            <a:extLst>
              <a:ext uri="{FF2B5EF4-FFF2-40B4-BE49-F238E27FC236}">
                <a16:creationId xmlns:a16="http://schemas.microsoft.com/office/drawing/2014/main" id="{738343F4-8D7C-41A8-9883-11E27460CAAA}"/>
              </a:ext>
            </a:extLst>
          </p:cNvPr>
          <p:cNvSpPr>
            <a:spLocks noGrp="1"/>
          </p:cNvSpPr>
          <p:nvPr/>
        </p:nvSpPr>
        <p:spPr>
          <a:xfrm>
            <a:off x="4800600" y="1639888"/>
            <a:ext cx="3790950" cy="314325"/>
          </a:xfrm>
          <a:prstGeom prst="rect">
            <a:avLst/>
          </a:prstGeom>
          <a:noFill/>
          <a:ln w="0">
            <a:noFill/>
          </a:ln>
        </p:spPr>
        <p:txBody>
          <a:bodyPr anchor="ctr">
            <a:noAutofit/>
          </a:bodyPr>
          <a:lstStyle/>
          <a:p>
            <a:pPr>
              <a:buNone/>
              <a:defRPr sz="1875" b="1">
                <a:solidFill>
                  <a:srgbClr val="1B2A41"/>
                </a:solidFill>
                <a:latin typeface="Calibri"/>
                <a:ea typeface="Calibri"/>
                <a:cs typeface="Calibri"/>
              </a:defRPr>
            </a:pPr>
            <a:r>
              <a:rPr sz="1875" b="1">
                <a:solidFill>
                  <a:srgbClr val="1B2A41"/>
                </a:solidFill>
                <a:latin typeface="Calibri"/>
                <a:ea typeface="Calibri"/>
                <a:cs typeface="Calibri"/>
              </a:rPr>
              <a:t>How much giving?</a:t>
            </a:r>
          </a:p>
        </p:txBody>
      </p:sp>
      <p:sp>
        <p:nvSpPr>
          <p:cNvPr id="6" name="Rectangle 5">
            <a:extLst>
              <a:ext uri="{FF2B5EF4-FFF2-40B4-BE49-F238E27FC236}">
                <a16:creationId xmlns:a16="http://schemas.microsoft.com/office/drawing/2014/main" id="{C250ABF6-B067-4F7B-84AC-A53ED9FC6A0C}"/>
              </a:ext>
            </a:extLst>
          </p:cNvPr>
          <p:cNvSpPr>
            <a:spLocks noGrp="1"/>
          </p:cNvSpPr>
          <p:nvPr/>
        </p:nvSpPr>
        <p:spPr>
          <a:xfrm>
            <a:off x="4800600" y="2030413"/>
            <a:ext cx="3790950" cy="266700"/>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Subsequent dollars per selected donor</a:t>
            </a:r>
          </a:p>
        </p:txBody>
      </p:sp>
      <p:graphicFrame>
        <p:nvGraphicFramePr>
          <p:cNvPr id="21" name="Chart"/>
          <p:cNvGraphicFramePr/>
          <p:nvPr/>
        </p:nvGraphicFramePr>
        <p:xfrm>
          <a:off x="514350" y="2388235"/>
          <a:ext cx="4029075" cy="16668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p:cNvGraphicFramePr/>
          <p:nvPr/>
        </p:nvGraphicFramePr>
        <p:xfrm>
          <a:off x="4724400" y="2388235"/>
          <a:ext cx="3933825" cy="1666875"/>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7E8B262F-10D2-4AAF-8BE0-51403E07C9A2}"/>
              </a:ext>
            </a:extLst>
          </p:cNvPr>
          <p:cNvSpPr>
            <a:spLocks noGrp="1"/>
          </p:cNvSpPr>
          <p:nvPr/>
        </p:nvSpPr>
        <p:spPr>
          <a:xfrm>
            <a:off x="552450" y="4265930"/>
            <a:ext cx="1714500" cy="495300"/>
          </a:xfrm>
          <a:prstGeom prst="rect">
            <a:avLst/>
          </a:prstGeom>
          <a:noFill/>
          <a:ln w="0">
            <a:noFill/>
          </a:ln>
        </p:spPr>
        <p:txBody>
          <a:bodyPr anchor="ctr">
            <a:noAutofit/>
          </a:bodyPr>
          <a:lstStyle/>
          <a:p>
            <a:pPr>
              <a:buNone/>
              <a:defRPr sz="2775" b="1">
                <a:solidFill>
                  <a:srgbClr val="E4572E"/>
                </a:solidFill>
                <a:latin typeface="Cambria"/>
                <a:ea typeface="Cambria"/>
                <a:cs typeface="Cambria"/>
              </a:defRPr>
            </a:pPr>
            <a:r>
              <a:rPr sz="2775" b="1">
                <a:solidFill>
                  <a:srgbClr val="E4572E"/>
                </a:solidFill>
                <a:latin typeface="Cambria"/>
                <a:ea typeface="Cambria"/>
                <a:cs typeface="Cambria"/>
              </a:rPr>
              <a:t>+$3.45</a:t>
            </a:r>
          </a:p>
        </p:txBody>
      </p:sp>
      <p:sp>
        <p:nvSpPr>
          <p:cNvPr id="10" name="Rectangle 9">
            <a:extLst>
              <a:ext uri="{FF2B5EF4-FFF2-40B4-BE49-F238E27FC236}">
                <a16:creationId xmlns:a16="http://schemas.microsoft.com/office/drawing/2014/main" id="{DAE480B1-7E46-4CEC-B50C-908D69294462}"/>
              </a:ext>
            </a:extLst>
          </p:cNvPr>
          <p:cNvSpPr>
            <a:spLocks noGrp="1"/>
          </p:cNvSpPr>
          <p:nvPr/>
        </p:nvSpPr>
        <p:spPr>
          <a:xfrm>
            <a:off x="2362200" y="4361180"/>
            <a:ext cx="6191250" cy="352425"/>
          </a:xfrm>
          <a:prstGeom prst="rect">
            <a:avLst/>
          </a:prstGeom>
          <a:noFill/>
          <a:ln w="0">
            <a:noFill/>
          </a:ln>
        </p:spPr>
        <p:txBody>
          <a:bodyPr anchor="ctr">
            <a:noAutofit/>
          </a:bodyPr>
          <a:lstStyle/>
          <a:p>
            <a:pPr>
              <a:buNone/>
              <a:defRPr sz="1650" b="1">
                <a:solidFill>
                  <a:srgbClr val="1B2A41"/>
                </a:solidFill>
                <a:latin typeface="Calibri"/>
                <a:ea typeface="Calibri"/>
                <a:cs typeface="Calibri"/>
              </a:defRPr>
            </a:pPr>
            <a:r>
              <a:rPr sz="1650" b="1">
                <a:solidFill>
                  <a:srgbClr val="1B2A41"/>
                </a:solidFill>
                <a:latin typeface="Calibri"/>
                <a:ea typeface="Calibri"/>
                <a:cs typeface="Calibri"/>
              </a:rPr>
              <a:t>per selected donor versus gift size</a:t>
            </a:r>
            <a:r>
              <a:rPr lang="en-US" sz="1650" b="1">
                <a:solidFill>
                  <a:srgbClr val="1B2A41"/>
                </a:solidFill>
                <a:latin typeface="Calibri"/>
                <a:ea typeface="Calibri"/>
                <a:cs typeface="Calibri"/>
              </a:rPr>
              <a:t>; a 3.0% gain</a:t>
            </a:r>
            <a:endParaRPr sz="1650" b="1">
              <a:solidFill>
                <a:srgbClr val="1B2A41"/>
              </a:solidFill>
              <a:latin typeface="Calibri"/>
              <a:ea typeface="Calibri"/>
              <a:cs typeface="Calibri"/>
            </a:endParaRPr>
          </a:p>
        </p:txBody>
      </p:sp>
    </p:spTree>
    <p:extLst>
      <p:ext uri="{BB962C8B-B14F-4D97-AF65-F5344CB8AC3E}">
        <p14:creationId xmlns:p14="http://schemas.microsoft.com/office/powerpoint/2010/main" val="1950304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6905B8-7750-4DF6-B6F0-27C958BFD4BB}"/>
              </a:ext>
            </a:extLst>
          </p:cNvPr>
          <p:cNvSpPr>
            <a:spLocks noGrp="1"/>
          </p:cNvSpPr>
          <p:nvPr/>
        </p:nvSpPr>
        <p:spPr>
          <a:xfrm>
            <a:off x="548640" y="304800"/>
            <a:ext cx="8039100" cy="609600"/>
          </a:xfrm>
          <a:prstGeom prst="rect">
            <a:avLst/>
          </a:prstGeom>
          <a:noFill/>
          <a:ln w="0">
            <a:noFill/>
          </a:ln>
        </p:spPr>
        <p:txBody>
          <a:bodyPr anchor="ctr">
            <a:noAutofit/>
          </a:bodyPr>
          <a:lstStyle/>
          <a:p>
            <a:pPr>
              <a:buNone/>
              <a:defRPr sz="3000" b="1">
                <a:solidFill>
                  <a:srgbClr val="1B2A41"/>
                </a:solidFill>
                <a:latin typeface="Cambria"/>
                <a:ea typeface="Cambria"/>
                <a:cs typeface="Cambria"/>
              </a:defRPr>
            </a:pPr>
            <a:r>
              <a:rPr sz="3000" b="1">
                <a:solidFill>
                  <a:srgbClr val="1B2A41"/>
                </a:solidFill>
                <a:latin typeface="Cambria"/>
                <a:ea typeface="Cambria"/>
                <a:cs typeface="Cambria"/>
              </a:rPr>
              <a:t>Gift behavior carries the strongest signal</a:t>
            </a:r>
          </a:p>
        </p:txBody>
      </p:sp>
      <p:sp>
        <p:nvSpPr>
          <p:cNvPr id="3" name="Rectangle 2">
            <a:extLst>
              <a:ext uri="{FF2B5EF4-FFF2-40B4-BE49-F238E27FC236}">
                <a16:creationId xmlns:a16="http://schemas.microsoft.com/office/drawing/2014/main" id="{E4517523-5C08-4CF6-A9AD-778542B5034B}"/>
              </a:ext>
            </a:extLst>
          </p:cNvPr>
          <p:cNvSpPr>
            <a:spLocks noGrp="1"/>
          </p:cNvSpPr>
          <p:nvPr/>
        </p:nvSpPr>
        <p:spPr>
          <a:xfrm>
            <a:off x="552450" y="1657350"/>
            <a:ext cx="3524250" cy="276225"/>
          </a:xfrm>
          <a:prstGeom prst="rect">
            <a:avLst/>
          </a:prstGeom>
          <a:noFill/>
          <a:ln w="0">
            <a:noFill/>
          </a:ln>
        </p:spPr>
        <p:txBody>
          <a:bodyPr anchor="ctr">
            <a:noAutofit/>
          </a:bodyPr>
          <a:lstStyle/>
          <a:p>
            <a:pPr>
              <a:buNone/>
              <a:defRPr sz="1350" b="1">
                <a:solidFill>
                  <a:srgbClr val="E4572E"/>
                </a:solidFill>
                <a:latin typeface="Calibri"/>
                <a:ea typeface="Calibri"/>
                <a:cs typeface="Calibri"/>
              </a:defRPr>
            </a:pPr>
            <a:r>
              <a:rPr sz="1350" b="1">
                <a:solidFill>
                  <a:srgbClr val="E4572E"/>
                </a:solidFill>
                <a:latin typeface="Calibri"/>
                <a:ea typeface="Calibri"/>
                <a:cs typeface="Calibri"/>
              </a:rPr>
              <a:t>GIVING BEHAVIOR</a:t>
            </a:r>
          </a:p>
        </p:txBody>
      </p:sp>
      <p:sp>
        <p:nvSpPr>
          <p:cNvPr id="4" name="Rectangle 3">
            <a:extLst>
              <a:ext uri="{FF2B5EF4-FFF2-40B4-BE49-F238E27FC236}">
                <a16:creationId xmlns:a16="http://schemas.microsoft.com/office/drawing/2014/main" id="{2ED91247-B28E-4005-A339-6367773D91CC}"/>
              </a:ext>
            </a:extLst>
          </p:cNvPr>
          <p:cNvSpPr>
            <a:spLocks noGrp="1"/>
          </p:cNvSpPr>
          <p:nvPr/>
        </p:nvSpPr>
        <p:spPr>
          <a:xfrm>
            <a:off x="4857750" y="1657350"/>
            <a:ext cx="3733800" cy="276225"/>
          </a:xfrm>
          <a:prstGeom prst="rect">
            <a:avLst/>
          </a:prstGeom>
          <a:noFill/>
          <a:ln w="0">
            <a:noFill/>
          </a:ln>
        </p:spPr>
        <p:txBody>
          <a:bodyPr anchor="ctr">
            <a:noAutofit/>
          </a:bodyPr>
          <a:lstStyle/>
          <a:p>
            <a:pPr>
              <a:buNone/>
              <a:defRPr sz="1350" b="1">
                <a:solidFill>
                  <a:srgbClr val="2A9D8F"/>
                </a:solidFill>
                <a:latin typeface="Calibri"/>
                <a:ea typeface="Calibri"/>
                <a:cs typeface="Calibri"/>
              </a:defRPr>
            </a:pPr>
            <a:r>
              <a:rPr sz="1350" b="1">
                <a:solidFill>
                  <a:srgbClr val="2A9D8F"/>
                </a:solidFill>
                <a:latin typeface="Calibri"/>
                <a:ea typeface="Calibri"/>
                <a:cs typeface="Calibri"/>
              </a:rPr>
              <a:t>PROJECT CONTEXT</a:t>
            </a:r>
          </a:p>
        </p:txBody>
      </p:sp>
      <p:graphicFrame>
        <p:nvGraphicFramePr>
          <p:cNvPr id="14" name="Chart"/>
          <p:cNvGraphicFramePr/>
          <p:nvPr/>
        </p:nvGraphicFramePr>
        <p:xfrm>
          <a:off x="552450" y="2028825"/>
          <a:ext cx="8039100" cy="239077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D2D582F6-9187-4555-936E-761ED2EAC0A2}"/>
              </a:ext>
            </a:extLst>
          </p:cNvPr>
          <p:cNvSpPr>
            <a:spLocks noGrp="1"/>
          </p:cNvSpPr>
          <p:nvPr/>
        </p:nvSpPr>
        <p:spPr>
          <a:xfrm>
            <a:off x="548640" y="4610100"/>
            <a:ext cx="8039100" cy="257175"/>
          </a:xfrm>
          <a:prstGeom prst="rect">
            <a:avLst/>
          </a:prstGeom>
          <a:noFill/>
          <a:ln w="0">
            <a:noFill/>
          </a:ln>
        </p:spPr>
        <p:txBody>
          <a:bodyPr anchor="ctr">
            <a:noAutofit/>
          </a:bodyPr>
          <a:lstStyle/>
          <a:p>
            <a:pPr>
              <a:buNone/>
              <a:defRPr sz="1275" b="0">
                <a:solidFill>
                  <a:srgbClr val="6B7280"/>
                </a:solidFill>
                <a:latin typeface="Calibri"/>
                <a:ea typeface="Calibri"/>
                <a:cs typeface="Calibri"/>
              </a:defRPr>
            </a:pPr>
            <a:r>
              <a:rPr sz="1275" b="0">
                <a:solidFill>
                  <a:srgbClr val="6B7280"/>
                </a:solidFill>
                <a:latin typeface="Calibri"/>
                <a:ea typeface="Calibri"/>
                <a:cs typeface="Calibri"/>
              </a:rPr>
              <a:t>Longer bar = greater loss of ranking accuracy (ROC-AUC) when shuffled</a:t>
            </a:r>
          </a:p>
        </p:txBody>
      </p:sp>
    </p:spTree>
    <p:extLst>
      <p:ext uri="{BB962C8B-B14F-4D97-AF65-F5344CB8AC3E}">
        <p14:creationId xmlns:p14="http://schemas.microsoft.com/office/powerpoint/2010/main" val="973958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F927A359-CB65-C056-4AFC-A31D91930A22}"/>
              </a:ext>
            </a:extLst>
          </p:cNvPr>
          <p:cNvSpPr/>
          <p:nvPr/>
        </p:nvSpPr>
        <p:spPr>
          <a:xfrm>
            <a:off x="929298" y="1141303"/>
            <a:ext cx="1722711" cy="342836"/>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TRAP</a:t>
            </a:r>
            <a:endParaRPr lang="en-US" sz="2000">
              <a:latin typeface="Helvetica"/>
              <a:ea typeface="Calibri"/>
              <a:cs typeface="Helvetica"/>
            </a:endParaRPr>
          </a:p>
        </p:txBody>
      </p:sp>
      <p:pic>
        <p:nvPicPr>
          <p:cNvPr id="4" name="Image 0" descr="0.1 percent of donors hold 62 percent of repeat dollars">
            <a:extLst>
              <a:ext uri="{FF2B5EF4-FFF2-40B4-BE49-F238E27FC236}">
                <a16:creationId xmlns:a16="http://schemas.microsoft.com/office/drawing/2014/main" id="{063A8A86-5971-D747-3E61-C95E362E9B14}"/>
              </a:ext>
            </a:extLst>
          </p:cNvPr>
          <p:cNvPicPr>
            <a:picLocks noChangeAspect="1"/>
          </p:cNvPicPr>
          <p:nvPr/>
        </p:nvPicPr>
        <p:blipFill>
          <a:blip r:embed="rId2"/>
          <a:srcRect l="-1" r="-1"/>
          <a:stretch/>
        </p:blipFill>
        <p:spPr>
          <a:xfrm>
            <a:off x="555918" y="1517109"/>
            <a:ext cx="3663925" cy="2092910"/>
          </a:xfrm>
          <a:prstGeom prst="rect">
            <a:avLst/>
          </a:prstGeom>
        </p:spPr>
      </p:pic>
      <p:sp>
        <p:nvSpPr>
          <p:cNvPr id="5" name="Text 3">
            <a:extLst>
              <a:ext uri="{FF2B5EF4-FFF2-40B4-BE49-F238E27FC236}">
                <a16:creationId xmlns:a16="http://schemas.microsoft.com/office/drawing/2014/main" id="{33BB1861-8D24-ED9C-BB5F-A9A9A85038F6}"/>
              </a:ext>
            </a:extLst>
          </p:cNvPr>
          <p:cNvSpPr/>
          <p:nvPr/>
        </p:nvSpPr>
        <p:spPr>
          <a:xfrm>
            <a:off x="715938" y="3858890"/>
            <a:ext cx="4488771" cy="82431"/>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45"/>
              </a:lnSpc>
              <a:buNone/>
            </a:pPr>
            <a:r>
              <a:rPr lang="en-US" sz="1000">
                <a:solidFill>
                  <a:srgbClr val="2B2F36"/>
                </a:solidFill>
                <a:latin typeface="Helvetica"/>
                <a:ea typeface="Helvetica" pitchFamily="34" charset="-122"/>
                <a:cs typeface="Helvetica"/>
              </a:rPr>
              <a:t>Corporate matching, not people. </a:t>
            </a:r>
            <a:r>
              <a:rPr lang="en-US" sz="1000" b="1">
                <a:solidFill>
                  <a:srgbClr val="2B2F36"/>
                </a:solidFill>
                <a:latin typeface="Helvetica"/>
                <a:ea typeface="Helvetica" pitchFamily="34" charset="-122"/>
                <a:cs typeface="Helvetica"/>
              </a:rPr>
              <a:t>We score individuals only.</a:t>
            </a:r>
            <a:endParaRPr lang="en-US" sz="1000">
              <a:latin typeface="Helvetica"/>
              <a:ea typeface="Calibri"/>
              <a:cs typeface="Helvetica"/>
            </a:endParaRPr>
          </a:p>
        </p:txBody>
      </p:sp>
      <p:sp>
        <p:nvSpPr>
          <p:cNvPr id="6" name="Text 5">
            <a:extLst>
              <a:ext uri="{FF2B5EF4-FFF2-40B4-BE49-F238E27FC236}">
                <a16:creationId xmlns:a16="http://schemas.microsoft.com/office/drawing/2014/main" id="{471B88D6-A53A-80ED-5E42-771D298FD007}"/>
              </a:ext>
            </a:extLst>
          </p:cNvPr>
          <p:cNvSpPr/>
          <p:nvPr/>
        </p:nvSpPr>
        <p:spPr>
          <a:xfrm>
            <a:off x="4925988" y="1141303"/>
            <a:ext cx="2446611" cy="312356"/>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DOOR</a:t>
            </a:r>
            <a:endParaRPr lang="en-US" sz="2000">
              <a:latin typeface="Helvetica"/>
              <a:cs typeface="Helvetica"/>
            </a:endParaRPr>
          </a:p>
        </p:txBody>
      </p:sp>
      <p:pic>
        <p:nvPicPr>
          <p:cNvPr id="7" name="Image 1" descr="Second to third gift rate is 2.7 times the first to second rate">
            <a:extLst>
              <a:ext uri="{FF2B5EF4-FFF2-40B4-BE49-F238E27FC236}">
                <a16:creationId xmlns:a16="http://schemas.microsoft.com/office/drawing/2014/main" id="{2B308B6D-DFAF-0B76-484A-79BAD62105BD}"/>
              </a:ext>
            </a:extLst>
          </p:cNvPr>
          <p:cNvPicPr>
            <a:picLocks noChangeAspect="1"/>
          </p:cNvPicPr>
          <p:nvPr/>
        </p:nvPicPr>
        <p:blipFill>
          <a:blip r:embed="rId3"/>
          <a:srcRect l="-1" r="-1"/>
          <a:stretch/>
        </p:blipFill>
        <p:spPr>
          <a:xfrm>
            <a:off x="4476408" y="1524729"/>
            <a:ext cx="3564865" cy="2092910"/>
          </a:xfrm>
          <a:prstGeom prst="rect">
            <a:avLst/>
          </a:prstGeom>
        </p:spPr>
      </p:pic>
      <p:sp>
        <p:nvSpPr>
          <p:cNvPr id="8" name="Text 6">
            <a:extLst>
              <a:ext uri="{FF2B5EF4-FFF2-40B4-BE49-F238E27FC236}">
                <a16:creationId xmlns:a16="http://schemas.microsoft.com/office/drawing/2014/main" id="{A4EFEB4C-35DC-8694-AC39-1F4E1505E0CC}"/>
              </a:ext>
            </a:extLst>
          </p:cNvPr>
          <p:cNvSpPr/>
          <p:nvPr/>
        </p:nvSpPr>
        <p:spPr>
          <a:xfrm>
            <a:off x="4865028" y="3858890"/>
            <a:ext cx="4481151" cy="46295"/>
          </a:xfrm>
          <a:prstGeom prst="rect">
            <a:avLst/>
          </a:prstGeom>
          <a:noFill/>
          <a:ln/>
        </p:spPr>
        <p:txBody>
          <a:bodyPr wrap="square" lIns="0" tIns="0" rIns="0" bIns="0"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45"/>
              </a:lnSpc>
              <a:buNone/>
            </a:pPr>
            <a:r>
              <a:rPr lang="en-US" sz="1000">
                <a:solidFill>
                  <a:srgbClr val="2B2F36"/>
                </a:solidFill>
                <a:latin typeface="Helvetica"/>
                <a:ea typeface="Helvetica" pitchFamily="34" charset="-122"/>
                <a:cs typeface="Helvetica"/>
              </a:rPr>
              <a:t>Loyalty compounds. </a:t>
            </a:r>
            <a:r>
              <a:rPr lang="en-US" sz="1000" b="1">
                <a:solidFill>
                  <a:srgbClr val="2B2F36"/>
                </a:solidFill>
                <a:latin typeface="Helvetica"/>
                <a:ea typeface="Helvetica" pitchFamily="34" charset="-122"/>
                <a:cs typeface="Helvetica"/>
              </a:rPr>
              <a:t>The second gift is the door.</a:t>
            </a:r>
            <a:endParaRPr lang="en-US" sz="1000">
              <a:latin typeface="Helvetica"/>
              <a:ea typeface="Calibri"/>
              <a:cs typeface="Helvetica"/>
            </a:endParaRPr>
          </a:p>
        </p:txBody>
      </p:sp>
      <p:sp>
        <p:nvSpPr>
          <p:cNvPr id="10" name="Rectangle 9">
            <a:extLst>
              <a:ext uri="{FF2B5EF4-FFF2-40B4-BE49-F238E27FC236}">
                <a16:creationId xmlns:a16="http://schemas.microsoft.com/office/drawing/2014/main" id="{52C0325A-161E-4ABF-A417-0330B258F23C}"/>
              </a:ext>
            </a:extLst>
          </p:cNvPr>
          <p:cNvSpPr>
            <a:spLocks noGrp="1"/>
          </p:cNvSpPr>
          <p:nvPr/>
        </p:nvSpPr>
        <p:spPr>
          <a:xfrm>
            <a:off x="556260" y="510540"/>
            <a:ext cx="8039100" cy="609600"/>
          </a:xfrm>
          <a:prstGeom prst="rect">
            <a:avLst/>
          </a:prstGeom>
          <a:noFill/>
          <a:ln w="0">
            <a:noFill/>
          </a:ln>
        </p:spPr>
        <p:txBody>
          <a:bodyPr lIns="91440" tIns="45720" rIns="91440" bIns="45720" anchor="ctr">
            <a:noAutofit/>
          </a:bodyPr>
          <a:lstStyle/>
          <a:p>
            <a:pPr>
              <a:defRPr sz="3000" b="1">
                <a:solidFill>
                  <a:srgbClr val="1B2A41"/>
                </a:solidFill>
                <a:latin typeface="Cambria"/>
                <a:ea typeface="Cambria"/>
                <a:cs typeface="Cambria"/>
              </a:defRPr>
            </a:pPr>
            <a:r>
              <a:rPr lang="en-US" sz="3000" b="1">
                <a:solidFill>
                  <a:srgbClr val="232D4B"/>
                </a:solidFill>
                <a:latin typeface="Cambria"/>
                <a:ea typeface="Cambria"/>
                <a:cs typeface="Cambria"/>
              </a:rPr>
              <a:t>What the data taught us</a:t>
            </a:r>
            <a:endParaRPr lang="en-US" sz="3000">
              <a:solidFill>
                <a:srgbClr val="000000"/>
              </a:solidFill>
              <a:latin typeface="Cambria"/>
              <a:ea typeface="Cambria"/>
              <a:cs typeface="Cambria"/>
            </a:endParaRPr>
          </a:p>
          <a:p>
            <a:pPr>
              <a:buNone/>
              <a:defRPr sz="3000" b="1">
                <a:solidFill>
                  <a:srgbClr val="1B2A41"/>
                </a:solidFill>
                <a:latin typeface="Cambria"/>
                <a:ea typeface="Cambria"/>
                <a:cs typeface="Cambria"/>
              </a:defRPr>
            </a:pPr>
            <a:endParaRPr sz="3000" b="1">
              <a:solidFill>
                <a:srgbClr val="1B2A41"/>
              </a:solidFill>
              <a:latin typeface="Cambria"/>
              <a:ea typeface="Cambria"/>
              <a:cs typeface="Cambria"/>
            </a:endParaRPr>
          </a:p>
        </p:txBody>
      </p:sp>
    </p:spTree>
    <p:extLst>
      <p:ext uri="{BB962C8B-B14F-4D97-AF65-F5344CB8AC3E}">
        <p14:creationId xmlns:p14="http://schemas.microsoft.com/office/powerpoint/2010/main" val="1922574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BFAE638D-6F2C-96D3-C819-EF2E7504F2E9}"/>
              </a:ext>
            </a:extLst>
          </p:cNvPr>
          <p:cNvSpPr/>
          <p:nvPr/>
        </p:nvSpPr>
        <p:spPr>
          <a:xfrm>
            <a:off x="919162" y="1110823"/>
            <a:ext cx="7494365" cy="35045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380"/>
              </a:lnSpc>
              <a:buNone/>
            </a:pPr>
            <a:r>
              <a:rPr lang="en-US" sz="2000" b="1" kern="0" spc="150">
                <a:solidFill>
                  <a:srgbClr val="E57200"/>
                </a:solidFill>
                <a:latin typeface="Helvetica"/>
                <a:ea typeface="Helvetica" pitchFamily="34" charset="-122"/>
                <a:cs typeface="Helvetica"/>
              </a:rPr>
              <a:t>THE SPLIT</a:t>
            </a:r>
            <a:endParaRPr lang="en-US" sz="2000">
              <a:latin typeface="Helvetica"/>
              <a:ea typeface="Calibri"/>
              <a:cs typeface="Helvetica"/>
            </a:endParaRPr>
          </a:p>
        </p:txBody>
      </p:sp>
      <p:pic>
        <p:nvPicPr>
          <p:cNvPr id="4" name="Image 0" descr="Gift size correlates 0.55 with next amount but only 0.13 with returning">
            <a:extLst>
              <a:ext uri="{FF2B5EF4-FFF2-40B4-BE49-F238E27FC236}">
                <a16:creationId xmlns:a16="http://schemas.microsoft.com/office/drawing/2014/main" id="{F3610726-A585-9955-2E85-549BFBF6983D}"/>
              </a:ext>
            </a:extLst>
          </p:cNvPr>
          <p:cNvPicPr>
            <a:picLocks noChangeAspect="1"/>
          </p:cNvPicPr>
          <p:nvPr/>
        </p:nvPicPr>
        <p:blipFill>
          <a:blip r:embed="rId2"/>
          <a:srcRect t="-20" b="-20"/>
          <a:stretch/>
        </p:blipFill>
        <p:spPr>
          <a:xfrm>
            <a:off x="736282" y="1285994"/>
            <a:ext cx="7856220" cy="2263140"/>
          </a:xfrm>
          <a:prstGeom prst="rect">
            <a:avLst/>
          </a:prstGeom>
        </p:spPr>
      </p:pic>
      <p:sp>
        <p:nvSpPr>
          <p:cNvPr id="5" name="Text 3">
            <a:extLst>
              <a:ext uri="{FF2B5EF4-FFF2-40B4-BE49-F238E27FC236}">
                <a16:creationId xmlns:a16="http://schemas.microsoft.com/office/drawing/2014/main" id="{9D0CA936-4552-18A4-FCBE-2D90FF2BB7F3}"/>
              </a:ext>
            </a:extLst>
          </p:cNvPr>
          <p:cNvSpPr/>
          <p:nvPr/>
        </p:nvSpPr>
        <p:spPr>
          <a:xfrm>
            <a:off x="736282" y="3940269"/>
            <a:ext cx="8103965" cy="642590"/>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30"/>
              </a:lnSpc>
            </a:pPr>
            <a:r>
              <a:rPr lang="en-US" sz="1300">
                <a:solidFill>
                  <a:srgbClr val="2B2F36"/>
                </a:solidFill>
                <a:latin typeface="Helvetica"/>
                <a:ea typeface="Helvetica" pitchFamily="34" charset="-122"/>
                <a:cs typeface="Helvetica"/>
              </a:rPr>
              <a:t>Gift size tells you </a:t>
            </a:r>
            <a:r>
              <a:rPr lang="en-US" sz="1300" b="1">
                <a:solidFill>
                  <a:srgbClr val="2B2F36"/>
                </a:solidFill>
                <a:latin typeface="Helvetica"/>
                <a:ea typeface="Helvetica" pitchFamily="34" charset="-122"/>
                <a:cs typeface="Helvetica"/>
              </a:rPr>
              <a:t>how much</a:t>
            </a:r>
            <a:r>
              <a:rPr lang="en-US" sz="1300">
                <a:solidFill>
                  <a:srgbClr val="2B2F36"/>
                </a:solidFill>
                <a:latin typeface="Helvetica"/>
                <a:ea typeface="Helvetica" pitchFamily="34" charset="-122"/>
                <a:cs typeface="Helvetica"/>
              </a:rPr>
              <a:t> someone gives next — almost nothing about </a:t>
            </a:r>
            <a:r>
              <a:rPr lang="en-US" sz="1300" b="1">
                <a:solidFill>
                  <a:srgbClr val="2B2F36"/>
                </a:solidFill>
                <a:latin typeface="Helvetica"/>
                <a:ea typeface="Helvetica" pitchFamily="34" charset="-122"/>
                <a:cs typeface="Helvetica"/>
              </a:rPr>
              <a:t>whether</a:t>
            </a:r>
            <a:r>
              <a:rPr lang="en-US" sz="1300">
                <a:solidFill>
                  <a:srgbClr val="2B2F36"/>
                </a:solidFill>
                <a:latin typeface="Helvetica"/>
                <a:ea typeface="Helvetica" pitchFamily="34" charset="-122"/>
                <a:cs typeface="Helvetica"/>
              </a:rPr>
              <a:t> they come back.</a:t>
            </a:r>
            <a:endParaRPr lang="en-US" sz="1300">
              <a:solidFill>
                <a:srgbClr val="000000"/>
              </a:solidFill>
              <a:latin typeface="Helvetica"/>
              <a:ea typeface="Calibri"/>
              <a:cs typeface="Helvetica"/>
            </a:endParaRPr>
          </a:p>
          <a:p>
            <a:pPr>
              <a:lnSpc>
                <a:spcPts val="2430"/>
              </a:lnSpc>
            </a:pPr>
            <a:r>
              <a:rPr lang="en-US" sz="1300">
                <a:solidFill>
                  <a:srgbClr val="2B2F36"/>
                </a:solidFill>
                <a:latin typeface="Helvetica"/>
                <a:ea typeface="Helvetica" pitchFamily="34" charset="-122"/>
                <a:cs typeface="Helvetica"/>
              </a:rPr>
              <a:t> </a:t>
            </a:r>
            <a:r>
              <a:rPr lang="en-US" sz="1300" b="1">
                <a:solidFill>
                  <a:srgbClr val="2B2F36"/>
                </a:solidFill>
                <a:latin typeface="Helvetica"/>
                <a:ea typeface="Helvetica" pitchFamily="34" charset="-122"/>
                <a:cs typeface="Helvetica"/>
              </a:rPr>
              <a:t>Two questions, two models.</a:t>
            </a:r>
            <a:endParaRPr lang="en-US" sz="1300">
              <a:latin typeface="Helvetica"/>
              <a:ea typeface="Calibri"/>
              <a:cs typeface="Helvetica"/>
            </a:endParaRPr>
          </a:p>
        </p:txBody>
      </p:sp>
      <p:sp>
        <p:nvSpPr>
          <p:cNvPr id="9" name="Rectangle 8">
            <a:extLst>
              <a:ext uri="{FF2B5EF4-FFF2-40B4-BE49-F238E27FC236}">
                <a16:creationId xmlns:a16="http://schemas.microsoft.com/office/drawing/2014/main" id="{F007E972-4201-2DF6-75B8-D9187769A735}"/>
              </a:ext>
            </a:extLst>
          </p:cNvPr>
          <p:cNvSpPr>
            <a:spLocks noGrp="1"/>
          </p:cNvSpPr>
          <p:nvPr/>
        </p:nvSpPr>
        <p:spPr>
          <a:xfrm>
            <a:off x="556260" y="510540"/>
            <a:ext cx="8039100" cy="609600"/>
          </a:xfrm>
          <a:prstGeom prst="rect">
            <a:avLst/>
          </a:prstGeom>
          <a:noFill/>
          <a:ln w="0">
            <a:noFill/>
          </a:ln>
        </p:spPr>
        <p:txBody>
          <a:bodyPr lIns="91440" tIns="45720" rIns="91440" bIns="45720" anchor="ctr">
            <a:noAutofit/>
          </a:bodyPr>
          <a:lstStyle/>
          <a:p>
            <a:pPr>
              <a:defRPr sz="3000" b="1">
                <a:solidFill>
                  <a:srgbClr val="1B2A41"/>
                </a:solidFill>
                <a:latin typeface="Cambria"/>
                <a:ea typeface="Cambria"/>
                <a:cs typeface="Cambria"/>
              </a:defRPr>
            </a:pPr>
            <a:r>
              <a:rPr lang="en-US" sz="3000" b="1">
                <a:solidFill>
                  <a:srgbClr val="232D4B"/>
                </a:solidFill>
                <a:latin typeface="Cambria"/>
                <a:ea typeface="Cambria"/>
                <a:cs typeface="Cambria"/>
              </a:rPr>
              <a:t>What the data taught us</a:t>
            </a:r>
            <a:endParaRPr lang="en-US" sz="3000">
              <a:solidFill>
                <a:srgbClr val="000000"/>
              </a:solidFill>
              <a:latin typeface="Cambria"/>
              <a:ea typeface="Cambria"/>
              <a:cs typeface="Cambria"/>
            </a:endParaRPr>
          </a:p>
          <a:p>
            <a:pPr>
              <a:buNone/>
              <a:defRPr sz="3000" b="1">
                <a:solidFill>
                  <a:srgbClr val="1B2A41"/>
                </a:solidFill>
                <a:latin typeface="Cambria"/>
                <a:ea typeface="Cambria"/>
                <a:cs typeface="Cambria"/>
              </a:defRPr>
            </a:pPr>
            <a:endParaRPr sz="3000" b="1">
              <a:solidFill>
                <a:srgbClr val="1B2A41"/>
              </a:solidFill>
              <a:latin typeface="Cambria"/>
              <a:ea typeface="Cambria"/>
              <a:cs typeface="Cambria"/>
            </a:endParaRPr>
          </a:p>
        </p:txBody>
      </p:sp>
    </p:spTree>
    <p:extLst>
      <p:ext uri="{BB962C8B-B14F-4D97-AF65-F5344CB8AC3E}">
        <p14:creationId xmlns:p14="http://schemas.microsoft.com/office/powerpoint/2010/main" val="3764315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000" b="1">
                <a:solidFill>
                  <a:srgbClr val="1B2A41"/>
                </a:solidFill>
                <a:latin typeface="Cambria" pitchFamily="34" charset="0"/>
                <a:ea typeface="Cambria" pitchFamily="34" charset="-122"/>
                <a:cs typeface="Cambria" pitchFamily="34" charset="-120"/>
              </a:rPr>
              <a:t>What changed, and why</a:t>
            </a:r>
            <a:endParaRPr lang="en-US" sz="3000"/>
          </a:p>
        </p:txBody>
      </p:sp>
      <p:sp>
        <p:nvSpPr>
          <p:cNvPr id="3" name="Text 1"/>
          <p:cNvSpPr txBox="1"/>
          <p:nvPr/>
        </p:nvSpPr>
        <p:spPr>
          <a:xfrm>
            <a:off x="548640" y="1024128"/>
            <a:ext cx="3566160" cy="274320"/>
          </a:xfrm>
          <a:prstGeom prst="rect">
            <a:avLst/>
          </a:prstGeom>
          <a:noFill/>
          <a:ln/>
        </p:spPr>
        <p:txBody>
          <a:bodyPr wrap="square" lIns="0" tIns="0" rIns="0" bIns="0" rtlCol="0" anchor="ctr"/>
          <a:lstStyle/>
          <a:p>
            <a:pPr marL="0" indent="0">
              <a:buNone/>
            </a:pPr>
            <a:r>
              <a:rPr lang="en-US" sz="1100" b="1" kern="0" spc="200">
                <a:solidFill>
                  <a:srgbClr val="6B7280"/>
                </a:solidFill>
                <a:latin typeface="Calibri"/>
                <a:ea typeface="Calibri"/>
                <a:cs typeface="Calibri"/>
              </a:rPr>
              <a:t>HYPOTHESIS</a:t>
            </a:r>
            <a:endParaRPr lang="en-US"/>
          </a:p>
        </p:txBody>
      </p:sp>
      <p:sp>
        <p:nvSpPr>
          <p:cNvPr id="4" name="Text 2"/>
          <p:cNvSpPr txBox="1"/>
          <p:nvPr/>
        </p:nvSpPr>
        <p:spPr>
          <a:xfrm>
            <a:off x="4846320" y="1024128"/>
            <a:ext cx="3749040" cy="274320"/>
          </a:xfrm>
          <a:prstGeom prst="rect">
            <a:avLst/>
          </a:prstGeom>
          <a:noFill/>
          <a:ln/>
        </p:spPr>
        <p:txBody>
          <a:bodyPr wrap="square" lIns="0" tIns="0" rIns="0" bIns="0" rtlCol="0" anchor="ctr"/>
          <a:lstStyle/>
          <a:p>
            <a:r>
              <a:rPr lang="en-US" sz="1100" b="1" kern="0" spc="200">
                <a:solidFill>
                  <a:srgbClr val="E4572E"/>
                </a:solidFill>
                <a:ea typeface="Calibri"/>
                <a:cs typeface="Calibri"/>
              </a:rPr>
              <a:t>ACTUAL</a:t>
            </a:r>
          </a:p>
        </p:txBody>
      </p:sp>
      <p:sp>
        <p:nvSpPr>
          <p:cNvPr id="10" name="Shape 7"/>
          <p:cNvSpPr/>
          <p:nvPr/>
        </p:nvSpPr>
        <p:spPr>
          <a:xfrm>
            <a:off x="472440" y="1443228"/>
            <a:ext cx="3566160" cy="530352"/>
          </a:xfrm>
          <a:prstGeom prst="roundRect">
            <a:avLst>
              <a:gd name="adj" fmla="val 13793"/>
            </a:avLst>
          </a:prstGeom>
          <a:solidFill>
            <a:srgbClr val="F1F3F5"/>
          </a:solidFill>
          <a:ln w="12700">
            <a:solidFill>
              <a:srgbClr val="F1F3F5"/>
            </a:solidFill>
            <a:prstDash val="solid"/>
          </a:ln>
        </p:spPr>
        <p:txBody>
          <a:bodyPr/>
          <a:lstStyle/>
          <a:p>
            <a:endParaRPr lang="en-US"/>
          </a:p>
        </p:txBody>
      </p:sp>
      <p:sp>
        <p:nvSpPr>
          <p:cNvPr id="11" name="Text 8"/>
          <p:cNvSpPr txBox="1"/>
          <p:nvPr/>
        </p:nvSpPr>
        <p:spPr>
          <a:xfrm>
            <a:off x="655320" y="1443228"/>
            <a:ext cx="3291840" cy="530352"/>
          </a:xfrm>
          <a:prstGeom prst="rect">
            <a:avLst/>
          </a:prstGeom>
          <a:noFill/>
          <a:ln/>
        </p:spPr>
        <p:txBody>
          <a:bodyPr wrap="square" lIns="0" tIns="0" rIns="0" bIns="0" rtlCol="0" anchor="ctr"/>
          <a:lstStyle/>
          <a:p>
            <a:pPr marL="0" indent="0">
              <a:buNone/>
            </a:pPr>
            <a:r>
              <a:rPr lang="en-US" sz="1300">
                <a:solidFill>
                  <a:srgbClr val="6B7280"/>
                </a:solidFill>
                <a:latin typeface="Calibri" pitchFamily="34" charset="0"/>
                <a:ea typeface="Calibri" pitchFamily="34" charset="-122"/>
                <a:cs typeface="Calibri" pitchFamily="34" charset="-120"/>
              </a:rPr>
              <a:t>"Gift size finds 80% of dollars!"</a:t>
            </a:r>
            <a:endParaRPr lang="en-US" sz="1300"/>
          </a:p>
        </p:txBody>
      </p:sp>
      <p:pic>
        <p:nvPicPr>
          <p:cNvPr id="12" name="Image 1" descr="preencoded.png"/>
          <p:cNvPicPr>
            <a:picLocks noChangeAspect="1"/>
          </p:cNvPicPr>
          <p:nvPr/>
        </p:nvPicPr>
        <p:blipFill>
          <a:blip r:embed="rId3"/>
          <a:stretch>
            <a:fillRect/>
          </a:stretch>
        </p:blipFill>
        <p:spPr>
          <a:xfrm>
            <a:off x="4239768" y="1571244"/>
            <a:ext cx="274320" cy="274320"/>
          </a:xfrm>
          <a:prstGeom prst="rect">
            <a:avLst/>
          </a:prstGeom>
        </p:spPr>
      </p:pic>
      <p:sp>
        <p:nvSpPr>
          <p:cNvPr id="13" name="Shape 9"/>
          <p:cNvSpPr/>
          <p:nvPr/>
        </p:nvSpPr>
        <p:spPr>
          <a:xfrm>
            <a:off x="4770120" y="1443228"/>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14" name="Text 10"/>
          <p:cNvSpPr txBox="1"/>
          <p:nvPr/>
        </p:nvSpPr>
        <p:spPr>
          <a:xfrm>
            <a:off x="4953000" y="1443228"/>
            <a:ext cx="3474720" cy="530352"/>
          </a:xfrm>
          <a:prstGeom prst="rect">
            <a:avLst/>
          </a:prstGeom>
          <a:noFill/>
          <a:ln/>
        </p:spPr>
        <p:txBody>
          <a:bodyPr wrap="square" lIns="0" tIns="0" rIns="0" bIns="0" rtlCol="0" anchor="ctr"/>
          <a:lstStyle/>
          <a:p>
            <a:pPr marL="0" indent="0">
              <a:buNone/>
            </a:pPr>
            <a:r>
              <a:rPr lang="en-US" sz="1300" b="1">
                <a:solidFill>
                  <a:srgbClr val="1B2A41"/>
                </a:solidFill>
                <a:latin typeface="Calibri" pitchFamily="34" charset="0"/>
                <a:ea typeface="Calibri" pitchFamily="34" charset="-122"/>
                <a:cs typeface="Calibri" pitchFamily="34" charset="-120"/>
              </a:rPr>
              <a:t>It was corporate matching. Individuals only.</a:t>
            </a:r>
            <a:endParaRPr lang="en-US" sz="1300"/>
          </a:p>
        </p:txBody>
      </p:sp>
      <p:sp>
        <p:nvSpPr>
          <p:cNvPr id="15" name="Shape 11"/>
          <p:cNvSpPr/>
          <p:nvPr/>
        </p:nvSpPr>
        <p:spPr>
          <a:xfrm>
            <a:off x="472440" y="2179756"/>
            <a:ext cx="3566160" cy="530352"/>
          </a:xfrm>
          <a:prstGeom prst="roundRect">
            <a:avLst>
              <a:gd name="adj" fmla="val 13793"/>
            </a:avLst>
          </a:prstGeom>
          <a:solidFill>
            <a:srgbClr val="F1F3F5"/>
          </a:solidFill>
          <a:ln w="12700">
            <a:solidFill>
              <a:srgbClr val="F1F3F5"/>
            </a:solidFill>
            <a:prstDash val="solid"/>
          </a:ln>
        </p:spPr>
        <p:txBody>
          <a:bodyPr/>
          <a:lstStyle/>
          <a:p>
            <a:endParaRPr lang="en-US"/>
          </a:p>
        </p:txBody>
      </p:sp>
      <p:sp>
        <p:nvSpPr>
          <p:cNvPr id="16" name="Text 12"/>
          <p:cNvSpPr txBox="1"/>
          <p:nvPr/>
        </p:nvSpPr>
        <p:spPr>
          <a:xfrm>
            <a:off x="655320" y="2179756"/>
            <a:ext cx="3291840" cy="530352"/>
          </a:xfrm>
          <a:prstGeom prst="rect">
            <a:avLst/>
          </a:prstGeom>
          <a:noFill/>
          <a:ln/>
        </p:spPr>
        <p:txBody>
          <a:bodyPr wrap="square" lIns="0" tIns="0" rIns="0" bIns="0" rtlCol="0" anchor="ctr"/>
          <a:lstStyle/>
          <a:p>
            <a:r>
              <a:rPr lang="en-US" sz="1300">
                <a:solidFill>
                  <a:srgbClr val="6B7280"/>
                </a:solidFill>
                <a:latin typeface="Calibri"/>
                <a:ea typeface="Calibri"/>
                <a:cs typeface="Calibri"/>
              </a:rPr>
              <a:t>Thank-you packet as a key feature</a:t>
            </a:r>
            <a:endParaRPr lang="en-US" sz="1300"/>
          </a:p>
        </p:txBody>
      </p:sp>
      <p:pic>
        <p:nvPicPr>
          <p:cNvPr id="17" name="Image 2" descr="preencoded.png"/>
          <p:cNvPicPr>
            <a:picLocks noChangeAspect="1"/>
          </p:cNvPicPr>
          <p:nvPr/>
        </p:nvPicPr>
        <p:blipFill>
          <a:blip r:embed="rId3"/>
          <a:stretch>
            <a:fillRect/>
          </a:stretch>
        </p:blipFill>
        <p:spPr>
          <a:xfrm>
            <a:off x="4239768" y="2307772"/>
            <a:ext cx="274320" cy="274320"/>
          </a:xfrm>
          <a:prstGeom prst="rect">
            <a:avLst/>
          </a:prstGeom>
        </p:spPr>
      </p:pic>
      <p:sp>
        <p:nvSpPr>
          <p:cNvPr id="18" name="Shape 13"/>
          <p:cNvSpPr/>
          <p:nvPr/>
        </p:nvSpPr>
        <p:spPr>
          <a:xfrm>
            <a:off x="4770120" y="2179756"/>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19" name="Text 14"/>
          <p:cNvSpPr txBox="1"/>
          <p:nvPr/>
        </p:nvSpPr>
        <p:spPr>
          <a:xfrm>
            <a:off x="4953000" y="2179756"/>
            <a:ext cx="3474720" cy="530352"/>
          </a:xfrm>
          <a:prstGeom prst="rect">
            <a:avLst/>
          </a:prstGeom>
          <a:noFill/>
          <a:ln/>
        </p:spPr>
        <p:txBody>
          <a:bodyPr wrap="square" lIns="0" tIns="0" rIns="0" bIns="0" rtlCol="0" anchor="ctr"/>
          <a:lstStyle/>
          <a:p>
            <a:r>
              <a:rPr lang="en-US" sz="1300" b="1">
                <a:solidFill>
                  <a:srgbClr val="1B2A41"/>
                </a:solidFill>
                <a:latin typeface="Calibri"/>
                <a:ea typeface="Calibri"/>
                <a:cs typeface="Calibri"/>
              </a:rPr>
              <a:t>Not able to predict if it influences second gift </a:t>
            </a:r>
            <a:endParaRPr lang="en-US"/>
          </a:p>
        </p:txBody>
      </p:sp>
      <p:sp>
        <p:nvSpPr>
          <p:cNvPr id="20" name="Shape 15"/>
          <p:cNvSpPr/>
          <p:nvPr/>
        </p:nvSpPr>
        <p:spPr>
          <a:xfrm>
            <a:off x="472440" y="2916284"/>
            <a:ext cx="3566160" cy="530352"/>
          </a:xfrm>
          <a:prstGeom prst="roundRect">
            <a:avLst>
              <a:gd name="adj" fmla="val 13793"/>
            </a:avLst>
          </a:prstGeom>
          <a:solidFill>
            <a:srgbClr val="F1F3F5"/>
          </a:solidFill>
          <a:ln w="12700">
            <a:solidFill>
              <a:srgbClr val="F1F3F5"/>
            </a:solidFill>
            <a:prstDash val="solid"/>
          </a:ln>
        </p:spPr>
        <p:txBody>
          <a:bodyPr lIns="91440" tIns="45720" rIns="91440" bIns="45720" anchor="t"/>
          <a:lstStyle/>
          <a:p>
            <a:endParaRPr lang="en-US" sz="1400">
              <a:ea typeface="Calibri"/>
              <a:cs typeface="Calibri"/>
            </a:endParaRPr>
          </a:p>
        </p:txBody>
      </p:sp>
      <p:pic>
        <p:nvPicPr>
          <p:cNvPr id="22" name="Image 3" descr="preencoded.png"/>
          <p:cNvPicPr>
            <a:picLocks noChangeAspect="1"/>
          </p:cNvPicPr>
          <p:nvPr/>
        </p:nvPicPr>
        <p:blipFill>
          <a:blip r:embed="rId3"/>
          <a:stretch>
            <a:fillRect/>
          </a:stretch>
        </p:blipFill>
        <p:spPr>
          <a:xfrm>
            <a:off x="4239768" y="3044300"/>
            <a:ext cx="274320" cy="274320"/>
          </a:xfrm>
          <a:prstGeom prst="rect">
            <a:avLst/>
          </a:prstGeom>
        </p:spPr>
      </p:pic>
      <p:sp>
        <p:nvSpPr>
          <p:cNvPr id="23" name="Shape 17"/>
          <p:cNvSpPr/>
          <p:nvPr/>
        </p:nvSpPr>
        <p:spPr>
          <a:xfrm>
            <a:off x="4770120" y="2916284"/>
            <a:ext cx="3749040" cy="530352"/>
          </a:xfrm>
          <a:prstGeom prst="roundRect">
            <a:avLst>
              <a:gd name="adj" fmla="val 13793"/>
            </a:avLst>
          </a:prstGeom>
          <a:solidFill>
            <a:srgbClr val="FDECE7"/>
          </a:solidFill>
          <a:ln w="12700">
            <a:solidFill>
              <a:srgbClr val="FDECE7"/>
            </a:solidFill>
            <a:prstDash val="solid"/>
          </a:ln>
        </p:spPr>
        <p:txBody>
          <a:bodyPr/>
          <a:lstStyle/>
          <a:p>
            <a:endParaRPr lang="en-US"/>
          </a:p>
        </p:txBody>
      </p:sp>
      <p:sp>
        <p:nvSpPr>
          <p:cNvPr id="5" name="Text 12">
            <a:extLst>
              <a:ext uri="{FF2B5EF4-FFF2-40B4-BE49-F238E27FC236}">
                <a16:creationId xmlns:a16="http://schemas.microsoft.com/office/drawing/2014/main" id="{4033D228-FA14-11E5-DC00-F45FA1F844E5}"/>
              </a:ext>
            </a:extLst>
          </p:cNvPr>
          <p:cNvSpPr txBox="1"/>
          <p:nvPr/>
        </p:nvSpPr>
        <p:spPr>
          <a:xfrm>
            <a:off x="655319" y="2922285"/>
            <a:ext cx="3291840" cy="530352"/>
          </a:xfrm>
          <a:prstGeom prst="rect">
            <a:avLst/>
          </a:prstGeom>
          <a:noFill/>
          <a:ln/>
        </p:spPr>
        <p:txBody>
          <a:bodyPr wrap="square" lIns="0" tIns="0" rIns="0" bIns="0" rtlCol="0" anchor="ctr"/>
          <a:lstStyle/>
          <a:p>
            <a:r>
              <a:rPr lang="en-US" sz="1300">
                <a:solidFill>
                  <a:srgbClr val="6B7280"/>
                </a:solidFill>
                <a:latin typeface="Calibri"/>
                <a:ea typeface="Calibri"/>
                <a:cs typeface="Calibri"/>
              </a:rPr>
              <a:t>Specific donation targets drive increased donation</a:t>
            </a:r>
            <a:endParaRPr lang="en-US"/>
          </a:p>
        </p:txBody>
      </p:sp>
      <p:sp>
        <p:nvSpPr>
          <p:cNvPr id="7" name="Text 14">
            <a:extLst>
              <a:ext uri="{FF2B5EF4-FFF2-40B4-BE49-F238E27FC236}">
                <a16:creationId xmlns:a16="http://schemas.microsoft.com/office/drawing/2014/main" id="{C22CC837-CB49-D363-69D7-723BCE1128BD}"/>
              </a:ext>
            </a:extLst>
          </p:cNvPr>
          <p:cNvSpPr txBox="1"/>
          <p:nvPr/>
        </p:nvSpPr>
        <p:spPr>
          <a:xfrm>
            <a:off x="4952999" y="2915141"/>
            <a:ext cx="3474720" cy="530352"/>
          </a:xfrm>
          <a:prstGeom prst="rect">
            <a:avLst/>
          </a:prstGeom>
          <a:noFill/>
          <a:ln/>
        </p:spPr>
        <p:txBody>
          <a:bodyPr wrap="square" lIns="0" tIns="0" rIns="0" bIns="0" rtlCol="0" anchor="ctr"/>
          <a:lstStyle/>
          <a:p>
            <a:r>
              <a:rPr lang="en-US" sz="1300" b="1">
                <a:solidFill>
                  <a:srgbClr val="1B2A41"/>
                </a:solidFill>
                <a:latin typeface="Calibri"/>
                <a:ea typeface="Calibri"/>
                <a:cs typeface="Calibri"/>
              </a:rPr>
              <a:t>Individual donors not as much a trend</a:t>
            </a:r>
            <a:endParaRPr lang="en-US"/>
          </a:p>
        </p:txBody>
      </p:sp>
    </p:spTree>
    <p:extLst>
      <p:ext uri="{BB962C8B-B14F-4D97-AF65-F5344CB8AC3E}">
        <p14:creationId xmlns:p14="http://schemas.microsoft.com/office/powerpoint/2010/main" val="834240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6DDEA-10FF-C55E-85FE-5D23EB5E0C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394635-420E-1CB2-18FF-F69EC5555215}"/>
              </a:ext>
            </a:extLst>
          </p:cNvPr>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What we don't know yet</a:t>
            </a:r>
          </a:p>
        </p:txBody>
      </p:sp>
      <p:sp>
        <p:nvSpPr>
          <p:cNvPr id="3" name="Rounded Rectangle 2">
            <a:extLst>
              <a:ext uri="{FF2B5EF4-FFF2-40B4-BE49-F238E27FC236}">
                <a16:creationId xmlns:a16="http://schemas.microsoft.com/office/drawing/2014/main" id="{2F036519-6F3C-ADBB-2677-287C4CCC4459}"/>
              </a:ext>
            </a:extLst>
          </p:cNvPr>
          <p:cNvSpPr/>
          <p:nvPr/>
        </p:nvSpPr>
        <p:spPr>
          <a:xfrm>
            <a:off x="548640"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B5E1F20B-ACE8-3F5A-AA84-55B106E0BAEB}"/>
              </a:ext>
            </a:extLst>
          </p:cNvPr>
          <p:cNvSpPr/>
          <p:nvPr/>
        </p:nvSpPr>
        <p:spPr>
          <a:xfrm>
            <a:off x="777240" y="1280160"/>
            <a:ext cx="502920" cy="5029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aQuestion_FFFFFF.png">
            <a:extLst>
              <a:ext uri="{FF2B5EF4-FFF2-40B4-BE49-F238E27FC236}">
                <a16:creationId xmlns:a16="http://schemas.microsoft.com/office/drawing/2014/main" id="{83F7CEDE-7171-D92C-F859-9818FFC0EA7C}"/>
              </a:ext>
            </a:extLst>
          </p:cNvPr>
          <p:cNvPicPr>
            <a:picLocks noChangeAspect="1"/>
          </p:cNvPicPr>
          <p:nvPr/>
        </p:nvPicPr>
        <p:blipFill>
          <a:blip r:embed="rId3"/>
          <a:stretch>
            <a:fillRect/>
          </a:stretch>
        </p:blipFill>
        <p:spPr>
          <a:xfrm>
            <a:off x="902970" y="1405889"/>
            <a:ext cx="251460" cy="251460"/>
          </a:xfrm>
          <a:prstGeom prst="rect">
            <a:avLst/>
          </a:prstGeom>
        </p:spPr>
      </p:pic>
      <p:sp>
        <p:nvSpPr>
          <p:cNvPr id="6" name="TextBox 5">
            <a:extLst>
              <a:ext uri="{FF2B5EF4-FFF2-40B4-BE49-F238E27FC236}">
                <a16:creationId xmlns:a16="http://schemas.microsoft.com/office/drawing/2014/main" id="{55C6A9E6-919B-E90B-D6BE-22547B6A1E50}"/>
              </a:ext>
            </a:extLst>
          </p:cNvPr>
          <p:cNvSpPr txBox="1"/>
          <p:nvPr/>
        </p:nvSpPr>
        <p:spPr>
          <a:xfrm>
            <a:off x="1417319"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outreach cause the gift?</a:t>
            </a:r>
          </a:p>
        </p:txBody>
      </p:sp>
      <p:sp>
        <p:nvSpPr>
          <p:cNvPr id="7" name="TextBox 6">
            <a:extLst>
              <a:ext uri="{FF2B5EF4-FFF2-40B4-BE49-F238E27FC236}">
                <a16:creationId xmlns:a16="http://schemas.microsoft.com/office/drawing/2014/main" id="{9B0AFBCB-89E7-FC84-DD10-F44E042559A5}"/>
              </a:ext>
            </a:extLst>
          </p:cNvPr>
          <p:cNvSpPr txBox="1"/>
          <p:nvPr/>
        </p:nvSpPr>
        <p:spPr>
          <a:xfrm>
            <a:off x="777240"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Nobody was randomly contacted, so we can't find the persuadables.</a:t>
            </a:r>
          </a:p>
        </p:txBody>
      </p:sp>
      <p:sp>
        <p:nvSpPr>
          <p:cNvPr id="8" name="Rounded Rectangle 7">
            <a:extLst>
              <a:ext uri="{FF2B5EF4-FFF2-40B4-BE49-F238E27FC236}">
                <a16:creationId xmlns:a16="http://schemas.microsoft.com/office/drawing/2014/main" id="{6A8A08B7-134F-755D-1B7F-09ABCA5907FB}"/>
              </a:ext>
            </a:extLst>
          </p:cNvPr>
          <p:cNvSpPr/>
          <p:nvPr/>
        </p:nvSpPr>
        <p:spPr>
          <a:xfrm>
            <a:off x="4709159" y="1051560"/>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a:extLst>
              <a:ext uri="{FF2B5EF4-FFF2-40B4-BE49-F238E27FC236}">
                <a16:creationId xmlns:a16="http://schemas.microsoft.com/office/drawing/2014/main" id="{6BEDB810-F5E7-F30E-6419-0E3E39815D9C}"/>
              </a:ext>
            </a:extLst>
          </p:cNvPr>
          <p:cNvSpPr/>
          <p:nvPr/>
        </p:nvSpPr>
        <p:spPr>
          <a:xfrm>
            <a:off x="4937759" y="1280160"/>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7127BCB7-5A8B-CC44-0E6C-616AAAFD9649}"/>
              </a:ext>
            </a:extLst>
          </p:cNvPr>
          <p:cNvPicPr>
            <a:picLocks noChangeAspect="1"/>
          </p:cNvPicPr>
          <p:nvPr/>
        </p:nvPicPr>
        <p:blipFill>
          <a:blip r:embed="rId4"/>
          <a:stretch>
            <a:fillRect/>
          </a:stretch>
        </p:blipFill>
        <p:spPr>
          <a:xfrm>
            <a:off x="5063490" y="1405889"/>
            <a:ext cx="251460" cy="251460"/>
          </a:xfrm>
          <a:prstGeom prst="rect">
            <a:avLst/>
          </a:prstGeom>
        </p:spPr>
      </p:pic>
      <p:sp>
        <p:nvSpPr>
          <p:cNvPr id="11" name="TextBox 10">
            <a:extLst>
              <a:ext uri="{FF2B5EF4-FFF2-40B4-BE49-F238E27FC236}">
                <a16:creationId xmlns:a16="http://schemas.microsoft.com/office/drawing/2014/main" id="{9A138AF5-C5CA-CC67-5EAA-7B9EE5BC8D2E}"/>
              </a:ext>
            </a:extLst>
          </p:cNvPr>
          <p:cNvSpPr txBox="1"/>
          <p:nvPr/>
        </p:nvSpPr>
        <p:spPr>
          <a:xfrm>
            <a:off x="5577840" y="1280160"/>
            <a:ext cx="2834640" cy="502920"/>
          </a:xfrm>
          <a:prstGeom prst="rect">
            <a:avLst/>
          </a:prstGeom>
          <a:noFill/>
        </p:spPr>
        <p:txBody>
          <a:bodyPr wrap="square" lIns="0" tIns="0" rIns="0" bIns="0" anchor="ctr">
            <a:spAutoFit/>
          </a:bodyPr>
          <a:lstStyle/>
          <a:p>
            <a:pPr algn="l"/>
            <a:r>
              <a:rPr sz="1500" b="1" i="0">
                <a:solidFill>
                  <a:srgbClr val="1B2A41"/>
                </a:solidFill>
                <a:latin typeface="Calibri"/>
              </a:rPr>
              <a:t>Who was already followed up with?</a:t>
            </a:r>
          </a:p>
        </p:txBody>
      </p:sp>
      <p:sp>
        <p:nvSpPr>
          <p:cNvPr id="12" name="TextBox 11">
            <a:extLst>
              <a:ext uri="{FF2B5EF4-FFF2-40B4-BE49-F238E27FC236}">
                <a16:creationId xmlns:a16="http://schemas.microsoft.com/office/drawing/2014/main" id="{C5F6DFFB-5A9C-0C32-78F2-0BAF51270173}"/>
              </a:ext>
            </a:extLst>
          </p:cNvPr>
          <p:cNvSpPr txBox="1"/>
          <p:nvPr/>
        </p:nvSpPr>
        <p:spPr>
          <a:xfrm>
            <a:off x="4937759" y="1920239"/>
            <a:ext cx="3474720" cy="640080"/>
          </a:xfrm>
          <a:prstGeom prst="rect">
            <a:avLst/>
          </a:prstGeom>
          <a:noFill/>
        </p:spPr>
        <p:txBody>
          <a:bodyPr wrap="square" lIns="0" tIns="0" rIns="0" bIns="0" anchor="t">
            <a:spAutoFit/>
          </a:bodyPr>
          <a:lstStyle/>
          <a:p>
            <a:pPr algn="l"/>
            <a:r>
              <a:rPr sz="1300" b="0" i="0">
                <a:solidFill>
                  <a:srgbClr val="6B7280"/>
                </a:solidFill>
                <a:latin typeface="Calibri"/>
              </a:rPr>
              <a:t>Calls and emails aren't recorded. Some repeat gifts may be from follow-up we can't see.</a:t>
            </a:r>
          </a:p>
        </p:txBody>
      </p:sp>
      <p:sp>
        <p:nvSpPr>
          <p:cNvPr id="13" name="Rounded Rectangle 12">
            <a:extLst>
              <a:ext uri="{FF2B5EF4-FFF2-40B4-BE49-F238E27FC236}">
                <a16:creationId xmlns:a16="http://schemas.microsoft.com/office/drawing/2014/main" id="{5D6AC32A-661E-B112-01D6-F93C78C46831}"/>
              </a:ext>
            </a:extLst>
          </p:cNvPr>
          <p:cNvSpPr/>
          <p:nvPr/>
        </p:nvSpPr>
        <p:spPr>
          <a:xfrm>
            <a:off x="548640"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ED76D9DD-3199-F3E6-298A-5B6B4FAA913C}"/>
              </a:ext>
            </a:extLst>
          </p:cNvPr>
          <p:cNvSpPr/>
          <p:nvPr/>
        </p:nvSpPr>
        <p:spPr>
          <a:xfrm>
            <a:off x="777240"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FaEnvelopeOpenText_FFFFFF.png">
            <a:extLst>
              <a:ext uri="{FF2B5EF4-FFF2-40B4-BE49-F238E27FC236}">
                <a16:creationId xmlns:a16="http://schemas.microsoft.com/office/drawing/2014/main" id="{0962986C-9A09-103A-6673-0C626DE1E605}"/>
              </a:ext>
            </a:extLst>
          </p:cNvPr>
          <p:cNvPicPr>
            <a:picLocks noChangeAspect="1"/>
          </p:cNvPicPr>
          <p:nvPr/>
        </p:nvPicPr>
        <p:blipFill>
          <a:blip r:embed="rId5"/>
          <a:stretch>
            <a:fillRect/>
          </a:stretch>
        </p:blipFill>
        <p:spPr>
          <a:xfrm>
            <a:off x="902970" y="3188970"/>
            <a:ext cx="251460" cy="251460"/>
          </a:xfrm>
          <a:prstGeom prst="rect">
            <a:avLst/>
          </a:prstGeom>
        </p:spPr>
      </p:pic>
      <p:sp>
        <p:nvSpPr>
          <p:cNvPr id="16" name="TextBox 15">
            <a:extLst>
              <a:ext uri="{FF2B5EF4-FFF2-40B4-BE49-F238E27FC236}">
                <a16:creationId xmlns:a16="http://schemas.microsoft.com/office/drawing/2014/main" id="{AC810952-0757-AECD-D321-2DA09AE864A8}"/>
              </a:ext>
            </a:extLst>
          </p:cNvPr>
          <p:cNvSpPr txBox="1"/>
          <p:nvPr/>
        </p:nvSpPr>
        <p:spPr>
          <a:xfrm>
            <a:off x="1417319"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the thank-you packet work?</a:t>
            </a:r>
          </a:p>
        </p:txBody>
      </p:sp>
      <p:sp>
        <p:nvSpPr>
          <p:cNvPr id="17" name="TextBox 16">
            <a:extLst>
              <a:ext uri="{FF2B5EF4-FFF2-40B4-BE49-F238E27FC236}">
                <a16:creationId xmlns:a16="http://schemas.microsoft.com/office/drawing/2014/main" id="{015832FD-5A81-F391-005B-A056F5CD9084}"/>
              </a:ext>
            </a:extLst>
          </p:cNvPr>
          <p:cNvSpPr txBox="1"/>
          <p:nvPr/>
        </p:nvSpPr>
        <p:spPr>
          <a:xfrm>
            <a:off x="777240" y="3703320"/>
            <a:ext cx="3474720" cy="400110"/>
          </a:xfrm>
          <a:prstGeom prst="rect">
            <a:avLst/>
          </a:prstGeom>
          <a:noFill/>
        </p:spPr>
        <p:txBody>
          <a:bodyPr wrap="square" lIns="0" tIns="0" rIns="0" bIns="0" anchor="t">
            <a:spAutoFit/>
          </a:bodyPr>
          <a:lstStyle/>
          <a:p>
            <a:r>
              <a:rPr lang="en-US" sz="1300">
                <a:solidFill>
                  <a:srgbClr val="6B7280"/>
                </a:solidFill>
                <a:latin typeface="Calibri"/>
              </a:rPr>
              <a:t>Citizen donors with a packet recorded returned at </a:t>
            </a:r>
            <a:r>
              <a:rPr lang="en-US" sz="1300" b="1">
                <a:solidFill>
                  <a:srgbClr val="6B7280"/>
                </a:solidFill>
                <a:latin typeface="Calibri"/>
              </a:rPr>
              <a:t>20.3%</a:t>
            </a:r>
            <a:r>
              <a:rPr lang="en-US" sz="1300">
                <a:solidFill>
                  <a:srgbClr val="6B7280"/>
                </a:solidFill>
                <a:latin typeface="Calibri"/>
              </a:rPr>
              <a:t>,</a:t>
            </a:r>
            <a:r>
              <a:rPr lang="en-US" sz="1300" b="1">
                <a:solidFill>
                  <a:srgbClr val="6B7280"/>
                </a:solidFill>
                <a:latin typeface="Calibri"/>
              </a:rPr>
              <a:t> </a:t>
            </a:r>
            <a:r>
              <a:rPr lang="en-US" sz="1300">
                <a:solidFill>
                  <a:srgbClr val="6B7280"/>
                </a:solidFill>
                <a:latin typeface="Calibri"/>
              </a:rPr>
              <a:t>versus </a:t>
            </a:r>
            <a:r>
              <a:rPr lang="en-US" sz="1300" b="1">
                <a:solidFill>
                  <a:srgbClr val="6B7280"/>
                </a:solidFill>
                <a:latin typeface="Calibri"/>
              </a:rPr>
              <a:t>12.8%</a:t>
            </a:r>
            <a:r>
              <a:rPr lang="en-US" sz="1300">
                <a:solidFill>
                  <a:srgbClr val="6B7280"/>
                </a:solidFill>
                <a:latin typeface="Calibri"/>
              </a:rPr>
              <a:t> without one.</a:t>
            </a:r>
            <a:endParaRPr sz="1300" b="0" i="0">
              <a:solidFill>
                <a:srgbClr val="6B7280"/>
              </a:solidFill>
              <a:latin typeface="Calibri"/>
            </a:endParaRPr>
          </a:p>
        </p:txBody>
      </p:sp>
      <p:sp>
        <p:nvSpPr>
          <p:cNvPr id="18" name="Rounded Rectangle 17">
            <a:extLst>
              <a:ext uri="{FF2B5EF4-FFF2-40B4-BE49-F238E27FC236}">
                <a16:creationId xmlns:a16="http://schemas.microsoft.com/office/drawing/2014/main" id="{496502DB-3FB1-0AE6-536C-082FF0C7EA78}"/>
              </a:ext>
            </a:extLst>
          </p:cNvPr>
          <p:cNvSpPr/>
          <p:nvPr/>
        </p:nvSpPr>
        <p:spPr>
          <a:xfrm>
            <a:off x="4709159" y="2834639"/>
            <a:ext cx="3886200" cy="1600200"/>
          </a:xfrm>
          <a:prstGeom prst="roundRect">
            <a:avLst>
              <a:gd name="adj" fmla="val 457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a:extLst>
              <a:ext uri="{FF2B5EF4-FFF2-40B4-BE49-F238E27FC236}">
                <a16:creationId xmlns:a16="http://schemas.microsoft.com/office/drawing/2014/main" id="{6D54AE55-587F-A709-FAF1-695D8C1903C9}"/>
              </a:ext>
            </a:extLst>
          </p:cNvPr>
          <p:cNvSpPr/>
          <p:nvPr/>
        </p:nvSpPr>
        <p:spPr>
          <a:xfrm>
            <a:off x="4937759" y="3063239"/>
            <a:ext cx="502920" cy="50292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FaStore_FFFFFF.png">
            <a:extLst>
              <a:ext uri="{FF2B5EF4-FFF2-40B4-BE49-F238E27FC236}">
                <a16:creationId xmlns:a16="http://schemas.microsoft.com/office/drawing/2014/main" id="{1B38504D-0A7E-9867-BC3C-EEC557271D1E}"/>
              </a:ext>
            </a:extLst>
          </p:cNvPr>
          <p:cNvPicPr>
            <a:picLocks noChangeAspect="1"/>
          </p:cNvPicPr>
          <p:nvPr/>
        </p:nvPicPr>
        <p:blipFill>
          <a:blip r:embed="rId6"/>
          <a:stretch>
            <a:fillRect/>
          </a:stretch>
        </p:blipFill>
        <p:spPr>
          <a:xfrm>
            <a:off x="5063490" y="3188970"/>
            <a:ext cx="251460" cy="251460"/>
          </a:xfrm>
          <a:prstGeom prst="rect">
            <a:avLst/>
          </a:prstGeom>
        </p:spPr>
      </p:pic>
      <p:sp>
        <p:nvSpPr>
          <p:cNvPr id="21" name="TextBox 20">
            <a:extLst>
              <a:ext uri="{FF2B5EF4-FFF2-40B4-BE49-F238E27FC236}">
                <a16:creationId xmlns:a16="http://schemas.microsoft.com/office/drawing/2014/main" id="{3F4DD42F-3A6D-EE53-7011-E82EC6ACFAF0}"/>
              </a:ext>
            </a:extLst>
          </p:cNvPr>
          <p:cNvSpPr txBox="1"/>
          <p:nvPr/>
        </p:nvSpPr>
        <p:spPr>
          <a:xfrm>
            <a:off x="5577840" y="3063239"/>
            <a:ext cx="2834640" cy="502920"/>
          </a:xfrm>
          <a:prstGeom prst="rect">
            <a:avLst/>
          </a:prstGeom>
          <a:noFill/>
        </p:spPr>
        <p:txBody>
          <a:bodyPr wrap="square" lIns="0" tIns="0" rIns="0" bIns="0" anchor="ctr">
            <a:spAutoFit/>
          </a:bodyPr>
          <a:lstStyle/>
          <a:p>
            <a:pPr algn="l"/>
            <a:r>
              <a:rPr sz="1500" b="1" i="0">
                <a:solidFill>
                  <a:srgbClr val="1B2A41"/>
                </a:solidFill>
                <a:latin typeface="Calibri"/>
              </a:rPr>
              <a:t>Does this carry over to one nonprofit?</a:t>
            </a:r>
          </a:p>
        </p:txBody>
      </p:sp>
      <p:sp>
        <p:nvSpPr>
          <p:cNvPr id="22" name="TextBox 21">
            <a:extLst>
              <a:ext uri="{FF2B5EF4-FFF2-40B4-BE49-F238E27FC236}">
                <a16:creationId xmlns:a16="http://schemas.microsoft.com/office/drawing/2014/main" id="{BE0F3687-E866-D55D-B20A-79C7895660B0}"/>
              </a:ext>
            </a:extLst>
          </p:cNvPr>
          <p:cNvSpPr txBox="1"/>
          <p:nvPr/>
        </p:nvSpPr>
        <p:spPr>
          <a:xfrm>
            <a:off x="4937759" y="3703320"/>
            <a:ext cx="3474720" cy="640080"/>
          </a:xfrm>
          <a:prstGeom prst="rect">
            <a:avLst/>
          </a:prstGeom>
          <a:noFill/>
        </p:spPr>
        <p:txBody>
          <a:bodyPr wrap="square" lIns="0" tIns="0" rIns="0" bIns="0" anchor="t">
            <a:spAutoFit/>
          </a:bodyPr>
          <a:lstStyle/>
          <a:p>
            <a:pPr algn="l"/>
            <a:r>
              <a:rPr sz="1300" b="0" i="0">
                <a:solidFill>
                  <a:srgbClr val="6B7280"/>
                </a:solidFill>
                <a:latin typeface="Calibri"/>
              </a:rPr>
              <a:t>We count a gift to any classroom, not to the same organization.</a:t>
            </a:r>
          </a:p>
        </p:txBody>
      </p:sp>
      <p:pic>
        <p:nvPicPr>
          <p:cNvPr id="24" name="Picture 23">
            <a:extLst>
              <a:ext uri="{FF2B5EF4-FFF2-40B4-BE49-F238E27FC236}">
                <a16:creationId xmlns:a16="http://schemas.microsoft.com/office/drawing/2014/main" id="{E6EF8692-5B49-F21F-7384-6C2FA1C7AF76}"/>
              </a:ext>
            </a:extLst>
          </p:cNvPr>
          <p:cNvPicPr>
            <a:picLocks noChangeAspect="1"/>
          </p:cNvPicPr>
          <p:nvPr/>
        </p:nvPicPr>
        <p:blipFill>
          <a:blip r:embed="rId7"/>
          <a:stretch>
            <a:fillRect/>
          </a:stretch>
        </p:blipFill>
        <p:spPr>
          <a:xfrm>
            <a:off x="-7930627" y="3440430"/>
            <a:ext cx="7772400" cy="3228791"/>
          </a:xfrm>
          <a:prstGeom prst="rect">
            <a:avLst/>
          </a:prstGeom>
        </p:spPr>
      </p:pic>
      <p:sp>
        <p:nvSpPr>
          <p:cNvPr id="25" name="TextBox 24">
            <a:extLst>
              <a:ext uri="{FF2B5EF4-FFF2-40B4-BE49-F238E27FC236}">
                <a16:creationId xmlns:a16="http://schemas.microsoft.com/office/drawing/2014/main" id="{CE550F07-1C82-4D8B-D1CC-AE1F4BA52BF2}"/>
              </a:ext>
            </a:extLst>
          </p:cNvPr>
          <p:cNvSpPr txBox="1"/>
          <p:nvPr/>
        </p:nvSpPr>
        <p:spPr>
          <a:xfrm>
            <a:off x="-2424203" y="2571750"/>
            <a:ext cx="2265976" cy="773772"/>
          </a:xfrm>
          <a:prstGeom prst="rect">
            <a:avLst/>
          </a:prstGeom>
          <a:solidFill>
            <a:schemeClr val="accent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ea typeface="Calibri"/>
                <a:cs typeface="Calibri"/>
              </a:rPr>
              <a:t>Thadeus: Summary of thank you analysis</a:t>
            </a:r>
          </a:p>
        </p:txBody>
      </p:sp>
    </p:spTree>
    <p:extLst>
      <p:ext uri="{BB962C8B-B14F-4D97-AF65-F5344CB8AC3E}">
        <p14:creationId xmlns:p14="http://schemas.microsoft.com/office/powerpoint/2010/main" val="31278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8046720" cy="640080"/>
          </a:xfrm>
          <a:prstGeom prst="rect">
            <a:avLst/>
          </a:prstGeom>
          <a:noFill/>
        </p:spPr>
        <p:txBody>
          <a:bodyPr wrap="square" lIns="0" tIns="0" rIns="0" bIns="0" anchor="t">
            <a:spAutoFit/>
          </a:bodyPr>
          <a:lstStyle/>
          <a:p>
            <a:pPr algn="l"/>
            <a:r>
              <a:rPr sz="3000" b="1" i="0">
                <a:solidFill>
                  <a:srgbClr val="1B2A41"/>
                </a:solidFill>
                <a:latin typeface="Cambria"/>
              </a:rPr>
              <a:t>Next: the Darden pilot</a:t>
            </a:r>
          </a:p>
        </p:txBody>
      </p:sp>
      <p:cxnSp>
        <p:nvCxnSpPr>
          <p:cNvPr id="3" name="Connector 2"/>
          <p:cNvCxnSpPr/>
          <p:nvPr/>
        </p:nvCxnSpPr>
        <p:spPr>
          <a:xfrm>
            <a:off x="1234440" y="1623060"/>
            <a:ext cx="6675120" cy="0"/>
          </a:xfrm>
          <a:prstGeom prst="line">
            <a:avLst/>
          </a:prstGeom>
          <a:ln>
            <a:solidFill>
              <a:srgbClr val="C9CED6"/>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8229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aChartBar_FFFFFF.png"/>
          <p:cNvPicPr>
            <a:picLocks noChangeAspect="1"/>
          </p:cNvPicPr>
          <p:nvPr/>
        </p:nvPicPr>
        <p:blipFill>
          <a:blip r:embed="rId3"/>
          <a:stretch>
            <a:fillRect/>
          </a:stretch>
        </p:blipFill>
        <p:spPr>
          <a:xfrm>
            <a:off x="1017270" y="1428750"/>
            <a:ext cx="388620" cy="388620"/>
          </a:xfrm>
          <a:prstGeom prst="rect">
            <a:avLst/>
          </a:prstGeom>
        </p:spPr>
      </p:pic>
      <p:sp>
        <p:nvSpPr>
          <p:cNvPr id="6" name="TextBox 5"/>
          <p:cNvSpPr txBox="1"/>
          <p:nvPr/>
        </p:nvSpPr>
        <p:spPr>
          <a:xfrm>
            <a:off x="3429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1 · Score</a:t>
            </a:r>
          </a:p>
        </p:txBody>
      </p:sp>
      <p:sp>
        <p:nvSpPr>
          <p:cNvPr id="7" name="TextBox 6"/>
          <p:cNvSpPr txBox="1"/>
          <p:nvPr/>
        </p:nvSpPr>
        <p:spPr>
          <a:xfrm>
            <a:off x="3429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Model predicts who's likely to give</a:t>
            </a:r>
          </a:p>
        </p:txBody>
      </p:sp>
      <p:sp>
        <p:nvSpPr>
          <p:cNvPr id="8" name="Oval 7"/>
          <p:cNvSpPr/>
          <p:nvPr/>
        </p:nvSpPr>
        <p:spPr>
          <a:xfrm>
            <a:off x="28803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FaRandom_FFFFFF.png"/>
          <p:cNvPicPr>
            <a:picLocks noChangeAspect="1"/>
          </p:cNvPicPr>
          <p:nvPr/>
        </p:nvPicPr>
        <p:blipFill>
          <a:blip r:embed="rId4"/>
          <a:stretch>
            <a:fillRect/>
          </a:stretch>
        </p:blipFill>
        <p:spPr>
          <a:xfrm>
            <a:off x="3074670" y="1428750"/>
            <a:ext cx="388620" cy="388620"/>
          </a:xfrm>
          <a:prstGeom prst="rect">
            <a:avLst/>
          </a:prstGeom>
        </p:spPr>
      </p:pic>
      <p:sp>
        <p:nvSpPr>
          <p:cNvPr id="10" name="TextBox 9"/>
          <p:cNvSpPr txBox="1"/>
          <p:nvPr/>
        </p:nvSpPr>
        <p:spPr>
          <a:xfrm>
            <a:off x="24003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2 · Split at random</a:t>
            </a:r>
          </a:p>
        </p:txBody>
      </p:sp>
      <p:sp>
        <p:nvSpPr>
          <p:cNvPr id="11" name="TextBox 10"/>
          <p:cNvSpPr txBox="1"/>
          <p:nvPr/>
        </p:nvSpPr>
        <p:spPr>
          <a:xfrm>
            <a:off x="24003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Within each score group</a:t>
            </a:r>
          </a:p>
        </p:txBody>
      </p:sp>
      <p:sp>
        <p:nvSpPr>
          <p:cNvPr id="12" name="Oval 11"/>
          <p:cNvSpPr/>
          <p:nvPr/>
        </p:nvSpPr>
        <p:spPr>
          <a:xfrm>
            <a:off x="4937760" y="1234440"/>
            <a:ext cx="777240" cy="7772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5"/>
          <a:stretch>
            <a:fillRect/>
          </a:stretch>
        </p:blipFill>
        <p:spPr>
          <a:xfrm>
            <a:off x="5132070" y="1428750"/>
            <a:ext cx="388620" cy="388620"/>
          </a:xfrm>
          <a:prstGeom prst="rect">
            <a:avLst/>
          </a:prstGeom>
        </p:spPr>
      </p:pic>
      <p:sp>
        <p:nvSpPr>
          <p:cNvPr id="14" name="TextBox 13"/>
          <p:cNvSpPr txBox="1"/>
          <p:nvPr/>
        </p:nvSpPr>
        <p:spPr>
          <a:xfrm>
            <a:off x="44577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3 · Reach out</a:t>
            </a:r>
          </a:p>
        </p:txBody>
      </p:sp>
      <p:sp>
        <p:nvSpPr>
          <p:cNvPr id="15" name="TextBox 14"/>
          <p:cNvSpPr txBox="1"/>
          <p:nvPr/>
        </p:nvSpPr>
        <p:spPr>
          <a:xfrm>
            <a:off x="4457700" y="2468880"/>
            <a:ext cx="1737360" cy="738664"/>
          </a:xfrm>
          <a:prstGeom prst="rect">
            <a:avLst/>
          </a:prstGeom>
          <a:noFill/>
        </p:spPr>
        <p:txBody>
          <a:bodyPr wrap="square" lIns="0" tIns="0" rIns="0" bIns="0" anchor="t">
            <a:spAutoFit/>
          </a:bodyPr>
          <a:lstStyle/>
          <a:p>
            <a:pPr algn="ctr"/>
            <a:r>
              <a:rPr sz="1200" b="0" i="0">
                <a:solidFill>
                  <a:srgbClr val="6B7280"/>
                </a:solidFill>
                <a:latin typeface="Calibri"/>
              </a:rPr>
              <a:t>Class agents contact one group first</a:t>
            </a:r>
            <a:r>
              <a:rPr lang="en-US" sz="1200">
                <a:solidFill>
                  <a:srgbClr val="6B7280"/>
                </a:solidFill>
                <a:latin typeface="Calibri"/>
              </a:rPr>
              <a:t> starting with those who have given before</a:t>
            </a:r>
            <a:endParaRPr sz="1200" b="0" i="0">
              <a:solidFill>
                <a:srgbClr val="6B7280"/>
              </a:solidFill>
              <a:latin typeface="Calibri"/>
            </a:endParaRPr>
          </a:p>
        </p:txBody>
      </p:sp>
      <p:sp>
        <p:nvSpPr>
          <p:cNvPr id="16" name="Oval 15"/>
          <p:cNvSpPr/>
          <p:nvPr/>
        </p:nvSpPr>
        <p:spPr>
          <a:xfrm>
            <a:off x="6995160" y="123444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6"/>
          <a:stretch>
            <a:fillRect/>
          </a:stretch>
        </p:blipFill>
        <p:spPr>
          <a:xfrm>
            <a:off x="7189470" y="1428750"/>
            <a:ext cx="388620" cy="388620"/>
          </a:xfrm>
          <a:prstGeom prst="rect">
            <a:avLst/>
          </a:prstGeom>
        </p:spPr>
      </p:pic>
      <p:sp>
        <p:nvSpPr>
          <p:cNvPr id="18" name="TextBox 17"/>
          <p:cNvSpPr txBox="1"/>
          <p:nvPr/>
        </p:nvSpPr>
        <p:spPr>
          <a:xfrm>
            <a:off x="6515100" y="2148840"/>
            <a:ext cx="1737360" cy="320040"/>
          </a:xfrm>
          <a:prstGeom prst="rect">
            <a:avLst/>
          </a:prstGeom>
          <a:noFill/>
        </p:spPr>
        <p:txBody>
          <a:bodyPr wrap="square" lIns="0" tIns="0" rIns="0" bIns="0" anchor="t">
            <a:spAutoFit/>
          </a:bodyPr>
          <a:lstStyle/>
          <a:p>
            <a:pPr algn="ctr"/>
            <a:r>
              <a:rPr sz="1400" b="1" i="0">
                <a:solidFill>
                  <a:srgbClr val="1B2A41"/>
                </a:solidFill>
                <a:latin typeface="Calibri"/>
              </a:rPr>
              <a:t>4 · Compare</a:t>
            </a:r>
          </a:p>
        </p:txBody>
      </p:sp>
      <p:sp>
        <p:nvSpPr>
          <p:cNvPr id="19" name="TextBox 18"/>
          <p:cNvSpPr txBox="1"/>
          <p:nvPr/>
        </p:nvSpPr>
        <p:spPr>
          <a:xfrm>
            <a:off x="6515100" y="2468880"/>
            <a:ext cx="1737360" cy="548640"/>
          </a:xfrm>
          <a:prstGeom prst="rect">
            <a:avLst/>
          </a:prstGeom>
          <a:noFill/>
        </p:spPr>
        <p:txBody>
          <a:bodyPr wrap="square" lIns="0" tIns="0" rIns="0" bIns="0" anchor="t">
            <a:spAutoFit/>
          </a:bodyPr>
          <a:lstStyle/>
          <a:p>
            <a:pPr algn="ctr"/>
            <a:r>
              <a:rPr sz="1200" b="0" i="0">
                <a:solidFill>
                  <a:srgbClr val="6B7280"/>
                </a:solidFill>
                <a:latin typeface="Calibri"/>
              </a:rPr>
              <a:t>The gap is what outreach adds</a:t>
            </a:r>
          </a:p>
        </p:txBody>
      </p:sp>
      <p:sp>
        <p:nvSpPr>
          <p:cNvPr id="20" name="TextBox 19"/>
          <p:cNvSpPr txBox="1"/>
          <p:nvPr/>
        </p:nvSpPr>
        <p:spPr>
          <a:xfrm>
            <a:off x="548640" y="3108960"/>
            <a:ext cx="8046720" cy="274320"/>
          </a:xfrm>
          <a:prstGeom prst="rect">
            <a:avLst/>
          </a:prstGeom>
          <a:noFill/>
        </p:spPr>
        <p:txBody>
          <a:bodyPr wrap="square" lIns="0" tIns="0" rIns="0" bIns="0" anchor="t">
            <a:spAutoFit/>
          </a:bodyPr>
          <a:lstStyle/>
          <a:p>
            <a:pPr algn="l"/>
            <a:r>
              <a:rPr sz="1050" b="1" i="0">
                <a:solidFill>
                  <a:srgbClr val="E4572E"/>
                </a:solidFill>
                <a:latin typeface="Calibri"/>
              </a:rPr>
              <a:t>WHAT WE'D TEST</a:t>
            </a:r>
          </a:p>
        </p:txBody>
      </p:sp>
      <p:sp>
        <p:nvSpPr>
          <p:cNvPr id="21" name="Rounded Rectangle 20"/>
          <p:cNvSpPr/>
          <p:nvPr/>
        </p:nvSpPr>
        <p:spPr>
          <a:xfrm>
            <a:off x="5486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315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aCommentDots_FFFFFF.png"/>
          <p:cNvPicPr>
            <a:picLocks noChangeAspect="1"/>
          </p:cNvPicPr>
          <p:nvPr/>
        </p:nvPicPr>
        <p:blipFill>
          <a:blip r:embed="rId7"/>
          <a:stretch>
            <a:fillRect/>
          </a:stretch>
        </p:blipFill>
        <p:spPr>
          <a:xfrm>
            <a:off x="857250" y="3691889"/>
            <a:ext cx="251460" cy="251460"/>
          </a:xfrm>
          <a:prstGeom prst="rect">
            <a:avLst/>
          </a:prstGeom>
        </p:spPr>
      </p:pic>
      <p:sp>
        <p:nvSpPr>
          <p:cNvPr id="24" name="TextBox 23"/>
          <p:cNvSpPr txBox="1"/>
          <p:nvPr/>
        </p:nvSpPr>
        <p:spPr>
          <a:xfrm>
            <a:off x="13716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Personal outreach vs. none</a:t>
            </a:r>
          </a:p>
        </p:txBody>
      </p:sp>
      <p:sp>
        <p:nvSpPr>
          <p:cNvPr id="25" name="Rounded Rectangle 24"/>
          <p:cNvSpPr/>
          <p:nvPr/>
        </p:nvSpPr>
        <p:spPr>
          <a:xfrm>
            <a:off x="32918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4747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FaHandHoldingHeart_FFFFFF.png"/>
          <p:cNvPicPr>
            <a:picLocks noChangeAspect="1"/>
          </p:cNvPicPr>
          <p:nvPr/>
        </p:nvPicPr>
        <p:blipFill>
          <a:blip r:embed="rId8"/>
          <a:stretch>
            <a:fillRect/>
          </a:stretch>
        </p:blipFill>
        <p:spPr>
          <a:xfrm>
            <a:off x="3600450" y="3691889"/>
            <a:ext cx="251460" cy="251460"/>
          </a:xfrm>
          <a:prstGeom prst="rect">
            <a:avLst/>
          </a:prstGeom>
        </p:spPr>
      </p:pic>
      <p:sp>
        <p:nvSpPr>
          <p:cNvPr id="28" name="TextBox 27"/>
          <p:cNvSpPr txBox="1"/>
          <p:nvPr/>
        </p:nvSpPr>
        <p:spPr>
          <a:xfrm>
            <a:off x="41148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Personal thank-you vs. standard</a:t>
            </a:r>
          </a:p>
        </p:txBody>
      </p:sp>
      <p:sp>
        <p:nvSpPr>
          <p:cNvPr id="29" name="Rounded Rectangle 28"/>
          <p:cNvSpPr/>
          <p:nvPr/>
        </p:nvSpPr>
        <p:spPr>
          <a:xfrm>
            <a:off x="6035040" y="3429000"/>
            <a:ext cx="2514600" cy="777240"/>
          </a:xfrm>
          <a:prstGeom prst="roundRect">
            <a:avLst>
              <a:gd name="adj" fmla="val 9411"/>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217920" y="356616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FaSeedling_FFFFFF.png"/>
          <p:cNvPicPr>
            <a:picLocks noChangeAspect="1"/>
          </p:cNvPicPr>
          <p:nvPr/>
        </p:nvPicPr>
        <p:blipFill>
          <a:blip r:embed="rId9"/>
          <a:stretch>
            <a:fillRect/>
          </a:stretch>
        </p:blipFill>
        <p:spPr>
          <a:xfrm>
            <a:off x="6343650" y="3691889"/>
            <a:ext cx="251460" cy="251460"/>
          </a:xfrm>
          <a:prstGeom prst="rect">
            <a:avLst/>
          </a:prstGeom>
        </p:spPr>
      </p:pic>
      <p:sp>
        <p:nvSpPr>
          <p:cNvPr id="32" name="TextBox 31"/>
          <p:cNvSpPr txBox="1"/>
          <p:nvPr/>
        </p:nvSpPr>
        <p:spPr>
          <a:xfrm>
            <a:off x="6858000" y="3429000"/>
            <a:ext cx="1600200" cy="777240"/>
          </a:xfrm>
          <a:prstGeom prst="rect">
            <a:avLst/>
          </a:prstGeom>
          <a:noFill/>
        </p:spPr>
        <p:txBody>
          <a:bodyPr wrap="square" lIns="0" tIns="0" rIns="0" bIns="0" anchor="ctr">
            <a:spAutoFit/>
          </a:bodyPr>
          <a:lstStyle/>
          <a:p>
            <a:pPr algn="l"/>
            <a:r>
              <a:rPr sz="1300" b="1" i="0">
                <a:solidFill>
                  <a:srgbClr val="1B2A41"/>
                </a:solidFill>
                <a:latin typeface="Calibri"/>
              </a:rPr>
              <a:t>Impact update vs. none</a:t>
            </a:r>
          </a:p>
        </p:txBody>
      </p:sp>
    </p:spTree>
    <p:extLst>
      <p:ext uri="{BB962C8B-B14F-4D97-AF65-F5344CB8AC3E}">
        <p14:creationId xmlns:p14="http://schemas.microsoft.com/office/powerpoint/2010/main" val="636626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20</Slides>
  <Notes>18</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Second Gift</dc:title>
  <dc:subject>PptxGenJS Presentation</dc:subject>
  <dc:creator>PptxGenJS</dc:creator>
  <cp:revision>4</cp:revision>
  <dcterms:created xsi:type="dcterms:W3CDTF">2026-09-24T15:12:15Z</dcterms:created>
  <dcterms:modified xsi:type="dcterms:W3CDTF">2026-09-29T17:03:46Z</dcterms:modified>
</cp:coreProperties>
</file>